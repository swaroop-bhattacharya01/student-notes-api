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media/image3.jpg" ContentType="image/jpg"/>
  <Override PartName="/ppt/media/image5.jpg" ContentType="image/jpg"/>
  <Override PartName="/ppt/media/image6.jpg" ContentType="image/jpg"/>
  <Override PartName="/ppt/media/image7.jpg" ContentType="image/jpg"/>
  <Override PartName="/ppt/media/image8.jpg" ContentType="image/jpg"/>
  <Override PartName="/ppt/media/image9.jpg" ContentType="image/jpg"/>
  <Override PartName="/ppt/media/image10.jpg" ContentType="image/jpg"/>
  <Override PartName="/ppt/media/image11.jpg" ContentType="image/jpg"/>
  <Override PartName="/ppt/media/image12.jpg" ContentType="image/jpg"/>
  <Override PartName="/ppt/media/image13.jpg" ContentType="image/jpg"/>
  <Override PartName="/ppt/media/image14.jpg" ContentType="image/jpg"/>
  <Override PartName="/ppt/media/image15.jpg" ContentType="image/jpg"/>
  <Override PartName="/ppt/media/image16.jpg" ContentType="image/jpg"/>
  <Override PartName="/ppt/media/image17.jpg" ContentType="image/jpg"/>
  <Override PartName="/ppt/media/image18.jpg" ContentType="image/jpg"/>
  <Override PartName="/ppt/media/image19.jpg" ContentType="image/jpg"/>
  <Override PartName="/ppt/media/image20.jpg" ContentType="image/jpg"/>
  <Override PartName="/ppt/media/image21.jpg" ContentType="image/jpg"/>
  <Override PartName="/ppt/media/image22.jpg" ContentType="image/jpg"/>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108"/>
  </p:notesMasterIdLst>
  <p:sldIdLst>
    <p:sldId id="256" r:id="rId3"/>
    <p:sldId id="257" r:id="rId4"/>
    <p:sldId id="258" r:id="rId5"/>
    <p:sldId id="259" r:id="rId6"/>
    <p:sldId id="260" r:id="rId7"/>
    <p:sldId id="261" r:id="rId8"/>
    <p:sldId id="262" r:id="rId9"/>
    <p:sldId id="564" r:id="rId10"/>
    <p:sldId id="565" r:id="rId11"/>
    <p:sldId id="271" r:id="rId12"/>
    <p:sldId id="517" r:id="rId13"/>
    <p:sldId id="518" r:id="rId14"/>
    <p:sldId id="519" r:id="rId15"/>
    <p:sldId id="520" r:id="rId16"/>
    <p:sldId id="521" r:id="rId17"/>
    <p:sldId id="522" r:id="rId18"/>
    <p:sldId id="523" r:id="rId19"/>
    <p:sldId id="524" r:id="rId20"/>
    <p:sldId id="525" r:id="rId21"/>
    <p:sldId id="526" r:id="rId22"/>
    <p:sldId id="527" r:id="rId23"/>
    <p:sldId id="528" r:id="rId24"/>
    <p:sldId id="529" r:id="rId25"/>
    <p:sldId id="530" r:id="rId26"/>
    <p:sldId id="531" r:id="rId27"/>
    <p:sldId id="532" r:id="rId28"/>
    <p:sldId id="533" r:id="rId29"/>
    <p:sldId id="534" r:id="rId30"/>
    <p:sldId id="535" r:id="rId31"/>
    <p:sldId id="539" r:id="rId32"/>
    <p:sldId id="540" r:id="rId33"/>
    <p:sldId id="541" r:id="rId34"/>
    <p:sldId id="542" r:id="rId35"/>
    <p:sldId id="543" r:id="rId36"/>
    <p:sldId id="544" r:id="rId37"/>
    <p:sldId id="545" r:id="rId38"/>
    <p:sldId id="546" r:id="rId39"/>
    <p:sldId id="547" r:id="rId40"/>
    <p:sldId id="548" r:id="rId41"/>
    <p:sldId id="549" r:id="rId42"/>
    <p:sldId id="550" r:id="rId43"/>
    <p:sldId id="551" r:id="rId44"/>
    <p:sldId id="552" r:id="rId45"/>
    <p:sldId id="553" r:id="rId46"/>
    <p:sldId id="554" r:id="rId47"/>
    <p:sldId id="555" r:id="rId48"/>
    <p:sldId id="556" r:id="rId49"/>
    <p:sldId id="557" r:id="rId50"/>
    <p:sldId id="558" r:id="rId51"/>
    <p:sldId id="287" r:id="rId52"/>
    <p:sldId id="288" r:id="rId53"/>
    <p:sldId id="514" r:id="rId54"/>
    <p:sldId id="290" r:id="rId55"/>
    <p:sldId id="292" r:id="rId56"/>
    <p:sldId id="291" r:id="rId57"/>
    <p:sldId id="294" r:id="rId58"/>
    <p:sldId id="293" r:id="rId59"/>
    <p:sldId id="295" r:id="rId60"/>
    <p:sldId id="284" r:id="rId61"/>
    <p:sldId id="285" r:id="rId62"/>
    <p:sldId id="286" r:id="rId63"/>
    <p:sldId id="296" r:id="rId64"/>
    <p:sldId id="297" r:id="rId65"/>
    <p:sldId id="298" r:id="rId66"/>
    <p:sldId id="299" r:id="rId67"/>
    <p:sldId id="300" r:id="rId68"/>
    <p:sldId id="301" r:id="rId69"/>
    <p:sldId id="302" r:id="rId70"/>
    <p:sldId id="303" r:id="rId71"/>
    <p:sldId id="304" r:id="rId72"/>
    <p:sldId id="305" r:id="rId73"/>
    <p:sldId id="306" r:id="rId74"/>
    <p:sldId id="307" r:id="rId75"/>
    <p:sldId id="308" r:id="rId76"/>
    <p:sldId id="309" r:id="rId77"/>
    <p:sldId id="310" r:id="rId78"/>
    <p:sldId id="311" r:id="rId79"/>
    <p:sldId id="312" r:id="rId80"/>
    <p:sldId id="313" r:id="rId81"/>
    <p:sldId id="314" r:id="rId82"/>
    <p:sldId id="315" r:id="rId83"/>
    <p:sldId id="316" r:id="rId84"/>
    <p:sldId id="317" r:id="rId85"/>
    <p:sldId id="318" r:id="rId86"/>
    <p:sldId id="500" r:id="rId87"/>
    <p:sldId id="499" r:id="rId88"/>
    <p:sldId id="502" r:id="rId89"/>
    <p:sldId id="498" r:id="rId90"/>
    <p:sldId id="504" r:id="rId91"/>
    <p:sldId id="474" r:id="rId92"/>
    <p:sldId id="473" r:id="rId93"/>
    <p:sldId id="478" r:id="rId94"/>
    <p:sldId id="482" r:id="rId95"/>
    <p:sldId id="480" r:id="rId96"/>
    <p:sldId id="487" r:id="rId97"/>
    <p:sldId id="490" r:id="rId98"/>
    <p:sldId id="492" r:id="rId99"/>
    <p:sldId id="512" r:id="rId100"/>
    <p:sldId id="513" r:id="rId101"/>
    <p:sldId id="505" r:id="rId102"/>
    <p:sldId id="506" r:id="rId103"/>
    <p:sldId id="559" r:id="rId104"/>
    <p:sldId id="560" r:id="rId105"/>
    <p:sldId id="562" r:id="rId106"/>
    <p:sldId id="563" r:id="rId107"/>
  </p:sldIdLst>
  <p:sldSz cx="12192000" cy="6858000"/>
  <p:notesSz cx="6858000" cy="9144000"/>
  <p:embeddedFontLst>
    <p:embeddedFont>
      <p:font typeface="Roboto Condensed" charset="0"/>
      <p:regular r:id="rId109"/>
      <p:bold r:id="rId110"/>
      <p:italic r:id="rId111"/>
      <p:boldItalic r:id="rId112"/>
    </p:embeddedFont>
    <p:embeddedFont>
      <p:font typeface="Lato" charset="0"/>
      <p:regular r:id="rId113"/>
      <p:bold r:id="rId114"/>
      <p:italic r:id="rId115"/>
      <p:boldItalic r:id="rId116"/>
    </p:embeddedFont>
    <p:embeddedFont>
      <p:font typeface="Work Sans" charset="0"/>
      <p:regular r:id="rId117"/>
      <p:bold r:id="rId118"/>
      <p:italic r:id="rId119"/>
      <p:boldItalic r:id="rId120"/>
    </p:embeddedFont>
    <p:embeddedFont>
      <p:font typeface="Arimo" charset="0"/>
      <p:regular r:id="rId121"/>
      <p:bold r:id="rId122"/>
      <p:italic r:id="rId123"/>
      <p:boldItalic r:id="rId124"/>
    </p:embeddedFont>
    <p:embeddedFont>
      <p:font typeface="Calibri" pitchFamily="34" charset="0"/>
      <p:regular r:id="rId125"/>
      <p:bold r:id="rId126"/>
      <p:italic r:id="rId127"/>
      <p:boldItalic r:id="rId128"/>
    </p:embeddedFont>
    <p:embeddedFont>
      <p:font typeface="Georgia" pitchFamily="18" charset="0"/>
      <p:regular r:id="rId129"/>
      <p:bold r:id="rId130"/>
      <p:italic r:id="rId131"/>
      <p:boldItalic r:id="rId132"/>
    </p:embeddedFont>
    <p:embeddedFont>
      <p:font typeface="Inter" charset="0"/>
      <p:regular r:id="rId133"/>
      <p:bold r:id="rId134"/>
    </p:embeddedFont>
    <p:embeddedFont>
      <p:font typeface="palatino linotype" pitchFamily="18" charset="0"/>
      <p:regular r:id="rId135"/>
      <p:bold r:id="rId136"/>
      <p:italic r:id="rId137"/>
      <p:boldItalic r:id="rId138"/>
    </p:embeddedFont>
    <p:embeddedFont>
      <p:font typeface="Arial Black" pitchFamily="34" charset="0"/>
      <p:bold r:id="rId139"/>
    </p:embeddedFont>
    <p:embeddedFont>
      <p:font typeface="Nunito" charset="0"/>
      <p:regular r:id="rId140"/>
      <p:bold r:id="rId141"/>
      <p:italic r:id="rId142"/>
      <p:boldItalic r:id="rId143"/>
    </p:embeddedFont>
    <p:embeddedFont>
      <p:font typeface="Quattrocento Sans" charset="0"/>
      <p:regular r:id="rId144"/>
      <p:bold r:id="rId145"/>
      <p:italic r:id="rId146"/>
      <p:boldItalic r:id="rId1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8" roundtripDataSignature="AMtx7mjohDQIT2V5MZwIhHHRNpKo3Pbz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C6F39B36-55F5-445C-BD81-517B801FB488}">
  <a:tblStyle styleId="{C6F39B36-55F5-445C-BD81-517B801FB48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5BCB809-4C7D-4E31-BA33-E4B15E20FA82}"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941" autoAdjust="0"/>
  </p:normalViewPr>
  <p:slideViewPr>
    <p:cSldViewPr snapToGrid="0">
      <p:cViewPr>
        <p:scale>
          <a:sx n="75" d="100"/>
          <a:sy n="75" d="100"/>
        </p:scale>
        <p:origin x="-946" y="-10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font" Target="fonts/font9.fntdata"/><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font" Target="fonts/font4.fntdata"/><Relationship Id="rId133" Type="http://schemas.openxmlformats.org/officeDocument/2006/relationships/font" Target="fonts/font25.fntdata"/><Relationship Id="rId138" Type="http://schemas.openxmlformats.org/officeDocument/2006/relationships/font" Target="fonts/font30.fntdata"/><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font" Target="fonts/font15.fntdata"/><Relationship Id="rId128" Type="http://schemas.openxmlformats.org/officeDocument/2006/relationships/font" Target="fonts/font20.fntdata"/><Relationship Id="rId144" Type="http://schemas.openxmlformats.org/officeDocument/2006/relationships/font" Target="fonts/font36.fntdata"/><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81" Type="http://schemas.openxmlformats.org/officeDocument/2006/relationships/theme" Target="theme/theme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font" Target="fonts/font5.fntdata"/><Relationship Id="rId118" Type="http://schemas.openxmlformats.org/officeDocument/2006/relationships/font" Target="fonts/font10.fntdata"/><Relationship Id="rId134" Type="http://schemas.openxmlformats.org/officeDocument/2006/relationships/font" Target="fonts/font26.fntdata"/><Relationship Id="rId139" Type="http://schemas.openxmlformats.org/officeDocument/2006/relationships/font" Target="fonts/font31.fntdata"/><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notesMaster" Target="notesMasters/notesMaster1.xml"/><Relationship Id="rId116" Type="http://schemas.openxmlformats.org/officeDocument/2006/relationships/font" Target="fonts/font8.fntdata"/><Relationship Id="rId124" Type="http://schemas.openxmlformats.org/officeDocument/2006/relationships/font" Target="fonts/font16.fntdata"/><Relationship Id="rId129" Type="http://schemas.openxmlformats.org/officeDocument/2006/relationships/font" Target="fonts/font21.fntdata"/><Relationship Id="rId137" Type="http://schemas.openxmlformats.org/officeDocument/2006/relationships/font" Target="fonts/font29.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font" Target="fonts/font3.fntdata"/><Relationship Id="rId132" Type="http://schemas.openxmlformats.org/officeDocument/2006/relationships/font" Target="fonts/font24.fntdata"/><Relationship Id="rId140" Type="http://schemas.openxmlformats.org/officeDocument/2006/relationships/font" Target="fonts/font32.fntdata"/><Relationship Id="rId145" Type="http://schemas.openxmlformats.org/officeDocument/2006/relationships/font" Target="fonts/font37.fntdata"/><Relationship Id="rId179" Type="http://schemas.openxmlformats.org/officeDocument/2006/relationships/presProps" Target="presProps.xml"/><Relationship Id="rId18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font" Target="fonts/font6.fntdata"/><Relationship Id="rId119" Type="http://schemas.openxmlformats.org/officeDocument/2006/relationships/font" Target="fonts/font11.fntdata"/><Relationship Id="rId127" Type="http://schemas.openxmlformats.org/officeDocument/2006/relationships/font" Target="fonts/font19.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font" Target="fonts/font14.fntdata"/><Relationship Id="rId130" Type="http://schemas.openxmlformats.org/officeDocument/2006/relationships/font" Target="fonts/font22.fntdata"/><Relationship Id="rId135" Type="http://schemas.openxmlformats.org/officeDocument/2006/relationships/font" Target="fonts/font27.fntdata"/><Relationship Id="rId143" Type="http://schemas.openxmlformats.org/officeDocument/2006/relationships/font" Target="fonts/font35.fntdata"/><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viewProps" Target="view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font" Target="fonts/font1.fntdata"/><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font" Target="fonts/font12.fntdata"/><Relationship Id="rId125" Type="http://schemas.openxmlformats.org/officeDocument/2006/relationships/font" Target="fonts/font17.fntdata"/><Relationship Id="rId141" Type="http://schemas.openxmlformats.org/officeDocument/2006/relationships/font" Target="fonts/font33.fntdata"/><Relationship Id="rId146" Type="http://schemas.openxmlformats.org/officeDocument/2006/relationships/font" Target="fonts/font38.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font" Target="fonts/font2.fntdata"/><Relationship Id="rId115" Type="http://schemas.openxmlformats.org/officeDocument/2006/relationships/font" Target="fonts/font7.fntdata"/><Relationship Id="rId131" Type="http://schemas.openxmlformats.org/officeDocument/2006/relationships/font" Target="fonts/font23.fntdata"/><Relationship Id="rId136" Type="http://schemas.openxmlformats.org/officeDocument/2006/relationships/font" Target="fonts/font28.fntdata"/><Relationship Id="rId178" Type="http://customschemas.google.com/relationships/presentationmetadata" Target="metadata"/><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font" Target="fonts/font18.fntdata"/><Relationship Id="rId147" Type="http://schemas.openxmlformats.org/officeDocument/2006/relationships/font" Target="fonts/font39.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font" Target="fonts/font13.fntdata"/><Relationship Id="rId142" Type="http://schemas.openxmlformats.org/officeDocument/2006/relationships/font" Target="fonts/font34.fntdata"/><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8096948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3969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
        <p:nvSpPr>
          <p:cNvPr id="127" name="Google Shape;12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28" name="Google Shape;12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14360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
        <p:nvSpPr>
          <p:cNvPr id="135" name="Google Shape;13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6" name="Google Shape;13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4976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33616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
        <p:nvSpPr>
          <p:cNvPr id="150" name="Google Shape;15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51" name="Google Shape;15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6056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
        <p:nvSpPr>
          <p:cNvPr id="158" name="Google Shape;1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59" name="Google Shape;15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9688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1879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68378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17242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2077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07603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1"/>
        <p:cNvGrpSpPr/>
        <p:nvPr/>
      </p:nvGrpSpPr>
      <p:grpSpPr>
        <a:xfrm>
          <a:off x="0" y="0"/>
          <a:ext cx="0" cy="0"/>
          <a:chOff x="0" y="0"/>
          <a:chExt cx="0" cy="0"/>
        </a:xfrm>
      </p:grpSpPr>
      <p:sp>
        <p:nvSpPr>
          <p:cNvPr id="1212" name="Google Shape;1212;p1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3" name="Google Shape;1213;p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25435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p1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1" name="Google Shape;1221;p1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9689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p1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1" name="Google Shape;1231;p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7251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9"/>
        <p:cNvGrpSpPr/>
        <p:nvPr/>
      </p:nvGrpSpPr>
      <p:grpSpPr>
        <a:xfrm>
          <a:off x="0" y="0"/>
          <a:ext cx="0" cy="0"/>
          <a:chOff x="0" y="0"/>
          <a:chExt cx="0" cy="0"/>
        </a:xfrm>
      </p:grpSpPr>
      <p:sp>
        <p:nvSpPr>
          <p:cNvPr id="1240" name="Google Shape;1240;p1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1" name="Google Shape;1241;p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62633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7"/>
        <p:cNvGrpSpPr/>
        <p:nvPr/>
      </p:nvGrpSpPr>
      <p:grpSpPr>
        <a:xfrm>
          <a:off x="0" y="0"/>
          <a:ext cx="0" cy="0"/>
          <a:chOff x="0" y="0"/>
          <a:chExt cx="0" cy="0"/>
        </a:xfrm>
      </p:grpSpPr>
      <p:sp>
        <p:nvSpPr>
          <p:cNvPr id="1248" name="Google Shape;1248;p1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9" name="Google Shape;1249;p1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23712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5"/>
        <p:cNvGrpSpPr/>
        <p:nvPr/>
      </p:nvGrpSpPr>
      <p:grpSpPr>
        <a:xfrm>
          <a:off x="0" y="0"/>
          <a:ext cx="0" cy="0"/>
          <a:chOff x="0" y="0"/>
          <a:chExt cx="0" cy="0"/>
        </a:xfrm>
      </p:grpSpPr>
      <p:sp>
        <p:nvSpPr>
          <p:cNvPr id="1256" name="Google Shape;1256;p1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7" name="Google Shape;1257;p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0211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4"/>
        <p:cNvGrpSpPr/>
        <p:nvPr/>
      </p:nvGrpSpPr>
      <p:grpSpPr>
        <a:xfrm>
          <a:off x="0" y="0"/>
          <a:ext cx="0" cy="0"/>
          <a:chOff x="0" y="0"/>
          <a:chExt cx="0" cy="0"/>
        </a:xfrm>
      </p:grpSpPr>
      <p:sp>
        <p:nvSpPr>
          <p:cNvPr id="1265" name="Google Shape;1265;p1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6" name="Google Shape;1266;p1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66139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3"/>
        <p:cNvGrpSpPr/>
        <p:nvPr/>
      </p:nvGrpSpPr>
      <p:grpSpPr>
        <a:xfrm>
          <a:off x="0" y="0"/>
          <a:ext cx="0" cy="0"/>
          <a:chOff x="0" y="0"/>
          <a:chExt cx="0" cy="0"/>
        </a:xfrm>
      </p:grpSpPr>
      <p:sp>
        <p:nvSpPr>
          <p:cNvPr id="1274" name="Google Shape;1274;p1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5" name="Google Shape;1275;p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23890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1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4" name="Google Shape;1284;p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69289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1"/>
        <p:cNvGrpSpPr/>
        <p:nvPr/>
      </p:nvGrpSpPr>
      <p:grpSpPr>
        <a:xfrm>
          <a:off x="0" y="0"/>
          <a:ext cx="0" cy="0"/>
          <a:chOff x="0" y="0"/>
          <a:chExt cx="0" cy="0"/>
        </a:xfrm>
      </p:grpSpPr>
      <p:sp>
        <p:nvSpPr>
          <p:cNvPr id="1292" name="Google Shape;1292;p1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3" name="Google Shape;1293;p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13855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9"/>
        <p:cNvGrpSpPr/>
        <p:nvPr/>
      </p:nvGrpSpPr>
      <p:grpSpPr>
        <a:xfrm>
          <a:off x="0" y="0"/>
          <a:ext cx="0" cy="0"/>
          <a:chOff x="0" y="0"/>
          <a:chExt cx="0" cy="0"/>
        </a:xfrm>
      </p:grpSpPr>
      <p:sp>
        <p:nvSpPr>
          <p:cNvPr id="1300" name="Google Shape;1300;p1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1" name="Google Shape;1301;p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49804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9"/>
        <p:cNvGrpSpPr/>
        <p:nvPr/>
      </p:nvGrpSpPr>
      <p:grpSpPr>
        <a:xfrm>
          <a:off x="0" y="0"/>
          <a:ext cx="0" cy="0"/>
          <a:chOff x="0" y="0"/>
          <a:chExt cx="0" cy="0"/>
        </a:xfrm>
      </p:grpSpPr>
      <p:sp>
        <p:nvSpPr>
          <p:cNvPr id="1310" name="Google Shape;1310;p1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1" name="Google Shape;1311;p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4316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8"/>
        <p:cNvGrpSpPr/>
        <p:nvPr/>
      </p:nvGrpSpPr>
      <p:grpSpPr>
        <a:xfrm>
          <a:off x="0" y="0"/>
          <a:ext cx="0" cy="0"/>
          <a:chOff x="0" y="0"/>
          <a:chExt cx="0" cy="0"/>
        </a:xfrm>
      </p:grpSpPr>
      <p:sp>
        <p:nvSpPr>
          <p:cNvPr id="1319" name="Google Shape;1319;p1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0" name="Google Shape;1320;p1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01311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8"/>
        <p:cNvGrpSpPr/>
        <p:nvPr/>
      </p:nvGrpSpPr>
      <p:grpSpPr>
        <a:xfrm>
          <a:off x="0" y="0"/>
          <a:ext cx="0" cy="0"/>
          <a:chOff x="0" y="0"/>
          <a:chExt cx="0" cy="0"/>
        </a:xfrm>
      </p:grpSpPr>
      <p:sp>
        <p:nvSpPr>
          <p:cNvPr id="1329" name="Google Shape;1329;p1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0" name="Google Shape;1330;p1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67555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0" name="Google Shape;580;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96564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8" name="Google Shape;588;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31476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8" name="Google Shape;618;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61246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6" name="Google Shape;636;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17321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6" name="Google Shape;626;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59721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2" name="Google Shape;662;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59065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4" name="Google Shape;644;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37982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0" name="Google Shape;670;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05395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93693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60</a:t>
            </a:fld>
            <a:endParaRPr/>
          </a:p>
        </p:txBody>
      </p:sp>
      <p:sp>
        <p:nvSpPr>
          <p:cNvPr id="563" name="Google Shape;563;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4" name="Google Shape;564;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Answer 1: 6</a:t>
            </a:r>
            <a:endParaRPr/>
          </a:p>
          <a:p>
            <a:pPr marL="0" lvl="0" indent="0" algn="l" rtl="0">
              <a:spcBef>
                <a:spcPts val="0"/>
              </a:spcBef>
              <a:spcAft>
                <a:spcPts val="0"/>
              </a:spcAft>
              <a:buNone/>
            </a:pPr>
            <a:r>
              <a:rPr lang="en-US"/>
              <a:t>Answer 2: 1010, 1011, 1100, 1101, 1110, 1111</a:t>
            </a:r>
            <a:endParaRPr/>
          </a:p>
        </p:txBody>
      </p:sp>
    </p:spTree>
    <p:extLst>
      <p:ext uri="{BB962C8B-B14F-4D97-AF65-F5344CB8AC3E}">
        <p14:creationId xmlns:p14="http://schemas.microsoft.com/office/powerpoint/2010/main" val="39569391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5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61</a:t>
            </a:fld>
            <a:endParaRPr/>
          </a:p>
        </p:txBody>
      </p:sp>
      <p:sp>
        <p:nvSpPr>
          <p:cNvPr id="571" name="Google Shape;571;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2" name="Google Shape;572;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Answer: Both of these codes have the property that the codes for 0 and 9, 1 and 8, etc. can be obtained from each other by replacing the 0’s with the 1’s  and vice-versa in the code words. Such a code is sometimes called a </a:t>
            </a:r>
            <a:r>
              <a:rPr lang="en-US" i="1" dirty="0"/>
              <a:t>complement code</a:t>
            </a:r>
            <a:r>
              <a:rPr lang="en-US" dirty="0"/>
              <a:t>. </a:t>
            </a:r>
            <a:endParaRPr dirty="0"/>
          </a:p>
        </p:txBody>
      </p:sp>
    </p:spTree>
    <p:extLst>
      <p:ext uri="{BB962C8B-B14F-4D97-AF65-F5344CB8AC3E}">
        <p14:creationId xmlns:p14="http://schemas.microsoft.com/office/powerpoint/2010/main" val="1187211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8" name="Google Shape;678;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12692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6" name="Google Shape;686;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91264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4" name="Google Shape;694;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07745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2" name="Google Shape;702;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48340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0" name="Google Shape;710;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78753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8" name="Google Shape;718;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40880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7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6" name="Google Shape;726;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21716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7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4" name="Google Shape;734;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02769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p7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2" name="Google Shape;742;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50271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p7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1" name="Google Shape;751;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61880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9" name="Google Shape;759;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00063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p7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9" name="Google Shape;769;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483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7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7" name="Google Shape;777;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21131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p8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5" name="Google Shape;785;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071893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p8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3" name="Google Shape;793;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384773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p8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3" name="Google Shape;803;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56858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1" name="Google Shape;811;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07552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p8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9" name="Google Shape;819;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989407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p8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6" name="Google Shape;826;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48646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p8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5" name="Google Shape;835;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492442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p8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3" name="Google Shape;843;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902909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8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1" name="Google Shape;851;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59102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p8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9" name="Google Shape;859;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339819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pPr marL="0" marR="0" lvl="0" indent="0" algn="r" rtl="0">
                <a:spcBef>
                  <a:spcPts val="0"/>
                </a:spcBef>
                <a:spcAft>
                  <a:spcPts val="0"/>
                </a:spcAft>
                <a:buNone/>
              </a:pPr>
              <a:t>93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74584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16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6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1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6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6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1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1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7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7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17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17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7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7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17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1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1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17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7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17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1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17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76"/>
          <p:cNvSpPr>
            <a:spLocks noGrp="1"/>
          </p:cNvSpPr>
          <p:nvPr>
            <p:ph type="pic" idx="2"/>
          </p:nvPr>
        </p:nvSpPr>
        <p:spPr>
          <a:xfrm>
            <a:off x="5183188" y="987425"/>
            <a:ext cx="6172200" cy="4873625"/>
          </a:xfrm>
          <a:prstGeom prst="rect">
            <a:avLst/>
          </a:prstGeom>
          <a:noFill/>
          <a:ln>
            <a:noFill/>
          </a:ln>
        </p:spPr>
      </p:sp>
      <p:sp>
        <p:nvSpPr>
          <p:cNvPr id="69" name="Google Shape;69;p17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1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17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7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17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1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a:buClrTx/>
            </a:pPr>
            <a:endParaRPr lang="en-IN" sz="1800">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a:buClrTx/>
            </a:pPr>
            <a:endParaRPr lang="en-US" sz="1800">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a:buClrTx/>
            </a:pPr>
            <a:fld id="{B6F15528-21DE-4FAA-801E-634DDDAF4B2B}" type="slidenum">
              <a:rPr lang="en-IN" sz="1800" smtClean="0">
                <a:solidFill>
                  <a:prstClr val="black">
                    <a:tint val="75000"/>
                  </a:prstClr>
                </a:solidFill>
              </a:rPr>
              <a:pPr>
                <a:buClrTx/>
              </a:pPr>
              <a:t>‹#›</a:t>
            </a:fld>
            <a:endParaRPr lang="en-IN" sz="1800">
              <a:solidFill>
                <a:prstClr val="black">
                  <a:tint val="75000"/>
                </a:prstClr>
              </a:solidFill>
            </a:endParaRPr>
          </a:p>
        </p:txBody>
      </p:sp>
    </p:spTree>
    <p:extLst>
      <p:ext uri="{BB962C8B-B14F-4D97-AF65-F5344CB8AC3E}">
        <p14:creationId xmlns:p14="http://schemas.microsoft.com/office/powerpoint/2010/main" val="18121819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a:buClrTx/>
            </a:pPr>
            <a:endParaRPr lang="en-IN" sz="1800">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a:buClrTx/>
            </a:pPr>
            <a:endParaRPr lang="en-US" sz="1800">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a:buClrTx/>
            </a:pPr>
            <a:fld id="{B6F15528-21DE-4FAA-801E-634DDDAF4B2B}" type="slidenum">
              <a:rPr lang="en-IN" sz="1800" smtClean="0">
                <a:solidFill>
                  <a:prstClr val="black">
                    <a:tint val="75000"/>
                  </a:prstClr>
                </a:solidFill>
              </a:rPr>
              <a:pPr>
                <a:buClrTx/>
              </a:pPr>
              <a:t>‹#›</a:t>
            </a:fld>
            <a:endParaRPr lang="en-IN" sz="1800">
              <a:solidFill>
                <a:prstClr val="black">
                  <a:tint val="75000"/>
                </a:prstClr>
              </a:solidFill>
            </a:endParaRPr>
          </a:p>
        </p:txBody>
      </p:sp>
    </p:spTree>
    <p:extLst>
      <p:ext uri="{BB962C8B-B14F-4D97-AF65-F5344CB8AC3E}">
        <p14:creationId xmlns:p14="http://schemas.microsoft.com/office/powerpoint/2010/main" val="9286783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pPr>
              <a:buClrTx/>
            </a:pPr>
            <a:endParaRPr lang="en-IN" sz="1800">
              <a:solidFill>
                <a:prstClr val="black">
                  <a:tint val="75000"/>
                </a:prstClr>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pPr>
              <a:buClrTx/>
            </a:pPr>
            <a:endParaRPr lang="en-US" sz="1800">
              <a:solidFill>
                <a:prstClr val="black">
                  <a:tint val="75000"/>
                </a:prstClr>
              </a:solidFill>
            </a:endParaRP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pPr>
              <a:buClrTx/>
            </a:pPr>
            <a:fld id="{B6F15528-21DE-4FAA-801E-634DDDAF4B2B}" type="slidenum">
              <a:rPr lang="en-IN" sz="1800" smtClean="0">
                <a:solidFill>
                  <a:prstClr val="black">
                    <a:tint val="75000"/>
                  </a:prstClr>
                </a:solidFill>
              </a:rPr>
              <a:pPr>
                <a:buClrTx/>
              </a:pPr>
              <a:t>‹#›</a:t>
            </a:fld>
            <a:endParaRPr lang="en-IN" sz="1800">
              <a:solidFill>
                <a:prstClr val="black">
                  <a:tint val="75000"/>
                </a:prstClr>
              </a:solidFill>
            </a:endParaRPr>
          </a:p>
        </p:txBody>
      </p:sp>
    </p:spTree>
    <p:extLst>
      <p:ext uri="{BB962C8B-B14F-4D97-AF65-F5344CB8AC3E}">
        <p14:creationId xmlns:p14="http://schemas.microsoft.com/office/powerpoint/2010/main" val="6617317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pPr>
              <a:buClrTx/>
            </a:pPr>
            <a:endParaRPr lang="en-IN" sz="1800">
              <a:solidFill>
                <a:prstClr val="black">
                  <a:tint val="75000"/>
                </a:prstClr>
              </a:solidFil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pPr>
              <a:buClrTx/>
            </a:pPr>
            <a:endParaRPr lang="en-US" sz="1800">
              <a:solidFill>
                <a:prstClr val="black">
                  <a:tint val="75000"/>
                </a:prstClr>
              </a:solidFill>
            </a:endParaRP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pPr>
              <a:buClrTx/>
            </a:pPr>
            <a:fld id="{B6F15528-21DE-4FAA-801E-634DDDAF4B2B}" type="slidenum">
              <a:rPr lang="en-IN" sz="1800" smtClean="0">
                <a:solidFill>
                  <a:prstClr val="black">
                    <a:tint val="75000"/>
                  </a:prstClr>
                </a:solidFill>
              </a:rPr>
              <a:pPr>
                <a:buClrTx/>
              </a:pPr>
              <a:t>‹#›</a:t>
            </a:fld>
            <a:endParaRPr lang="en-IN" sz="1800">
              <a:solidFill>
                <a:prstClr val="black">
                  <a:tint val="75000"/>
                </a:prstClr>
              </a:solidFill>
            </a:endParaRPr>
          </a:p>
        </p:txBody>
      </p:sp>
    </p:spTree>
    <p:extLst>
      <p:ext uri="{BB962C8B-B14F-4D97-AF65-F5344CB8AC3E}">
        <p14:creationId xmlns:p14="http://schemas.microsoft.com/office/powerpoint/2010/main" val="7021973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pPr>
              <a:buClrTx/>
            </a:pPr>
            <a:endParaRPr lang="en-IN" sz="1800">
              <a:solidFill>
                <a:prstClr val="black">
                  <a:tint val="75000"/>
                </a:prstClr>
              </a:solidFil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a:buClrTx/>
            </a:pPr>
            <a:endParaRPr lang="en-US" sz="1800">
              <a:solidFill>
                <a:prstClr val="black">
                  <a:tint val="75000"/>
                </a:prstClr>
              </a:solidFill>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pPr>
              <a:buClrTx/>
            </a:pPr>
            <a:fld id="{B6F15528-21DE-4FAA-801E-634DDDAF4B2B}" type="slidenum">
              <a:rPr lang="en-IN" sz="1800" smtClean="0">
                <a:solidFill>
                  <a:prstClr val="black">
                    <a:tint val="75000"/>
                  </a:prstClr>
                </a:solidFill>
              </a:rPr>
              <a:pPr>
                <a:buClrTx/>
              </a:pPr>
              <a:t>‹#›</a:t>
            </a:fld>
            <a:endParaRPr lang="en-IN" sz="1800">
              <a:solidFill>
                <a:prstClr val="black">
                  <a:tint val="75000"/>
                </a:prstClr>
              </a:solidFill>
            </a:endParaRPr>
          </a:p>
        </p:txBody>
      </p:sp>
    </p:spTree>
    <p:extLst>
      <p:ext uri="{BB962C8B-B14F-4D97-AF65-F5344CB8AC3E}">
        <p14:creationId xmlns:p14="http://schemas.microsoft.com/office/powerpoint/2010/main" val="2245861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2.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167"/>
          <p:cNvSpPr/>
          <p:nvPr/>
        </p:nvSpPr>
        <p:spPr>
          <a:xfrm>
            <a:off x="10504715" y="230188"/>
            <a:ext cx="1231640" cy="690465"/>
          </a:xfrm>
          <a:prstGeom prst="rect">
            <a:avLst/>
          </a:prstGeom>
          <a:blipFill rotWithShape="1">
            <a:blip r:embed="rId1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09600" y="274320"/>
            <a:ext cx="10972800"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609600" y="1577340"/>
            <a:ext cx="109728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1"/>
            <a:ext cx="3901440" cy="276999"/>
          </a:xfrm>
          <a:prstGeom prst="rect">
            <a:avLst/>
          </a:prstGeom>
        </p:spPr>
        <p:txBody>
          <a:bodyPr wrap="square" lIns="0" tIns="0" rIns="0" bIns="0">
            <a:spAutoFit/>
          </a:bodyPr>
          <a:lstStyle>
            <a:lvl1pPr algn="ctr">
              <a:defRPr>
                <a:solidFill>
                  <a:schemeClr val="tx1">
                    <a:tint val="75000"/>
                  </a:schemeClr>
                </a:solidFill>
              </a:defRPr>
            </a:lvl1pPr>
          </a:lstStyle>
          <a:p>
            <a:pPr>
              <a:buClrTx/>
            </a:pPr>
            <a:endParaRPr lang="en-IN" sz="1800">
              <a:solidFill>
                <a:prstClr val="black">
                  <a:tint val="75000"/>
                </a:prstClr>
              </a:solidFill>
            </a:endParaRPr>
          </a:p>
        </p:txBody>
      </p:sp>
      <p:sp>
        <p:nvSpPr>
          <p:cNvPr id="5" name="Holder 5"/>
          <p:cNvSpPr>
            <a:spLocks noGrp="1"/>
          </p:cNvSpPr>
          <p:nvPr>
            <p:ph type="dt" sz="half" idx="6"/>
          </p:nvPr>
        </p:nvSpPr>
        <p:spPr>
          <a:xfrm>
            <a:off x="609600" y="6377941"/>
            <a:ext cx="2804160" cy="276999"/>
          </a:xfrm>
          <a:prstGeom prst="rect">
            <a:avLst/>
          </a:prstGeom>
        </p:spPr>
        <p:txBody>
          <a:bodyPr wrap="square" lIns="0" tIns="0" rIns="0" bIns="0">
            <a:spAutoFit/>
          </a:bodyPr>
          <a:lstStyle>
            <a:lvl1pPr algn="l">
              <a:defRPr>
                <a:solidFill>
                  <a:schemeClr val="tx1">
                    <a:tint val="75000"/>
                  </a:schemeClr>
                </a:solidFill>
              </a:defRPr>
            </a:lvl1pPr>
          </a:lstStyle>
          <a:p>
            <a:pPr>
              <a:buClrTx/>
            </a:pPr>
            <a:endParaRPr lang="en-US" sz="1800">
              <a:solidFill>
                <a:prstClr val="black">
                  <a:tint val="75000"/>
                </a:prstClr>
              </a:solidFill>
            </a:endParaRPr>
          </a:p>
        </p:txBody>
      </p:sp>
      <p:sp>
        <p:nvSpPr>
          <p:cNvPr id="6" name="Holder 6"/>
          <p:cNvSpPr>
            <a:spLocks noGrp="1"/>
          </p:cNvSpPr>
          <p:nvPr>
            <p:ph type="sldNum" sz="quarter" idx="7"/>
          </p:nvPr>
        </p:nvSpPr>
        <p:spPr>
          <a:xfrm>
            <a:off x="8778240" y="6377941"/>
            <a:ext cx="2804160" cy="276999"/>
          </a:xfrm>
          <a:prstGeom prst="rect">
            <a:avLst/>
          </a:prstGeom>
        </p:spPr>
        <p:txBody>
          <a:bodyPr wrap="square" lIns="0" tIns="0" rIns="0" bIns="0">
            <a:spAutoFit/>
          </a:bodyPr>
          <a:lstStyle>
            <a:lvl1pPr algn="r">
              <a:defRPr>
                <a:solidFill>
                  <a:schemeClr val="tx1">
                    <a:tint val="75000"/>
                  </a:schemeClr>
                </a:solidFill>
              </a:defRPr>
            </a:lvl1pPr>
          </a:lstStyle>
          <a:p>
            <a:pPr>
              <a:buClrTx/>
            </a:pPr>
            <a:fld id="{B6F15528-21DE-4FAA-801E-634DDDAF4B2B}" type="slidenum">
              <a:rPr lang="en-IN" sz="1800" smtClean="0">
                <a:solidFill>
                  <a:prstClr val="black">
                    <a:tint val="75000"/>
                  </a:prstClr>
                </a:solidFill>
              </a:rPr>
              <a:pPr>
                <a:buClrTx/>
              </a:pPr>
              <a:t>‹#›</a:t>
            </a:fld>
            <a:endParaRPr lang="en-IN" sz="1800">
              <a:solidFill>
                <a:prstClr val="black">
                  <a:tint val="75000"/>
                </a:prstClr>
              </a:solidFill>
            </a:endParaRPr>
          </a:p>
        </p:txBody>
      </p:sp>
    </p:spTree>
    <p:extLst>
      <p:ext uri="{BB962C8B-B14F-4D97-AF65-F5344CB8AC3E}">
        <p14:creationId xmlns:p14="http://schemas.microsoft.com/office/powerpoint/2010/main" val="37758184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jp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jp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jp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jp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jp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9.jp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0.jp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jp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jp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www.knowelectronic.com/binary-numbers/"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www.knowelectronic.com/binary-numbers/"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7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9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hyperlink" Target="https://www.electrical4u.com/not-gate/" TargetMode="Externa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10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p:nvPr/>
        </p:nvSpPr>
        <p:spPr>
          <a:xfrm>
            <a:off x="623392" y="908720"/>
            <a:ext cx="11089232" cy="5472608"/>
          </a:xfrm>
          <a:prstGeom prst="rect">
            <a:avLst/>
          </a:prstGeom>
          <a:noFill/>
          <a:ln w="2857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4" name="Google Shape;124;p1"/>
          <p:cNvSpPr txBox="1">
            <a:spLocks noGrp="1"/>
          </p:cNvSpPr>
          <p:nvPr>
            <p:ph type="ctrTitle"/>
          </p:nvPr>
        </p:nvSpPr>
        <p:spPr>
          <a:xfrm>
            <a:off x="1596008" y="1916832"/>
            <a:ext cx="9144000" cy="3888432"/>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00000"/>
              <a:buFont typeface="Palatino Linotype"/>
              <a:buNone/>
            </a:pPr>
            <a:r>
              <a:rPr lang="en-US" sz="4800" b="1" i="0" u="none" strike="noStrike" cap="none">
                <a:solidFill>
                  <a:schemeClr val="dk1"/>
                </a:solidFill>
                <a:latin typeface="Palatino Linotype"/>
                <a:ea typeface="Palatino Linotype"/>
                <a:cs typeface="Palatino Linotype"/>
                <a:sym typeface="Palatino Linotype"/>
              </a:rPr>
              <a:t/>
            </a:r>
            <a:br>
              <a:rPr lang="en-US" sz="4800" b="1" i="0" u="none" strike="noStrike" cap="none">
                <a:solidFill>
                  <a:schemeClr val="dk1"/>
                </a:solidFill>
                <a:latin typeface="Palatino Linotype"/>
                <a:ea typeface="Palatino Linotype"/>
                <a:cs typeface="Palatino Linotype"/>
                <a:sym typeface="Palatino Linotype"/>
              </a:rPr>
            </a:br>
            <a:r>
              <a:rPr lang="en-US" sz="4800" b="1" i="0" u="none" strike="noStrike" cap="none">
                <a:solidFill>
                  <a:schemeClr val="dk1"/>
                </a:solidFill>
                <a:latin typeface="Palatino Linotype"/>
                <a:ea typeface="Palatino Linotype"/>
                <a:cs typeface="Palatino Linotype"/>
                <a:sym typeface="Palatino Linotype"/>
              </a:rPr>
              <a:t/>
            </a:r>
            <a:br>
              <a:rPr lang="en-US" sz="4800" b="1" i="0" u="none" strike="noStrike" cap="none">
                <a:solidFill>
                  <a:schemeClr val="dk1"/>
                </a:solidFill>
                <a:latin typeface="Palatino Linotype"/>
                <a:ea typeface="Palatino Linotype"/>
                <a:cs typeface="Palatino Linotype"/>
                <a:sym typeface="Palatino Linotype"/>
              </a:rPr>
            </a:br>
            <a:r>
              <a:rPr lang="en-US" sz="4800" b="1" i="0" u="none" strike="noStrike" cap="none">
                <a:solidFill>
                  <a:schemeClr val="dk1"/>
                </a:solidFill>
                <a:latin typeface="Palatino Linotype"/>
                <a:ea typeface="Palatino Linotype"/>
                <a:cs typeface="Palatino Linotype"/>
                <a:sym typeface="Palatino Linotype"/>
              </a:rPr>
              <a:t/>
            </a:r>
            <a:br>
              <a:rPr lang="en-US" sz="4800" b="1" i="0" u="none" strike="noStrike" cap="none">
                <a:solidFill>
                  <a:schemeClr val="dk1"/>
                </a:solidFill>
                <a:latin typeface="Palatino Linotype"/>
                <a:ea typeface="Palatino Linotype"/>
                <a:cs typeface="Palatino Linotype"/>
                <a:sym typeface="Palatino Linotype"/>
              </a:rPr>
            </a:br>
            <a:r>
              <a:rPr lang="en-US" sz="4900" b="1" i="0" u="none" strike="noStrike" cap="none">
                <a:solidFill>
                  <a:srgbClr val="FF0000"/>
                </a:solidFill>
                <a:latin typeface="Arial Black"/>
                <a:ea typeface="Arial Black"/>
                <a:cs typeface="Arial Black"/>
                <a:sym typeface="Arial Black"/>
              </a:rPr>
              <a:t>21CSS201T</a:t>
            </a:r>
            <a:br>
              <a:rPr lang="en-US" sz="4900" b="1" i="0" u="none" strike="noStrike" cap="none">
                <a:solidFill>
                  <a:srgbClr val="FF0000"/>
                </a:solidFill>
                <a:latin typeface="Arial Black"/>
                <a:ea typeface="Arial Black"/>
                <a:cs typeface="Arial Black"/>
                <a:sym typeface="Arial Black"/>
              </a:rPr>
            </a:br>
            <a:r>
              <a:rPr lang="en-US" sz="4900" b="1" i="0" u="none" strike="noStrike" cap="none">
                <a:solidFill>
                  <a:srgbClr val="FF0000"/>
                </a:solidFill>
                <a:latin typeface="Arial Black"/>
                <a:ea typeface="Arial Black"/>
                <a:cs typeface="Arial Black"/>
                <a:sym typeface="Arial Black"/>
              </a:rPr>
              <a:t>COMPUTER ORGANIZATION AND ARCHITECTURE</a:t>
            </a:r>
            <a:br>
              <a:rPr lang="en-US" sz="4900" b="1" i="0" u="none" strike="noStrike" cap="none">
                <a:solidFill>
                  <a:srgbClr val="FF0000"/>
                </a:solidFill>
                <a:latin typeface="Arial Black"/>
                <a:ea typeface="Arial Black"/>
                <a:cs typeface="Arial Black"/>
                <a:sym typeface="Arial Black"/>
              </a:rPr>
            </a:br>
            <a:r>
              <a:rPr lang="en-US" sz="4900" b="1" i="0" u="none" strike="noStrike" cap="none">
                <a:solidFill>
                  <a:srgbClr val="FF0000"/>
                </a:solidFill>
                <a:latin typeface="Arial Black"/>
                <a:ea typeface="Arial Black"/>
                <a:cs typeface="Arial Black"/>
                <a:sym typeface="Arial Black"/>
              </a:rPr>
              <a:t/>
            </a:r>
            <a:br>
              <a:rPr lang="en-US" sz="4900" b="1" i="0" u="none" strike="noStrike" cap="none">
                <a:solidFill>
                  <a:srgbClr val="FF0000"/>
                </a:solidFill>
                <a:latin typeface="Arial Black"/>
                <a:ea typeface="Arial Black"/>
                <a:cs typeface="Arial Black"/>
                <a:sym typeface="Arial Black"/>
              </a:rPr>
            </a:br>
            <a:r>
              <a:rPr lang="en-US" sz="4900" b="1" i="0" u="none" strike="noStrike" cap="none">
                <a:solidFill>
                  <a:srgbClr val="FF0000"/>
                </a:solidFill>
                <a:latin typeface="Arial Black"/>
                <a:ea typeface="Arial Black"/>
                <a:cs typeface="Arial Black"/>
                <a:sym typeface="Arial Black"/>
              </a:rPr>
              <a:t>UNIT-1</a:t>
            </a:r>
            <a:r>
              <a:rPr lang="en-US" sz="4900" b="1" i="0" u="none" strike="noStrike" cap="none">
                <a:solidFill>
                  <a:schemeClr val="dk1"/>
                </a:solidFill>
                <a:latin typeface="Arial Black"/>
                <a:ea typeface="Arial Black"/>
                <a:cs typeface="Arial Black"/>
                <a:sym typeface="Arial Black"/>
              </a:rPr>
              <a:t/>
            </a:r>
            <a:br>
              <a:rPr lang="en-US" sz="4900" b="1" i="0" u="none" strike="noStrike" cap="none">
                <a:solidFill>
                  <a:schemeClr val="dk1"/>
                </a:solidFill>
                <a:latin typeface="Arial Black"/>
                <a:ea typeface="Arial Black"/>
                <a:cs typeface="Arial Black"/>
                <a:sym typeface="Arial Black"/>
              </a:rPr>
            </a:br>
            <a:endParaRPr sz="4900" b="1" i="0" u="none" strike="noStrike" cap="none">
              <a:solidFill>
                <a:schemeClr val="dk1"/>
              </a:solidFill>
              <a:latin typeface="Arial Black"/>
              <a:ea typeface="Arial Black"/>
              <a:cs typeface="Arial Black"/>
              <a:sym typeface="Arial Black"/>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1" name="Google Shape;131;p2"/>
          <p:cNvSpPr txBox="1">
            <a:spLocks noGrp="1"/>
          </p:cNvSpPr>
          <p:nvPr>
            <p:ph type="body" idx="1"/>
          </p:nvPr>
        </p:nvSpPr>
        <p:spPr>
          <a:xfrm>
            <a:off x="191344" y="1772816"/>
            <a:ext cx="11086256" cy="4104456"/>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Clr>
                <a:schemeClr val="dk1"/>
              </a:buClr>
              <a:buSzPts val="2400"/>
              <a:buFont typeface="Noto Sans Symbols"/>
              <a:buChar char="⮚"/>
            </a:pPr>
            <a:r>
              <a:rPr lang="en-US" sz="2400">
                <a:latin typeface="Arial"/>
                <a:ea typeface="Arial"/>
                <a:cs typeface="Arial"/>
                <a:sym typeface="Arial"/>
              </a:rPr>
              <a:t>Know the difference between computer organization and computer architecture.</a:t>
            </a:r>
            <a:endParaRPr/>
          </a:p>
          <a:p>
            <a:pPr marL="228600" lvl="0" indent="-228600" algn="just" rtl="0">
              <a:lnSpc>
                <a:spcPct val="120000"/>
              </a:lnSpc>
              <a:spcBef>
                <a:spcPts val="720"/>
              </a:spcBef>
              <a:spcAft>
                <a:spcPts val="0"/>
              </a:spcAft>
              <a:buClr>
                <a:schemeClr val="dk1"/>
              </a:buClr>
              <a:buSzPts val="2400"/>
              <a:buFont typeface="Noto Sans Symbols"/>
              <a:buChar char="⮚"/>
            </a:pPr>
            <a:r>
              <a:rPr lang="en-US" sz="2400">
                <a:latin typeface="Arial"/>
                <a:ea typeface="Arial"/>
                <a:cs typeface="Arial"/>
                <a:sym typeface="Arial"/>
              </a:rPr>
              <a:t>Understand units of measure common to computer systems</a:t>
            </a:r>
            <a:endParaRPr/>
          </a:p>
          <a:p>
            <a:pPr marL="228600" lvl="0" indent="-228600" algn="just" rtl="0">
              <a:lnSpc>
                <a:spcPct val="120000"/>
              </a:lnSpc>
              <a:spcBef>
                <a:spcPts val="720"/>
              </a:spcBef>
              <a:spcAft>
                <a:spcPts val="0"/>
              </a:spcAft>
              <a:buClr>
                <a:schemeClr val="dk1"/>
              </a:buClr>
              <a:buSzPts val="2400"/>
              <a:buFont typeface="Noto Sans Symbols"/>
              <a:buChar char="⮚"/>
            </a:pPr>
            <a:r>
              <a:rPr lang="en-US" sz="2400">
                <a:latin typeface="Arial"/>
                <a:ea typeface="Arial"/>
                <a:cs typeface="Arial"/>
                <a:sym typeface="Arial"/>
              </a:rPr>
              <a:t>Appreciate the evolution of computers.</a:t>
            </a:r>
            <a:endParaRPr/>
          </a:p>
          <a:p>
            <a:pPr marL="228600" lvl="0" indent="-228600" algn="just" rtl="0">
              <a:lnSpc>
                <a:spcPct val="120000"/>
              </a:lnSpc>
              <a:spcBef>
                <a:spcPts val="720"/>
              </a:spcBef>
              <a:spcAft>
                <a:spcPts val="0"/>
              </a:spcAft>
              <a:buClr>
                <a:schemeClr val="dk1"/>
              </a:buClr>
              <a:buSzPts val="2400"/>
              <a:buFont typeface="Noto Sans Symbols"/>
              <a:buChar char="⮚"/>
            </a:pPr>
            <a:r>
              <a:rPr lang="en-US" sz="2400">
                <a:latin typeface="Arial"/>
                <a:ea typeface="Arial"/>
                <a:cs typeface="Arial"/>
                <a:sym typeface="Arial"/>
              </a:rPr>
              <a:t>Understand the computer as a layered system.</a:t>
            </a:r>
            <a:endParaRPr/>
          </a:p>
          <a:p>
            <a:pPr marL="228600" lvl="0" indent="-228600" algn="just" rtl="0">
              <a:lnSpc>
                <a:spcPct val="120000"/>
              </a:lnSpc>
              <a:spcBef>
                <a:spcPts val="720"/>
              </a:spcBef>
              <a:spcAft>
                <a:spcPts val="0"/>
              </a:spcAft>
              <a:buClr>
                <a:schemeClr val="dk1"/>
              </a:buClr>
              <a:buSzPts val="2400"/>
              <a:buFont typeface="Noto Sans Symbols"/>
              <a:buChar char="⮚"/>
            </a:pPr>
            <a:r>
              <a:rPr lang="en-US" sz="2400">
                <a:latin typeface="Arial"/>
                <a:ea typeface="Arial"/>
                <a:cs typeface="Arial"/>
                <a:sym typeface="Arial"/>
              </a:rPr>
              <a:t>Be able to explain the von Neumann architecture and the function of basic computer components.</a:t>
            </a:r>
            <a:endParaRPr/>
          </a:p>
        </p:txBody>
      </p:sp>
      <p:sp>
        <p:nvSpPr>
          <p:cNvPr id="132" name="Google Shape;132;p2"/>
          <p:cNvSpPr txBox="1">
            <a:spLocks noGrp="1"/>
          </p:cNvSpPr>
          <p:nvPr>
            <p:ph type="title"/>
          </p:nvPr>
        </p:nvSpPr>
        <p:spPr>
          <a:xfrm>
            <a:off x="191344" y="152400"/>
            <a:ext cx="10297144" cy="1425922"/>
          </a:xfrm>
          <a:prstGeom prst="rect">
            <a:avLst/>
          </a:prstGeom>
          <a:gradFill>
            <a:gsLst>
              <a:gs pos="0">
                <a:srgbClr val="F08B54"/>
              </a:gs>
              <a:gs pos="50000">
                <a:srgbClr val="F67A26"/>
              </a:gs>
              <a:gs pos="100000">
                <a:srgbClr val="E36A18"/>
              </a:gs>
            </a:gsLst>
            <a:lin ang="5400000" scaled="0"/>
          </a:gradFill>
          <a:ln w="9525" cap="flat" cmpd="sng">
            <a:solidFill>
              <a:schemeClr val="accent2"/>
            </a:solidFill>
            <a:prstDash val="solid"/>
            <a:miter lim="800000"/>
            <a:headEnd type="none" w="sm" len="sm"/>
            <a:tailEnd type="none" w="sm" len="sm"/>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4400"/>
              <a:buFont typeface="Arial Black"/>
              <a:buNone/>
            </a:pPr>
            <a:r>
              <a:rPr lang="en-US" b="1">
                <a:solidFill>
                  <a:schemeClr val="lt1"/>
                </a:solidFill>
                <a:latin typeface="Arial Black"/>
                <a:ea typeface="Arial Black"/>
                <a:cs typeface="Arial Black"/>
                <a:sym typeface="Arial Black"/>
              </a:rPr>
              <a:t>Computer Architecture Objectives</a:t>
            </a:r>
            <a:endParaRPr>
              <a:solidFill>
                <a:schemeClr val="lt1"/>
              </a:solidFill>
              <a:latin typeface="Arial Black"/>
              <a:ea typeface="Arial Black"/>
              <a:cs typeface="Arial Black"/>
              <a:sym typeface="Arial Black"/>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9" name="Google Shape;139;p3"/>
          <p:cNvSpPr txBox="1">
            <a:spLocks noGrp="1"/>
          </p:cNvSpPr>
          <p:nvPr>
            <p:ph type="body" idx="1"/>
          </p:nvPr>
        </p:nvSpPr>
        <p:spPr>
          <a:xfrm>
            <a:off x="191344" y="914400"/>
            <a:ext cx="11797456" cy="5410200"/>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400"/>
              <a:buChar char="•"/>
            </a:pPr>
            <a:r>
              <a:rPr lang="en-US" sz="2400">
                <a:latin typeface="Arial"/>
                <a:ea typeface="Arial"/>
                <a:cs typeface="Arial"/>
                <a:sym typeface="Arial"/>
              </a:rPr>
              <a:t>A modern computer is an electronic, digital, general purpose computing machine that automatically follows a step-by-step list of instructions to solve a problem. This step-by step list of instructions that a computer follows is also called an algorithm or a computer program.  </a:t>
            </a:r>
            <a:endParaRPr/>
          </a:p>
          <a:p>
            <a:pPr marL="228600" lvl="0" indent="-228600" algn="l" rtl="0">
              <a:lnSpc>
                <a:spcPct val="80000"/>
              </a:lnSpc>
              <a:spcBef>
                <a:spcPts val="960"/>
              </a:spcBef>
              <a:spcAft>
                <a:spcPts val="0"/>
              </a:spcAft>
              <a:buClr>
                <a:schemeClr val="dk1"/>
              </a:buClr>
              <a:buSzPts val="2400"/>
              <a:buChar char="•"/>
            </a:pPr>
            <a:r>
              <a:rPr lang="en-US" sz="2400">
                <a:latin typeface="Arial"/>
                <a:ea typeface="Arial"/>
                <a:cs typeface="Arial"/>
                <a:sym typeface="Arial"/>
              </a:rPr>
              <a:t> </a:t>
            </a:r>
            <a:r>
              <a:rPr lang="en-US" sz="2400">
                <a:solidFill>
                  <a:srgbClr val="FF3300"/>
                </a:solidFill>
                <a:latin typeface="Arial"/>
                <a:ea typeface="Arial"/>
                <a:cs typeface="Arial"/>
                <a:sym typeface="Arial"/>
              </a:rPr>
              <a:t>Why to study computer organization and architecture?</a:t>
            </a:r>
            <a:endParaRPr/>
          </a:p>
          <a:p>
            <a:pPr marL="685800" lvl="1" indent="-228600" algn="l" rtl="0">
              <a:lnSpc>
                <a:spcPct val="80000"/>
              </a:lnSpc>
              <a:spcBef>
                <a:spcPts val="960"/>
              </a:spcBef>
              <a:spcAft>
                <a:spcPts val="0"/>
              </a:spcAft>
              <a:buClr>
                <a:schemeClr val="dk1"/>
              </a:buClr>
              <a:buSzPts val="2400"/>
              <a:buChar char="•"/>
            </a:pPr>
            <a:r>
              <a:rPr lang="en-US">
                <a:latin typeface="Arial"/>
                <a:ea typeface="Arial"/>
                <a:cs typeface="Arial"/>
                <a:sym typeface="Arial"/>
              </a:rPr>
              <a:t>Design better programs, including system software such as compilers, operating systems, and device drivers.</a:t>
            </a:r>
            <a:endParaRPr/>
          </a:p>
          <a:p>
            <a:pPr marL="685800" lvl="1" indent="-228600" algn="l" rtl="0">
              <a:lnSpc>
                <a:spcPct val="80000"/>
              </a:lnSpc>
              <a:spcBef>
                <a:spcPts val="960"/>
              </a:spcBef>
              <a:spcAft>
                <a:spcPts val="0"/>
              </a:spcAft>
              <a:buClr>
                <a:schemeClr val="dk1"/>
              </a:buClr>
              <a:buSzPts val="2400"/>
              <a:buChar char="•"/>
            </a:pPr>
            <a:r>
              <a:rPr lang="en-US">
                <a:latin typeface="Arial"/>
                <a:ea typeface="Arial"/>
                <a:cs typeface="Arial"/>
                <a:sym typeface="Arial"/>
              </a:rPr>
              <a:t>Optimize program behavior.</a:t>
            </a:r>
            <a:endParaRPr/>
          </a:p>
          <a:p>
            <a:pPr marL="685800" lvl="1" indent="-228600" algn="l" rtl="0">
              <a:lnSpc>
                <a:spcPct val="80000"/>
              </a:lnSpc>
              <a:spcBef>
                <a:spcPts val="960"/>
              </a:spcBef>
              <a:spcAft>
                <a:spcPts val="0"/>
              </a:spcAft>
              <a:buClr>
                <a:schemeClr val="dk1"/>
              </a:buClr>
              <a:buSzPts val="2400"/>
              <a:buChar char="•"/>
            </a:pPr>
            <a:r>
              <a:rPr lang="en-US">
                <a:latin typeface="Arial"/>
                <a:ea typeface="Arial"/>
                <a:cs typeface="Arial"/>
                <a:sym typeface="Arial"/>
              </a:rPr>
              <a:t>Evaluate (benchmark) computer system performance.</a:t>
            </a:r>
            <a:endParaRPr/>
          </a:p>
          <a:p>
            <a:pPr marL="685800" lvl="1" indent="-228600" algn="l" rtl="0">
              <a:lnSpc>
                <a:spcPct val="80000"/>
              </a:lnSpc>
              <a:spcBef>
                <a:spcPts val="960"/>
              </a:spcBef>
              <a:spcAft>
                <a:spcPts val="0"/>
              </a:spcAft>
              <a:buClr>
                <a:schemeClr val="dk1"/>
              </a:buClr>
              <a:buSzPts val="2400"/>
              <a:buChar char="•"/>
            </a:pPr>
            <a:r>
              <a:rPr lang="en-US">
                <a:latin typeface="Arial"/>
                <a:ea typeface="Arial"/>
                <a:cs typeface="Arial"/>
                <a:sym typeface="Arial"/>
              </a:rPr>
              <a:t>Understand time, space, and price tradeoffs.</a:t>
            </a:r>
            <a:endParaRPr/>
          </a:p>
          <a:p>
            <a:pPr marL="228600" lvl="0" indent="-228600" algn="l" rtl="0">
              <a:lnSpc>
                <a:spcPct val="80000"/>
              </a:lnSpc>
              <a:spcBef>
                <a:spcPts val="1000"/>
              </a:spcBef>
              <a:spcAft>
                <a:spcPts val="0"/>
              </a:spcAft>
              <a:buClr>
                <a:srgbClr val="FF3300"/>
              </a:buClr>
              <a:buSzPts val="2400"/>
              <a:buChar char="•"/>
            </a:pPr>
            <a:r>
              <a:rPr lang="en-US" sz="2400">
                <a:solidFill>
                  <a:srgbClr val="FF3300"/>
                </a:solidFill>
                <a:latin typeface="Arial"/>
                <a:ea typeface="Arial"/>
                <a:cs typeface="Arial"/>
                <a:sym typeface="Arial"/>
              </a:rPr>
              <a:t>Computer organization</a:t>
            </a:r>
            <a:endParaRPr/>
          </a:p>
          <a:p>
            <a:pPr marL="685800" lvl="1" indent="-228600" algn="l" rtl="0">
              <a:lnSpc>
                <a:spcPct val="80000"/>
              </a:lnSpc>
              <a:spcBef>
                <a:spcPts val="500"/>
              </a:spcBef>
              <a:spcAft>
                <a:spcPts val="0"/>
              </a:spcAft>
              <a:buClr>
                <a:schemeClr val="dk1"/>
              </a:buClr>
              <a:buSzPts val="2400"/>
              <a:buChar char="•"/>
            </a:pPr>
            <a:r>
              <a:rPr lang="en-US">
                <a:latin typeface="Arial"/>
                <a:ea typeface="Arial"/>
                <a:cs typeface="Arial"/>
                <a:sym typeface="Arial"/>
              </a:rPr>
              <a:t>Encompasses all physical aspects of computer systems.</a:t>
            </a:r>
            <a:endParaRPr/>
          </a:p>
          <a:p>
            <a:pPr marL="685800" lvl="1" indent="-228600" algn="l" rtl="0">
              <a:lnSpc>
                <a:spcPct val="80000"/>
              </a:lnSpc>
              <a:spcBef>
                <a:spcPts val="500"/>
              </a:spcBef>
              <a:spcAft>
                <a:spcPts val="0"/>
              </a:spcAft>
              <a:buClr>
                <a:schemeClr val="dk1"/>
              </a:buClr>
              <a:buSzPts val="2400"/>
              <a:buChar char="•"/>
            </a:pPr>
            <a:r>
              <a:rPr lang="en-US">
                <a:latin typeface="Arial"/>
                <a:ea typeface="Arial"/>
                <a:cs typeface="Arial"/>
                <a:sym typeface="Arial"/>
              </a:rPr>
              <a:t>E.g., circuit design, control signals, memory types.</a:t>
            </a:r>
            <a:endParaRPr/>
          </a:p>
          <a:p>
            <a:pPr marL="685800" lvl="1" indent="-228600" algn="l" rtl="0">
              <a:lnSpc>
                <a:spcPct val="80000"/>
              </a:lnSpc>
              <a:spcBef>
                <a:spcPts val="500"/>
              </a:spcBef>
              <a:spcAft>
                <a:spcPts val="0"/>
              </a:spcAft>
              <a:buClr>
                <a:schemeClr val="dk1"/>
              </a:buClr>
              <a:buSzPts val="2400"/>
              <a:buChar char="•"/>
            </a:pPr>
            <a:r>
              <a:rPr lang="en-US" i="1">
                <a:latin typeface="Arial"/>
                <a:ea typeface="Arial"/>
                <a:cs typeface="Arial"/>
                <a:sym typeface="Arial"/>
              </a:rPr>
              <a:t>How does a computer work?</a:t>
            </a:r>
            <a:endParaRPr/>
          </a:p>
          <a:p>
            <a:pPr marL="685800" lvl="1" indent="-101600" algn="l" rtl="0">
              <a:lnSpc>
                <a:spcPct val="80000"/>
              </a:lnSpc>
              <a:spcBef>
                <a:spcPts val="800"/>
              </a:spcBef>
              <a:spcAft>
                <a:spcPts val="0"/>
              </a:spcAft>
              <a:buClr>
                <a:schemeClr val="dk1"/>
              </a:buClr>
              <a:buSzPts val="2000"/>
              <a:buNone/>
            </a:pPr>
            <a:endParaRPr sz="2000"/>
          </a:p>
        </p:txBody>
      </p:sp>
      <p:sp>
        <p:nvSpPr>
          <p:cNvPr id="140" name="Google Shape;140;p3"/>
          <p:cNvSpPr txBox="1">
            <a:spLocks noGrp="1"/>
          </p:cNvSpPr>
          <p:nvPr>
            <p:ph type="title"/>
          </p:nvPr>
        </p:nvSpPr>
        <p:spPr>
          <a:xfrm>
            <a:off x="191344" y="152400"/>
            <a:ext cx="10153128" cy="547688"/>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ct val="100000"/>
              <a:buFont typeface="Arial Black"/>
              <a:buNone/>
            </a:pPr>
            <a:r>
              <a:rPr lang="en-US" sz="2400" b="1">
                <a:solidFill>
                  <a:schemeClr val="lt1"/>
                </a:solidFill>
                <a:latin typeface="Arial Black"/>
                <a:ea typeface="Arial Black"/>
                <a:cs typeface="Arial Black"/>
                <a:sym typeface="Arial Black"/>
              </a:rPr>
              <a:t>COMPUTER ARCHITECTURE AND ORGANIZATION OVERVIEW</a:t>
            </a:r>
            <a:endParaRPr sz="2400">
              <a:latin typeface="Arial Black"/>
              <a:ea typeface="Arial Black"/>
              <a:cs typeface="Arial Black"/>
              <a:sym typeface="Arial Black"/>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4"/>
          <p:cNvSpPr txBox="1">
            <a:spLocks noGrp="1"/>
          </p:cNvSpPr>
          <p:nvPr>
            <p:ph type="body" idx="1"/>
          </p:nvPr>
        </p:nvSpPr>
        <p:spPr>
          <a:xfrm>
            <a:off x="263352" y="990600"/>
            <a:ext cx="11449272" cy="4886672"/>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90000"/>
              </a:lnSpc>
              <a:spcBef>
                <a:spcPts val="0"/>
              </a:spcBef>
              <a:spcAft>
                <a:spcPts val="0"/>
              </a:spcAft>
              <a:buClr>
                <a:schemeClr val="dk1"/>
              </a:buClr>
              <a:buSzPts val="2400"/>
              <a:buFont typeface="Noto Sans Symbols"/>
              <a:buChar char="⮚"/>
            </a:pPr>
            <a:r>
              <a:rPr lang="en-US" sz="2400">
                <a:latin typeface="Arial"/>
                <a:ea typeface="Arial"/>
                <a:cs typeface="Arial"/>
                <a:sym typeface="Arial"/>
              </a:rPr>
              <a:t>Focuses on the </a:t>
            </a:r>
            <a:r>
              <a:rPr lang="en-US" sz="2400" b="1">
                <a:latin typeface="Arial"/>
                <a:ea typeface="Arial"/>
                <a:cs typeface="Arial"/>
                <a:sym typeface="Arial"/>
              </a:rPr>
              <a:t>structure(</a:t>
            </a:r>
            <a:r>
              <a:rPr lang="en-US" sz="2400">
                <a:latin typeface="Arial"/>
                <a:ea typeface="Arial"/>
                <a:cs typeface="Arial"/>
                <a:sym typeface="Arial"/>
              </a:rPr>
              <a:t>the way in which the components are interrelated</a:t>
            </a:r>
            <a:r>
              <a:rPr lang="en-US" sz="2400" b="1">
                <a:latin typeface="Arial"/>
                <a:ea typeface="Arial"/>
                <a:cs typeface="Arial"/>
                <a:sym typeface="Arial"/>
              </a:rPr>
              <a:t>)</a:t>
            </a:r>
            <a:r>
              <a:rPr lang="en-US" sz="2400">
                <a:latin typeface="Arial"/>
                <a:ea typeface="Arial"/>
                <a:cs typeface="Arial"/>
                <a:sym typeface="Arial"/>
              </a:rPr>
              <a:t> and behavior of the computer system and refers to the logical aspects of system implementation as seen by the programmer</a:t>
            </a:r>
            <a:endParaRPr/>
          </a:p>
          <a:p>
            <a:pPr marL="228600" lvl="0" indent="-228600" algn="just" rtl="0">
              <a:lnSpc>
                <a:spcPct val="90000"/>
              </a:lnSpc>
              <a:spcBef>
                <a:spcPts val="1000"/>
              </a:spcBef>
              <a:spcAft>
                <a:spcPts val="0"/>
              </a:spcAft>
              <a:buClr>
                <a:schemeClr val="dk1"/>
              </a:buClr>
              <a:buSzPts val="2400"/>
              <a:buFont typeface="Noto Sans Symbols"/>
              <a:buChar char="⮚"/>
            </a:pPr>
            <a:r>
              <a:rPr lang="en-US" sz="2400">
                <a:latin typeface="Arial"/>
                <a:ea typeface="Arial"/>
                <a:cs typeface="Arial"/>
                <a:sym typeface="Arial"/>
              </a:rPr>
              <a:t>Computer architecture includes many elements such as </a:t>
            </a:r>
            <a:endParaRPr/>
          </a:p>
          <a:p>
            <a:pPr marL="457200" lvl="1" indent="0" algn="just" rtl="0">
              <a:lnSpc>
                <a:spcPct val="90000"/>
              </a:lnSpc>
              <a:spcBef>
                <a:spcPts val="500"/>
              </a:spcBef>
              <a:spcAft>
                <a:spcPts val="0"/>
              </a:spcAft>
              <a:buClr>
                <a:schemeClr val="dk1"/>
              </a:buClr>
              <a:buSzPts val="2400"/>
              <a:buNone/>
            </a:pPr>
            <a:r>
              <a:rPr lang="en-US">
                <a:latin typeface="Arial"/>
                <a:ea typeface="Arial"/>
                <a:cs typeface="Arial"/>
                <a:sym typeface="Arial"/>
              </a:rPr>
              <a:t>instruction sets and formats, operation codes, data types, the number and types of registers, addressing modes, main memory access methods, and various I/O mechanisms. </a:t>
            </a:r>
            <a:endParaRPr/>
          </a:p>
          <a:p>
            <a:pPr marL="228600" lvl="0" indent="-228600" algn="just" rtl="0">
              <a:lnSpc>
                <a:spcPct val="90000"/>
              </a:lnSpc>
              <a:spcBef>
                <a:spcPts val="1000"/>
              </a:spcBef>
              <a:spcAft>
                <a:spcPts val="0"/>
              </a:spcAft>
              <a:buClr>
                <a:schemeClr val="dk1"/>
              </a:buClr>
              <a:buSzPts val="2400"/>
              <a:buFont typeface="Noto Sans Symbols"/>
              <a:buChar char="⮚"/>
            </a:pPr>
            <a:r>
              <a:rPr lang="en-US" sz="2400">
                <a:latin typeface="Arial"/>
                <a:ea typeface="Arial"/>
                <a:cs typeface="Arial"/>
                <a:sym typeface="Arial"/>
              </a:rPr>
              <a:t>The architecture of a system directly affects the logical execution of programs. </a:t>
            </a:r>
            <a:endParaRPr/>
          </a:p>
          <a:p>
            <a:pPr marL="228600" lvl="0" indent="-228600" algn="just" rtl="0">
              <a:lnSpc>
                <a:spcPct val="90000"/>
              </a:lnSpc>
              <a:spcBef>
                <a:spcPts val="1000"/>
              </a:spcBef>
              <a:spcAft>
                <a:spcPts val="0"/>
              </a:spcAft>
              <a:buClr>
                <a:schemeClr val="dk1"/>
              </a:buClr>
              <a:buSzPts val="2400"/>
              <a:buFont typeface="Noto Sans Symbols"/>
              <a:buChar char="⮚"/>
            </a:pPr>
            <a:r>
              <a:rPr lang="en-US" sz="2400">
                <a:latin typeface="Arial"/>
                <a:ea typeface="Arial"/>
                <a:cs typeface="Arial"/>
                <a:sym typeface="Arial"/>
              </a:rPr>
              <a:t>The computer architecture for a given machine is the combination of its hardware components plus its instruction set architecture (ISA). </a:t>
            </a:r>
            <a:endParaRPr/>
          </a:p>
          <a:p>
            <a:pPr marL="228600" lvl="0" indent="-228600" algn="just" rtl="0">
              <a:lnSpc>
                <a:spcPct val="90000"/>
              </a:lnSpc>
              <a:spcBef>
                <a:spcPts val="1000"/>
              </a:spcBef>
              <a:spcAft>
                <a:spcPts val="0"/>
              </a:spcAft>
              <a:buClr>
                <a:schemeClr val="dk1"/>
              </a:buClr>
              <a:buSzPts val="2400"/>
              <a:buFont typeface="Noto Sans Symbols"/>
              <a:buChar char="⮚"/>
            </a:pPr>
            <a:r>
              <a:rPr lang="en-US" sz="2400">
                <a:latin typeface="Arial"/>
                <a:ea typeface="Arial"/>
                <a:cs typeface="Arial"/>
                <a:sym typeface="Arial"/>
              </a:rPr>
              <a:t>The ISA is the interface between all the software that runs on the machine and the hard</a:t>
            </a:r>
            <a:endParaRPr/>
          </a:p>
          <a:p>
            <a:pPr marL="228600" lvl="0" indent="-228600" algn="just" rtl="0">
              <a:lnSpc>
                <a:spcPct val="90000"/>
              </a:lnSpc>
              <a:spcBef>
                <a:spcPts val="1000"/>
              </a:spcBef>
              <a:spcAft>
                <a:spcPts val="0"/>
              </a:spcAft>
              <a:buClr>
                <a:srgbClr val="FF0000"/>
              </a:buClr>
              <a:buSzPts val="2400"/>
              <a:buFont typeface="Noto Sans Symbols"/>
              <a:buChar char="⮚"/>
            </a:pPr>
            <a:r>
              <a:rPr lang="en-US" sz="2400" b="1">
                <a:solidFill>
                  <a:srgbClr val="FF0000"/>
                </a:solidFill>
                <a:latin typeface="Arial"/>
                <a:ea typeface="Arial"/>
                <a:cs typeface="Arial"/>
                <a:sym typeface="Arial"/>
              </a:rPr>
              <a:t>Studying computer architecture helps us to answer the question: How do I design a computer?</a:t>
            </a:r>
            <a:endParaRPr/>
          </a:p>
        </p:txBody>
      </p:sp>
      <p:sp>
        <p:nvSpPr>
          <p:cNvPr id="147" name="Google Shape;147;p4"/>
          <p:cNvSpPr txBox="1"/>
          <p:nvPr/>
        </p:nvSpPr>
        <p:spPr>
          <a:xfrm>
            <a:off x="263352" y="237678"/>
            <a:ext cx="10153128" cy="547688"/>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fontScale="97500"/>
          </a:bodyPr>
          <a:lstStyle/>
          <a:p>
            <a:pPr marL="0" marR="0" lvl="0" indent="0" algn="ctr" rtl="0">
              <a:lnSpc>
                <a:spcPct val="90000"/>
              </a:lnSpc>
              <a:spcBef>
                <a:spcPts val="0"/>
              </a:spcBef>
              <a:spcAft>
                <a:spcPts val="0"/>
              </a:spcAft>
              <a:buClr>
                <a:schemeClr val="lt1"/>
              </a:buClr>
              <a:buSzPct val="100000"/>
              <a:buFont typeface="Arial Black"/>
              <a:buNone/>
            </a:pPr>
            <a:r>
              <a:rPr lang="en-US" sz="2400" b="1">
                <a:solidFill>
                  <a:schemeClr val="lt1"/>
                </a:solidFill>
                <a:latin typeface="Arial Black"/>
                <a:ea typeface="Arial Black"/>
                <a:cs typeface="Arial Black"/>
                <a:sym typeface="Arial Black"/>
              </a:rPr>
              <a:t>COMPUTER ARCHITECTURE AND ORGANIZATION OVERVIEW</a:t>
            </a:r>
            <a:endParaRPr sz="2400">
              <a:solidFill>
                <a:schemeClr val="lt1"/>
              </a:solidFill>
              <a:latin typeface="Arial Black"/>
              <a:ea typeface="Arial Black"/>
              <a:cs typeface="Arial Black"/>
              <a:sym typeface="Arial Black"/>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4" name="Google Shape;154;p5"/>
          <p:cNvSpPr txBox="1">
            <a:spLocks noGrp="1"/>
          </p:cNvSpPr>
          <p:nvPr>
            <p:ph type="body" idx="1"/>
          </p:nvPr>
        </p:nvSpPr>
        <p:spPr>
          <a:xfrm>
            <a:off x="292290" y="908720"/>
            <a:ext cx="11480800" cy="475252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endParaRPr sz="2400"/>
          </a:p>
          <a:p>
            <a:pPr marL="228600" lvl="0" indent="-228600" algn="just" rtl="0">
              <a:lnSpc>
                <a:spcPct val="90000"/>
              </a:lnSpc>
              <a:spcBef>
                <a:spcPts val="1000"/>
              </a:spcBef>
              <a:spcAft>
                <a:spcPts val="0"/>
              </a:spcAft>
              <a:buClr>
                <a:schemeClr val="dk1"/>
              </a:buClr>
              <a:buSzPts val="2400"/>
              <a:buFont typeface="Noto Sans Symbols"/>
              <a:buChar char="⮚"/>
            </a:pPr>
            <a:r>
              <a:rPr lang="en-US" sz="2400">
                <a:latin typeface="Arial"/>
                <a:ea typeface="Arial"/>
                <a:cs typeface="Arial"/>
                <a:sym typeface="Arial"/>
              </a:rPr>
              <a:t>In the case of the IBM, SUN and Intel ISAs, it is possible to purchase processors which execute the same instructions from more than one manufacturer</a:t>
            </a:r>
            <a:endParaRPr/>
          </a:p>
          <a:p>
            <a:pPr marL="228600" lvl="0" indent="-228600" algn="just" rtl="0">
              <a:lnSpc>
                <a:spcPct val="90000"/>
              </a:lnSpc>
              <a:spcBef>
                <a:spcPts val="1000"/>
              </a:spcBef>
              <a:spcAft>
                <a:spcPts val="0"/>
              </a:spcAft>
              <a:buClr>
                <a:schemeClr val="dk1"/>
              </a:buClr>
              <a:buSzPts val="2400"/>
              <a:buFont typeface="Noto Sans Symbols"/>
              <a:buChar char="⮚"/>
            </a:pPr>
            <a:r>
              <a:rPr lang="en-US" sz="2400">
                <a:latin typeface="Arial"/>
                <a:ea typeface="Arial"/>
                <a:cs typeface="Arial"/>
                <a:sym typeface="Arial"/>
              </a:rPr>
              <a:t>All these processors may have quite different internal organizations but they all appear identical to a programmer, because their </a:t>
            </a:r>
            <a:r>
              <a:rPr lang="en-US" sz="2400" b="1">
                <a:latin typeface="Arial"/>
                <a:ea typeface="Arial"/>
                <a:cs typeface="Arial"/>
                <a:sym typeface="Arial"/>
              </a:rPr>
              <a:t>instruction sets</a:t>
            </a:r>
            <a:r>
              <a:rPr lang="en-US" sz="2400">
                <a:latin typeface="Arial"/>
                <a:ea typeface="Arial"/>
                <a:cs typeface="Arial"/>
                <a:sym typeface="Arial"/>
              </a:rPr>
              <a:t> are the same</a:t>
            </a:r>
            <a:endParaRPr/>
          </a:p>
          <a:p>
            <a:pPr marL="228600" lvl="0" indent="-228600" algn="just" rtl="0">
              <a:lnSpc>
                <a:spcPct val="90000"/>
              </a:lnSpc>
              <a:spcBef>
                <a:spcPts val="1000"/>
              </a:spcBef>
              <a:spcAft>
                <a:spcPts val="0"/>
              </a:spcAft>
              <a:buClr>
                <a:schemeClr val="dk1"/>
              </a:buClr>
              <a:buSzPts val="2400"/>
              <a:buFont typeface="Noto Sans Symbols"/>
              <a:buChar char="⮚"/>
            </a:pPr>
            <a:r>
              <a:rPr lang="en-US" sz="2400">
                <a:latin typeface="Arial"/>
                <a:ea typeface="Arial"/>
                <a:cs typeface="Arial"/>
                <a:sym typeface="Arial"/>
              </a:rPr>
              <a:t>Organization &amp; Architecture enables a family of computer models </a:t>
            </a:r>
            <a:endParaRPr sz="2400">
              <a:latin typeface="Arial"/>
              <a:ea typeface="Arial"/>
              <a:cs typeface="Arial"/>
              <a:sym typeface="Arial"/>
            </a:endParaRPr>
          </a:p>
          <a:p>
            <a:pPr marL="228600" lvl="0" indent="-228600" algn="just" rtl="0">
              <a:lnSpc>
                <a:spcPct val="90000"/>
              </a:lnSpc>
              <a:spcBef>
                <a:spcPts val="1000"/>
              </a:spcBef>
              <a:spcAft>
                <a:spcPts val="0"/>
              </a:spcAft>
              <a:buClr>
                <a:schemeClr val="dk1"/>
              </a:buClr>
              <a:buSzPts val="2400"/>
              <a:buFont typeface="Noto Sans Symbols"/>
              <a:buChar char="▪"/>
            </a:pPr>
            <a:r>
              <a:rPr lang="en-US" sz="2400">
                <a:latin typeface="Arial"/>
                <a:ea typeface="Arial"/>
                <a:cs typeface="Arial"/>
                <a:sym typeface="Arial"/>
              </a:rPr>
              <a:t>Same Architecture, but with differences in Organization</a:t>
            </a:r>
            <a:endParaRPr/>
          </a:p>
          <a:p>
            <a:pPr marL="228600" lvl="0" indent="-228600" algn="just" rtl="0">
              <a:lnSpc>
                <a:spcPct val="90000"/>
              </a:lnSpc>
              <a:spcBef>
                <a:spcPts val="1000"/>
              </a:spcBef>
              <a:spcAft>
                <a:spcPts val="0"/>
              </a:spcAft>
              <a:buClr>
                <a:schemeClr val="dk1"/>
              </a:buClr>
              <a:buSzPts val="2400"/>
              <a:buFont typeface="Noto Sans Symbols"/>
              <a:buChar char="▪"/>
            </a:pPr>
            <a:r>
              <a:rPr lang="en-US" sz="2400">
                <a:latin typeface="Arial"/>
                <a:ea typeface="Arial"/>
                <a:cs typeface="Arial"/>
                <a:sym typeface="Arial"/>
              </a:rPr>
              <a:t>Different price and performance characteristics</a:t>
            </a:r>
            <a:endParaRPr/>
          </a:p>
          <a:p>
            <a:pPr marL="228600" lvl="0" indent="-228600" algn="just" rtl="0">
              <a:lnSpc>
                <a:spcPct val="90000"/>
              </a:lnSpc>
              <a:spcBef>
                <a:spcPts val="1000"/>
              </a:spcBef>
              <a:spcAft>
                <a:spcPts val="0"/>
              </a:spcAft>
              <a:buClr>
                <a:schemeClr val="dk1"/>
              </a:buClr>
              <a:buSzPts val="2400"/>
              <a:buFont typeface="Noto Sans Symbols"/>
              <a:buChar char="⮚"/>
            </a:pPr>
            <a:r>
              <a:rPr lang="en-US" sz="2400">
                <a:latin typeface="Arial"/>
                <a:ea typeface="Arial"/>
                <a:cs typeface="Arial"/>
                <a:sym typeface="Arial"/>
              </a:rPr>
              <a:t>When technology changes, only organization changes.</a:t>
            </a:r>
            <a:endParaRPr/>
          </a:p>
          <a:p>
            <a:pPr marL="228600" lvl="0" indent="-228600" algn="just" rtl="0">
              <a:lnSpc>
                <a:spcPct val="90000"/>
              </a:lnSpc>
              <a:spcBef>
                <a:spcPts val="1000"/>
              </a:spcBef>
              <a:spcAft>
                <a:spcPts val="0"/>
              </a:spcAft>
              <a:buClr>
                <a:schemeClr val="dk1"/>
              </a:buClr>
              <a:buSzPts val="2400"/>
              <a:buFont typeface="Noto Sans Symbols"/>
              <a:buChar char="⮚"/>
            </a:pPr>
            <a:r>
              <a:rPr lang="en-US" sz="2400">
                <a:latin typeface="Arial"/>
                <a:ea typeface="Arial"/>
                <a:cs typeface="Arial"/>
                <a:sym typeface="Arial"/>
              </a:rPr>
              <a:t>This gives code compatibility (backwards)</a:t>
            </a:r>
            <a:endParaRPr/>
          </a:p>
          <a:p>
            <a:pPr marL="228600" lvl="0" indent="-76200" algn="l" rtl="0">
              <a:lnSpc>
                <a:spcPct val="80000"/>
              </a:lnSpc>
              <a:spcBef>
                <a:spcPts val="960"/>
              </a:spcBef>
              <a:spcAft>
                <a:spcPts val="0"/>
              </a:spcAft>
              <a:buClr>
                <a:schemeClr val="dk1"/>
              </a:buClr>
              <a:buSzPts val="2400"/>
              <a:buNone/>
            </a:pPr>
            <a:endParaRPr sz="2400"/>
          </a:p>
        </p:txBody>
      </p:sp>
      <p:sp>
        <p:nvSpPr>
          <p:cNvPr id="155" name="Google Shape;155;p5"/>
          <p:cNvSpPr txBox="1"/>
          <p:nvPr/>
        </p:nvSpPr>
        <p:spPr>
          <a:xfrm>
            <a:off x="263352" y="237678"/>
            <a:ext cx="10153128" cy="547688"/>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fontScale="97500"/>
          </a:bodyPr>
          <a:lstStyle/>
          <a:p>
            <a:pPr marL="0" marR="0" lvl="0" indent="0" algn="ctr" rtl="0">
              <a:lnSpc>
                <a:spcPct val="90000"/>
              </a:lnSpc>
              <a:spcBef>
                <a:spcPts val="0"/>
              </a:spcBef>
              <a:spcAft>
                <a:spcPts val="0"/>
              </a:spcAft>
              <a:buClr>
                <a:schemeClr val="lt1"/>
              </a:buClr>
              <a:buSzPct val="100000"/>
              <a:buFont typeface="Arial Black"/>
              <a:buNone/>
            </a:pPr>
            <a:r>
              <a:rPr lang="en-US" sz="2400" b="1">
                <a:solidFill>
                  <a:schemeClr val="lt1"/>
                </a:solidFill>
                <a:latin typeface="Arial Black"/>
                <a:ea typeface="Arial Black"/>
                <a:cs typeface="Arial Black"/>
                <a:sym typeface="Arial Black"/>
              </a:rPr>
              <a:t>COMPUTER ARCHITECTURE AND ORGANIZATION OVERVIEW</a:t>
            </a:r>
            <a:endParaRPr sz="2400">
              <a:solidFill>
                <a:schemeClr val="lt1"/>
              </a:solidFill>
              <a:latin typeface="Arial Black"/>
              <a:ea typeface="Arial Black"/>
              <a:cs typeface="Arial Black"/>
              <a:sym typeface="Arial Black"/>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2" name="Google Shape;162;p6"/>
          <p:cNvSpPr txBox="1">
            <a:spLocks noGrp="1"/>
          </p:cNvSpPr>
          <p:nvPr>
            <p:ph type="title"/>
          </p:nvPr>
        </p:nvSpPr>
        <p:spPr>
          <a:xfrm>
            <a:off x="695400" y="260648"/>
            <a:ext cx="9721080" cy="547688"/>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ct val="100000"/>
              <a:buFont typeface="Calibri"/>
              <a:buNone/>
            </a:pPr>
            <a:r>
              <a:rPr lang="en-US" sz="3400" b="1">
                <a:solidFill>
                  <a:schemeClr val="lt1"/>
                </a:solidFill>
                <a:latin typeface="Calibri"/>
                <a:ea typeface="Calibri"/>
                <a:cs typeface="Calibri"/>
                <a:sym typeface="Calibri"/>
              </a:rPr>
              <a:t>COMPUTER COMPONENTS</a:t>
            </a:r>
            <a:endParaRPr sz="3400"/>
          </a:p>
        </p:txBody>
      </p:sp>
      <p:sp>
        <p:nvSpPr>
          <p:cNvPr id="163" name="Google Shape;163;p6"/>
          <p:cNvSpPr/>
          <p:nvPr/>
        </p:nvSpPr>
        <p:spPr>
          <a:xfrm>
            <a:off x="865380" y="3390945"/>
            <a:ext cx="10370368" cy="2908176"/>
          </a:xfrm>
          <a:prstGeom prst="rect">
            <a:avLst/>
          </a:prstGeom>
          <a:noFill/>
          <a:ln>
            <a:noFill/>
          </a:ln>
        </p:spPr>
        <p:txBody>
          <a:bodyPr spcFirstLastPara="1" wrap="square" lIns="91425" tIns="45700" rIns="91425" bIns="45700" anchor="t" anchorCtr="0">
            <a:noAutofit/>
          </a:bodyPr>
          <a:lstStyle/>
          <a:p>
            <a:pPr marL="342900" marR="0" lvl="0" indent="-342900" algn="just" rtl="0">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At the most basic level, a computer is a device consisting of 3 pieces</a:t>
            </a:r>
            <a:endParaRPr/>
          </a:p>
          <a:p>
            <a:pPr marL="742950" marR="0" lvl="1" indent="-285750" algn="just" rtl="0">
              <a:spcBef>
                <a:spcPts val="720"/>
              </a:spcBef>
              <a:spcAft>
                <a:spcPts val="0"/>
              </a:spcAft>
              <a:buNone/>
            </a:pPr>
            <a:r>
              <a:rPr lang="en-US" sz="2400" b="0" i="0" u="none" strike="noStrike" cap="none">
                <a:solidFill>
                  <a:schemeClr val="dk1"/>
                </a:solidFill>
                <a:latin typeface="Arial"/>
                <a:ea typeface="Arial"/>
                <a:cs typeface="Arial"/>
                <a:sym typeface="Arial"/>
              </a:rPr>
              <a:t>A processor to interpret and execute programs</a:t>
            </a:r>
            <a:endParaRPr/>
          </a:p>
          <a:p>
            <a:pPr marL="742950" marR="0" lvl="1" indent="-285750" algn="just" rtl="0">
              <a:spcBef>
                <a:spcPts val="720"/>
              </a:spcBef>
              <a:spcAft>
                <a:spcPts val="0"/>
              </a:spcAft>
              <a:buNone/>
            </a:pPr>
            <a:r>
              <a:rPr lang="en-US" sz="2400" b="0" i="0" u="none" strike="noStrike" cap="none">
                <a:solidFill>
                  <a:schemeClr val="dk1"/>
                </a:solidFill>
                <a:latin typeface="Arial"/>
                <a:ea typeface="Arial"/>
                <a:cs typeface="Arial"/>
                <a:sym typeface="Arial"/>
              </a:rPr>
              <a:t>A memory ( Includes Cache, RAM, ROM) to </a:t>
            </a:r>
            <a:r>
              <a:rPr lang="en-US" sz="2400" b="1" i="0" u="none" strike="noStrike" cap="none">
                <a:solidFill>
                  <a:srgbClr val="FF0000"/>
                </a:solidFill>
                <a:latin typeface="Arial"/>
                <a:ea typeface="Arial"/>
                <a:cs typeface="Arial"/>
                <a:sym typeface="Arial"/>
              </a:rPr>
              <a:t>store both data and program instructions</a:t>
            </a:r>
            <a:endParaRPr/>
          </a:p>
          <a:p>
            <a:pPr marL="742950" marR="0" lvl="1" indent="-285750" algn="just" rtl="0">
              <a:spcBef>
                <a:spcPts val="720"/>
              </a:spcBef>
              <a:spcAft>
                <a:spcPts val="0"/>
              </a:spcAft>
              <a:buNone/>
            </a:pPr>
            <a:r>
              <a:rPr lang="en-US" sz="2400" b="0" i="0" u="none" strike="noStrike" cap="none">
                <a:solidFill>
                  <a:schemeClr val="dk1"/>
                </a:solidFill>
                <a:latin typeface="Arial"/>
                <a:ea typeface="Arial"/>
                <a:cs typeface="Arial"/>
                <a:sym typeface="Arial"/>
              </a:rPr>
              <a:t>A mechanism for transferring data to and from the outside world.</a:t>
            </a:r>
            <a:endParaRPr/>
          </a:p>
          <a:p>
            <a:pPr marL="1257300" marR="0" lvl="2" indent="-342900" algn="just" rtl="0">
              <a:spcBef>
                <a:spcPts val="720"/>
              </a:spcBef>
              <a:spcAft>
                <a:spcPts val="0"/>
              </a:spcAft>
              <a:buClr>
                <a:schemeClr val="dk1"/>
              </a:buClr>
              <a:buSzPts val="2400"/>
              <a:buFont typeface="Noto Sans Symbols"/>
              <a:buChar char="⮚"/>
            </a:pPr>
            <a:r>
              <a:rPr lang="en-US" sz="2400" b="0" i="0" u="none" strike="noStrike" cap="none">
                <a:solidFill>
                  <a:schemeClr val="dk1"/>
                </a:solidFill>
                <a:latin typeface="Arial"/>
                <a:ea typeface="Arial"/>
                <a:cs typeface="Arial"/>
                <a:sym typeface="Arial"/>
              </a:rPr>
              <a:t>I/O to communicate between computer and the world</a:t>
            </a:r>
            <a:endParaRPr/>
          </a:p>
          <a:p>
            <a:pPr marL="1257300" marR="0" lvl="2" indent="-342900" algn="just" rtl="0">
              <a:spcBef>
                <a:spcPts val="720"/>
              </a:spcBef>
              <a:spcAft>
                <a:spcPts val="0"/>
              </a:spcAft>
              <a:buClr>
                <a:schemeClr val="dk1"/>
              </a:buClr>
              <a:buSzPts val="2400"/>
              <a:buFont typeface="Noto Sans Symbols"/>
              <a:buChar char="⮚"/>
            </a:pPr>
            <a:r>
              <a:rPr lang="en-US" sz="2400" b="0" i="0" u="none" strike="noStrike" cap="none">
                <a:solidFill>
                  <a:schemeClr val="dk1"/>
                </a:solidFill>
                <a:latin typeface="Arial"/>
                <a:ea typeface="Arial"/>
                <a:cs typeface="Arial"/>
                <a:sym typeface="Arial"/>
              </a:rPr>
              <a:t>Bus to move info from one computer component to another</a:t>
            </a:r>
            <a:endParaRPr/>
          </a:p>
        </p:txBody>
      </p:sp>
      <p:pic>
        <p:nvPicPr>
          <p:cNvPr id="164" name="Google Shape;164;p6" descr="Fig"/>
          <p:cNvPicPr preferRelativeResize="0"/>
          <p:nvPr/>
        </p:nvPicPr>
        <p:blipFill rotWithShape="1">
          <a:blip r:embed="rId3">
            <a:alphaModFix/>
          </a:blip>
          <a:srcRect/>
          <a:stretch/>
        </p:blipFill>
        <p:spPr>
          <a:xfrm>
            <a:off x="2135561" y="1295400"/>
            <a:ext cx="6408712" cy="1910672"/>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70" name="Google Shape;170;p7"/>
          <p:cNvSpPr txBox="1">
            <a:spLocks noGrp="1"/>
          </p:cNvSpPr>
          <p:nvPr>
            <p:ph type="title"/>
          </p:nvPr>
        </p:nvSpPr>
        <p:spPr>
          <a:xfrm>
            <a:off x="912284" y="381000"/>
            <a:ext cx="8331200" cy="54768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sz="3400" b="1"/>
              <a:t>Contd..</a:t>
            </a:r>
            <a:endParaRPr sz="3400"/>
          </a:p>
        </p:txBody>
      </p:sp>
      <p:sp>
        <p:nvSpPr>
          <p:cNvPr id="171" name="Google Shape;171;p7"/>
          <p:cNvSpPr/>
          <p:nvPr/>
        </p:nvSpPr>
        <p:spPr>
          <a:xfrm>
            <a:off x="300066" y="1124744"/>
            <a:ext cx="11052518" cy="4419600"/>
          </a:xfrm>
          <a:prstGeom prst="rect">
            <a:avLst/>
          </a:prstGeom>
          <a:noFill/>
          <a:ln w="9525" cap="flat" cmpd="sng">
            <a:solidFill>
              <a:srgbClr val="0033CC"/>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just"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Computers with large main memory capacity can run larger programs with greater speed than computers having small memories.</a:t>
            </a:r>
            <a:endParaRPr/>
          </a:p>
          <a:p>
            <a:pPr marL="342900" marR="0" lvl="0" indent="-342900" algn="just" rtl="0">
              <a:spcBef>
                <a:spcPts val="1200"/>
              </a:spcBef>
              <a:spcAft>
                <a:spcPts val="0"/>
              </a:spcAft>
              <a:buClr>
                <a:schemeClr val="accent2"/>
              </a:buClr>
              <a:buSzPts val="2400"/>
              <a:buFont typeface="Arial"/>
              <a:buChar char="•"/>
            </a:pPr>
            <a:r>
              <a:rPr lang="en-US" sz="2400">
                <a:solidFill>
                  <a:schemeClr val="accent2"/>
                </a:solidFill>
                <a:latin typeface="Arial"/>
                <a:ea typeface="Arial"/>
                <a:cs typeface="Arial"/>
                <a:sym typeface="Arial"/>
              </a:rPr>
              <a:t>RAM</a:t>
            </a:r>
            <a:r>
              <a:rPr lang="en-US" sz="2400">
                <a:solidFill>
                  <a:schemeClr val="dk1"/>
                </a:solidFill>
                <a:latin typeface="Arial"/>
                <a:ea typeface="Arial"/>
                <a:cs typeface="Arial"/>
                <a:sym typeface="Arial"/>
              </a:rPr>
              <a:t> is an acronym for </a:t>
            </a:r>
            <a:r>
              <a:rPr lang="en-US" sz="2400">
                <a:solidFill>
                  <a:schemeClr val="accent2"/>
                </a:solidFill>
                <a:latin typeface="Arial"/>
                <a:ea typeface="Arial"/>
                <a:cs typeface="Arial"/>
                <a:sym typeface="Arial"/>
              </a:rPr>
              <a:t>random access memory</a:t>
            </a:r>
            <a:r>
              <a:rPr lang="en-US" sz="2400">
                <a:solidFill>
                  <a:schemeClr val="dk1"/>
                </a:solidFill>
                <a:latin typeface="Arial"/>
                <a:ea typeface="Arial"/>
                <a:cs typeface="Arial"/>
                <a:sym typeface="Arial"/>
              </a:rPr>
              <a:t>.  </a:t>
            </a:r>
            <a:r>
              <a:rPr lang="en-US" sz="2400">
                <a:solidFill>
                  <a:schemeClr val="accent2"/>
                </a:solidFill>
                <a:latin typeface="Arial"/>
                <a:ea typeface="Arial"/>
                <a:cs typeface="Arial"/>
                <a:sym typeface="Arial"/>
              </a:rPr>
              <a:t>Random access </a:t>
            </a:r>
            <a:r>
              <a:rPr lang="en-US" sz="2400">
                <a:solidFill>
                  <a:schemeClr val="dk1"/>
                </a:solidFill>
                <a:latin typeface="Arial"/>
                <a:ea typeface="Arial"/>
                <a:cs typeface="Arial"/>
                <a:sym typeface="Arial"/>
              </a:rPr>
              <a:t>means that memory contents can be accessed directly if you know its location.</a:t>
            </a:r>
            <a:endParaRPr/>
          </a:p>
          <a:p>
            <a:pPr marL="342900" marR="0" lvl="0" indent="-342900" algn="just" rtl="0">
              <a:spcBef>
                <a:spcPts val="1200"/>
              </a:spcBef>
              <a:spcAft>
                <a:spcPts val="0"/>
              </a:spcAft>
              <a:buClr>
                <a:schemeClr val="dk1"/>
              </a:buClr>
              <a:buSzPts val="2400"/>
              <a:buFont typeface="Arial"/>
              <a:buChar char="•"/>
            </a:pPr>
            <a:r>
              <a:rPr lang="en-US" sz="2400">
                <a:solidFill>
                  <a:schemeClr val="dk1"/>
                </a:solidFill>
                <a:latin typeface="Arial"/>
                <a:ea typeface="Arial"/>
                <a:cs typeface="Arial"/>
                <a:sym typeface="Arial"/>
              </a:rPr>
              <a:t>Cache is a type of temporary memory that can be accessed faster than RAM.</a:t>
            </a: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3" name="Google Shape;243;p30"/>
          <p:cNvSpPr txBox="1">
            <a:spLocks noGrp="1"/>
          </p:cNvSpPr>
          <p:nvPr>
            <p:ph type="title"/>
          </p:nvPr>
        </p:nvSpPr>
        <p:spPr>
          <a:xfrm>
            <a:off x="838200" y="323085"/>
            <a:ext cx="9506272" cy="757690"/>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400"/>
              <a:buFont typeface="Arial Black"/>
              <a:buNone/>
            </a:pPr>
            <a:r>
              <a:rPr lang="en-US" b="1">
                <a:solidFill>
                  <a:schemeClr val="lt1"/>
                </a:solidFill>
                <a:latin typeface="Arial Black"/>
                <a:ea typeface="Arial Black"/>
                <a:cs typeface="Arial Black"/>
                <a:sym typeface="Arial Black"/>
              </a:rPr>
              <a:t>Digital System</a:t>
            </a:r>
            <a:endParaRPr/>
          </a:p>
        </p:txBody>
      </p:sp>
      <p:sp>
        <p:nvSpPr>
          <p:cNvPr id="244" name="Google Shape;244;p30"/>
          <p:cNvSpPr txBox="1">
            <a:spLocks noGrp="1"/>
          </p:cNvSpPr>
          <p:nvPr>
            <p:ph type="body" idx="1"/>
          </p:nvPr>
        </p:nvSpPr>
        <p:spPr>
          <a:xfrm>
            <a:off x="740571" y="128569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b="1" dirty="0">
                <a:latin typeface="Times New Roman"/>
                <a:ea typeface="Times New Roman"/>
                <a:cs typeface="Times New Roman"/>
                <a:sym typeface="Times New Roman"/>
              </a:rPr>
              <a:t>Takes a set of discrete information inputs and discrete internal information (system state) and generates a set of discrete </a:t>
            </a:r>
            <a:r>
              <a:rPr lang="en-US" sz="2400" b="1" dirty="0"/>
              <a:t>information outputs.</a:t>
            </a:r>
            <a:endParaRPr dirty="0"/>
          </a:p>
        </p:txBody>
      </p:sp>
      <p:grpSp>
        <p:nvGrpSpPr>
          <p:cNvPr id="245" name="Google Shape;245;p30"/>
          <p:cNvGrpSpPr/>
          <p:nvPr/>
        </p:nvGrpSpPr>
        <p:grpSpPr>
          <a:xfrm>
            <a:off x="3776664" y="2492896"/>
            <a:ext cx="5243513" cy="3923781"/>
            <a:chOff x="1419" y="1840"/>
            <a:chExt cx="3303" cy="2202"/>
          </a:xfrm>
        </p:grpSpPr>
        <p:sp>
          <p:nvSpPr>
            <p:cNvPr id="246" name="Google Shape;246;p30"/>
            <p:cNvSpPr/>
            <p:nvPr/>
          </p:nvSpPr>
          <p:spPr>
            <a:xfrm>
              <a:off x="2462" y="3688"/>
              <a:ext cx="1005" cy="23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dirty="0">
                  <a:solidFill>
                    <a:srgbClr val="000000"/>
                  </a:solidFill>
                  <a:latin typeface="Calibri"/>
                  <a:ea typeface="Calibri"/>
                  <a:cs typeface="Calibri"/>
                  <a:sym typeface="Calibri"/>
                </a:rPr>
                <a:t>System State</a:t>
              </a:r>
              <a:endParaRPr sz="2400" dirty="0">
                <a:solidFill>
                  <a:schemeClr val="dk1"/>
                </a:solidFill>
                <a:latin typeface="Calibri"/>
                <a:ea typeface="Calibri"/>
                <a:cs typeface="Calibri"/>
                <a:sym typeface="Calibri"/>
              </a:endParaRPr>
            </a:p>
          </p:txBody>
        </p:sp>
        <p:sp>
          <p:nvSpPr>
            <p:cNvPr id="247" name="Google Shape;247;p30"/>
            <p:cNvSpPr/>
            <p:nvPr/>
          </p:nvSpPr>
          <p:spPr>
            <a:xfrm>
              <a:off x="2371" y="1840"/>
              <a:ext cx="1168" cy="1377"/>
            </a:xfrm>
            <a:prstGeom prst="rect">
              <a:avLst/>
            </a:prstGeom>
            <a:noFill/>
            <a:ln w="31750"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cxnSp>
          <p:nvCxnSpPr>
            <p:cNvPr id="248" name="Google Shape;248;p30"/>
            <p:cNvCxnSpPr/>
            <p:nvPr/>
          </p:nvCxnSpPr>
          <p:spPr>
            <a:xfrm>
              <a:off x="2591" y="3217"/>
              <a:ext cx="1" cy="353"/>
            </a:xfrm>
            <a:prstGeom prst="straightConnector1">
              <a:avLst/>
            </a:prstGeom>
            <a:noFill/>
            <a:ln w="57150" cap="flat" cmpd="sng">
              <a:solidFill>
                <a:srgbClr val="000000"/>
              </a:solidFill>
              <a:prstDash val="solid"/>
              <a:round/>
              <a:headEnd type="none" w="med" len="med"/>
              <a:tailEnd type="triangle" w="med" len="med"/>
            </a:ln>
          </p:spPr>
        </p:cxnSp>
        <p:cxnSp>
          <p:nvCxnSpPr>
            <p:cNvPr id="249" name="Google Shape;249;p30"/>
            <p:cNvCxnSpPr/>
            <p:nvPr/>
          </p:nvCxnSpPr>
          <p:spPr>
            <a:xfrm rot="10800000">
              <a:off x="3301" y="3207"/>
              <a:ext cx="6" cy="358"/>
            </a:xfrm>
            <a:prstGeom prst="straightConnector1">
              <a:avLst/>
            </a:prstGeom>
            <a:noFill/>
            <a:ln w="57150" cap="flat" cmpd="sng">
              <a:solidFill>
                <a:srgbClr val="000000"/>
              </a:solidFill>
              <a:prstDash val="solid"/>
              <a:round/>
              <a:headEnd type="none" w="med" len="med"/>
              <a:tailEnd type="triangle" w="med" len="med"/>
            </a:ln>
          </p:spPr>
        </p:cxnSp>
        <p:cxnSp>
          <p:nvCxnSpPr>
            <p:cNvPr id="250" name="Google Shape;250;p30"/>
            <p:cNvCxnSpPr/>
            <p:nvPr/>
          </p:nvCxnSpPr>
          <p:spPr>
            <a:xfrm>
              <a:off x="2003" y="2544"/>
              <a:ext cx="377" cy="3"/>
            </a:xfrm>
            <a:prstGeom prst="straightConnector1">
              <a:avLst/>
            </a:prstGeom>
            <a:noFill/>
            <a:ln w="57150" cap="flat" cmpd="sng">
              <a:solidFill>
                <a:srgbClr val="000000"/>
              </a:solidFill>
              <a:prstDash val="solid"/>
              <a:round/>
              <a:headEnd type="none" w="med" len="med"/>
              <a:tailEnd type="triangle" w="med" len="med"/>
            </a:ln>
          </p:spPr>
        </p:cxnSp>
        <p:sp>
          <p:nvSpPr>
            <p:cNvPr id="251" name="Google Shape;251;p30"/>
            <p:cNvSpPr/>
            <p:nvPr/>
          </p:nvSpPr>
          <p:spPr>
            <a:xfrm>
              <a:off x="2536" y="2084"/>
              <a:ext cx="642" cy="23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a:solidFill>
                    <a:srgbClr val="000000"/>
                  </a:solidFill>
                  <a:latin typeface="Calibri"/>
                  <a:ea typeface="Calibri"/>
                  <a:cs typeface="Calibri"/>
                  <a:sym typeface="Calibri"/>
                </a:rPr>
                <a:t>Discrete</a:t>
              </a:r>
              <a:endParaRPr sz="2400">
                <a:solidFill>
                  <a:schemeClr val="dk1"/>
                </a:solidFill>
                <a:latin typeface="Calibri"/>
                <a:ea typeface="Calibri"/>
                <a:cs typeface="Calibri"/>
                <a:sym typeface="Calibri"/>
              </a:endParaRPr>
            </a:p>
          </p:txBody>
        </p:sp>
        <p:sp>
          <p:nvSpPr>
            <p:cNvPr id="252" name="Google Shape;252;p30"/>
            <p:cNvSpPr/>
            <p:nvPr/>
          </p:nvSpPr>
          <p:spPr>
            <a:xfrm>
              <a:off x="2536" y="2319"/>
              <a:ext cx="933" cy="23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a:solidFill>
                    <a:srgbClr val="000000"/>
                  </a:solidFill>
                  <a:latin typeface="Calibri"/>
                  <a:ea typeface="Calibri"/>
                  <a:cs typeface="Calibri"/>
                  <a:sym typeface="Calibri"/>
                </a:rPr>
                <a:t>Information</a:t>
              </a:r>
              <a:endParaRPr sz="2400">
                <a:solidFill>
                  <a:schemeClr val="dk1"/>
                </a:solidFill>
                <a:latin typeface="Calibri"/>
                <a:ea typeface="Calibri"/>
                <a:cs typeface="Calibri"/>
                <a:sym typeface="Calibri"/>
              </a:endParaRPr>
            </a:p>
          </p:txBody>
        </p:sp>
        <p:sp>
          <p:nvSpPr>
            <p:cNvPr id="253" name="Google Shape;253;p30"/>
            <p:cNvSpPr/>
            <p:nvPr/>
          </p:nvSpPr>
          <p:spPr>
            <a:xfrm>
              <a:off x="2536" y="2552"/>
              <a:ext cx="832" cy="2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a:solidFill>
                    <a:srgbClr val="000000"/>
                  </a:solidFill>
                  <a:latin typeface="Calibri"/>
                  <a:ea typeface="Calibri"/>
                  <a:cs typeface="Calibri"/>
                  <a:sym typeface="Calibri"/>
                </a:rPr>
                <a:t>Processing</a:t>
              </a:r>
              <a:endParaRPr sz="2400">
                <a:solidFill>
                  <a:schemeClr val="dk1"/>
                </a:solidFill>
                <a:latin typeface="Calibri"/>
                <a:ea typeface="Calibri"/>
                <a:cs typeface="Calibri"/>
                <a:sym typeface="Calibri"/>
              </a:endParaRPr>
            </a:p>
          </p:txBody>
        </p:sp>
        <p:sp>
          <p:nvSpPr>
            <p:cNvPr id="254" name="Google Shape;254;p30"/>
            <p:cNvSpPr/>
            <p:nvPr/>
          </p:nvSpPr>
          <p:spPr>
            <a:xfrm>
              <a:off x="2536" y="2787"/>
              <a:ext cx="565" cy="2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a:solidFill>
                    <a:srgbClr val="000000"/>
                  </a:solidFill>
                  <a:latin typeface="Calibri"/>
                  <a:ea typeface="Calibri"/>
                  <a:cs typeface="Calibri"/>
                  <a:sym typeface="Calibri"/>
                </a:rPr>
                <a:t>System</a:t>
              </a:r>
              <a:endParaRPr sz="2400">
                <a:solidFill>
                  <a:schemeClr val="dk1"/>
                </a:solidFill>
                <a:latin typeface="Calibri"/>
                <a:ea typeface="Calibri"/>
                <a:cs typeface="Calibri"/>
                <a:sym typeface="Calibri"/>
              </a:endParaRPr>
            </a:p>
          </p:txBody>
        </p:sp>
        <p:sp>
          <p:nvSpPr>
            <p:cNvPr id="255" name="Google Shape;255;p30"/>
            <p:cNvSpPr/>
            <p:nvPr/>
          </p:nvSpPr>
          <p:spPr>
            <a:xfrm>
              <a:off x="1419" y="2164"/>
              <a:ext cx="721" cy="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dirty="0" smtClean="0">
                  <a:solidFill>
                    <a:srgbClr val="000000"/>
                  </a:solidFill>
                  <a:latin typeface="Calibri"/>
                  <a:ea typeface="Calibri"/>
                  <a:cs typeface="Calibri"/>
                  <a:sym typeface="Calibri"/>
                </a:rPr>
                <a:t>Discrete Inputs</a:t>
              </a:r>
              <a:endParaRPr sz="2400" dirty="0">
                <a:solidFill>
                  <a:schemeClr val="dk1"/>
                </a:solidFill>
                <a:latin typeface="Calibri"/>
                <a:ea typeface="Calibri"/>
                <a:cs typeface="Calibri"/>
                <a:sym typeface="Calibri"/>
              </a:endParaRPr>
            </a:p>
          </p:txBody>
        </p:sp>
        <p:sp>
          <p:nvSpPr>
            <p:cNvPr id="256" name="Google Shape;256;p30"/>
            <p:cNvSpPr/>
            <p:nvPr/>
          </p:nvSpPr>
          <p:spPr>
            <a:xfrm>
              <a:off x="1419" y="2399"/>
              <a:ext cx="495" cy="20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endParaRPr sz="2400" dirty="0">
                <a:solidFill>
                  <a:schemeClr val="dk1"/>
                </a:solidFill>
                <a:latin typeface="Calibri"/>
                <a:ea typeface="Calibri"/>
                <a:cs typeface="Calibri"/>
                <a:sym typeface="Calibri"/>
              </a:endParaRPr>
            </a:p>
          </p:txBody>
        </p:sp>
        <p:sp>
          <p:nvSpPr>
            <p:cNvPr id="257" name="Google Shape;257;p30"/>
            <p:cNvSpPr/>
            <p:nvPr/>
          </p:nvSpPr>
          <p:spPr>
            <a:xfrm>
              <a:off x="3982" y="2461"/>
              <a:ext cx="740" cy="20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dirty="0" smtClean="0">
                  <a:solidFill>
                    <a:srgbClr val="000000"/>
                  </a:solidFill>
                  <a:latin typeface="Calibri"/>
                  <a:ea typeface="Calibri"/>
                  <a:cs typeface="Calibri"/>
                  <a:sym typeface="Calibri"/>
                </a:rPr>
                <a:t>Discrete</a:t>
              </a:r>
              <a:endParaRPr sz="2400" dirty="0">
                <a:solidFill>
                  <a:schemeClr val="dk1"/>
                </a:solidFill>
                <a:latin typeface="Calibri"/>
                <a:ea typeface="Calibri"/>
                <a:cs typeface="Calibri"/>
                <a:sym typeface="Calibri"/>
              </a:endParaRPr>
            </a:p>
          </p:txBody>
        </p:sp>
        <p:sp>
          <p:nvSpPr>
            <p:cNvPr id="258" name="Google Shape;258;p30"/>
            <p:cNvSpPr/>
            <p:nvPr/>
          </p:nvSpPr>
          <p:spPr>
            <a:xfrm>
              <a:off x="3982" y="2695"/>
              <a:ext cx="639" cy="20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dirty="0" smtClean="0">
                  <a:solidFill>
                    <a:srgbClr val="000000"/>
                  </a:solidFill>
                  <a:latin typeface="Calibri"/>
                  <a:ea typeface="Calibri"/>
                  <a:cs typeface="Calibri"/>
                  <a:sym typeface="Calibri"/>
                </a:rPr>
                <a:t>outputs</a:t>
              </a:r>
              <a:endParaRPr sz="2400" dirty="0">
                <a:solidFill>
                  <a:schemeClr val="dk1"/>
                </a:solidFill>
                <a:latin typeface="Calibri"/>
                <a:ea typeface="Calibri"/>
                <a:cs typeface="Calibri"/>
                <a:sym typeface="Calibri"/>
              </a:endParaRPr>
            </a:p>
          </p:txBody>
        </p:sp>
        <p:sp>
          <p:nvSpPr>
            <p:cNvPr id="259" name="Google Shape;259;p30"/>
            <p:cNvSpPr/>
            <p:nvPr/>
          </p:nvSpPr>
          <p:spPr>
            <a:xfrm>
              <a:off x="2382" y="3573"/>
              <a:ext cx="1115" cy="469"/>
            </a:xfrm>
            <a:prstGeom prst="rect">
              <a:avLst/>
            </a:prstGeom>
            <a:noFill/>
            <a:ln w="31750"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cxnSp>
          <p:nvCxnSpPr>
            <p:cNvPr id="260" name="Google Shape;260;p30"/>
            <p:cNvCxnSpPr/>
            <p:nvPr/>
          </p:nvCxnSpPr>
          <p:spPr>
            <a:xfrm rot="10800000" flipH="1">
              <a:off x="3539" y="2551"/>
              <a:ext cx="385" cy="5"/>
            </a:xfrm>
            <a:prstGeom prst="straightConnector1">
              <a:avLst/>
            </a:prstGeom>
            <a:noFill/>
            <a:ln w="57150" cap="flat" cmpd="sng">
              <a:solidFill>
                <a:srgbClr val="000000"/>
              </a:solidFill>
              <a:prstDash val="solid"/>
              <a:round/>
              <a:headEnd type="none" w="med" len="med"/>
              <a:tailEnd type="triangle" w="med" len="med"/>
            </a:ln>
          </p:spPr>
        </p:cxnSp>
      </p:gr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36847066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5" name="Google Shape;315;p34"/>
          <p:cNvSpPr txBox="1">
            <a:spLocks noGrp="1"/>
          </p:cNvSpPr>
          <p:nvPr>
            <p:ph type="title"/>
          </p:nvPr>
        </p:nvSpPr>
        <p:spPr>
          <a:xfrm>
            <a:off x="838200" y="365125"/>
            <a:ext cx="9218240" cy="615603"/>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4400"/>
              <a:buFont typeface="Arial Black"/>
              <a:buNone/>
            </a:pPr>
            <a:r>
              <a:rPr lang="en-US">
                <a:solidFill>
                  <a:schemeClr val="lt1"/>
                </a:solidFill>
                <a:latin typeface="Arial Black"/>
                <a:ea typeface="Arial Black"/>
                <a:cs typeface="Arial Black"/>
                <a:sym typeface="Arial Black"/>
              </a:rPr>
              <a:t>Signal</a:t>
            </a:r>
            <a:endParaRPr/>
          </a:p>
        </p:txBody>
      </p:sp>
      <p:sp>
        <p:nvSpPr>
          <p:cNvPr id="316" name="Google Shape;316;p34"/>
          <p:cNvSpPr txBox="1">
            <a:spLocks noGrp="1"/>
          </p:cNvSpPr>
          <p:nvPr>
            <p:ph type="body" idx="1"/>
          </p:nvPr>
        </p:nvSpPr>
        <p:spPr>
          <a:xfrm>
            <a:off x="695400" y="1385888"/>
            <a:ext cx="11089232" cy="5027612"/>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400"/>
              <a:buChar char="•"/>
            </a:pPr>
            <a:r>
              <a:rPr lang="en-US" sz="2400">
                <a:latin typeface="Arial"/>
                <a:ea typeface="Arial"/>
                <a:cs typeface="Arial"/>
                <a:sym typeface="Arial"/>
              </a:rPr>
              <a:t>An information variable represented by physical quantity. </a:t>
            </a:r>
            <a:endParaRPr/>
          </a:p>
          <a:p>
            <a:pPr marL="228600" lvl="0" indent="-228600" algn="just" rtl="0">
              <a:lnSpc>
                <a:spcPct val="90000"/>
              </a:lnSpc>
              <a:spcBef>
                <a:spcPts val="1000"/>
              </a:spcBef>
              <a:spcAft>
                <a:spcPts val="0"/>
              </a:spcAft>
              <a:buClr>
                <a:schemeClr val="dk1"/>
              </a:buClr>
              <a:buSzPts val="2400"/>
              <a:buChar char="•"/>
            </a:pPr>
            <a:r>
              <a:rPr lang="en-US" sz="2400">
                <a:latin typeface="Arial"/>
                <a:ea typeface="Arial"/>
                <a:cs typeface="Arial"/>
                <a:sym typeface="Arial"/>
              </a:rPr>
              <a:t>For digital systems, the variable takes on discrete values.   </a:t>
            </a:r>
            <a:endParaRPr/>
          </a:p>
          <a:p>
            <a:pPr marL="228600" lvl="0" indent="-228600" algn="just" rtl="0">
              <a:lnSpc>
                <a:spcPct val="90000"/>
              </a:lnSpc>
              <a:spcBef>
                <a:spcPts val="1000"/>
              </a:spcBef>
              <a:spcAft>
                <a:spcPts val="0"/>
              </a:spcAft>
              <a:buClr>
                <a:schemeClr val="dk1"/>
              </a:buClr>
              <a:buSzPts val="2400"/>
              <a:buChar char="•"/>
            </a:pPr>
            <a:r>
              <a:rPr lang="en-US" sz="2400">
                <a:latin typeface="Arial"/>
                <a:ea typeface="Arial"/>
                <a:cs typeface="Arial"/>
                <a:sym typeface="Arial"/>
              </a:rPr>
              <a:t>Two level, or binary values are the most prevalent values in digital systems. </a:t>
            </a:r>
            <a:endParaRPr/>
          </a:p>
          <a:p>
            <a:pPr marL="228600" lvl="0" indent="-228600" algn="just" rtl="0">
              <a:lnSpc>
                <a:spcPct val="90000"/>
              </a:lnSpc>
              <a:spcBef>
                <a:spcPts val="1000"/>
              </a:spcBef>
              <a:spcAft>
                <a:spcPts val="0"/>
              </a:spcAft>
              <a:buClr>
                <a:schemeClr val="dk1"/>
              </a:buClr>
              <a:buSzPts val="2400"/>
              <a:buChar char="•"/>
            </a:pPr>
            <a:r>
              <a:rPr lang="en-US" sz="2400">
                <a:latin typeface="Arial"/>
                <a:ea typeface="Arial"/>
                <a:cs typeface="Arial"/>
                <a:sym typeface="Arial"/>
              </a:rPr>
              <a:t>Binary values are represented abstractly by:</a:t>
            </a:r>
            <a:endParaRPr/>
          </a:p>
          <a:p>
            <a:pPr marL="685800" lvl="1" indent="-228600" algn="just" rtl="0">
              <a:lnSpc>
                <a:spcPct val="90000"/>
              </a:lnSpc>
              <a:spcBef>
                <a:spcPts val="500"/>
              </a:spcBef>
              <a:spcAft>
                <a:spcPts val="0"/>
              </a:spcAft>
              <a:buClr>
                <a:schemeClr val="dk1"/>
              </a:buClr>
              <a:buSzPts val="2400"/>
              <a:buChar char="•"/>
            </a:pPr>
            <a:r>
              <a:rPr lang="en-US">
                <a:latin typeface="Arial"/>
                <a:ea typeface="Arial"/>
                <a:cs typeface="Arial"/>
                <a:sym typeface="Arial"/>
              </a:rPr>
              <a:t> digits 0 and 1</a:t>
            </a:r>
            <a:endParaRPr/>
          </a:p>
          <a:p>
            <a:pPr marL="685800" lvl="1" indent="-228600" algn="just" rtl="0">
              <a:lnSpc>
                <a:spcPct val="90000"/>
              </a:lnSpc>
              <a:spcBef>
                <a:spcPts val="500"/>
              </a:spcBef>
              <a:spcAft>
                <a:spcPts val="0"/>
              </a:spcAft>
              <a:buClr>
                <a:schemeClr val="dk1"/>
              </a:buClr>
              <a:buSzPts val="2400"/>
              <a:buChar char="•"/>
            </a:pPr>
            <a:r>
              <a:rPr lang="en-US">
                <a:latin typeface="Arial"/>
                <a:ea typeface="Arial"/>
                <a:cs typeface="Arial"/>
                <a:sym typeface="Arial"/>
              </a:rPr>
              <a:t> words (symbols) False (F) and True (T)</a:t>
            </a:r>
            <a:endParaRPr/>
          </a:p>
          <a:p>
            <a:pPr marL="685800" lvl="1" indent="-228600" algn="just" rtl="0">
              <a:lnSpc>
                <a:spcPct val="90000"/>
              </a:lnSpc>
              <a:spcBef>
                <a:spcPts val="500"/>
              </a:spcBef>
              <a:spcAft>
                <a:spcPts val="0"/>
              </a:spcAft>
              <a:buClr>
                <a:schemeClr val="dk1"/>
              </a:buClr>
              <a:buSzPts val="2400"/>
              <a:buChar char="•"/>
            </a:pPr>
            <a:r>
              <a:rPr lang="en-US">
                <a:latin typeface="Arial"/>
                <a:ea typeface="Arial"/>
                <a:cs typeface="Arial"/>
                <a:sym typeface="Arial"/>
              </a:rPr>
              <a:t> words (symbols) Low (L) and High (H) </a:t>
            </a:r>
            <a:endParaRPr/>
          </a:p>
          <a:p>
            <a:pPr marL="685800" lvl="1" indent="-228600" algn="just" rtl="0">
              <a:lnSpc>
                <a:spcPct val="90000"/>
              </a:lnSpc>
              <a:spcBef>
                <a:spcPts val="500"/>
              </a:spcBef>
              <a:spcAft>
                <a:spcPts val="0"/>
              </a:spcAft>
              <a:buClr>
                <a:schemeClr val="dk1"/>
              </a:buClr>
              <a:buSzPts val="2400"/>
              <a:buChar char="•"/>
            </a:pPr>
            <a:r>
              <a:rPr lang="en-US">
                <a:latin typeface="Arial"/>
                <a:ea typeface="Arial"/>
                <a:cs typeface="Arial"/>
                <a:sym typeface="Arial"/>
              </a:rPr>
              <a:t> and words On and Off.</a:t>
            </a:r>
            <a:endParaRPr/>
          </a:p>
          <a:p>
            <a:pPr marL="228600" lvl="0" indent="-228600" algn="just" rtl="0">
              <a:lnSpc>
                <a:spcPct val="90000"/>
              </a:lnSpc>
              <a:spcBef>
                <a:spcPts val="1000"/>
              </a:spcBef>
              <a:spcAft>
                <a:spcPts val="0"/>
              </a:spcAft>
              <a:buClr>
                <a:schemeClr val="dk1"/>
              </a:buClr>
              <a:buSzPts val="2400"/>
              <a:buChar char="•"/>
            </a:pPr>
            <a:r>
              <a:rPr lang="en-US" sz="2400">
                <a:latin typeface="Arial"/>
                <a:ea typeface="Arial"/>
                <a:cs typeface="Arial"/>
                <a:sym typeface="Arial"/>
              </a:rPr>
              <a:t>Binary values are represented by values or ranges of values of physical quantities</a:t>
            </a: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25745383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9"/>
          <p:cNvSpPr txBox="1">
            <a:spLocks noGrp="1"/>
          </p:cNvSpPr>
          <p:nvPr>
            <p:ph type="title"/>
          </p:nvPr>
        </p:nvSpPr>
        <p:spPr>
          <a:xfrm>
            <a:off x="119336" y="260648"/>
            <a:ext cx="10225136" cy="1008112"/>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Autofit/>
          </a:bodyPr>
          <a:lstStyle/>
          <a:p>
            <a:pPr marL="0" lvl="1" indent="0" algn="ctr" rtl="0">
              <a:lnSpc>
                <a:spcPct val="90000"/>
              </a:lnSpc>
              <a:spcBef>
                <a:spcPts val="0"/>
              </a:spcBef>
              <a:spcAft>
                <a:spcPts val="0"/>
              </a:spcAft>
              <a:buNone/>
            </a:pPr>
            <a:r>
              <a:rPr lang="en-US" sz="4000" b="1">
                <a:solidFill>
                  <a:schemeClr val="dk1"/>
                </a:solidFill>
                <a:latin typeface="Arial Black"/>
                <a:ea typeface="Arial Black"/>
                <a:cs typeface="Arial Black"/>
                <a:sym typeface="Arial Black"/>
              </a:rPr>
              <a:t>Introduction to Number System and Logic Gates</a:t>
            </a:r>
            <a:endParaRPr sz="4000" b="1">
              <a:latin typeface="Arial Black"/>
              <a:ea typeface="Arial Black"/>
              <a:cs typeface="Arial Black"/>
              <a:sym typeface="Arial Black"/>
            </a:endParaRPr>
          </a:p>
        </p:txBody>
      </p:sp>
      <p:sp>
        <p:nvSpPr>
          <p:cNvPr id="237" name="Google Shape;237;p29"/>
          <p:cNvSpPr txBox="1">
            <a:spLocks noGrp="1"/>
          </p:cNvSpPr>
          <p:nvPr>
            <p:ph type="body" idx="1"/>
          </p:nvPr>
        </p:nvSpPr>
        <p:spPr>
          <a:xfrm>
            <a:off x="153074" y="1412776"/>
            <a:ext cx="11631558" cy="5231565"/>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marL="0" marR="0" lvl="0" indent="0" algn="just"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Palatino Linotype"/>
              <a:ea typeface="Palatino Linotype"/>
              <a:cs typeface="Palatino Linotype"/>
              <a:sym typeface="Palatino Linotype"/>
            </a:endParaRPr>
          </a:p>
          <a:p>
            <a:pPr marL="685800" marR="0" lvl="1" indent="-228600" algn="l" rtl="0">
              <a:lnSpc>
                <a:spcPct val="100000"/>
              </a:lnSpc>
              <a:spcBef>
                <a:spcPts val="500"/>
              </a:spcBef>
              <a:spcAft>
                <a:spcPts val="0"/>
              </a:spcAft>
              <a:buClr>
                <a:srgbClr val="C00000"/>
              </a:buClr>
              <a:buSzPts val="2800"/>
              <a:buFont typeface="Noto Sans Symbols"/>
              <a:buChar char="⮚"/>
            </a:pPr>
            <a:r>
              <a:rPr lang="en-US" sz="2800" b="0" i="0" u="none" strike="noStrike" cap="none">
                <a:solidFill>
                  <a:srgbClr val="C00000"/>
                </a:solidFill>
                <a:latin typeface="Times New Roman"/>
                <a:ea typeface="Times New Roman"/>
                <a:cs typeface="Times New Roman"/>
                <a:sym typeface="Times New Roman"/>
              </a:rPr>
              <a:t>Number Systems- Binary, Decimal, Octal, Hexadecimal</a:t>
            </a:r>
            <a:endParaRPr/>
          </a:p>
          <a:p>
            <a:pPr marL="685800" marR="0" lvl="1" indent="-228600" algn="l" rtl="0">
              <a:lnSpc>
                <a:spcPct val="100000"/>
              </a:lnSpc>
              <a:spcBef>
                <a:spcPts val="500"/>
              </a:spcBef>
              <a:spcAft>
                <a:spcPts val="0"/>
              </a:spcAft>
              <a:buClr>
                <a:srgbClr val="C00000"/>
              </a:buClr>
              <a:buSzPts val="2800"/>
              <a:buFont typeface="Noto Sans Symbols"/>
              <a:buChar char="⮚"/>
            </a:pPr>
            <a:r>
              <a:rPr lang="en-US" sz="2800" b="0" i="0" u="none" strike="noStrike" cap="none">
                <a:solidFill>
                  <a:srgbClr val="C00000"/>
                </a:solidFill>
                <a:latin typeface="Times New Roman"/>
                <a:ea typeface="Times New Roman"/>
                <a:cs typeface="Times New Roman"/>
                <a:sym typeface="Times New Roman"/>
              </a:rPr>
              <a:t>Codes- Grey, BCD,Excess-3, </a:t>
            </a:r>
            <a:endParaRPr/>
          </a:p>
          <a:p>
            <a:pPr marL="685800" marR="0" lvl="1" indent="-228600" algn="l" rtl="0">
              <a:lnSpc>
                <a:spcPct val="100000"/>
              </a:lnSpc>
              <a:spcBef>
                <a:spcPts val="500"/>
              </a:spcBef>
              <a:spcAft>
                <a:spcPts val="0"/>
              </a:spcAft>
              <a:buClr>
                <a:srgbClr val="C00000"/>
              </a:buClr>
              <a:buSzPts val="2800"/>
              <a:buFont typeface="Noto Sans Symbols"/>
              <a:buChar char="⮚"/>
            </a:pPr>
            <a:r>
              <a:rPr lang="en-US" sz="2800" b="0" i="0" u="none" strike="noStrike" cap="none">
                <a:solidFill>
                  <a:srgbClr val="C00000"/>
                </a:solidFill>
                <a:latin typeface="Times New Roman"/>
                <a:ea typeface="Times New Roman"/>
                <a:cs typeface="Times New Roman"/>
                <a:sym typeface="Times New Roman"/>
              </a:rPr>
              <a:t>ASCII, Parity</a:t>
            </a:r>
            <a:endParaRPr/>
          </a:p>
          <a:p>
            <a:pPr marL="685800" marR="0" lvl="1" indent="-228600" algn="l" rtl="0">
              <a:lnSpc>
                <a:spcPct val="100000"/>
              </a:lnSpc>
              <a:spcBef>
                <a:spcPts val="500"/>
              </a:spcBef>
              <a:spcAft>
                <a:spcPts val="0"/>
              </a:spcAft>
              <a:buClr>
                <a:srgbClr val="C00000"/>
              </a:buClr>
              <a:buSzPts val="2800"/>
              <a:buFont typeface="Noto Sans Symbols"/>
              <a:buChar char="⮚"/>
            </a:pPr>
            <a:r>
              <a:rPr lang="en-US" sz="2800" b="0" i="0" u="none" strike="noStrike" cap="none">
                <a:solidFill>
                  <a:srgbClr val="C00000"/>
                </a:solidFill>
                <a:latin typeface="Times New Roman"/>
                <a:ea typeface="Times New Roman"/>
                <a:cs typeface="Times New Roman"/>
                <a:sym typeface="Times New Roman"/>
              </a:rPr>
              <a:t>Binary Arithmetic- Addition, Subtraction, Multiplication, Division using Sign Magnitude</a:t>
            </a:r>
            <a:endParaRPr/>
          </a:p>
          <a:p>
            <a:pPr marL="685800" marR="0" lvl="1" indent="-228600" algn="l" rtl="0">
              <a:lnSpc>
                <a:spcPct val="100000"/>
              </a:lnSpc>
              <a:spcBef>
                <a:spcPts val="500"/>
              </a:spcBef>
              <a:spcAft>
                <a:spcPts val="0"/>
              </a:spcAft>
              <a:buClr>
                <a:srgbClr val="C00000"/>
              </a:buClr>
              <a:buSzPts val="2800"/>
              <a:buFont typeface="Noto Sans Symbols"/>
              <a:buChar char="⮚"/>
            </a:pPr>
            <a:r>
              <a:rPr lang="en-US" sz="2800" b="0" i="0" u="none" strike="noStrike" cap="none">
                <a:solidFill>
                  <a:srgbClr val="C00000"/>
                </a:solidFill>
                <a:latin typeface="Times New Roman"/>
                <a:ea typeface="Times New Roman"/>
                <a:cs typeface="Times New Roman"/>
                <a:sym typeface="Times New Roman"/>
              </a:rPr>
              <a:t>1’s </a:t>
            </a:r>
            <a:r>
              <a:rPr lang="en-US" sz="2800">
                <a:solidFill>
                  <a:srgbClr val="C00000"/>
                </a:solidFill>
                <a:latin typeface="Times New Roman"/>
                <a:ea typeface="Times New Roman"/>
                <a:cs typeface="Times New Roman"/>
                <a:sym typeface="Times New Roman"/>
              </a:rPr>
              <a:t>complement</a:t>
            </a:r>
            <a:r>
              <a:rPr lang="en-US" sz="2800" b="0" i="0" u="none" strike="noStrike" cap="none">
                <a:solidFill>
                  <a:srgbClr val="C00000"/>
                </a:solidFill>
                <a:latin typeface="Times New Roman"/>
                <a:ea typeface="Times New Roman"/>
                <a:cs typeface="Times New Roman"/>
                <a:sym typeface="Times New Roman"/>
              </a:rPr>
              <a:t>, 2’s </a:t>
            </a:r>
            <a:r>
              <a:rPr lang="en-US" sz="2800">
                <a:solidFill>
                  <a:srgbClr val="C00000"/>
                </a:solidFill>
                <a:latin typeface="Times New Roman"/>
                <a:ea typeface="Times New Roman"/>
                <a:cs typeface="Times New Roman"/>
                <a:sym typeface="Times New Roman"/>
              </a:rPr>
              <a:t>complement</a:t>
            </a:r>
            <a:r>
              <a:rPr lang="en-US" sz="2800" b="0" i="0" u="none" strike="noStrike" cap="none">
                <a:solidFill>
                  <a:srgbClr val="C00000"/>
                </a:solidFill>
                <a:latin typeface="Times New Roman"/>
                <a:ea typeface="Times New Roman"/>
                <a:cs typeface="Times New Roman"/>
                <a:sym typeface="Times New Roman"/>
              </a:rPr>
              <a:t>, </a:t>
            </a:r>
            <a:endParaRPr/>
          </a:p>
          <a:p>
            <a:pPr marL="685800" marR="0" lvl="1" indent="-228600" algn="l" rtl="0">
              <a:lnSpc>
                <a:spcPct val="100000"/>
              </a:lnSpc>
              <a:spcBef>
                <a:spcPts val="500"/>
              </a:spcBef>
              <a:spcAft>
                <a:spcPts val="0"/>
              </a:spcAft>
              <a:buClr>
                <a:srgbClr val="C00000"/>
              </a:buClr>
              <a:buSzPts val="2800"/>
              <a:buFont typeface="Noto Sans Symbols"/>
              <a:buChar char="⮚"/>
            </a:pPr>
            <a:r>
              <a:rPr lang="en-US" sz="2800" b="0" i="0" u="none" strike="noStrike" cap="none">
                <a:solidFill>
                  <a:srgbClr val="C00000"/>
                </a:solidFill>
                <a:latin typeface="Times New Roman"/>
                <a:ea typeface="Times New Roman"/>
                <a:cs typeface="Times New Roman"/>
                <a:sym typeface="Times New Roman"/>
              </a:rPr>
              <a:t>BCD Arithmetic;</a:t>
            </a:r>
            <a:endParaRPr/>
          </a:p>
          <a:p>
            <a:pPr marL="685800" marR="0" lvl="1" indent="-228600" algn="l" rtl="0">
              <a:lnSpc>
                <a:spcPct val="100000"/>
              </a:lnSpc>
              <a:spcBef>
                <a:spcPts val="500"/>
              </a:spcBef>
              <a:spcAft>
                <a:spcPts val="0"/>
              </a:spcAft>
              <a:buClr>
                <a:srgbClr val="C00000"/>
              </a:buClr>
              <a:buSzPts val="2800"/>
              <a:buFont typeface="Noto Sans Symbols"/>
              <a:buChar char="⮚"/>
            </a:pPr>
            <a:r>
              <a:rPr lang="en-US" sz="2800" b="0" i="0" u="none" strike="noStrike" cap="none">
                <a:solidFill>
                  <a:srgbClr val="C00000"/>
                </a:solidFill>
                <a:latin typeface="Times New Roman"/>
                <a:ea typeface="Times New Roman"/>
                <a:cs typeface="Times New Roman"/>
                <a:sym typeface="Times New Roman"/>
              </a:rPr>
              <a:t> Logic Gates-AND, OR, NOT, NAND, </a:t>
            </a:r>
            <a:endParaRPr/>
          </a:p>
          <a:p>
            <a:pPr marL="685800" marR="0" lvl="1" indent="-228600" algn="l" rtl="0">
              <a:lnSpc>
                <a:spcPct val="100000"/>
              </a:lnSpc>
              <a:spcBef>
                <a:spcPts val="500"/>
              </a:spcBef>
              <a:spcAft>
                <a:spcPts val="0"/>
              </a:spcAft>
              <a:buClr>
                <a:srgbClr val="C00000"/>
              </a:buClr>
              <a:buSzPts val="2800"/>
              <a:buFont typeface="Noto Sans Symbols"/>
              <a:buChar char="⮚"/>
            </a:pPr>
            <a:r>
              <a:rPr lang="en-US" sz="2800" b="0" i="0" u="none" strike="noStrike" cap="none">
                <a:solidFill>
                  <a:srgbClr val="C00000"/>
                </a:solidFill>
                <a:latin typeface="Times New Roman"/>
                <a:ea typeface="Times New Roman"/>
                <a:cs typeface="Times New Roman"/>
                <a:sym typeface="Times New Roman"/>
              </a:rPr>
              <a:t>NOR, EX-OR, EX-NOR</a:t>
            </a: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3" cstate="print"/>
          <a:srcRect r="1968" b="5158"/>
          <a:stretch/>
        </p:blipFill>
        <p:spPr>
          <a:xfrm>
            <a:off x="105972" y="150623"/>
            <a:ext cx="11952108" cy="6504317"/>
          </a:xfrm>
          <a:prstGeom prst="rect">
            <a:avLst/>
          </a:prstGeom>
        </p:spPr>
      </p:pic>
      <p:pic>
        <p:nvPicPr>
          <p:cNvPr id="3" name="Picture 2"/>
          <p:cNvPicPr>
            <a:picLocks noChangeAspect="1"/>
          </p:cNvPicPr>
          <p:nvPr/>
        </p:nvPicPr>
        <p:blipFill>
          <a:blip r:embed="rId4"/>
          <a:stretch>
            <a:fillRect/>
          </a:stretch>
        </p:blipFill>
        <p:spPr>
          <a:xfrm>
            <a:off x="11210237" y="178159"/>
            <a:ext cx="847843"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11</a:t>
            </a:fld>
            <a:endParaRPr lang="en-IN" sz="1800" dirty="0">
              <a:solidFill>
                <a:prstClr val="black">
                  <a:tint val="75000"/>
                </a:prstClr>
              </a:solidFill>
            </a:endParaRPr>
          </a:p>
        </p:txBody>
      </p:sp>
    </p:spTree>
    <p:extLst>
      <p:ext uri="{BB962C8B-B14F-4D97-AF65-F5344CB8AC3E}">
        <p14:creationId xmlns:p14="http://schemas.microsoft.com/office/powerpoint/2010/main" val="32331733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l="-1" r="147" b="8679"/>
          <a:stretch/>
        </p:blipFill>
        <p:spPr>
          <a:xfrm>
            <a:off x="1" y="2"/>
            <a:ext cx="11731924" cy="6262776"/>
          </a:xfrm>
          <a:prstGeom prst="rect">
            <a:avLst/>
          </a:prstGeom>
        </p:spPr>
      </p:pic>
      <p:pic>
        <p:nvPicPr>
          <p:cNvPr id="3" name="Picture 2"/>
          <p:cNvPicPr>
            <a:picLocks noChangeAspect="1"/>
          </p:cNvPicPr>
          <p:nvPr/>
        </p:nvPicPr>
        <p:blipFill>
          <a:blip r:embed="rId3"/>
          <a:stretch>
            <a:fillRect/>
          </a:stretch>
        </p:blipFill>
        <p:spPr>
          <a:xfrm>
            <a:off x="11106720" y="229918"/>
            <a:ext cx="847843"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12</a:t>
            </a:fld>
            <a:endParaRPr lang="en-IN" sz="1800">
              <a:solidFill>
                <a:prstClr val="black">
                  <a:tint val="75000"/>
                </a:prstClr>
              </a:solidFill>
            </a:endParaRPr>
          </a:p>
        </p:txBody>
      </p:sp>
    </p:spTree>
    <p:extLst>
      <p:ext uri="{BB962C8B-B14F-4D97-AF65-F5344CB8AC3E}">
        <p14:creationId xmlns:p14="http://schemas.microsoft.com/office/powerpoint/2010/main" val="41770131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l="1" r="835" b="4963"/>
          <a:stretch/>
        </p:blipFill>
        <p:spPr>
          <a:xfrm>
            <a:off x="-185679" y="-203059"/>
            <a:ext cx="12090132" cy="6517595"/>
          </a:xfrm>
          <a:prstGeom prst="rect">
            <a:avLst/>
          </a:prstGeom>
        </p:spPr>
      </p:pic>
      <p:pic>
        <p:nvPicPr>
          <p:cNvPr id="3" name="Picture 2"/>
          <p:cNvPicPr>
            <a:picLocks noChangeAspect="1"/>
          </p:cNvPicPr>
          <p:nvPr/>
        </p:nvPicPr>
        <p:blipFill>
          <a:blip r:embed="rId3"/>
          <a:stretch>
            <a:fillRect/>
          </a:stretch>
        </p:blipFill>
        <p:spPr>
          <a:xfrm>
            <a:off x="11158478" y="126400"/>
            <a:ext cx="847843"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13</a:t>
            </a:fld>
            <a:endParaRPr lang="en-IN" sz="1800">
              <a:solidFill>
                <a:prstClr val="black">
                  <a:tint val="75000"/>
                </a:prstClr>
              </a:solidFill>
            </a:endParaRPr>
          </a:p>
        </p:txBody>
      </p:sp>
    </p:spTree>
    <p:extLst>
      <p:ext uri="{BB962C8B-B14F-4D97-AF65-F5344CB8AC3E}">
        <p14:creationId xmlns:p14="http://schemas.microsoft.com/office/powerpoint/2010/main" val="4142997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r="1153" b="6415"/>
          <a:stretch/>
        </p:blipFill>
        <p:spPr>
          <a:xfrm>
            <a:off x="1" y="2"/>
            <a:ext cx="11835442" cy="6418052"/>
          </a:xfrm>
          <a:prstGeom prst="rect">
            <a:avLst/>
          </a:prstGeom>
        </p:spPr>
      </p:pic>
      <p:pic>
        <p:nvPicPr>
          <p:cNvPr id="3" name="Picture 2"/>
          <p:cNvPicPr>
            <a:picLocks noChangeAspect="1"/>
          </p:cNvPicPr>
          <p:nvPr/>
        </p:nvPicPr>
        <p:blipFill>
          <a:blip r:embed="rId3"/>
          <a:stretch>
            <a:fillRect/>
          </a:stretch>
        </p:blipFill>
        <p:spPr>
          <a:xfrm>
            <a:off x="11125620" y="178159"/>
            <a:ext cx="847843"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14</a:t>
            </a:fld>
            <a:endParaRPr lang="en-IN" sz="1800">
              <a:solidFill>
                <a:prstClr val="black">
                  <a:tint val="75000"/>
                </a:prstClr>
              </a:solidFill>
            </a:endParaRPr>
          </a:p>
        </p:txBody>
      </p:sp>
    </p:spTree>
    <p:extLst>
      <p:ext uri="{BB962C8B-B14F-4D97-AF65-F5344CB8AC3E}">
        <p14:creationId xmlns:p14="http://schemas.microsoft.com/office/powerpoint/2010/main" val="2499989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r="1136" b="8176"/>
          <a:stretch/>
        </p:blipFill>
        <p:spPr>
          <a:xfrm>
            <a:off x="1" y="0"/>
            <a:ext cx="12007970" cy="6297283"/>
          </a:xfrm>
          <a:prstGeom prst="rect">
            <a:avLst/>
          </a:prstGeom>
        </p:spPr>
      </p:pic>
      <p:pic>
        <p:nvPicPr>
          <p:cNvPr id="3" name="Picture 2"/>
          <p:cNvPicPr>
            <a:picLocks noChangeAspect="1"/>
          </p:cNvPicPr>
          <p:nvPr/>
        </p:nvPicPr>
        <p:blipFill>
          <a:blip r:embed="rId3"/>
          <a:stretch>
            <a:fillRect/>
          </a:stretch>
        </p:blipFill>
        <p:spPr>
          <a:xfrm>
            <a:off x="11141225" y="264423"/>
            <a:ext cx="847843"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15</a:t>
            </a:fld>
            <a:endParaRPr lang="en-IN" sz="1800">
              <a:solidFill>
                <a:prstClr val="black">
                  <a:tint val="75000"/>
                </a:prstClr>
              </a:solidFill>
            </a:endParaRPr>
          </a:p>
        </p:txBody>
      </p:sp>
    </p:spTree>
    <p:extLst>
      <p:ext uri="{BB962C8B-B14F-4D97-AF65-F5344CB8AC3E}">
        <p14:creationId xmlns:p14="http://schemas.microsoft.com/office/powerpoint/2010/main" val="1582426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r="519" b="7673"/>
          <a:stretch/>
        </p:blipFill>
        <p:spPr>
          <a:xfrm>
            <a:off x="0" y="2"/>
            <a:ext cx="12128740" cy="6331788"/>
          </a:xfrm>
          <a:prstGeom prst="rect">
            <a:avLst/>
          </a:prstGeom>
        </p:spPr>
      </p:pic>
      <p:pic>
        <p:nvPicPr>
          <p:cNvPr id="3" name="Picture 2"/>
          <p:cNvPicPr>
            <a:picLocks noChangeAspect="1"/>
          </p:cNvPicPr>
          <p:nvPr/>
        </p:nvPicPr>
        <p:blipFill>
          <a:blip r:embed="rId3"/>
          <a:stretch>
            <a:fillRect/>
          </a:stretch>
        </p:blipFill>
        <p:spPr>
          <a:xfrm>
            <a:off x="11192983" y="160906"/>
            <a:ext cx="847843"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16</a:t>
            </a:fld>
            <a:endParaRPr lang="en-IN" sz="1800">
              <a:solidFill>
                <a:prstClr val="black">
                  <a:tint val="75000"/>
                </a:prstClr>
              </a:solidFill>
            </a:endParaRPr>
          </a:p>
        </p:txBody>
      </p:sp>
    </p:spTree>
    <p:extLst>
      <p:ext uri="{BB962C8B-B14F-4D97-AF65-F5344CB8AC3E}">
        <p14:creationId xmlns:p14="http://schemas.microsoft.com/office/powerpoint/2010/main" val="4279741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r="146" b="6918"/>
          <a:stretch/>
        </p:blipFill>
        <p:spPr>
          <a:xfrm>
            <a:off x="1" y="2"/>
            <a:ext cx="11852693" cy="6383546"/>
          </a:xfrm>
          <a:prstGeom prst="rect">
            <a:avLst/>
          </a:prstGeom>
        </p:spPr>
      </p:pic>
      <p:pic>
        <p:nvPicPr>
          <p:cNvPr id="3" name="Picture 2"/>
          <p:cNvPicPr>
            <a:picLocks noChangeAspect="1"/>
          </p:cNvPicPr>
          <p:nvPr/>
        </p:nvPicPr>
        <p:blipFill>
          <a:blip r:embed="rId3"/>
          <a:stretch>
            <a:fillRect/>
          </a:stretch>
        </p:blipFill>
        <p:spPr>
          <a:xfrm>
            <a:off x="11344157" y="1"/>
            <a:ext cx="847843"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17</a:t>
            </a:fld>
            <a:endParaRPr lang="en-IN" sz="1800">
              <a:solidFill>
                <a:prstClr val="black">
                  <a:tint val="75000"/>
                </a:prstClr>
              </a:solidFill>
            </a:endParaRPr>
          </a:p>
        </p:txBody>
      </p:sp>
    </p:spTree>
    <p:extLst>
      <p:ext uri="{BB962C8B-B14F-4D97-AF65-F5344CB8AC3E}">
        <p14:creationId xmlns:p14="http://schemas.microsoft.com/office/powerpoint/2010/main" val="1410086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l="575" t="756" r="288" b="125"/>
          <a:stretch/>
        </p:blipFill>
        <p:spPr>
          <a:xfrm>
            <a:off x="0" y="2"/>
            <a:ext cx="11904453" cy="6797613"/>
          </a:xfrm>
          <a:prstGeom prst="rect">
            <a:avLst/>
          </a:prstGeom>
        </p:spPr>
      </p:pic>
      <p:pic>
        <p:nvPicPr>
          <p:cNvPr id="3" name="Picture 2"/>
          <p:cNvPicPr>
            <a:picLocks noChangeAspect="1"/>
          </p:cNvPicPr>
          <p:nvPr/>
        </p:nvPicPr>
        <p:blipFill>
          <a:blip r:embed="rId3"/>
          <a:stretch>
            <a:fillRect/>
          </a:stretch>
        </p:blipFill>
        <p:spPr>
          <a:xfrm>
            <a:off x="11160126" y="143653"/>
            <a:ext cx="847843" cy="428685"/>
          </a:xfrm>
          <a:prstGeom prst="rect">
            <a:avLst/>
          </a:prstGeom>
        </p:spPr>
      </p:pic>
      <p:sp>
        <p:nvSpPr>
          <p:cNvPr id="5" name="Slide Number Placeholder 4"/>
          <p:cNvSpPr>
            <a:spLocks noGrp="1"/>
          </p:cNvSpPr>
          <p:nvPr>
            <p:ph type="sldNum" sz="quarter" idx="7"/>
          </p:nvPr>
        </p:nvSpPr>
        <p:spPr>
          <a:xfrm>
            <a:off x="8873549" y="6399846"/>
            <a:ext cx="2804160" cy="276999"/>
          </a:xfrm>
        </p:spPr>
        <p:txBody>
          <a:bodyPr/>
          <a:lstStyle/>
          <a:p>
            <a:pPr>
              <a:buClrTx/>
            </a:pPr>
            <a:fld id="{B6F15528-21DE-4FAA-801E-634DDDAF4B2B}" type="slidenum">
              <a:rPr lang="en-IN" sz="1800" b="1" smtClean="0">
                <a:solidFill>
                  <a:prstClr val="black">
                    <a:tint val="75000"/>
                  </a:prstClr>
                </a:solidFill>
              </a:rPr>
              <a:pPr>
                <a:buClrTx/>
              </a:pPr>
              <a:t>18</a:t>
            </a:fld>
            <a:endParaRPr lang="en-IN" sz="1800" b="1" dirty="0">
              <a:solidFill>
                <a:prstClr val="black">
                  <a:tint val="75000"/>
                </a:prstClr>
              </a:solidFill>
            </a:endParaRPr>
          </a:p>
        </p:txBody>
      </p:sp>
    </p:spTree>
    <p:extLst>
      <p:ext uri="{BB962C8B-B14F-4D97-AF65-F5344CB8AC3E}">
        <p14:creationId xmlns:p14="http://schemas.microsoft.com/office/powerpoint/2010/main" val="2922452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r="2886" b="8679"/>
          <a:stretch/>
        </p:blipFill>
        <p:spPr>
          <a:xfrm>
            <a:off x="0" y="0"/>
            <a:ext cx="11611155" cy="6262777"/>
          </a:xfrm>
          <a:prstGeom prst="rect">
            <a:avLst/>
          </a:prstGeom>
        </p:spPr>
      </p:pic>
      <p:pic>
        <p:nvPicPr>
          <p:cNvPr id="3" name="Picture 2"/>
          <p:cNvPicPr>
            <a:picLocks noChangeAspect="1"/>
          </p:cNvPicPr>
          <p:nvPr/>
        </p:nvPicPr>
        <p:blipFill>
          <a:blip r:embed="rId3"/>
          <a:stretch>
            <a:fillRect/>
          </a:stretch>
        </p:blipFill>
        <p:spPr>
          <a:xfrm>
            <a:off x="11344157" y="0"/>
            <a:ext cx="847843"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19</a:t>
            </a:fld>
            <a:endParaRPr lang="en-IN" sz="1800">
              <a:solidFill>
                <a:prstClr val="black">
                  <a:tint val="75000"/>
                </a:prstClr>
              </a:solidFill>
            </a:endParaRPr>
          </a:p>
        </p:txBody>
      </p:sp>
    </p:spTree>
    <p:extLst>
      <p:ext uri="{BB962C8B-B14F-4D97-AF65-F5344CB8AC3E}">
        <p14:creationId xmlns:p14="http://schemas.microsoft.com/office/powerpoint/2010/main" val="1464751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b="9182"/>
          <a:stretch/>
        </p:blipFill>
        <p:spPr>
          <a:xfrm>
            <a:off x="0" y="1"/>
            <a:ext cx="12007970" cy="6228271"/>
          </a:xfrm>
          <a:prstGeom prst="rect">
            <a:avLst/>
          </a:prstGeom>
        </p:spPr>
      </p:pic>
      <p:pic>
        <p:nvPicPr>
          <p:cNvPr id="3" name="Picture 2"/>
          <p:cNvPicPr>
            <a:picLocks noChangeAspect="1"/>
          </p:cNvPicPr>
          <p:nvPr/>
        </p:nvPicPr>
        <p:blipFill>
          <a:blip r:embed="rId3"/>
          <a:stretch>
            <a:fillRect/>
          </a:stretch>
        </p:blipFill>
        <p:spPr>
          <a:xfrm>
            <a:off x="11160126" y="195412"/>
            <a:ext cx="847843"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20</a:t>
            </a:fld>
            <a:endParaRPr lang="en-IN" sz="1800">
              <a:solidFill>
                <a:prstClr val="black">
                  <a:tint val="75000"/>
                </a:prstClr>
              </a:solidFill>
            </a:endParaRPr>
          </a:p>
        </p:txBody>
      </p:sp>
    </p:spTree>
    <p:extLst>
      <p:ext uri="{BB962C8B-B14F-4D97-AF65-F5344CB8AC3E}">
        <p14:creationId xmlns:p14="http://schemas.microsoft.com/office/powerpoint/2010/main" val="2845207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r="859" b="4403"/>
          <a:stretch/>
        </p:blipFill>
        <p:spPr>
          <a:xfrm>
            <a:off x="129817" y="-178133"/>
            <a:ext cx="11956211" cy="6556074"/>
          </a:xfrm>
          <a:prstGeom prst="rect">
            <a:avLst/>
          </a:prstGeom>
        </p:spPr>
      </p:pic>
      <p:pic>
        <p:nvPicPr>
          <p:cNvPr id="3" name="Picture 2"/>
          <p:cNvPicPr>
            <a:picLocks noChangeAspect="1"/>
          </p:cNvPicPr>
          <p:nvPr/>
        </p:nvPicPr>
        <p:blipFill>
          <a:blip r:embed="rId3"/>
          <a:stretch>
            <a:fillRect/>
          </a:stretch>
        </p:blipFill>
        <p:spPr>
          <a:xfrm>
            <a:off x="11211885" y="1"/>
            <a:ext cx="847843"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21</a:t>
            </a:fld>
            <a:endParaRPr lang="en-IN" sz="1800">
              <a:solidFill>
                <a:prstClr val="black">
                  <a:tint val="75000"/>
                </a:prstClr>
              </a:solidFill>
            </a:endParaRPr>
          </a:p>
        </p:txBody>
      </p:sp>
    </p:spTree>
    <p:extLst>
      <p:ext uri="{BB962C8B-B14F-4D97-AF65-F5344CB8AC3E}">
        <p14:creationId xmlns:p14="http://schemas.microsoft.com/office/powerpoint/2010/main" val="3531939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r="1431" b="6918"/>
          <a:stretch/>
        </p:blipFill>
        <p:spPr>
          <a:xfrm>
            <a:off x="1" y="2"/>
            <a:ext cx="11887200" cy="6383546"/>
          </a:xfrm>
          <a:prstGeom prst="rect">
            <a:avLst/>
          </a:prstGeom>
        </p:spPr>
      </p:pic>
      <p:pic>
        <p:nvPicPr>
          <p:cNvPr id="3" name="Picture 2"/>
          <p:cNvPicPr>
            <a:picLocks noChangeAspect="1"/>
          </p:cNvPicPr>
          <p:nvPr/>
        </p:nvPicPr>
        <p:blipFill>
          <a:blip r:embed="rId3"/>
          <a:stretch>
            <a:fillRect/>
          </a:stretch>
        </p:blipFill>
        <p:spPr>
          <a:xfrm>
            <a:off x="11211884" y="178159"/>
            <a:ext cx="847843"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22</a:t>
            </a:fld>
            <a:endParaRPr lang="en-IN" sz="1800">
              <a:solidFill>
                <a:prstClr val="black">
                  <a:tint val="75000"/>
                </a:prstClr>
              </a:solidFill>
            </a:endParaRPr>
          </a:p>
        </p:txBody>
      </p:sp>
    </p:spTree>
    <p:extLst>
      <p:ext uri="{BB962C8B-B14F-4D97-AF65-F5344CB8AC3E}">
        <p14:creationId xmlns:p14="http://schemas.microsoft.com/office/powerpoint/2010/main" val="1178708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r="1018" b="7673"/>
          <a:stretch/>
        </p:blipFill>
        <p:spPr>
          <a:xfrm>
            <a:off x="1" y="2"/>
            <a:ext cx="11749176" cy="6331788"/>
          </a:xfrm>
          <a:prstGeom prst="rect">
            <a:avLst/>
          </a:prstGeom>
        </p:spPr>
      </p:pic>
      <p:pic>
        <p:nvPicPr>
          <p:cNvPr id="3" name="Picture 2"/>
          <p:cNvPicPr>
            <a:picLocks noChangeAspect="1"/>
          </p:cNvPicPr>
          <p:nvPr/>
        </p:nvPicPr>
        <p:blipFill>
          <a:blip r:embed="rId3"/>
          <a:stretch>
            <a:fillRect/>
          </a:stretch>
        </p:blipFill>
        <p:spPr>
          <a:xfrm>
            <a:off x="11210236" y="143653"/>
            <a:ext cx="847843"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23</a:t>
            </a:fld>
            <a:endParaRPr lang="en-IN" sz="1800">
              <a:solidFill>
                <a:prstClr val="black">
                  <a:tint val="75000"/>
                </a:prstClr>
              </a:solidFill>
            </a:endParaRPr>
          </a:p>
        </p:txBody>
      </p:sp>
    </p:spTree>
    <p:extLst>
      <p:ext uri="{BB962C8B-B14F-4D97-AF65-F5344CB8AC3E}">
        <p14:creationId xmlns:p14="http://schemas.microsoft.com/office/powerpoint/2010/main" val="4067401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b="5660"/>
          <a:stretch/>
        </p:blipFill>
        <p:spPr>
          <a:xfrm>
            <a:off x="1" y="2"/>
            <a:ext cx="11990716" cy="6469810"/>
          </a:xfrm>
          <a:prstGeom prst="rect">
            <a:avLst/>
          </a:prstGeom>
        </p:spPr>
      </p:pic>
      <p:pic>
        <p:nvPicPr>
          <p:cNvPr id="3" name="Picture 2"/>
          <p:cNvPicPr>
            <a:picLocks noChangeAspect="1"/>
          </p:cNvPicPr>
          <p:nvPr/>
        </p:nvPicPr>
        <p:blipFill>
          <a:blip r:embed="rId3"/>
          <a:stretch>
            <a:fillRect/>
          </a:stretch>
        </p:blipFill>
        <p:spPr>
          <a:xfrm>
            <a:off x="11142874" y="160906"/>
            <a:ext cx="847843"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24</a:t>
            </a:fld>
            <a:endParaRPr lang="en-IN" sz="1800">
              <a:solidFill>
                <a:prstClr val="black">
                  <a:tint val="75000"/>
                </a:prstClr>
              </a:solidFill>
            </a:endParaRPr>
          </a:p>
        </p:txBody>
      </p:sp>
    </p:spTree>
    <p:extLst>
      <p:ext uri="{BB962C8B-B14F-4D97-AF65-F5344CB8AC3E}">
        <p14:creationId xmlns:p14="http://schemas.microsoft.com/office/powerpoint/2010/main" val="3412097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r="3348" b="4151"/>
          <a:stretch/>
        </p:blipFill>
        <p:spPr>
          <a:xfrm>
            <a:off x="1" y="1"/>
            <a:ext cx="11783682" cy="6573327"/>
          </a:xfrm>
          <a:prstGeom prst="rect">
            <a:avLst/>
          </a:prstGeom>
        </p:spPr>
      </p:pic>
      <p:pic>
        <p:nvPicPr>
          <p:cNvPr id="3" name="Picture 2"/>
          <p:cNvPicPr>
            <a:picLocks noChangeAspect="1"/>
          </p:cNvPicPr>
          <p:nvPr/>
        </p:nvPicPr>
        <p:blipFill>
          <a:blip r:embed="rId3"/>
          <a:stretch>
            <a:fillRect/>
          </a:stretch>
        </p:blipFill>
        <p:spPr>
          <a:xfrm>
            <a:off x="11175731" y="160906"/>
            <a:ext cx="847843"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25</a:t>
            </a:fld>
            <a:endParaRPr lang="en-IN" sz="1800">
              <a:solidFill>
                <a:prstClr val="black">
                  <a:tint val="75000"/>
                </a:prstClr>
              </a:solidFill>
            </a:endParaRPr>
          </a:p>
        </p:txBody>
      </p:sp>
    </p:spTree>
    <p:extLst>
      <p:ext uri="{BB962C8B-B14F-4D97-AF65-F5344CB8AC3E}">
        <p14:creationId xmlns:p14="http://schemas.microsoft.com/office/powerpoint/2010/main" val="27457677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r="1301" b="6666"/>
          <a:stretch/>
        </p:blipFill>
        <p:spPr>
          <a:xfrm>
            <a:off x="0" y="1"/>
            <a:ext cx="11783683" cy="6400799"/>
          </a:xfrm>
          <a:prstGeom prst="rect">
            <a:avLst/>
          </a:prstGeom>
        </p:spPr>
      </p:pic>
      <p:pic>
        <p:nvPicPr>
          <p:cNvPr id="3" name="Picture 2"/>
          <p:cNvPicPr>
            <a:picLocks noChangeAspect="1"/>
          </p:cNvPicPr>
          <p:nvPr/>
        </p:nvPicPr>
        <p:blipFill>
          <a:blip r:embed="rId3"/>
          <a:stretch>
            <a:fillRect/>
          </a:stretch>
        </p:blipFill>
        <p:spPr>
          <a:xfrm>
            <a:off x="11091114" y="264423"/>
            <a:ext cx="847843"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26</a:t>
            </a:fld>
            <a:endParaRPr lang="en-IN" sz="1800">
              <a:solidFill>
                <a:prstClr val="black">
                  <a:tint val="75000"/>
                </a:prstClr>
              </a:solidFill>
            </a:endParaRPr>
          </a:p>
        </p:txBody>
      </p:sp>
    </p:spTree>
    <p:extLst>
      <p:ext uri="{BB962C8B-B14F-4D97-AF65-F5344CB8AC3E}">
        <p14:creationId xmlns:p14="http://schemas.microsoft.com/office/powerpoint/2010/main" val="26008765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r="1297" b="7421"/>
          <a:stretch/>
        </p:blipFill>
        <p:spPr>
          <a:xfrm>
            <a:off x="0" y="1"/>
            <a:ext cx="11818189" cy="6349041"/>
          </a:xfrm>
          <a:prstGeom prst="rect">
            <a:avLst/>
          </a:prstGeom>
        </p:spPr>
      </p:pic>
      <p:pic>
        <p:nvPicPr>
          <p:cNvPr id="3" name="Picture 2"/>
          <p:cNvPicPr>
            <a:picLocks noChangeAspect="1"/>
          </p:cNvPicPr>
          <p:nvPr/>
        </p:nvPicPr>
        <p:blipFill>
          <a:blip r:embed="rId3"/>
          <a:stretch>
            <a:fillRect/>
          </a:stretch>
        </p:blipFill>
        <p:spPr>
          <a:xfrm>
            <a:off x="11125620" y="229917"/>
            <a:ext cx="847843"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27</a:t>
            </a:fld>
            <a:endParaRPr lang="en-IN" sz="1800">
              <a:solidFill>
                <a:prstClr val="black">
                  <a:tint val="75000"/>
                </a:prstClr>
              </a:solidFill>
            </a:endParaRPr>
          </a:p>
        </p:txBody>
      </p:sp>
    </p:spTree>
    <p:extLst>
      <p:ext uri="{BB962C8B-B14F-4D97-AF65-F5344CB8AC3E}">
        <p14:creationId xmlns:p14="http://schemas.microsoft.com/office/powerpoint/2010/main" val="10462301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r="2076" b="3397"/>
          <a:stretch/>
        </p:blipFill>
        <p:spPr>
          <a:xfrm>
            <a:off x="1" y="2"/>
            <a:ext cx="11938958" cy="6625086"/>
          </a:xfrm>
          <a:prstGeom prst="rect">
            <a:avLst/>
          </a:prstGeom>
        </p:spPr>
      </p:pic>
      <p:pic>
        <p:nvPicPr>
          <p:cNvPr id="3" name="Picture 2"/>
          <p:cNvPicPr>
            <a:picLocks noChangeAspect="1"/>
          </p:cNvPicPr>
          <p:nvPr/>
        </p:nvPicPr>
        <p:blipFill>
          <a:blip r:embed="rId3"/>
          <a:stretch>
            <a:fillRect/>
          </a:stretch>
        </p:blipFill>
        <p:spPr>
          <a:xfrm>
            <a:off x="11210236" y="143653"/>
            <a:ext cx="847843"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28</a:t>
            </a:fld>
            <a:endParaRPr lang="en-IN" sz="1800">
              <a:solidFill>
                <a:prstClr val="black">
                  <a:tint val="75000"/>
                </a:prstClr>
              </a:solidFill>
            </a:endParaRPr>
          </a:p>
        </p:txBody>
      </p:sp>
    </p:spTree>
    <p:extLst>
      <p:ext uri="{BB962C8B-B14F-4D97-AF65-F5344CB8AC3E}">
        <p14:creationId xmlns:p14="http://schemas.microsoft.com/office/powerpoint/2010/main" val="2851321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rotWithShape="1">
          <a:blip r:embed="rId2" cstate="print"/>
          <a:srcRect r="1509" b="6163"/>
          <a:stretch/>
        </p:blipFill>
        <p:spPr>
          <a:xfrm>
            <a:off x="1" y="1"/>
            <a:ext cx="12007970" cy="6435306"/>
          </a:xfrm>
          <a:prstGeom prst="rect">
            <a:avLst/>
          </a:prstGeom>
        </p:spPr>
      </p:pic>
      <p:pic>
        <p:nvPicPr>
          <p:cNvPr id="3" name="Picture 2"/>
          <p:cNvPicPr>
            <a:picLocks noChangeAspect="1"/>
          </p:cNvPicPr>
          <p:nvPr/>
        </p:nvPicPr>
        <p:blipFill>
          <a:blip r:embed="rId3"/>
          <a:stretch>
            <a:fillRect/>
          </a:stretch>
        </p:blipFill>
        <p:spPr>
          <a:xfrm>
            <a:off x="11382765" y="143654"/>
            <a:ext cx="809234" cy="428685"/>
          </a:xfrm>
          <a:prstGeom prst="rect">
            <a:avLst/>
          </a:prstGeom>
        </p:spPr>
      </p:pic>
      <p:sp>
        <p:nvSpPr>
          <p:cNvPr id="5" name="Slide Number Placeholder 4"/>
          <p:cNvSpPr>
            <a:spLocks noGrp="1"/>
          </p:cNvSpPr>
          <p:nvPr>
            <p:ph type="sldNum" sz="quarter" idx="7"/>
          </p:nvPr>
        </p:nvSpPr>
        <p:spPr/>
        <p:txBody>
          <a:bodyPr/>
          <a:lstStyle/>
          <a:p>
            <a:pPr>
              <a:buClrTx/>
            </a:pPr>
            <a:fld id="{B6F15528-21DE-4FAA-801E-634DDDAF4B2B}" type="slidenum">
              <a:rPr lang="en-IN" sz="1800" smtClean="0">
                <a:solidFill>
                  <a:prstClr val="black">
                    <a:tint val="75000"/>
                  </a:prstClr>
                </a:solidFill>
              </a:rPr>
              <a:pPr>
                <a:buClrTx/>
              </a:pPr>
              <a:t>29</a:t>
            </a:fld>
            <a:endParaRPr lang="en-IN" sz="1800">
              <a:solidFill>
                <a:prstClr val="black">
                  <a:tint val="75000"/>
                </a:prstClr>
              </a:solidFill>
            </a:endParaRPr>
          </a:p>
        </p:txBody>
      </p:sp>
    </p:spTree>
    <p:extLst>
      <p:ext uri="{BB962C8B-B14F-4D97-AF65-F5344CB8AC3E}">
        <p14:creationId xmlns:p14="http://schemas.microsoft.com/office/powerpoint/2010/main" val="17938387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082177" cy="808067"/>
          </a:xfrm>
        </p:spPr>
        <p:txBody>
          <a:bodyPr/>
          <a:lstStyle/>
          <a:p>
            <a:r>
              <a:rPr lang="en-US" dirty="0">
                <a:latin typeface="Times New Roman" panose="02020603050405020304" pitchFamily="18" charset="0"/>
                <a:cs typeface="Times New Roman" panose="02020603050405020304" pitchFamily="18" charset="0"/>
              </a:rPr>
              <a:t>BINARY ARITHMETIC</a:t>
            </a:r>
            <a:endParaRPr lang="en-IN"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215620" y="1173192"/>
            <a:ext cx="8705422" cy="5163271"/>
          </a:xfrm>
          <a:prstGeom prst="rect">
            <a:avLst/>
          </a:prstGeom>
        </p:spPr>
      </p:pic>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extLst>
      <p:ext uri="{BB962C8B-B14F-4D97-AF65-F5344CB8AC3E}">
        <p14:creationId xmlns:p14="http://schemas.microsoft.com/office/powerpoint/2010/main" val="26279051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500996" y="517585"/>
            <a:ext cx="9178506" cy="5347083"/>
          </a:xfrm>
          <a:prstGeom prst="rect">
            <a:avLst/>
          </a:prstGeom>
        </p:spPr>
      </p:pic>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Tree>
    <p:extLst>
      <p:ext uri="{BB962C8B-B14F-4D97-AF65-F5344CB8AC3E}">
        <p14:creationId xmlns:p14="http://schemas.microsoft.com/office/powerpoint/2010/main" val="6504265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121435" y="1104181"/>
            <a:ext cx="9661584" cy="5434642"/>
          </a:xfrm>
          <a:prstGeom prst="rect">
            <a:avLst/>
          </a:prstGeom>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extLst>
      <p:ext uri="{BB962C8B-B14F-4D97-AF65-F5344CB8AC3E}">
        <p14:creationId xmlns:p14="http://schemas.microsoft.com/office/powerpoint/2010/main" val="22888467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362975" y="483078"/>
            <a:ext cx="9368286" cy="6124755"/>
          </a:xfrm>
          <a:prstGeom prst="rect">
            <a:avLst/>
          </a:prstGeom>
        </p:spPr>
      </p:pic>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Tree>
    <p:extLst>
      <p:ext uri="{BB962C8B-B14F-4D97-AF65-F5344CB8AC3E}">
        <p14:creationId xmlns:p14="http://schemas.microsoft.com/office/powerpoint/2010/main" val="25093507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14"/>
        <p:cNvGrpSpPr/>
        <p:nvPr/>
      </p:nvGrpSpPr>
      <p:grpSpPr>
        <a:xfrm>
          <a:off x="0" y="0"/>
          <a:ext cx="0" cy="0"/>
          <a:chOff x="0" y="0"/>
          <a:chExt cx="0" cy="0"/>
        </a:xfrm>
      </p:grpSpPr>
      <p:sp>
        <p:nvSpPr>
          <p:cNvPr id="1215" name="Google Shape;1215;p120"/>
          <p:cNvSpPr txBox="1">
            <a:spLocks noGrp="1"/>
          </p:cNvSpPr>
          <p:nvPr>
            <p:ph type="title"/>
          </p:nvPr>
        </p:nvSpPr>
        <p:spPr>
          <a:xfrm>
            <a:off x="838200" y="365125"/>
            <a:ext cx="9372600" cy="615603"/>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ct val="100000"/>
              <a:buFont typeface="Calibri"/>
              <a:buNone/>
            </a:pPr>
            <a:r>
              <a:rPr lang="en-US">
                <a:solidFill>
                  <a:schemeClr val="lt1"/>
                </a:solidFill>
                <a:latin typeface="Calibri"/>
                <a:ea typeface="Calibri"/>
                <a:cs typeface="Calibri"/>
                <a:sym typeface="Calibri"/>
              </a:rPr>
              <a:t>Signed Binary Numbers</a:t>
            </a:r>
            <a:endParaRPr/>
          </a:p>
        </p:txBody>
      </p:sp>
      <p:sp>
        <p:nvSpPr>
          <p:cNvPr id="1216" name="Google Shape;1216;p120"/>
          <p:cNvSpPr txBox="1">
            <a:spLocks noGrp="1"/>
          </p:cNvSpPr>
          <p:nvPr>
            <p:ph type="body" idx="1"/>
          </p:nvPr>
        </p:nvSpPr>
        <p:spPr>
          <a:xfrm>
            <a:off x="767408" y="1166020"/>
            <a:ext cx="11161240" cy="5079207"/>
          </a:xfrm>
          <a:prstGeom prst="rect">
            <a:avLst/>
          </a:prstGeom>
          <a:noFill/>
          <a:ln>
            <a:noFill/>
          </a:ln>
        </p:spPr>
        <p:txBody>
          <a:bodyPr spcFirstLastPara="1" wrap="square" lIns="91425" tIns="45700" rIns="91425" bIns="45700" anchor="t" anchorCtr="0">
            <a:normAutofit/>
          </a:bodyPr>
          <a:lstStyle/>
          <a:p>
            <a:pPr marL="228600" lvl="0" indent="-228600" algn="just" rtl="0">
              <a:lnSpc>
                <a:spcPct val="200000"/>
              </a:lnSpc>
              <a:spcBef>
                <a:spcPts val="0"/>
              </a:spcBef>
              <a:spcAft>
                <a:spcPts val="0"/>
              </a:spcAft>
              <a:buClr>
                <a:schemeClr val="dk1"/>
              </a:buClr>
              <a:buSzPts val="2800"/>
              <a:buChar char="•"/>
            </a:pPr>
            <a:r>
              <a:rPr lang="en-US"/>
              <a:t>Two ways of representing signed numbers:</a:t>
            </a:r>
            <a:endParaRPr/>
          </a:p>
          <a:p>
            <a:pPr marL="685800" lvl="1" indent="-228600" algn="just" rtl="0">
              <a:lnSpc>
                <a:spcPct val="200000"/>
              </a:lnSpc>
              <a:spcBef>
                <a:spcPts val="500"/>
              </a:spcBef>
              <a:spcAft>
                <a:spcPts val="0"/>
              </a:spcAft>
              <a:buClr>
                <a:schemeClr val="dk1"/>
              </a:buClr>
              <a:buSzPts val="2400"/>
              <a:buChar char="•"/>
            </a:pPr>
            <a:r>
              <a:rPr lang="en-US"/>
              <a:t>1) Sign-magnitude form, 2) Complement form.</a:t>
            </a:r>
            <a:endParaRPr/>
          </a:p>
          <a:p>
            <a:pPr marL="228600" lvl="0" indent="-228600" algn="just" rtl="0">
              <a:lnSpc>
                <a:spcPct val="200000"/>
              </a:lnSpc>
              <a:spcBef>
                <a:spcPts val="1000"/>
              </a:spcBef>
              <a:spcAft>
                <a:spcPts val="0"/>
              </a:spcAft>
              <a:buClr>
                <a:schemeClr val="dk1"/>
              </a:buClr>
              <a:buSzPts val="2800"/>
              <a:buChar char="•"/>
            </a:pPr>
            <a:r>
              <a:rPr lang="en-US"/>
              <a:t>Most of computers use complement form for negative number notation.</a:t>
            </a:r>
            <a:endParaRPr/>
          </a:p>
          <a:p>
            <a:pPr marL="228600" lvl="0" indent="-228600" algn="just" rtl="0">
              <a:lnSpc>
                <a:spcPct val="200000"/>
              </a:lnSpc>
              <a:spcBef>
                <a:spcPts val="1000"/>
              </a:spcBef>
              <a:spcAft>
                <a:spcPts val="0"/>
              </a:spcAft>
              <a:buClr>
                <a:schemeClr val="dk1"/>
              </a:buClr>
              <a:buSzPts val="2800"/>
              <a:buChar char="•"/>
            </a:pPr>
            <a:r>
              <a:rPr lang="en-US"/>
              <a:t>1’s complement and 2’s complement are two different methods in this type.</a:t>
            </a:r>
            <a:endParaRPr/>
          </a:p>
          <a:p>
            <a:pPr marL="0" lvl="0" indent="0" algn="just" rtl="0">
              <a:lnSpc>
                <a:spcPct val="200000"/>
              </a:lnSpc>
              <a:spcBef>
                <a:spcPts val="1000"/>
              </a:spcBef>
              <a:spcAft>
                <a:spcPts val="0"/>
              </a:spcAft>
              <a:buClr>
                <a:schemeClr val="dk1"/>
              </a:buClr>
              <a:buSzPts val="2800"/>
              <a:buNone/>
            </a:pP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Tree>
    <p:extLst>
      <p:ext uri="{BB962C8B-B14F-4D97-AF65-F5344CB8AC3E}">
        <p14:creationId xmlns:p14="http://schemas.microsoft.com/office/powerpoint/2010/main" val="12252317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121"/>
          <p:cNvSpPr txBox="1">
            <a:spLocks noGrp="1"/>
          </p:cNvSpPr>
          <p:nvPr>
            <p:ph type="title"/>
          </p:nvPr>
        </p:nvSpPr>
        <p:spPr>
          <a:xfrm>
            <a:off x="838200" y="365126"/>
            <a:ext cx="9218240" cy="645883"/>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a:solidFill>
                  <a:schemeClr val="lt1"/>
                </a:solidFill>
                <a:latin typeface="Calibri"/>
                <a:ea typeface="Calibri"/>
                <a:cs typeface="Calibri"/>
                <a:sym typeface="Calibri"/>
              </a:rPr>
              <a:t>1’s Complement</a:t>
            </a:r>
            <a:endParaRPr/>
          </a:p>
        </p:txBody>
      </p:sp>
      <p:sp>
        <p:nvSpPr>
          <p:cNvPr id="1224" name="Google Shape;1224;p121"/>
          <p:cNvSpPr txBox="1">
            <a:spLocks noGrp="1"/>
          </p:cNvSpPr>
          <p:nvPr>
            <p:ph type="body" idx="1"/>
          </p:nvPr>
        </p:nvSpPr>
        <p:spPr>
          <a:xfrm>
            <a:off x="1981200" y="1166020"/>
            <a:ext cx="8229600" cy="507920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1’s complement of a binary number is obtained by subtracting each digit of that binary number from 1.</a:t>
            </a:r>
            <a:endParaRPr/>
          </a:p>
          <a:p>
            <a:pPr marL="228600" lvl="0" indent="-228600" algn="l" rtl="0">
              <a:lnSpc>
                <a:spcPct val="90000"/>
              </a:lnSpc>
              <a:spcBef>
                <a:spcPts val="1000"/>
              </a:spcBef>
              <a:spcAft>
                <a:spcPts val="0"/>
              </a:spcAft>
              <a:buClr>
                <a:schemeClr val="dk1"/>
              </a:buClr>
              <a:buSzPts val="2800"/>
              <a:buChar char="•"/>
            </a:pPr>
            <a:r>
              <a:rPr lang="en-US"/>
              <a:t>Example</a:t>
            </a:r>
            <a:endParaRPr/>
          </a:p>
          <a:p>
            <a:pPr marL="0" lvl="0" indent="0" algn="l" rtl="0">
              <a:lnSpc>
                <a:spcPct val="90000"/>
              </a:lnSpc>
              <a:spcBef>
                <a:spcPts val="1000"/>
              </a:spcBef>
              <a:spcAft>
                <a:spcPts val="0"/>
              </a:spcAft>
              <a:buClr>
                <a:schemeClr val="dk1"/>
              </a:buClr>
              <a:buSzPts val="2800"/>
              <a:buNone/>
            </a:pPr>
            <a:endParaRPr/>
          </a:p>
        </p:txBody>
      </p:sp>
      <p:pic>
        <p:nvPicPr>
          <p:cNvPr id="1227" name="Google Shape;1227;p121"/>
          <p:cNvPicPr preferRelativeResize="0"/>
          <p:nvPr/>
        </p:nvPicPr>
        <p:blipFill rotWithShape="1">
          <a:blip r:embed="rId3">
            <a:alphaModFix/>
          </a:blip>
          <a:srcRect/>
          <a:stretch/>
        </p:blipFill>
        <p:spPr>
          <a:xfrm>
            <a:off x="3385061" y="2810952"/>
            <a:ext cx="5044192" cy="2448267"/>
          </a:xfrm>
          <a:prstGeom prst="rect">
            <a:avLst/>
          </a:prstGeom>
          <a:noFill/>
          <a:ln>
            <a:noFill/>
          </a:ln>
        </p:spPr>
      </p:pic>
      <p:sp>
        <p:nvSpPr>
          <p:cNvPr id="1228" name="Google Shape;1228;p121"/>
          <p:cNvSpPr txBox="1"/>
          <p:nvPr/>
        </p:nvSpPr>
        <p:spPr>
          <a:xfrm>
            <a:off x="2385928" y="5259219"/>
            <a:ext cx="5691272"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accent6"/>
                </a:solidFill>
                <a:latin typeface="Calibri"/>
                <a:ea typeface="Calibri"/>
                <a:cs typeface="Calibri"/>
                <a:sym typeface="Calibri"/>
              </a:rPr>
              <a:t>Shortcut:</a:t>
            </a:r>
            <a:r>
              <a:rPr lang="en-US" sz="2400">
                <a:solidFill>
                  <a:schemeClr val="dk1"/>
                </a:solidFill>
                <a:latin typeface="Calibri"/>
                <a:ea typeface="Calibri"/>
                <a:cs typeface="Calibri"/>
                <a:sym typeface="Calibri"/>
              </a:rPr>
              <a:t> </a:t>
            </a:r>
            <a:r>
              <a:rPr lang="en-US" sz="2400">
                <a:solidFill>
                  <a:schemeClr val="dk2"/>
                </a:solidFill>
                <a:latin typeface="Calibri"/>
                <a:ea typeface="Calibri"/>
                <a:cs typeface="Calibri"/>
                <a:sym typeface="Calibri"/>
              </a:rPr>
              <a:t>Invert the numbers from 0 to 1 and 1 to 0</a:t>
            </a: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Tree>
    <p:extLst>
      <p:ext uri="{BB962C8B-B14F-4D97-AF65-F5344CB8AC3E}">
        <p14:creationId xmlns:p14="http://schemas.microsoft.com/office/powerpoint/2010/main" val="4023895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8"/>
                                        </p:tgtEl>
                                        <p:attrNameLst>
                                          <p:attrName>style.visibility</p:attrName>
                                        </p:attrNameLst>
                                      </p:cBhvr>
                                      <p:to>
                                        <p:strVal val="visible"/>
                                      </p:to>
                                    </p:set>
                                    <p:animEffect transition="in" filter="fade">
                                      <p:cBhvr>
                                        <p:cTn id="7" dur="500"/>
                                        <p:tgtEl>
                                          <p:spTgt spid="1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32"/>
        <p:cNvGrpSpPr/>
        <p:nvPr/>
      </p:nvGrpSpPr>
      <p:grpSpPr>
        <a:xfrm>
          <a:off x="0" y="0"/>
          <a:ext cx="0" cy="0"/>
          <a:chOff x="0" y="0"/>
          <a:chExt cx="0" cy="0"/>
        </a:xfrm>
      </p:grpSpPr>
      <p:sp>
        <p:nvSpPr>
          <p:cNvPr id="1233" name="Google Shape;1233;p122"/>
          <p:cNvSpPr txBox="1">
            <a:spLocks noGrp="1"/>
          </p:cNvSpPr>
          <p:nvPr>
            <p:ph type="title"/>
          </p:nvPr>
        </p:nvSpPr>
        <p:spPr>
          <a:xfrm>
            <a:off x="838200" y="365125"/>
            <a:ext cx="9146232" cy="621257"/>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a:solidFill>
                  <a:schemeClr val="lt1"/>
                </a:solidFill>
                <a:latin typeface="Calibri"/>
                <a:ea typeface="Calibri"/>
                <a:cs typeface="Calibri"/>
                <a:sym typeface="Calibri"/>
              </a:rPr>
              <a:t>2’s Complement</a:t>
            </a:r>
            <a:endParaRPr/>
          </a:p>
        </p:txBody>
      </p:sp>
      <p:sp>
        <p:nvSpPr>
          <p:cNvPr id="1234" name="Google Shape;1234;p122"/>
          <p:cNvSpPr txBox="1">
            <a:spLocks noGrp="1"/>
          </p:cNvSpPr>
          <p:nvPr>
            <p:ph type="body" idx="1"/>
          </p:nvPr>
        </p:nvSpPr>
        <p:spPr>
          <a:xfrm>
            <a:off x="1981200" y="1166020"/>
            <a:ext cx="8229600" cy="507920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2’s complement of a binary number is obtained by adding 1 to its 1’s complement.</a:t>
            </a:r>
            <a:endParaRPr/>
          </a:p>
          <a:p>
            <a:pPr marL="228600" lvl="0" indent="-228600" algn="l" rtl="0">
              <a:lnSpc>
                <a:spcPct val="90000"/>
              </a:lnSpc>
              <a:spcBef>
                <a:spcPts val="1000"/>
              </a:spcBef>
              <a:spcAft>
                <a:spcPts val="0"/>
              </a:spcAft>
              <a:buClr>
                <a:schemeClr val="dk1"/>
              </a:buClr>
              <a:buSzPts val="2800"/>
              <a:buChar char="•"/>
            </a:pPr>
            <a:r>
              <a:rPr lang="en-US"/>
              <a:t>Example</a:t>
            </a:r>
            <a:endParaRPr/>
          </a:p>
          <a:p>
            <a:pPr marL="0" lvl="0" indent="0" algn="l" rtl="0">
              <a:lnSpc>
                <a:spcPct val="90000"/>
              </a:lnSpc>
              <a:spcBef>
                <a:spcPts val="1000"/>
              </a:spcBef>
              <a:spcAft>
                <a:spcPts val="0"/>
              </a:spcAft>
              <a:buClr>
                <a:schemeClr val="dk1"/>
              </a:buClr>
              <a:buSzPts val="2800"/>
              <a:buNone/>
            </a:pPr>
            <a:endParaRPr/>
          </a:p>
        </p:txBody>
      </p:sp>
      <p:pic>
        <p:nvPicPr>
          <p:cNvPr id="1237" name="Google Shape;1237;p122"/>
          <p:cNvPicPr preferRelativeResize="0"/>
          <p:nvPr/>
        </p:nvPicPr>
        <p:blipFill rotWithShape="1">
          <a:blip r:embed="rId3">
            <a:alphaModFix/>
          </a:blip>
          <a:srcRect/>
          <a:stretch/>
        </p:blipFill>
        <p:spPr>
          <a:xfrm>
            <a:off x="3492263" y="2581774"/>
            <a:ext cx="4372586" cy="2657846"/>
          </a:xfrm>
          <a:prstGeom prst="rect">
            <a:avLst/>
          </a:prstGeom>
          <a:noFill/>
          <a:ln>
            <a:noFill/>
          </a:ln>
        </p:spPr>
      </p:pic>
      <p:sp>
        <p:nvSpPr>
          <p:cNvPr id="1238" name="Google Shape;1238;p122"/>
          <p:cNvSpPr/>
          <p:nvPr/>
        </p:nvSpPr>
        <p:spPr>
          <a:xfrm>
            <a:off x="2070652" y="5419258"/>
            <a:ext cx="8269357" cy="646331"/>
          </a:xfrm>
          <a:prstGeom prst="rect">
            <a:avLst/>
          </a:prstGeom>
          <a:noFill/>
          <a:ln>
            <a:noFill/>
          </a:ln>
        </p:spPr>
        <p:txBody>
          <a:bodyPr spcFirstLastPara="1" wrap="square" lIns="91425" tIns="45700" rIns="91425" bIns="45700" anchor="t" anchorCtr="0">
            <a:spAutoFit/>
          </a:bodyPr>
          <a:lstStyle/>
          <a:p>
            <a:pPr marL="1162050" marR="0" lvl="0" indent="-1162050" algn="l" rtl="0">
              <a:spcBef>
                <a:spcPts val="0"/>
              </a:spcBef>
              <a:spcAft>
                <a:spcPts val="0"/>
              </a:spcAft>
              <a:buNone/>
            </a:pPr>
            <a:r>
              <a:rPr lang="en-US" sz="1800">
                <a:solidFill>
                  <a:schemeClr val="accent6"/>
                </a:solidFill>
                <a:latin typeface="Calibri"/>
                <a:ea typeface="Calibri"/>
                <a:cs typeface="Calibri"/>
                <a:sym typeface="Calibri"/>
              </a:rPr>
              <a:t>Shortcut:</a:t>
            </a:r>
            <a:r>
              <a:rPr lang="en-US" sz="1800">
                <a:solidFill>
                  <a:schemeClr val="dk1"/>
                </a:solidFill>
                <a:latin typeface="Calibri"/>
                <a:ea typeface="Calibri"/>
                <a:cs typeface="Calibri"/>
                <a:sym typeface="Calibri"/>
              </a:rPr>
              <a:t> </a:t>
            </a:r>
            <a:r>
              <a:rPr lang="en-US" sz="1800">
                <a:solidFill>
                  <a:schemeClr val="dk2"/>
                </a:solidFill>
                <a:latin typeface="Calibri"/>
                <a:ea typeface="Calibri"/>
                <a:cs typeface="Calibri"/>
                <a:sym typeface="Calibri"/>
              </a:rPr>
              <a:t>Starting from right side, all bits are same till first 1 occurs and then invert rest of the bits</a:t>
            </a: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extLst>
      <p:ext uri="{BB962C8B-B14F-4D97-AF65-F5344CB8AC3E}">
        <p14:creationId xmlns:p14="http://schemas.microsoft.com/office/powerpoint/2010/main" val="18357014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42"/>
        <p:cNvGrpSpPr/>
        <p:nvPr/>
      </p:nvGrpSpPr>
      <p:grpSpPr>
        <a:xfrm>
          <a:off x="0" y="0"/>
          <a:ext cx="0" cy="0"/>
          <a:chOff x="0" y="0"/>
          <a:chExt cx="0" cy="0"/>
        </a:xfrm>
      </p:grpSpPr>
      <p:sp>
        <p:nvSpPr>
          <p:cNvPr id="1243" name="Google Shape;1243;p123"/>
          <p:cNvSpPr txBox="1">
            <a:spLocks noGrp="1"/>
          </p:cNvSpPr>
          <p:nvPr>
            <p:ph type="title"/>
          </p:nvPr>
        </p:nvSpPr>
        <p:spPr>
          <a:xfrm>
            <a:off x="407369" y="118268"/>
            <a:ext cx="8700190" cy="718444"/>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Arial Black"/>
              <a:buNone/>
            </a:pPr>
            <a:r>
              <a:rPr lang="en-US" sz="3600">
                <a:solidFill>
                  <a:schemeClr val="lt1"/>
                </a:solidFill>
                <a:latin typeface="Arial Black"/>
                <a:ea typeface="Arial Black"/>
                <a:cs typeface="Arial Black"/>
                <a:sym typeface="Arial Black"/>
              </a:rPr>
              <a:t>Subtraction using 1’s complement</a:t>
            </a:r>
            <a:endParaRPr/>
          </a:p>
        </p:txBody>
      </p:sp>
      <p:sp>
        <p:nvSpPr>
          <p:cNvPr id="1244" name="Google Shape;1244;p123"/>
          <p:cNvSpPr txBox="1">
            <a:spLocks noGrp="1"/>
          </p:cNvSpPr>
          <p:nvPr>
            <p:ph type="body" idx="1"/>
          </p:nvPr>
        </p:nvSpPr>
        <p:spPr>
          <a:xfrm>
            <a:off x="263352" y="1166020"/>
            <a:ext cx="11161240" cy="5079207"/>
          </a:xfrm>
          <a:prstGeom prst="rect">
            <a:avLst/>
          </a:prstGeom>
          <a:noFill/>
          <a:ln>
            <a:noFill/>
          </a:ln>
        </p:spPr>
        <p:txBody>
          <a:bodyPr spcFirstLastPara="1" wrap="square" lIns="91425" tIns="45700" rIns="91425" bIns="45700" anchor="t" anchorCtr="0">
            <a:normAutofit/>
          </a:bodyPr>
          <a:lstStyle/>
          <a:p>
            <a:pPr marL="228600" lvl="0" indent="-228600" algn="just" rtl="0">
              <a:lnSpc>
                <a:spcPct val="150000"/>
              </a:lnSpc>
              <a:spcBef>
                <a:spcPts val="0"/>
              </a:spcBef>
              <a:spcAft>
                <a:spcPts val="0"/>
              </a:spcAft>
              <a:buClr>
                <a:schemeClr val="dk1"/>
              </a:buClr>
              <a:buSzPts val="2800"/>
              <a:buChar char="•"/>
            </a:pPr>
            <a:r>
              <a:rPr lang="en-US">
                <a:latin typeface="Arial"/>
                <a:ea typeface="Arial"/>
                <a:cs typeface="Arial"/>
                <a:sym typeface="Arial"/>
              </a:rPr>
              <a:t>Using 1’s complement</a:t>
            </a:r>
            <a:endParaRPr/>
          </a:p>
          <a:p>
            <a:pPr marL="685800" lvl="1" indent="-228600" algn="just" rtl="0">
              <a:lnSpc>
                <a:spcPct val="150000"/>
              </a:lnSpc>
              <a:spcBef>
                <a:spcPts val="500"/>
              </a:spcBef>
              <a:spcAft>
                <a:spcPts val="0"/>
              </a:spcAft>
              <a:buClr>
                <a:schemeClr val="dk1"/>
              </a:buClr>
              <a:buSzPts val="2400"/>
              <a:buChar char="•"/>
            </a:pPr>
            <a:r>
              <a:rPr lang="en-US">
                <a:latin typeface="Arial"/>
                <a:ea typeface="Arial"/>
                <a:cs typeface="Arial"/>
                <a:sym typeface="Arial"/>
              </a:rPr>
              <a:t>Obtain 1’s complement of subtrahend</a:t>
            </a:r>
            <a:endParaRPr/>
          </a:p>
          <a:p>
            <a:pPr marL="685800" lvl="1" indent="-228600" algn="just" rtl="0">
              <a:lnSpc>
                <a:spcPct val="150000"/>
              </a:lnSpc>
              <a:spcBef>
                <a:spcPts val="500"/>
              </a:spcBef>
              <a:spcAft>
                <a:spcPts val="0"/>
              </a:spcAft>
              <a:buClr>
                <a:schemeClr val="dk1"/>
              </a:buClr>
              <a:buSzPts val="2400"/>
              <a:buChar char="•"/>
            </a:pPr>
            <a:r>
              <a:rPr lang="en-US">
                <a:latin typeface="Arial"/>
                <a:ea typeface="Arial"/>
                <a:cs typeface="Arial"/>
                <a:sym typeface="Arial"/>
              </a:rPr>
              <a:t>Add the result to minuend and call it intermediate result</a:t>
            </a:r>
            <a:endParaRPr/>
          </a:p>
          <a:p>
            <a:pPr marL="685800" lvl="1" indent="-228600" algn="just" rtl="0">
              <a:lnSpc>
                <a:spcPct val="150000"/>
              </a:lnSpc>
              <a:spcBef>
                <a:spcPts val="500"/>
              </a:spcBef>
              <a:spcAft>
                <a:spcPts val="0"/>
              </a:spcAft>
              <a:buClr>
                <a:schemeClr val="dk1"/>
              </a:buClr>
              <a:buSzPts val="2400"/>
              <a:buChar char="•"/>
            </a:pPr>
            <a:r>
              <a:rPr lang="en-US">
                <a:latin typeface="Arial"/>
                <a:ea typeface="Arial"/>
                <a:cs typeface="Arial"/>
                <a:sym typeface="Arial"/>
              </a:rPr>
              <a:t>If </a:t>
            </a:r>
            <a:r>
              <a:rPr lang="en-US">
                <a:solidFill>
                  <a:schemeClr val="dk2"/>
                </a:solidFill>
                <a:latin typeface="Arial"/>
                <a:ea typeface="Arial"/>
                <a:cs typeface="Arial"/>
                <a:sym typeface="Arial"/>
              </a:rPr>
              <a:t>carry is generated </a:t>
            </a:r>
            <a:r>
              <a:rPr lang="en-US">
                <a:latin typeface="Arial"/>
                <a:ea typeface="Arial"/>
                <a:cs typeface="Arial"/>
                <a:sym typeface="Arial"/>
              </a:rPr>
              <a:t>then answer is </a:t>
            </a:r>
            <a:r>
              <a:rPr lang="en-US">
                <a:solidFill>
                  <a:schemeClr val="dk2"/>
                </a:solidFill>
                <a:latin typeface="Arial"/>
                <a:ea typeface="Arial"/>
                <a:cs typeface="Arial"/>
                <a:sym typeface="Arial"/>
              </a:rPr>
              <a:t>positive</a:t>
            </a:r>
            <a:r>
              <a:rPr lang="en-US">
                <a:latin typeface="Arial"/>
                <a:ea typeface="Arial"/>
                <a:cs typeface="Arial"/>
                <a:sym typeface="Arial"/>
              </a:rPr>
              <a:t> and add the carry to Least Significant Digit (LSD)</a:t>
            </a:r>
            <a:endParaRPr/>
          </a:p>
          <a:p>
            <a:pPr marL="685800" lvl="1" indent="-228600" algn="just" rtl="0">
              <a:lnSpc>
                <a:spcPct val="150000"/>
              </a:lnSpc>
              <a:spcBef>
                <a:spcPts val="500"/>
              </a:spcBef>
              <a:spcAft>
                <a:spcPts val="0"/>
              </a:spcAft>
              <a:buClr>
                <a:schemeClr val="dk1"/>
              </a:buClr>
              <a:buSzPts val="2400"/>
              <a:buChar char="•"/>
            </a:pPr>
            <a:r>
              <a:rPr lang="en-US">
                <a:latin typeface="Arial"/>
                <a:ea typeface="Arial"/>
                <a:cs typeface="Arial"/>
                <a:sym typeface="Arial"/>
              </a:rPr>
              <a:t>If there is </a:t>
            </a:r>
            <a:r>
              <a:rPr lang="en-US">
                <a:solidFill>
                  <a:schemeClr val="dk2"/>
                </a:solidFill>
                <a:latin typeface="Arial"/>
                <a:ea typeface="Arial"/>
                <a:cs typeface="Arial"/>
                <a:sym typeface="Arial"/>
              </a:rPr>
              <a:t>no carry</a:t>
            </a:r>
            <a:r>
              <a:rPr lang="en-US">
                <a:latin typeface="Arial"/>
                <a:ea typeface="Arial"/>
                <a:cs typeface="Arial"/>
                <a:sym typeface="Arial"/>
              </a:rPr>
              <a:t> then answer is </a:t>
            </a:r>
            <a:r>
              <a:rPr lang="en-US">
                <a:solidFill>
                  <a:schemeClr val="dk2"/>
                </a:solidFill>
                <a:latin typeface="Arial"/>
                <a:ea typeface="Arial"/>
                <a:cs typeface="Arial"/>
                <a:sym typeface="Arial"/>
              </a:rPr>
              <a:t>negative</a:t>
            </a:r>
            <a:r>
              <a:rPr lang="en-US">
                <a:latin typeface="Arial"/>
                <a:ea typeface="Arial"/>
                <a:cs typeface="Arial"/>
                <a:sym typeface="Arial"/>
              </a:rPr>
              <a:t> and take 1’s complement of intermediate result and place negative sign to the result.</a:t>
            </a:r>
            <a:endParaRPr/>
          </a:p>
          <a:p>
            <a:pPr marL="685800" lvl="1" indent="-76200" algn="l" rtl="0">
              <a:lnSpc>
                <a:spcPct val="90000"/>
              </a:lnSpc>
              <a:spcBef>
                <a:spcPts val="500"/>
              </a:spcBef>
              <a:spcAft>
                <a:spcPts val="0"/>
              </a:spcAft>
              <a:buClr>
                <a:schemeClr val="dk1"/>
              </a:buClr>
              <a:buSzPts val="2400"/>
              <a:buNone/>
            </a:pPr>
            <a:endParaRPr/>
          </a:p>
          <a:p>
            <a:pPr marL="0" lvl="0" indent="0" algn="l" rtl="0">
              <a:lnSpc>
                <a:spcPct val="90000"/>
              </a:lnSpc>
              <a:spcBef>
                <a:spcPts val="1000"/>
              </a:spcBef>
              <a:spcAft>
                <a:spcPts val="0"/>
              </a:spcAft>
              <a:buClr>
                <a:schemeClr val="dk1"/>
              </a:buClr>
              <a:buSzPts val="2800"/>
              <a:buNone/>
            </a:pP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Tree>
    <p:extLst>
      <p:ext uri="{BB962C8B-B14F-4D97-AF65-F5344CB8AC3E}">
        <p14:creationId xmlns:p14="http://schemas.microsoft.com/office/powerpoint/2010/main" val="669792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50"/>
        <p:cNvGrpSpPr/>
        <p:nvPr/>
      </p:nvGrpSpPr>
      <p:grpSpPr>
        <a:xfrm>
          <a:off x="0" y="0"/>
          <a:ext cx="0" cy="0"/>
          <a:chOff x="0" y="0"/>
          <a:chExt cx="0" cy="0"/>
        </a:xfrm>
      </p:grpSpPr>
      <p:sp>
        <p:nvSpPr>
          <p:cNvPr id="1251" name="Google Shape;1251;p124"/>
          <p:cNvSpPr txBox="1">
            <a:spLocks noGrp="1"/>
          </p:cNvSpPr>
          <p:nvPr>
            <p:ph type="title"/>
          </p:nvPr>
        </p:nvSpPr>
        <p:spPr>
          <a:xfrm>
            <a:off x="335360" y="118268"/>
            <a:ext cx="9597145" cy="862460"/>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Arial Black"/>
              <a:buNone/>
            </a:pPr>
            <a:r>
              <a:rPr lang="en-US" sz="3600">
                <a:solidFill>
                  <a:schemeClr val="lt1"/>
                </a:solidFill>
                <a:latin typeface="Arial Black"/>
                <a:ea typeface="Arial Black"/>
                <a:cs typeface="Arial Black"/>
                <a:sym typeface="Arial Black"/>
              </a:rPr>
              <a:t>Subtraction using 2’s complement</a:t>
            </a:r>
            <a:endParaRPr sz="3600"/>
          </a:p>
        </p:txBody>
      </p:sp>
      <p:sp>
        <p:nvSpPr>
          <p:cNvPr id="1252" name="Google Shape;1252;p124"/>
          <p:cNvSpPr txBox="1">
            <a:spLocks noGrp="1"/>
          </p:cNvSpPr>
          <p:nvPr>
            <p:ph type="body" idx="1"/>
          </p:nvPr>
        </p:nvSpPr>
        <p:spPr>
          <a:xfrm>
            <a:off x="335360" y="1166020"/>
            <a:ext cx="11377264" cy="5079207"/>
          </a:xfrm>
          <a:prstGeom prst="rect">
            <a:avLst/>
          </a:prstGeom>
          <a:noFill/>
          <a:ln>
            <a:noFill/>
          </a:ln>
        </p:spPr>
        <p:txBody>
          <a:bodyPr spcFirstLastPara="1" wrap="square" lIns="91425" tIns="45700" rIns="91425" bIns="45700" anchor="t" anchorCtr="0">
            <a:normAutofit/>
          </a:bodyPr>
          <a:lstStyle/>
          <a:p>
            <a:pPr marL="228600" lvl="0" indent="-228600" algn="just" rtl="0">
              <a:lnSpc>
                <a:spcPct val="150000"/>
              </a:lnSpc>
              <a:spcBef>
                <a:spcPts val="0"/>
              </a:spcBef>
              <a:spcAft>
                <a:spcPts val="0"/>
              </a:spcAft>
              <a:buClr>
                <a:schemeClr val="dk1"/>
              </a:buClr>
              <a:buSzPts val="2800"/>
              <a:buChar char="•"/>
            </a:pPr>
            <a:r>
              <a:rPr lang="en-US">
                <a:latin typeface="Arial"/>
                <a:ea typeface="Arial"/>
                <a:cs typeface="Arial"/>
                <a:sym typeface="Arial"/>
              </a:rPr>
              <a:t>Using 2’s complement</a:t>
            </a:r>
            <a:endParaRPr/>
          </a:p>
          <a:p>
            <a:pPr marL="685800" lvl="1" indent="-228600" algn="just" rtl="0">
              <a:lnSpc>
                <a:spcPct val="150000"/>
              </a:lnSpc>
              <a:spcBef>
                <a:spcPts val="500"/>
              </a:spcBef>
              <a:spcAft>
                <a:spcPts val="0"/>
              </a:spcAft>
              <a:buClr>
                <a:schemeClr val="dk1"/>
              </a:buClr>
              <a:buSzPts val="2400"/>
              <a:buChar char="•"/>
            </a:pPr>
            <a:r>
              <a:rPr lang="en-US">
                <a:latin typeface="Arial"/>
                <a:ea typeface="Arial"/>
                <a:cs typeface="Arial"/>
                <a:sym typeface="Arial"/>
              </a:rPr>
              <a:t>Obtain 2’s complement of subtrahend</a:t>
            </a:r>
            <a:endParaRPr/>
          </a:p>
          <a:p>
            <a:pPr marL="685800" lvl="1" indent="-228600" algn="just" rtl="0">
              <a:lnSpc>
                <a:spcPct val="150000"/>
              </a:lnSpc>
              <a:spcBef>
                <a:spcPts val="500"/>
              </a:spcBef>
              <a:spcAft>
                <a:spcPts val="0"/>
              </a:spcAft>
              <a:buClr>
                <a:schemeClr val="dk1"/>
              </a:buClr>
              <a:buSzPts val="2400"/>
              <a:buChar char="•"/>
            </a:pPr>
            <a:r>
              <a:rPr lang="en-US">
                <a:latin typeface="Arial"/>
                <a:ea typeface="Arial"/>
                <a:cs typeface="Arial"/>
                <a:sym typeface="Arial"/>
              </a:rPr>
              <a:t>Add the result to minuend</a:t>
            </a:r>
            <a:endParaRPr/>
          </a:p>
          <a:p>
            <a:pPr marL="685800" lvl="1" indent="-228600" algn="just" rtl="0">
              <a:lnSpc>
                <a:spcPct val="150000"/>
              </a:lnSpc>
              <a:spcBef>
                <a:spcPts val="500"/>
              </a:spcBef>
              <a:spcAft>
                <a:spcPts val="0"/>
              </a:spcAft>
              <a:buClr>
                <a:schemeClr val="dk1"/>
              </a:buClr>
              <a:buSzPts val="2400"/>
              <a:buChar char="•"/>
            </a:pPr>
            <a:r>
              <a:rPr lang="en-US">
                <a:latin typeface="Arial"/>
                <a:ea typeface="Arial"/>
                <a:cs typeface="Arial"/>
                <a:sym typeface="Arial"/>
              </a:rPr>
              <a:t>If </a:t>
            </a:r>
            <a:r>
              <a:rPr lang="en-US">
                <a:solidFill>
                  <a:schemeClr val="dk2"/>
                </a:solidFill>
                <a:latin typeface="Arial"/>
                <a:ea typeface="Arial"/>
                <a:cs typeface="Arial"/>
                <a:sym typeface="Arial"/>
              </a:rPr>
              <a:t>carry is generated</a:t>
            </a:r>
            <a:r>
              <a:rPr lang="en-US">
                <a:latin typeface="Arial"/>
                <a:ea typeface="Arial"/>
                <a:cs typeface="Arial"/>
                <a:sym typeface="Arial"/>
              </a:rPr>
              <a:t> then answer is </a:t>
            </a:r>
            <a:r>
              <a:rPr lang="en-US">
                <a:solidFill>
                  <a:schemeClr val="dk2"/>
                </a:solidFill>
                <a:latin typeface="Arial"/>
                <a:ea typeface="Arial"/>
                <a:cs typeface="Arial"/>
                <a:sym typeface="Arial"/>
              </a:rPr>
              <a:t>positive</a:t>
            </a:r>
            <a:r>
              <a:rPr lang="en-US">
                <a:latin typeface="Arial"/>
                <a:ea typeface="Arial"/>
                <a:cs typeface="Arial"/>
                <a:sym typeface="Arial"/>
              </a:rPr>
              <a:t>, ignore carry and result itself is answer</a:t>
            </a:r>
            <a:endParaRPr/>
          </a:p>
          <a:p>
            <a:pPr marL="685800" lvl="1" indent="-228600" algn="just" rtl="0">
              <a:lnSpc>
                <a:spcPct val="150000"/>
              </a:lnSpc>
              <a:spcBef>
                <a:spcPts val="500"/>
              </a:spcBef>
              <a:spcAft>
                <a:spcPts val="0"/>
              </a:spcAft>
              <a:buClr>
                <a:schemeClr val="dk1"/>
              </a:buClr>
              <a:buSzPts val="2400"/>
              <a:buChar char="•"/>
            </a:pPr>
            <a:r>
              <a:rPr lang="en-US">
                <a:latin typeface="Arial"/>
                <a:ea typeface="Arial"/>
                <a:cs typeface="Arial"/>
                <a:sym typeface="Arial"/>
              </a:rPr>
              <a:t>If there is </a:t>
            </a:r>
            <a:r>
              <a:rPr lang="en-US">
                <a:solidFill>
                  <a:schemeClr val="dk2"/>
                </a:solidFill>
                <a:latin typeface="Arial"/>
                <a:ea typeface="Arial"/>
                <a:cs typeface="Arial"/>
                <a:sym typeface="Arial"/>
              </a:rPr>
              <a:t>no carry</a:t>
            </a:r>
            <a:r>
              <a:rPr lang="en-US">
                <a:latin typeface="Arial"/>
                <a:ea typeface="Arial"/>
                <a:cs typeface="Arial"/>
                <a:sym typeface="Arial"/>
              </a:rPr>
              <a:t> then answer is </a:t>
            </a:r>
            <a:r>
              <a:rPr lang="en-US">
                <a:solidFill>
                  <a:schemeClr val="dk2"/>
                </a:solidFill>
                <a:latin typeface="Arial"/>
                <a:ea typeface="Arial"/>
                <a:cs typeface="Arial"/>
                <a:sym typeface="Arial"/>
              </a:rPr>
              <a:t>negative</a:t>
            </a:r>
            <a:r>
              <a:rPr lang="en-US">
                <a:latin typeface="Arial"/>
                <a:ea typeface="Arial"/>
                <a:cs typeface="Arial"/>
                <a:sym typeface="Arial"/>
              </a:rPr>
              <a:t> and take 2’s complement of intermediate result and place negative sign to the result.</a:t>
            </a:r>
            <a:endParaRPr/>
          </a:p>
          <a:p>
            <a:pPr marL="0" lvl="0" indent="0" algn="l" rtl="0">
              <a:lnSpc>
                <a:spcPct val="90000"/>
              </a:lnSpc>
              <a:spcBef>
                <a:spcPts val="1000"/>
              </a:spcBef>
              <a:spcAft>
                <a:spcPts val="0"/>
              </a:spcAft>
              <a:buClr>
                <a:schemeClr val="dk1"/>
              </a:buClr>
              <a:buSzPts val="2800"/>
              <a:buNone/>
            </a:pP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extLst>
      <p:ext uri="{BB962C8B-B14F-4D97-AF65-F5344CB8AC3E}">
        <p14:creationId xmlns:p14="http://schemas.microsoft.com/office/powerpoint/2010/main" val="28015838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58"/>
        <p:cNvGrpSpPr/>
        <p:nvPr/>
      </p:nvGrpSpPr>
      <p:grpSpPr>
        <a:xfrm>
          <a:off x="0" y="0"/>
          <a:ext cx="0" cy="0"/>
          <a:chOff x="0" y="0"/>
          <a:chExt cx="0" cy="0"/>
        </a:xfrm>
      </p:grpSpPr>
      <p:sp>
        <p:nvSpPr>
          <p:cNvPr id="1259" name="Google Shape;1259;p1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a:t>Subtraction using 1’s complement </a:t>
            </a:r>
            <a:br>
              <a:rPr lang="en-US" sz="3600"/>
            </a:br>
            <a:r>
              <a:rPr lang="en-US" sz="3600"/>
              <a:t>(Examples)</a:t>
            </a:r>
            <a:endParaRPr sz="3600"/>
          </a:p>
        </p:txBody>
      </p:sp>
      <p:sp>
        <p:nvSpPr>
          <p:cNvPr id="1260" name="Google Shape;1260;p125"/>
          <p:cNvSpPr txBox="1">
            <a:spLocks noGrp="1"/>
          </p:cNvSpPr>
          <p:nvPr>
            <p:ph type="body" idx="1"/>
          </p:nvPr>
        </p:nvSpPr>
        <p:spPr>
          <a:xfrm>
            <a:off x="2050774" y="1642270"/>
            <a:ext cx="8229600" cy="507920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Example - 1</a:t>
            </a:r>
            <a:endParaRPr/>
          </a:p>
          <a:p>
            <a:pPr marL="0" lvl="0" indent="0" algn="l" rtl="0">
              <a:lnSpc>
                <a:spcPct val="90000"/>
              </a:lnSpc>
              <a:spcBef>
                <a:spcPts val="1000"/>
              </a:spcBef>
              <a:spcAft>
                <a:spcPts val="0"/>
              </a:spcAft>
              <a:buClr>
                <a:schemeClr val="dk1"/>
              </a:buClr>
              <a:buSzPts val="2800"/>
              <a:buNone/>
            </a:pPr>
            <a:endParaRPr/>
          </a:p>
        </p:txBody>
      </p:sp>
      <p:pic>
        <p:nvPicPr>
          <p:cNvPr id="1263" name="Google Shape;1263;p125"/>
          <p:cNvPicPr preferRelativeResize="0"/>
          <p:nvPr/>
        </p:nvPicPr>
        <p:blipFill rotWithShape="1">
          <a:blip r:embed="rId3">
            <a:alphaModFix/>
          </a:blip>
          <a:srcRect/>
          <a:stretch/>
        </p:blipFill>
        <p:spPr>
          <a:xfrm>
            <a:off x="2848316" y="2321508"/>
            <a:ext cx="5501456" cy="3019846"/>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Tree>
    <p:extLst>
      <p:ext uri="{BB962C8B-B14F-4D97-AF65-F5344CB8AC3E}">
        <p14:creationId xmlns:p14="http://schemas.microsoft.com/office/powerpoint/2010/main" val="3661814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67"/>
        <p:cNvGrpSpPr/>
        <p:nvPr/>
      </p:nvGrpSpPr>
      <p:grpSpPr>
        <a:xfrm>
          <a:off x="0" y="0"/>
          <a:ext cx="0" cy="0"/>
          <a:chOff x="0" y="0"/>
          <a:chExt cx="0" cy="0"/>
        </a:xfrm>
      </p:grpSpPr>
      <p:sp>
        <p:nvSpPr>
          <p:cNvPr id="1268" name="Google Shape;1268;p1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a:t>Subtraction using 1’s complement </a:t>
            </a:r>
            <a:br>
              <a:rPr lang="en-US" sz="3600"/>
            </a:br>
            <a:r>
              <a:rPr lang="en-US" sz="3600"/>
              <a:t>(Examples)</a:t>
            </a:r>
            <a:endParaRPr sz="3600"/>
          </a:p>
        </p:txBody>
      </p:sp>
      <p:sp>
        <p:nvSpPr>
          <p:cNvPr id="1269" name="Google Shape;1269;p126"/>
          <p:cNvSpPr txBox="1">
            <a:spLocks noGrp="1"/>
          </p:cNvSpPr>
          <p:nvPr>
            <p:ph type="body" idx="1"/>
          </p:nvPr>
        </p:nvSpPr>
        <p:spPr>
          <a:xfrm>
            <a:off x="1939925" y="1778795"/>
            <a:ext cx="8229600" cy="507920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Example - 2</a:t>
            </a:r>
            <a:endParaRPr/>
          </a:p>
          <a:p>
            <a:pPr marL="0" lvl="0" indent="0" algn="l" rtl="0">
              <a:lnSpc>
                <a:spcPct val="90000"/>
              </a:lnSpc>
              <a:spcBef>
                <a:spcPts val="1000"/>
              </a:spcBef>
              <a:spcAft>
                <a:spcPts val="0"/>
              </a:spcAft>
              <a:buClr>
                <a:schemeClr val="dk1"/>
              </a:buClr>
              <a:buSzPts val="2800"/>
              <a:buNone/>
            </a:pPr>
            <a:endParaRPr/>
          </a:p>
        </p:txBody>
      </p:sp>
      <p:pic>
        <p:nvPicPr>
          <p:cNvPr id="1272" name="Google Shape;1272;p126"/>
          <p:cNvPicPr preferRelativeResize="0"/>
          <p:nvPr/>
        </p:nvPicPr>
        <p:blipFill rotWithShape="1">
          <a:blip r:embed="rId3">
            <a:alphaModFix/>
          </a:blip>
          <a:srcRect/>
          <a:stretch/>
        </p:blipFill>
        <p:spPr>
          <a:xfrm>
            <a:off x="3236122" y="2521373"/>
            <a:ext cx="5637206" cy="382958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Tree>
    <p:extLst>
      <p:ext uri="{BB962C8B-B14F-4D97-AF65-F5344CB8AC3E}">
        <p14:creationId xmlns:p14="http://schemas.microsoft.com/office/powerpoint/2010/main" val="13283599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276"/>
        <p:cNvGrpSpPr/>
        <p:nvPr/>
      </p:nvGrpSpPr>
      <p:grpSpPr>
        <a:xfrm>
          <a:off x="0" y="0"/>
          <a:ext cx="0" cy="0"/>
          <a:chOff x="0" y="0"/>
          <a:chExt cx="0" cy="0"/>
        </a:xfrm>
      </p:grpSpPr>
      <p:sp>
        <p:nvSpPr>
          <p:cNvPr id="1277" name="Google Shape;1277;p1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a:t>Subtraction using 2’s complement</a:t>
            </a:r>
            <a:br>
              <a:rPr lang="en-US" sz="3600"/>
            </a:br>
            <a:r>
              <a:rPr lang="en-US" sz="3600"/>
              <a:t> (Examples)</a:t>
            </a:r>
            <a:endParaRPr sz="3600"/>
          </a:p>
        </p:txBody>
      </p:sp>
      <p:sp>
        <p:nvSpPr>
          <p:cNvPr id="1278" name="Google Shape;1278;p127"/>
          <p:cNvSpPr txBox="1">
            <a:spLocks noGrp="1"/>
          </p:cNvSpPr>
          <p:nvPr>
            <p:ph type="body" idx="1"/>
          </p:nvPr>
        </p:nvSpPr>
        <p:spPr>
          <a:xfrm>
            <a:off x="1981200" y="1709532"/>
            <a:ext cx="8229600" cy="453569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Example - 1</a:t>
            </a:r>
            <a:endParaRPr/>
          </a:p>
          <a:p>
            <a:pPr marL="0" lvl="0" indent="0" algn="l" rtl="0">
              <a:lnSpc>
                <a:spcPct val="90000"/>
              </a:lnSpc>
              <a:spcBef>
                <a:spcPts val="1000"/>
              </a:spcBef>
              <a:spcAft>
                <a:spcPts val="0"/>
              </a:spcAft>
              <a:buClr>
                <a:schemeClr val="dk1"/>
              </a:buClr>
              <a:buSzPts val="2800"/>
              <a:buNone/>
            </a:pPr>
            <a:endParaRPr/>
          </a:p>
        </p:txBody>
      </p:sp>
      <p:pic>
        <p:nvPicPr>
          <p:cNvPr id="1281" name="Google Shape;1281;p127"/>
          <p:cNvPicPr preferRelativeResize="0"/>
          <p:nvPr/>
        </p:nvPicPr>
        <p:blipFill rotWithShape="1">
          <a:blip r:embed="rId3">
            <a:alphaModFix/>
          </a:blip>
          <a:srcRect/>
          <a:stretch/>
        </p:blipFill>
        <p:spPr>
          <a:xfrm>
            <a:off x="2943214" y="2616171"/>
            <a:ext cx="5351416" cy="293410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Tree>
    <p:extLst>
      <p:ext uri="{BB962C8B-B14F-4D97-AF65-F5344CB8AC3E}">
        <p14:creationId xmlns:p14="http://schemas.microsoft.com/office/powerpoint/2010/main" val="13396615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1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a:t>Subtraction using 2’s complement </a:t>
            </a:r>
            <a:br>
              <a:rPr lang="en-US" sz="3600"/>
            </a:br>
            <a:r>
              <a:rPr lang="en-US" sz="3600"/>
              <a:t>(Examples)</a:t>
            </a:r>
            <a:endParaRPr sz="3600"/>
          </a:p>
        </p:txBody>
      </p:sp>
      <p:sp>
        <p:nvSpPr>
          <p:cNvPr id="1287" name="Google Shape;1287;p128"/>
          <p:cNvSpPr txBox="1">
            <a:spLocks noGrp="1"/>
          </p:cNvSpPr>
          <p:nvPr>
            <p:ph type="body" idx="1"/>
          </p:nvPr>
        </p:nvSpPr>
        <p:spPr>
          <a:xfrm>
            <a:off x="1939925" y="1417640"/>
            <a:ext cx="8229600" cy="507920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Example - 2</a:t>
            </a:r>
            <a:endParaRPr/>
          </a:p>
          <a:p>
            <a:pPr marL="0" lvl="0" indent="0" algn="l" rtl="0">
              <a:lnSpc>
                <a:spcPct val="90000"/>
              </a:lnSpc>
              <a:spcBef>
                <a:spcPts val="1000"/>
              </a:spcBef>
              <a:spcAft>
                <a:spcPts val="0"/>
              </a:spcAft>
              <a:buClr>
                <a:schemeClr val="dk1"/>
              </a:buClr>
              <a:buSzPts val="2800"/>
              <a:buNone/>
            </a:pPr>
            <a:endParaRPr/>
          </a:p>
        </p:txBody>
      </p:sp>
      <p:pic>
        <p:nvPicPr>
          <p:cNvPr id="1290" name="Google Shape;1290;p128"/>
          <p:cNvPicPr preferRelativeResize="0"/>
          <p:nvPr/>
        </p:nvPicPr>
        <p:blipFill rotWithShape="1">
          <a:blip r:embed="rId3">
            <a:alphaModFix/>
          </a:blip>
          <a:srcRect/>
          <a:stretch/>
        </p:blipFill>
        <p:spPr>
          <a:xfrm>
            <a:off x="3050989" y="2248169"/>
            <a:ext cx="5394284" cy="3772426"/>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Tree>
    <p:extLst>
      <p:ext uri="{BB962C8B-B14F-4D97-AF65-F5344CB8AC3E}">
        <p14:creationId xmlns:p14="http://schemas.microsoft.com/office/powerpoint/2010/main" val="17741538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94"/>
        <p:cNvGrpSpPr/>
        <p:nvPr/>
      </p:nvGrpSpPr>
      <p:grpSpPr>
        <a:xfrm>
          <a:off x="0" y="0"/>
          <a:ext cx="0" cy="0"/>
          <a:chOff x="0" y="0"/>
          <a:chExt cx="0" cy="0"/>
        </a:xfrm>
      </p:grpSpPr>
      <p:sp>
        <p:nvSpPr>
          <p:cNvPr id="1295" name="Google Shape;1295;p129"/>
          <p:cNvSpPr txBox="1">
            <a:spLocks noGrp="1"/>
          </p:cNvSpPr>
          <p:nvPr>
            <p:ph type="title"/>
          </p:nvPr>
        </p:nvSpPr>
        <p:spPr>
          <a:xfrm>
            <a:off x="839416" y="357724"/>
            <a:ext cx="9577064" cy="767020"/>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a:solidFill>
                  <a:schemeClr val="lt1"/>
                </a:solidFill>
                <a:latin typeface="Calibri"/>
                <a:ea typeface="Calibri"/>
                <a:cs typeface="Calibri"/>
                <a:sym typeface="Calibri"/>
              </a:rPr>
              <a:t>BCD ARITHMETIC</a:t>
            </a:r>
            <a:endParaRPr/>
          </a:p>
        </p:txBody>
      </p:sp>
      <p:pic>
        <p:nvPicPr>
          <p:cNvPr id="1296" name="Google Shape;1296;p129"/>
          <p:cNvPicPr preferRelativeResize="0">
            <a:picLocks noGrp="1"/>
          </p:cNvPicPr>
          <p:nvPr>
            <p:ph type="body" idx="1"/>
          </p:nvPr>
        </p:nvPicPr>
        <p:blipFill rotWithShape="1">
          <a:blip r:embed="rId3">
            <a:alphaModFix/>
          </a:blip>
          <a:srcRect/>
          <a:stretch/>
        </p:blipFill>
        <p:spPr>
          <a:xfrm>
            <a:off x="2819246" y="1526238"/>
            <a:ext cx="5937285" cy="3562847"/>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Tree>
    <p:extLst>
      <p:ext uri="{BB962C8B-B14F-4D97-AF65-F5344CB8AC3E}">
        <p14:creationId xmlns:p14="http://schemas.microsoft.com/office/powerpoint/2010/main" val="32161822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302"/>
        <p:cNvGrpSpPr/>
        <p:nvPr/>
      </p:nvGrpSpPr>
      <p:grpSpPr>
        <a:xfrm>
          <a:off x="0" y="0"/>
          <a:ext cx="0" cy="0"/>
          <a:chOff x="0" y="0"/>
          <a:chExt cx="0" cy="0"/>
        </a:xfrm>
      </p:grpSpPr>
      <p:sp>
        <p:nvSpPr>
          <p:cNvPr id="1303" name="Google Shape;1303;p1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BCD Addition</a:t>
            </a:r>
            <a:endParaRPr/>
          </a:p>
        </p:txBody>
      </p:sp>
      <p:sp>
        <p:nvSpPr>
          <p:cNvPr id="1304" name="Google Shape;1304;p130"/>
          <p:cNvSpPr txBox="1">
            <a:spLocks noGrp="1"/>
          </p:cNvSpPr>
          <p:nvPr>
            <p:ph type="body" idx="1"/>
          </p:nvPr>
        </p:nvSpPr>
        <p:spPr>
          <a:xfrm>
            <a:off x="1981200" y="1166020"/>
            <a:ext cx="8229600" cy="507920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Example - 1</a:t>
            </a:r>
            <a:endParaRPr/>
          </a:p>
          <a:p>
            <a:pPr marL="0" lvl="0" indent="0" algn="l" rtl="0">
              <a:lnSpc>
                <a:spcPct val="90000"/>
              </a:lnSpc>
              <a:spcBef>
                <a:spcPts val="1000"/>
              </a:spcBef>
              <a:spcAft>
                <a:spcPts val="0"/>
              </a:spcAft>
              <a:buClr>
                <a:schemeClr val="dk1"/>
              </a:buClr>
              <a:buSzPts val="2800"/>
              <a:buNone/>
            </a:pPr>
            <a:endParaRPr/>
          </a:p>
        </p:txBody>
      </p:sp>
      <p:sp>
        <p:nvSpPr>
          <p:cNvPr id="1306" name="Google Shape;1306;p130"/>
          <p:cNvSpPr txBox="1">
            <a:spLocks noGrp="1"/>
          </p:cNvSpPr>
          <p:nvPr>
            <p:ph type="sldNum" idx="4294967295"/>
          </p:nvPr>
        </p:nvSpPr>
        <p:spPr>
          <a:xfrm>
            <a:off x="8077200" y="6245225"/>
            <a:ext cx="2133600" cy="4762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pic>
        <p:nvPicPr>
          <p:cNvPr id="1307" name="Google Shape;1307;p130"/>
          <p:cNvPicPr preferRelativeResize="0"/>
          <p:nvPr/>
        </p:nvPicPr>
        <p:blipFill rotWithShape="1">
          <a:blip r:embed="rId3">
            <a:alphaModFix/>
          </a:blip>
          <a:srcRect/>
          <a:stretch/>
        </p:blipFill>
        <p:spPr>
          <a:xfrm>
            <a:off x="3695365" y="2024614"/>
            <a:ext cx="4801270" cy="2829320"/>
          </a:xfrm>
          <a:prstGeom prst="rect">
            <a:avLst/>
          </a:prstGeom>
          <a:noFill/>
          <a:ln>
            <a:noFill/>
          </a:ln>
        </p:spPr>
      </p:pic>
      <p:sp>
        <p:nvSpPr>
          <p:cNvPr id="1308" name="Google Shape;1308;p130"/>
          <p:cNvSpPr txBox="1"/>
          <p:nvPr/>
        </p:nvSpPr>
        <p:spPr>
          <a:xfrm>
            <a:off x="2167329" y="5024865"/>
            <a:ext cx="8084746" cy="1200329"/>
          </a:xfrm>
          <a:prstGeom prst="rect">
            <a:avLst/>
          </a:prstGeom>
          <a:noFill/>
          <a:ln>
            <a:noFill/>
          </a:ln>
        </p:spPr>
        <p:txBody>
          <a:bodyPr spcFirstLastPara="1" wrap="square" lIns="91425" tIns="45700" rIns="91425" bIns="45700" anchor="t" anchorCtr="0">
            <a:spAutoFit/>
          </a:bodyPr>
          <a:lstStyle/>
          <a:p>
            <a:pPr marL="620713" marR="0" lvl="0" indent="-620713" algn="l" rtl="0">
              <a:spcBef>
                <a:spcPts val="0"/>
              </a:spcBef>
              <a:spcAft>
                <a:spcPts val="0"/>
              </a:spcAft>
              <a:buNone/>
            </a:pPr>
            <a:r>
              <a:rPr lang="en-US" sz="2400">
                <a:solidFill>
                  <a:schemeClr val="accent6"/>
                </a:solidFill>
                <a:latin typeface="Calibri"/>
                <a:ea typeface="Calibri"/>
                <a:cs typeface="Calibri"/>
                <a:sym typeface="Calibri"/>
              </a:rPr>
              <a:t>Rule: </a:t>
            </a:r>
            <a:r>
              <a:rPr lang="en-US" sz="2400">
                <a:solidFill>
                  <a:schemeClr val="dk1"/>
                </a:solidFill>
                <a:latin typeface="Calibri"/>
                <a:ea typeface="Calibri"/>
                <a:cs typeface="Calibri"/>
                <a:sym typeface="Calibri"/>
              </a:rPr>
              <a:t>If there is an illegal code or carry is generated as a result of addition,    then add 0110 to particular that 4 bits of result.</a:t>
            </a:r>
            <a:endParaRPr sz="24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80229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08"/>
                                        </p:tgtEl>
                                        <p:attrNameLst>
                                          <p:attrName>style.visibility</p:attrName>
                                        </p:attrNameLst>
                                      </p:cBhvr>
                                      <p:to>
                                        <p:strVal val="visible"/>
                                      </p:to>
                                    </p:set>
                                    <p:animEffect transition="in" filter="fade">
                                      <p:cBhvr>
                                        <p:cTn id="7" dur="500"/>
                                        <p:tgtEl>
                                          <p:spTgt spid="1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312"/>
        <p:cNvGrpSpPr/>
        <p:nvPr/>
      </p:nvGrpSpPr>
      <p:grpSpPr>
        <a:xfrm>
          <a:off x="0" y="0"/>
          <a:ext cx="0" cy="0"/>
          <a:chOff x="0" y="0"/>
          <a:chExt cx="0" cy="0"/>
        </a:xfrm>
      </p:grpSpPr>
      <p:sp>
        <p:nvSpPr>
          <p:cNvPr id="1313" name="Google Shape;1313;p131"/>
          <p:cNvSpPr txBox="1">
            <a:spLocks noGrp="1"/>
          </p:cNvSpPr>
          <p:nvPr>
            <p:ph type="title"/>
          </p:nvPr>
        </p:nvSpPr>
        <p:spPr>
          <a:xfrm>
            <a:off x="1524000" y="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BCD Addition</a:t>
            </a:r>
            <a:endParaRPr/>
          </a:p>
        </p:txBody>
      </p:sp>
      <p:sp>
        <p:nvSpPr>
          <p:cNvPr id="1314" name="Google Shape;1314;p131"/>
          <p:cNvSpPr txBox="1">
            <a:spLocks noGrp="1"/>
          </p:cNvSpPr>
          <p:nvPr>
            <p:ph type="body" idx="1"/>
          </p:nvPr>
        </p:nvSpPr>
        <p:spPr>
          <a:xfrm>
            <a:off x="1981200" y="1166020"/>
            <a:ext cx="8229600" cy="507920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Example - 2</a:t>
            </a:r>
            <a:endParaRPr/>
          </a:p>
          <a:p>
            <a:pPr marL="0" lvl="0" indent="0" algn="l" rtl="0">
              <a:lnSpc>
                <a:spcPct val="90000"/>
              </a:lnSpc>
              <a:spcBef>
                <a:spcPts val="1000"/>
              </a:spcBef>
              <a:spcAft>
                <a:spcPts val="0"/>
              </a:spcAft>
              <a:buClr>
                <a:schemeClr val="dk1"/>
              </a:buClr>
              <a:buSzPts val="2800"/>
              <a:buNone/>
            </a:pPr>
            <a:endParaRPr/>
          </a:p>
        </p:txBody>
      </p:sp>
      <p:pic>
        <p:nvPicPr>
          <p:cNvPr id="1317" name="Google Shape;1317;p131"/>
          <p:cNvPicPr preferRelativeResize="0"/>
          <p:nvPr/>
        </p:nvPicPr>
        <p:blipFill rotWithShape="1">
          <a:blip r:embed="rId3">
            <a:alphaModFix/>
          </a:blip>
          <a:srcRect/>
          <a:stretch/>
        </p:blipFill>
        <p:spPr>
          <a:xfrm>
            <a:off x="3584621" y="1747215"/>
            <a:ext cx="5022758" cy="389626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extLst>
      <p:ext uri="{BB962C8B-B14F-4D97-AF65-F5344CB8AC3E}">
        <p14:creationId xmlns:p14="http://schemas.microsoft.com/office/powerpoint/2010/main" val="36922494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321"/>
        <p:cNvGrpSpPr/>
        <p:nvPr/>
      </p:nvGrpSpPr>
      <p:grpSpPr>
        <a:xfrm>
          <a:off x="0" y="0"/>
          <a:ext cx="0" cy="0"/>
          <a:chOff x="0" y="0"/>
          <a:chExt cx="0" cy="0"/>
        </a:xfrm>
      </p:grpSpPr>
      <p:sp>
        <p:nvSpPr>
          <p:cNvPr id="1322" name="Google Shape;1322;p132"/>
          <p:cNvSpPr txBox="1">
            <a:spLocks noGrp="1"/>
          </p:cNvSpPr>
          <p:nvPr>
            <p:ph type="title"/>
          </p:nvPr>
        </p:nvSpPr>
        <p:spPr>
          <a:xfrm>
            <a:off x="1524000" y="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BCD Subtraction</a:t>
            </a:r>
            <a:endParaRPr/>
          </a:p>
        </p:txBody>
      </p:sp>
      <p:sp>
        <p:nvSpPr>
          <p:cNvPr id="1323" name="Google Shape;1323;p132"/>
          <p:cNvSpPr txBox="1">
            <a:spLocks noGrp="1"/>
          </p:cNvSpPr>
          <p:nvPr>
            <p:ph type="body" idx="1"/>
          </p:nvPr>
        </p:nvSpPr>
        <p:spPr>
          <a:xfrm>
            <a:off x="1981200" y="1166020"/>
            <a:ext cx="8229600" cy="507920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Example - 1</a:t>
            </a:r>
            <a:endParaRPr/>
          </a:p>
          <a:p>
            <a:pPr marL="0" lvl="0" indent="0" algn="l" rtl="0">
              <a:lnSpc>
                <a:spcPct val="90000"/>
              </a:lnSpc>
              <a:spcBef>
                <a:spcPts val="1000"/>
              </a:spcBef>
              <a:spcAft>
                <a:spcPts val="0"/>
              </a:spcAft>
              <a:buClr>
                <a:schemeClr val="dk1"/>
              </a:buClr>
              <a:buSzPts val="2800"/>
              <a:buNone/>
            </a:pPr>
            <a:endParaRPr/>
          </a:p>
        </p:txBody>
      </p:sp>
      <p:pic>
        <p:nvPicPr>
          <p:cNvPr id="1326" name="Google Shape;1326;p132"/>
          <p:cNvPicPr preferRelativeResize="0"/>
          <p:nvPr/>
        </p:nvPicPr>
        <p:blipFill rotWithShape="1">
          <a:blip r:embed="rId3">
            <a:alphaModFix/>
          </a:blip>
          <a:srcRect/>
          <a:stretch/>
        </p:blipFill>
        <p:spPr>
          <a:xfrm>
            <a:off x="3384570" y="2038156"/>
            <a:ext cx="5422863" cy="2781688"/>
          </a:xfrm>
          <a:prstGeom prst="rect">
            <a:avLst/>
          </a:prstGeom>
          <a:noFill/>
          <a:ln>
            <a:noFill/>
          </a:ln>
        </p:spPr>
      </p:pic>
      <p:sp>
        <p:nvSpPr>
          <p:cNvPr id="1327" name="Google Shape;1327;p132"/>
          <p:cNvSpPr txBox="1"/>
          <p:nvPr/>
        </p:nvSpPr>
        <p:spPr>
          <a:xfrm>
            <a:off x="1939926" y="5117038"/>
            <a:ext cx="8529293" cy="830997"/>
          </a:xfrm>
          <a:prstGeom prst="rect">
            <a:avLst/>
          </a:prstGeom>
          <a:noFill/>
          <a:ln>
            <a:noFill/>
          </a:ln>
        </p:spPr>
        <p:txBody>
          <a:bodyPr spcFirstLastPara="1" wrap="square" lIns="91425" tIns="45700" rIns="91425" bIns="45700" anchor="t" anchorCtr="0">
            <a:spAutoFit/>
          </a:bodyPr>
          <a:lstStyle/>
          <a:p>
            <a:pPr marL="620713" marR="0" lvl="0" indent="-620713" algn="l" rtl="0">
              <a:spcBef>
                <a:spcPts val="0"/>
              </a:spcBef>
              <a:spcAft>
                <a:spcPts val="0"/>
              </a:spcAft>
              <a:buNone/>
            </a:pPr>
            <a:r>
              <a:rPr lang="en-US" sz="2400">
                <a:solidFill>
                  <a:schemeClr val="accent6"/>
                </a:solidFill>
                <a:latin typeface="Calibri"/>
                <a:ea typeface="Calibri"/>
                <a:cs typeface="Calibri"/>
                <a:sym typeface="Calibri"/>
              </a:rPr>
              <a:t>Rule: </a:t>
            </a:r>
            <a:r>
              <a:rPr lang="en-US" sz="2400">
                <a:solidFill>
                  <a:schemeClr val="dk1"/>
                </a:solidFill>
                <a:latin typeface="Calibri"/>
                <a:ea typeface="Calibri"/>
                <a:cs typeface="Calibri"/>
                <a:sym typeface="Calibri"/>
              </a:rPr>
              <a:t>If one 4-bit group needs to take borrow from neighbor, then subtract 0110 from the group which is receiving borrow.  </a:t>
            </a:r>
            <a:endParaRPr sz="2400">
              <a:solidFill>
                <a:schemeClr val="dk1"/>
              </a:solidFill>
              <a:latin typeface="Calibri"/>
              <a:ea typeface="Calibri"/>
              <a:cs typeface="Calibri"/>
              <a:sym typeface="Calibri"/>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Tree>
    <p:extLst>
      <p:ext uri="{BB962C8B-B14F-4D97-AF65-F5344CB8AC3E}">
        <p14:creationId xmlns:p14="http://schemas.microsoft.com/office/powerpoint/2010/main" val="3658818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27"/>
                                        </p:tgtEl>
                                        <p:attrNameLst>
                                          <p:attrName>style.visibility</p:attrName>
                                        </p:attrNameLst>
                                      </p:cBhvr>
                                      <p:to>
                                        <p:strVal val="visible"/>
                                      </p:to>
                                    </p:set>
                                    <p:animEffect transition="in" filter="fade">
                                      <p:cBhvr>
                                        <p:cTn id="7" dur="500"/>
                                        <p:tgtEl>
                                          <p:spTgt spid="1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331"/>
        <p:cNvGrpSpPr/>
        <p:nvPr/>
      </p:nvGrpSpPr>
      <p:grpSpPr>
        <a:xfrm>
          <a:off x="0" y="0"/>
          <a:ext cx="0" cy="0"/>
          <a:chOff x="0" y="0"/>
          <a:chExt cx="0" cy="0"/>
        </a:xfrm>
      </p:grpSpPr>
      <p:sp>
        <p:nvSpPr>
          <p:cNvPr id="1332" name="Google Shape;1332;p133"/>
          <p:cNvSpPr txBox="1">
            <a:spLocks noGrp="1"/>
          </p:cNvSpPr>
          <p:nvPr>
            <p:ph type="title"/>
          </p:nvPr>
        </p:nvSpPr>
        <p:spPr>
          <a:xfrm>
            <a:off x="1524000" y="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BCD Subtraction</a:t>
            </a:r>
            <a:endParaRPr/>
          </a:p>
        </p:txBody>
      </p:sp>
      <p:sp>
        <p:nvSpPr>
          <p:cNvPr id="1333" name="Google Shape;1333;p133"/>
          <p:cNvSpPr txBox="1">
            <a:spLocks noGrp="1"/>
          </p:cNvSpPr>
          <p:nvPr>
            <p:ph type="body" idx="1"/>
          </p:nvPr>
        </p:nvSpPr>
        <p:spPr>
          <a:xfrm>
            <a:off x="1981200" y="1166020"/>
            <a:ext cx="8229600" cy="507920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Example - 2</a:t>
            </a:r>
            <a:endParaRPr/>
          </a:p>
          <a:p>
            <a:pPr marL="0" lvl="0" indent="0" algn="l" rtl="0">
              <a:lnSpc>
                <a:spcPct val="90000"/>
              </a:lnSpc>
              <a:spcBef>
                <a:spcPts val="1000"/>
              </a:spcBef>
              <a:spcAft>
                <a:spcPts val="0"/>
              </a:spcAft>
              <a:buClr>
                <a:schemeClr val="dk1"/>
              </a:buClr>
              <a:buSzPts val="2800"/>
              <a:buNone/>
            </a:pPr>
            <a:endParaRPr/>
          </a:p>
        </p:txBody>
      </p:sp>
      <p:pic>
        <p:nvPicPr>
          <p:cNvPr id="1336" name="Google Shape;1336;p133"/>
          <p:cNvPicPr preferRelativeResize="0"/>
          <p:nvPr/>
        </p:nvPicPr>
        <p:blipFill rotWithShape="1">
          <a:blip r:embed="rId3">
            <a:alphaModFix/>
          </a:blip>
          <a:srcRect/>
          <a:stretch/>
        </p:blipFill>
        <p:spPr>
          <a:xfrm>
            <a:off x="3506029" y="2190577"/>
            <a:ext cx="5179942" cy="2476846"/>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Tree>
    <p:extLst>
      <p:ext uri="{BB962C8B-B14F-4D97-AF65-F5344CB8AC3E}">
        <p14:creationId xmlns:p14="http://schemas.microsoft.com/office/powerpoint/2010/main" val="28717777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73192" y="914400"/>
            <a:ext cx="9782355" cy="5313872"/>
          </a:xfrm>
          <a:prstGeom prst="rect">
            <a:avLst/>
          </a:prstGeom>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Tree>
    <p:extLst>
      <p:ext uri="{BB962C8B-B14F-4D97-AF65-F5344CB8AC3E}">
        <p14:creationId xmlns:p14="http://schemas.microsoft.com/office/powerpoint/2010/main" val="1930997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66158" y="465826"/>
            <a:ext cx="9989389" cy="6021238"/>
          </a:xfrm>
          <a:prstGeom prst="rect">
            <a:avLst/>
          </a:prstGeom>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spTree>
    <p:extLst>
      <p:ext uri="{BB962C8B-B14F-4D97-AF65-F5344CB8AC3E}">
        <p14:creationId xmlns:p14="http://schemas.microsoft.com/office/powerpoint/2010/main" val="19611618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58"/>
          <p:cNvSpPr txBox="1">
            <a:spLocks noGrp="1"/>
          </p:cNvSpPr>
          <p:nvPr>
            <p:ph type="title"/>
          </p:nvPr>
        </p:nvSpPr>
        <p:spPr>
          <a:xfrm>
            <a:off x="838200" y="188640"/>
            <a:ext cx="9362256" cy="977378"/>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ct val="100000"/>
              <a:buFont typeface="Arial Black"/>
              <a:buNone/>
            </a:pPr>
            <a:r>
              <a:rPr lang="en-US" b="1" dirty="0">
                <a:solidFill>
                  <a:schemeClr val="lt1"/>
                </a:solidFill>
                <a:latin typeface="Arial Black"/>
                <a:ea typeface="Arial Black"/>
                <a:cs typeface="Arial Black"/>
                <a:sym typeface="Arial Black"/>
              </a:rPr>
              <a:t/>
            </a:r>
            <a:br>
              <a:rPr lang="en-US" b="1" dirty="0">
                <a:solidFill>
                  <a:schemeClr val="lt1"/>
                </a:solidFill>
                <a:latin typeface="Arial Black"/>
                <a:ea typeface="Arial Black"/>
                <a:cs typeface="Arial Black"/>
                <a:sym typeface="Arial Black"/>
              </a:rPr>
            </a:br>
            <a:r>
              <a:rPr lang="en-US" b="1" dirty="0">
                <a:solidFill>
                  <a:schemeClr val="lt1"/>
                </a:solidFill>
                <a:latin typeface="Arial Black"/>
                <a:ea typeface="Arial Black"/>
                <a:cs typeface="Arial Black"/>
                <a:sym typeface="Arial Black"/>
              </a:rPr>
              <a:t>GRAY CODE</a:t>
            </a:r>
            <a:br>
              <a:rPr lang="en-US" b="1" dirty="0">
                <a:solidFill>
                  <a:schemeClr val="lt1"/>
                </a:solidFill>
                <a:latin typeface="Arial Black"/>
                <a:ea typeface="Arial Black"/>
                <a:cs typeface="Arial Black"/>
                <a:sym typeface="Arial Black"/>
              </a:rPr>
            </a:br>
            <a:endParaRPr b="1" dirty="0">
              <a:latin typeface="Arial Black"/>
              <a:ea typeface="Arial Black"/>
              <a:cs typeface="Arial Black"/>
              <a:sym typeface="Arial Black"/>
            </a:endParaRPr>
          </a:p>
        </p:txBody>
      </p:sp>
      <p:sp>
        <p:nvSpPr>
          <p:cNvPr id="583" name="Google Shape;583;p58"/>
          <p:cNvSpPr txBox="1">
            <a:spLocks noGrp="1"/>
          </p:cNvSpPr>
          <p:nvPr>
            <p:ph type="body" idx="1"/>
          </p:nvPr>
        </p:nvSpPr>
        <p:spPr>
          <a:xfrm>
            <a:off x="838200" y="1166018"/>
            <a:ext cx="10744200" cy="5079207"/>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222222"/>
              </a:buClr>
              <a:buSzPts val="2400"/>
              <a:buChar char="•"/>
            </a:pPr>
            <a:r>
              <a:rPr lang="en-US" sz="2400" b="0" i="0">
                <a:solidFill>
                  <a:srgbClr val="222222"/>
                </a:solidFill>
                <a:latin typeface="Arial"/>
                <a:ea typeface="Arial"/>
                <a:cs typeface="Arial"/>
                <a:sym typeface="Arial"/>
              </a:rPr>
              <a:t>Gray code is the arrangement of binary number system such that each incremental value can </a:t>
            </a:r>
            <a:r>
              <a:rPr lang="en-US" sz="2400" b="0" i="0" u="sng">
                <a:solidFill>
                  <a:srgbClr val="FF0000"/>
                </a:solidFill>
                <a:latin typeface="Arial"/>
                <a:ea typeface="Arial"/>
                <a:cs typeface="Arial"/>
                <a:sym typeface="Arial"/>
              </a:rPr>
              <a:t>only differ by one bit</a:t>
            </a:r>
            <a:r>
              <a:rPr lang="en-US" sz="2400" b="0" i="0">
                <a:solidFill>
                  <a:srgbClr val="222222"/>
                </a:solidFill>
                <a:latin typeface="Arial"/>
                <a:ea typeface="Arial"/>
                <a:cs typeface="Arial"/>
                <a:sym typeface="Arial"/>
              </a:rPr>
              <a:t>. </a:t>
            </a:r>
            <a:endParaRPr/>
          </a:p>
          <a:p>
            <a:pPr marL="228600" lvl="0" indent="-228600" algn="just" rtl="0">
              <a:lnSpc>
                <a:spcPct val="90000"/>
              </a:lnSpc>
              <a:spcBef>
                <a:spcPts val="1000"/>
              </a:spcBef>
              <a:spcAft>
                <a:spcPts val="0"/>
              </a:spcAft>
              <a:buClr>
                <a:srgbClr val="222222"/>
              </a:buClr>
              <a:buSzPts val="2400"/>
              <a:buChar char="•"/>
            </a:pPr>
            <a:r>
              <a:rPr lang="en-US" sz="2400" b="0" i="0">
                <a:solidFill>
                  <a:srgbClr val="222222"/>
                </a:solidFill>
                <a:latin typeface="Arial"/>
                <a:ea typeface="Arial"/>
                <a:cs typeface="Arial"/>
                <a:sym typeface="Arial"/>
              </a:rPr>
              <a:t>This code is also known as </a:t>
            </a:r>
            <a:r>
              <a:rPr lang="en-US" sz="2400" b="1" i="0">
                <a:solidFill>
                  <a:srgbClr val="222222"/>
                </a:solidFill>
                <a:latin typeface="Arial"/>
                <a:ea typeface="Arial"/>
                <a:cs typeface="Arial"/>
                <a:sym typeface="Arial"/>
              </a:rPr>
              <a:t>Reflected Binary Code</a:t>
            </a:r>
            <a:r>
              <a:rPr lang="en-US" sz="2400" b="0" i="0">
                <a:solidFill>
                  <a:srgbClr val="222222"/>
                </a:solidFill>
                <a:latin typeface="Arial"/>
                <a:ea typeface="Arial"/>
                <a:cs typeface="Arial"/>
                <a:sym typeface="Arial"/>
              </a:rPr>
              <a:t> (RBC), </a:t>
            </a:r>
            <a:r>
              <a:rPr lang="en-US" sz="2400" b="1" i="0">
                <a:solidFill>
                  <a:srgbClr val="222222"/>
                </a:solidFill>
                <a:latin typeface="Arial"/>
                <a:ea typeface="Arial"/>
                <a:cs typeface="Arial"/>
                <a:sym typeface="Arial"/>
              </a:rPr>
              <a:t>Cyclic Code</a:t>
            </a:r>
            <a:r>
              <a:rPr lang="en-US" sz="2400" b="0" i="0">
                <a:solidFill>
                  <a:srgbClr val="222222"/>
                </a:solidFill>
                <a:latin typeface="Arial"/>
                <a:ea typeface="Arial"/>
                <a:cs typeface="Arial"/>
                <a:sym typeface="Arial"/>
              </a:rPr>
              <a:t> and </a:t>
            </a:r>
            <a:r>
              <a:rPr lang="en-US" sz="2400" b="1" i="0">
                <a:solidFill>
                  <a:srgbClr val="222222"/>
                </a:solidFill>
                <a:latin typeface="Arial"/>
                <a:ea typeface="Arial"/>
                <a:cs typeface="Arial"/>
                <a:sym typeface="Arial"/>
              </a:rPr>
              <a:t>Reflected </a:t>
            </a:r>
            <a:r>
              <a:rPr lang="en-US" sz="2400" b="1" i="0" u="sng" strike="noStrike">
                <a:solidFill>
                  <a:srgbClr val="EB0254"/>
                </a:solidFill>
                <a:latin typeface="Arial"/>
                <a:ea typeface="Arial"/>
                <a:cs typeface="Arial"/>
                <a:sym typeface="Arial"/>
                <a:hlinkClick r:id="rId3">
                  <a:extLst>
                    <a:ext uri="{A12FA001-AC4F-418D-AE19-62706E023703}">
                      <ahyp:hlinkClr xmlns:ahyp="http://schemas.microsoft.com/office/drawing/2018/hyperlinkcolor" xmlns="" val="tx"/>
                    </a:ext>
                  </a:extLst>
                </a:hlinkClick>
              </a:rPr>
              <a:t>Binary</a:t>
            </a:r>
            <a:r>
              <a:rPr lang="en-US" sz="2400" b="0" i="0">
                <a:solidFill>
                  <a:srgbClr val="222222"/>
                </a:solidFill>
                <a:latin typeface="Arial"/>
                <a:ea typeface="Arial"/>
                <a:cs typeface="Arial"/>
                <a:sym typeface="Arial"/>
              </a:rPr>
              <a:t> (RB). The reason for calling this code as reflected binary code is the first N/2 values compared with those of the last N/2 values in reverse order. </a:t>
            </a:r>
            <a:endParaRPr/>
          </a:p>
          <a:p>
            <a:pPr marL="228600" lvl="0" indent="-228600" algn="just" rtl="0">
              <a:lnSpc>
                <a:spcPct val="90000"/>
              </a:lnSpc>
              <a:spcBef>
                <a:spcPts val="1000"/>
              </a:spcBef>
              <a:spcAft>
                <a:spcPts val="0"/>
              </a:spcAft>
              <a:buClr>
                <a:srgbClr val="222222"/>
              </a:buClr>
              <a:buSzPts val="2400"/>
              <a:buChar char="•"/>
            </a:pPr>
            <a:r>
              <a:rPr lang="en-US" sz="2400" b="0" i="0">
                <a:solidFill>
                  <a:srgbClr val="222222"/>
                </a:solidFill>
                <a:latin typeface="Arial"/>
                <a:ea typeface="Arial"/>
                <a:cs typeface="Arial"/>
                <a:sym typeface="Arial"/>
              </a:rPr>
              <a:t>In gray code when transverse from one step to another step the only one bit will be change of the group. This means that the two adjacent code numbers differ from each other by only one bit.</a:t>
            </a:r>
            <a:endParaRPr/>
          </a:p>
          <a:p>
            <a:pPr marL="228600" lvl="0" indent="-228600" algn="just" rtl="0">
              <a:lnSpc>
                <a:spcPct val="90000"/>
              </a:lnSpc>
              <a:spcBef>
                <a:spcPts val="1000"/>
              </a:spcBef>
              <a:spcAft>
                <a:spcPts val="0"/>
              </a:spcAft>
              <a:buClr>
                <a:srgbClr val="222222"/>
              </a:buClr>
              <a:buSzPts val="2400"/>
              <a:buChar char="•"/>
            </a:pPr>
            <a:r>
              <a:rPr lang="en-US" sz="2400" b="0" i="0">
                <a:solidFill>
                  <a:srgbClr val="222222"/>
                </a:solidFill>
                <a:latin typeface="Arial"/>
                <a:ea typeface="Arial"/>
                <a:cs typeface="Arial"/>
                <a:sym typeface="Arial"/>
              </a:rPr>
              <a:t>It is popular for unit distance code but it is not use from arithmetic operations. This code has some application like convert analog to digital, error correction in digital communication.</a:t>
            </a:r>
            <a:endParaRPr/>
          </a:p>
          <a:p>
            <a:pPr marL="0" lvl="0" indent="0" algn="l" rtl="0">
              <a:lnSpc>
                <a:spcPct val="90000"/>
              </a:lnSpc>
              <a:spcBef>
                <a:spcPts val="1000"/>
              </a:spcBef>
              <a:spcAft>
                <a:spcPts val="0"/>
              </a:spcAft>
              <a:buClr>
                <a:schemeClr val="dk1"/>
              </a:buClr>
              <a:buSzPts val="2800"/>
              <a:buNone/>
            </a:pPr>
            <a:endParaRPr>
              <a:latin typeface="Arial"/>
              <a:ea typeface="Arial"/>
              <a:cs typeface="Arial"/>
              <a:sym typeface="Arial"/>
            </a:endParaRPr>
          </a:p>
        </p:txBody>
      </p:sp>
      <p:sp>
        <p:nvSpPr>
          <p:cNvPr id="585" name="Google Shape;585;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59"/>
          <p:cNvSpPr txBox="1">
            <a:spLocks noGrp="1"/>
          </p:cNvSpPr>
          <p:nvPr>
            <p:ph type="title"/>
          </p:nvPr>
        </p:nvSpPr>
        <p:spPr>
          <a:xfrm>
            <a:off x="479376" y="188641"/>
            <a:ext cx="10515600" cy="864096"/>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a:solidFill>
                  <a:schemeClr val="lt1"/>
                </a:solidFill>
                <a:latin typeface="Calibri"/>
                <a:ea typeface="Calibri"/>
                <a:cs typeface="Calibri"/>
                <a:sym typeface="Calibri"/>
              </a:rPr>
              <a:t>Binary- Gray code conversion</a:t>
            </a:r>
            <a:endParaRPr/>
          </a:p>
        </p:txBody>
      </p:sp>
      <p:sp>
        <p:nvSpPr>
          <p:cNvPr id="591" name="Google Shape;591;p5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22222"/>
              </a:buClr>
              <a:buSzPts val="2800"/>
              <a:buChar char="•"/>
            </a:pPr>
            <a:r>
              <a:rPr lang="en-US" b="1" cap="none">
                <a:solidFill>
                  <a:srgbClr val="222222"/>
                </a:solidFill>
                <a:latin typeface="Work Sans"/>
                <a:ea typeface="Work Sans"/>
                <a:cs typeface="Work Sans"/>
                <a:sym typeface="Work Sans"/>
              </a:rPr>
              <a:t>STEPS</a:t>
            </a:r>
            <a:endParaRPr b="1" i="0" cap="none">
              <a:solidFill>
                <a:srgbClr val="222222"/>
              </a:solidFill>
              <a:latin typeface="Work Sans"/>
              <a:ea typeface="Work Sans"/>
              <a:cs typeface="Work Sans"/>
              <a:sym typeface="Work Sans"/>
            </a:endParaRPr>
          </a:p>
          <a:p>
            <a:pPr marL="685800" lvl="1" indent="-228600" algn="just" rtl="0">
              <a:lnSpc>
                <a:spcPct val="90000"/>
              </a:lnSpc>
              <a:spcBef>
                <a:spcPts val="500"/>
              </a:spcBef>
              <a:spcAft>
                <a:spcPts val="0"/>
              </a:spcAft>
              <a:buClr>
                <a:srgbClr val="222222"/>
              </a:buClr>
              <a:buSzPts val="2400"/>
              <a:buChar char="•"/>
            </a:pPr>
            <a:r>
              <a:rPr lang="en-US" sz="2400" b="0" i="0">
                <a:solidFill>
                  <a:srgbClr val="222222"/>
                </a:solidFill>
                <a:latin typeface="Lato"/>
                <a:ea typeface="Lato"/>
                <a:cs typeface="Lato"/>
                <a:sym typeface="Lato"/>
              </a:rPr>
              <a:t>The most significant bit of gray code is equal to the first bit of the given binary bit.</a:t>
            </a:r>
            <a:endParaRPr/>
          </a:p>
          <a:p>
            <a:pPr marL="685800" lvl="1" indent="-228600" algn="just" rtl="0">
              <a:lnSpc>
                <a:spcPct val="90000"/>
              </a:lnSpc>
              <a:spcBef>
                <a:spcPts val="500"/>
              </a:spcBef>
              <a:spcAft>
                <a:spcPts val="0"/>
              </a:spcAft>
              <a:buClr>
                <a:srgbClr val="222222"/>
              </a:buClr>
              <a:buSzPts val="2400"/>
              <a:buChar char="•"/>
            </a:pPr>
            <a:r>
              <a:rPr lang="en-US" sz="2400" b="0" i="0">
                <a:solidFill>
                  <a:srgbClr val="222222"/>
                </a:solidFill>
                <a:latin typeface="Lato"/>
                <a:ea typeface="Lato"/>
                <a:cs typeface="Lato"/>
                <a:sym typeface="Lato"/>
              </a:rPr>
              <a:t>The second bit of gray code will be exclusive-or (XOR) of the first and second bit of the given binary bit. </a:t>
            </a:r>
            <a:endParaRPr/>
          </a:p>
          <a:p>
            <a:pPr marL="685800" lvl="1" indent="-228600" algn="just" rtl="0">
              <a:lnSpc>
                <a:spcPct val="90000"/>
              </a:lnSpc>
              <a:spcBef>
                <a:spcPts val="500"/>
              </a:spcBef>
              <a:spcAft>
                <a:spcPts val="0"/>
              </a:spcAft>
              <a:buClr>
                <a:srgbClr val="222222"/>
              </a:buClr>
              <a:buSzPts val="2400"/>
              <a:buChar char="•"/>
            </a:pPr>
            <a:r>
              <a:rPr lang="en-US" sz="2400" b="0" i="0">
                <a:solidFill>
                  <a:srgbClr val="222222"/>
                </a:solidFill>
                <a:latin typeface="Lato"/>
                <a:ea typeface="Lato"/>
                <a:cs typeface="Lato"/>
                <a:sym typeface="Lato"/>
              </a:rPr>
              <a:t>The third bit of gray code is equal to the exclusive-or (XOR) of the second and third binary bits. For father gray code result this process will be continuing.</a:t>
            </a:r>
            <a:endParaRPr/>
          </a:p>
          <a:p>
            <a:pPr marL="228600" lvl="0" indent="-50800" algn="l" rtl="0">
              <a:lnSpc>
                <a:spcPct val="90000"/>
              </a:lnSpc>
              <a:spcBef>
                <a:spcPts val="1000"/>
              </a:spcBef>
              <a:spcAft>
                <a:spcPts val="0"/>
              </a:spcAft>
              <a:buClr>
                <a:schemeClr val="dk1"/>
              </a:buClr>
              <a:buSzPts val="2800"/>
              <a:buNone/>
            </a:pPr>
            <a:endParaRPr/>
          </a:p>
        </p:txBody>
      </p:sp>
      <p:sp>
        <p:nvSpPr>
          <p:cNvPr id="592" name="Google Shape;592;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38B411-2C14-3958-D0FE-7F63A1F318FE}"/>
              </a:ext>
            </a:extLst>
          </p:cNvPr>
          <p:cNvSpPr>
            <a:spLocks noGrp="1"/>
          </p:cNvSpPr>
          <p:nvPr>
            <p:ph type="title"/>
          </p:nvPr>
        </p:nvSpPr>
        <p:spPr>
          <a:xfrm>
            <a:off x="838200" y="365125"/>
            <a:ext cx="10515600" cy="747237"/>
          </a:xfrm>
        </p:spPr>
        <p:txBody>
          <a:bodyPr>
            <a:normAutofit/>
          </a:bodyPr>
          <a:lstStyle/>
          <a:p>
            <a:r>
              <a:rPr lang="en-US" dirty="0"/>
              <a:t>Explanation</a:t>
            </a:r>
            <a:endParaRPr lang="en-IN" dirty="0"/>
          </a:p>
        </p:txBody>
      </p:sp>
      <p:pic>
        <p:nvPicPr>
          <p:cNvPr id="5" name="Picture 4">
            <a:extLst>
              <a:ext uri="{FF2B5EF4-FFF2-40B4-BE49-F238E27FC236}">
                <a16:creationId xmlns:a16="http://schemas.microsoft.com/office/drawing/2014/main" xmlns="" id="{2443450E-3A5C-9337-414E-372713976272}"/>
              </a:ext>
            </a:extLst>
          </p:cNvPr>
          <p:cNvPicPr>
            <a:picLocks noChangeAspect="1"/>
          </p:cNvPicPr>
          <p:nvPr/>
        </p:nvPicPr>
        <p:blipFill>
          <a:blip r:embed="rId2"/>
          <a:stretch>
            <a:fillRect/>
          </a:stretch>
        </p:blipFill>
        <p:spPr>
          <a:xfrm>
            <a:off x="1090952" y="1586425"/>
            <a:ext cx="8688012" cy="4639322"/>
          </a:xfrm>
          <a:prstGeom prst="rect">
            <a:avLst/>
          </a:prstGeom>
        </p:spPr>
      </p:pic>
      <p:graphicFrame>
        <p:nvGraphicFramePr>
          <p:cNvPr id="614" name="Google Shape;614;p60"/>
          <p:cNvGraphicFramePr/>
          <p:nvPr>
            <p:extLst>
              <p:ext uri="{D42A27DB-BD31-4B8C-83A1-F6EECF244321}">
                <p14:modId xmlns:p14="http://schemas.microsoft.com/office/powerpoint/2010/main" val="63896232"/>
              </p:ext>
            </p:extLst>
          </p:nvPr>
        </p:nvGraphicFramePr>
        <p:xfrm>
          <a:off x="8993921" y="2163789"/>
          <a:ext cx="2106900" cy="2831840"/>
        </p:xfrm>
        <a:graphic>
          <a:graphicData uri="http://schemas.openxmlformats.org/drawingml/2006/table">
            <a:tbl>
              <a:tblPr firstRow="1" bandRow="1">
                <a:noFill/>
                <a:tableStyleId>{C6F39B36-55F5-445C-BD81-517B801FB488}</a:tableStyleId>
              </a:tblPr>
              <a:tblGrid>
                <a:gridCol w="702300">
                  <a:extLst>
                    <a:ext uri="{9D8B030D-6E8A-4147-A177-3AD203B41FA5}">
                      <a16:colId xmlns:a16="http://schemas.microsoft.com/office/drawing/2014/main" xmlns="" val="20000"/>
                    </a:ext>
                  </a:extLst>
                </a:gridCol>
                <a:gridCol w="702300">
                  <a:extLst>
                    <a:ext uri="{9D8B030D-6E8A-4147-A177-3AD203B41FA5}">
                      <a16:colId xmlns:a16="http://schemas.microsoft.com/office/drawing/2014/main" xmlns="" val="20001"/>
                    </a:ext>
                  </a:extLst>
                </a:gridCol>
                <a:gridCol w="702300">
                  <a:extLst>
                    <a:ext uri="{9D8B030D-6E8A-4147-A177-3AD203B41FA5}">
                      <a16:colId xmlns:a16="http://schemas.microsoft.com/office/drawing/2014/main" xmlns="" val="20002"/>
                    </a:ext>
                  </a:extLst>
                </a:gridCol>
              </a:tblGrid>
              <a:tr h="438350">
                <a:tc gridSpan="3">
                  <a:txBody>
                    <a:bodyPr/>
                    <a:lstStyle/>
                    <a:p>
                      <a:pPr marL="0" marR="0" lvl="0" indent="0" algn="ctr" rtl="0">
                        <a:spcBef>
                          <a:spcPts val="0"/>
                        </a:spcBef>
                        <a:spcAft>
                          <a:spcPts val="0"/>
                        </a:spcAft>
                        <a:buNone/>
                      </a:pPr>
                      <a:r>
                        <a:rPr lang="en-US" sz="1800" u="none" strike="noStrike" cap="none"/>
                        <a:t>Truth Table of XOR </a:t>
                      </a:r>
                      <a:endParaRPr/>
                    </a:p>
                  </a:txBody>
                  <a:tcPr marL="91450" marR="91450" marT="45725" marB="45725"/>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438350">
                <a:tc>
                  <a:txBody>
                    <a:bodyPr/>
                    <a:lstStyle/>
                    <a:p>
                      <a:pPr marL="0" marR="0" lvl="0" indent="0" algn="ctr" rtl="0">
                        <a:spcBef>
                          <a:spcPts val="0"/>
                        </a:spcBef>
                        <a:spcAft>
                          <a:spcPts val="0"/>
                        </a:spcAft>
                        <a:buNone/>
                      </a:pPr>
                      <a:r>
                        <a:rPr lang="en-US" sz="1800" u="none" strike="noStrike" cap="none"/>
                        <a:t>A</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B</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C</a:t>
                      </a:r>
                      <a:endParaRPr/>
                    </a:p>
                  </a:txBody>
                  <a:tcPr marL="91450" marR="91450" marT="45725" marB="45725"/>
                </a:tc>
                <a:extLst>
                  <a:ext uri="{0D108BD9-81ED-4DB2-BD59-A6C34878D82A}">
                    <a16:rowId xmlns:a16="http://schemas.microsoft.com/office/drawing/2014/main" xmlns="" val="10001"/>
                  </a:ext>
                </a:extLst>
              </a:tr>
              <a:tr h="438350">
                <a:tc>
                  <a:txBody>
                    <a:bodyPr/>
                    <a:lstStyle/>
                    <a:p>
                      <a:pPr marL="0" marR="0" lvl="0" indent="0" algn="ctr" rtl="0">
                        <a:spcBef>
                          <a:spcPts val="0"/>
                        </a:spcBef>
                        <a:spcAft>
                          <a:spcPts val="0"/>
                        </a:spcAft>
                        <a:buNone/>
                      </a:pPr>
                      <a:r>
                        <a:rPr lang="en-US" sz="1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1800" u="none" strike="noStrike" cap="none" dirty="0"/>
                        <a:t>0</a:t>
                      </a:r>
                      <a:endParaRPr dirty="0"/>
                    </a:p>
                  </a:txBody>
                  <a:tcPr marL="91450" marR="91450" marT="45725" marB="45725"/>
                </a:tc>
                <a:tc>
                  <a:txBody>
                    <a:bodyPr/>
                    <a:lstStyle/>
                    <a:p>
                      <a:pPr marL="0" marR="0" lvl="0" indent="0" algn="ctr" rtl="0">
                        <a:spcBef>
                          <a:spcPts val="0"/>
                        </a:spcBef>
                        <a:spcAft>
                          <a:spcPts val="0"/>
                        </a:spcAft>
                        <a:buNone/>
                      </a:pPr>
                      <a:r>
                        <a:rPr lang="en-US" sz="1800" u="none" strike="noStrike" cap="none"/>
                        <a:t>0</a:t>
                      </a:r>
                      <a:endParaRPr/>
                    </a:p>
                  </a:txBody>
                  <a:tcPr marL="91450" marR="91450" marT="45725" marB="45725"/>
                </a:tc>
                <a:extLst>
                  <a:ext uri="{0D108BD9-81ED-4DB2-BD59-A6C34878D82A}">
                    <a16:rowId xmlns:a16="http://schemas.microsoft.com/office/drawing/2014/main" xmlns="" val="10002"/>
                  </a:ext>
                </a:extLst>
              </a:tr>
              <a:tr h="438350">
                <a:tc>
                  <a:txBody>
                    <a:bodyPr/>
                    <a:lstStyle/>
                    <a:p>
                      <a:pPr marL="0" marR="0" lvl="0" indent="0" algn="ctr" rtl="0">
                        <a:spcBef>
                          <a:spcPts val="0"/>
                        </a:spcBef>
                        <a:spcAft>
                          <a:spcPts val="0"/>
                        </a:spcAft>
                        <a:buNone/>
                      </a:pPr>
                      <a:r>
                        <a:rPr lang="en-US" sz="1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extLst>
                  <a:ext uri="{0D108BD9-81ED-4DB2-BD59-A6C34878D82A}">
                    <a16:rowId xmlns:a16="http://schemas.microsoft.com/office/drawing/2014/main" xmlns="" val="10003"/>
                  </a:ext>
                </a:extLst>
              </a:tr>
              <a:tr h="438350">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extLst>
                  <a:ext uri="{0D108BD9-81ED-4DB2-BD59-A6C34878D82A}">
                    <a16:rowId xmlns:a16="http://schemas.microsoft.com/office/drawing/2014/main" xmlns="" val="10004"/>
                  </a:ext>
                </a:extLst>
              </a:tr>
              <a:tr h="438350">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1800" u="none" strike="noStrike" cap="none" dirty="0"/>
                        <a:t>0</a:t>
                      </a:r>
                      <a:endParaRPr dirty="0"/>
                    </a:p>
                  </a:txBody>
                  <a:tcPr marL="91450" marR="91450" marT="45725" marB="45725"/>
                </a:tc>
                <a:extLst>
                  <a:ext uri="{0D108BD9-81ED-4DB2-BD59-A6C34878D82A}">
                    <a16:rowId xmlns:a16="http://schemas.microsoft.com/office/drawing/2014/main" xmlns="" val="10005"/>
                  </a:ext>
                </a:extLst>
              </a:tr>
            </a:tbl>
          </a:graphicData>
        </a:graphic>
      </p:graphicFrame>
      <p:sp>
        <p:nvSpPr>
          <p:cNvPr id="7" name="TextBox 6">
            <a:extLst>
              <a:ext uri="{FF2B5EF4-FFF2-40B4-BE49-F238E27FC236}">
                <a16:creationId xmlns:a16="http://schemas.microsoft.com/office/drawing/2014/main" xmlns="" id="{828E6F84-B6F1-B2BF-E0F3-9B27EC0CC431}"/>
              </a:ext>
            </a:extLst>
          </p:cNvPr>
          <p:cNvSpPr txBox="1"/>
          <p:nvPr/>
        </p:nvSpPr>
        <p:spPr>
          <a:xfrm>
            <a:off x="681086" y="1511921"/>
            <a:ext cx="7454245" cy="341632"/>
          </a:xfrm>
          <a:prstGeom prst="rect">
            <a:avLst/>
          </a:prstGeom>
          <a:noFill/>
        </p:spPr>
        <p:txBody>
          <a:bodyPr wrap="square">
            <a:spAutoFit/>
          </a:bodyPr>
          <a:lstStyle/>
          <a:p>
            <a:pPr marL="228600" lvl="0" indent="-228600" algn="l" rtl="0">
              <a:lnSpc>
                <a:spcPct val="90000"/>
              </a:lnSpc>
              <a:spcBef>
                <a:spcPts val="0"/>
              </a:spcBef>
              <a:spcAft>
                <a:spcPts val="0"/>
              </a:spcAft>
              <a:buClr>
                <a:schemeClr val="dk1"/>
              </a:buClr>
              <a:buSzPts val="2800"/>
              <a:buChar char="•"/>
            </a:pPr>
            <a:r>
              <a:rPr lang="en-US" sz="1800" dirty="0"/>
              <a:t>The given binary digit is 01001</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Tree>
    <p:extLst>
      <p:ext uri="{BB962C8B-B14F-4D97-AF65-F5344CB8AC3E}">
        <p14:creationId xmlns:p14="http://schemas.microsoft.com/office/powerpoint/2010/main" val="16143683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Example</a:t>
            </a:r>
            <a:endParaRPr dirty="0"/>
          </a:p>
        </p:txBody>
      </p:sp>
      <p:sp>
        <p:nvSpPr>
          <p:cNvPr id="621" name="Google Shape;621;p6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FF0000"/>
              </a:buClr>
              <a:buSzPts val="1800"/>
              <a:buChar char="•"/>
            </a:pPr>
            <a:r>
              <a:rPr lang="en-US" b="0" i="0" dirty="0">
                <a:solidFill>
                  <a:srgbClr val="FF0000"/>
                </a:solidFill>
                <a:latin typeface="Lato"/>
                <a:ea typeface="Lato"/>
                <a:cs typeface="Lato"/>
                <a:sym typeface="Lato"/>
              </a:rPr>
              <a:t>The gray code of the given binary code is (</a:t>
            </a:r>
            <a:r>
              <a:rPr lang="en-US" b="0" i="0" dirty="0" smtClean="0">
                <a:solidFill>
                  <a:srgbClr val="FF0000"/>
                </a:solidFill>
                <a:latin typeface="Lato"/>
                <a:ea typeface="Lato"/>
                <a:cs typeface="Lato"/>
                <a:sym typeface="Lato"/>
              </a:rPr>
              <a:t>010.01)</a:t>
            </a:r>
            <a:r>
              <a:rPr lang="en-US" sz="1600" b="0" i="0" dirty="0" smtClean="0">
                <a:solidFill>
                  <a:srgbClr val="FF0000"/>
                </a:solidFill>
                <a:latin typeface="Lato"/>
                <a:ea typeface="Lato"/>
                <a:cs typeface="Lato"/>
                <a:sym typeface="Lato"/>
              </a:rPr>
              <a:t>2 </a:t>
            </a:r>
            <a:r>
              <a:rPr lang="en-US" b="0" i="0" dirty="0">
                <a:solidFill>
                  <a:srgbClr val="FF0000"/>
                </a:solidFill>
                <a:latin typeface="Lato"/>
                <a:ea typeface="Lato"/>
                <a:cs typeface="Lato"/>
                <a:sym typeface="Lato"/>
              </a:rPr>
              <a:t>?? </a:t>
            </a:r>
            <a:endParaRPr sz="4000" dirty="0"/>
          </a:p>
          <a:p>
            <a:pPr marL="685800" lvl="1" indent="-228600" algn="just" rtl="0">
              <a:lnSpc>
                <a:spcPct val="90000"/>
              </a:lnSpc>
              <a:spcBef>
                <a:spcPts val="500"/>
              </a:spcBef>
              <a:spcAft>
                <a:spcPts val="0"/>
              </a:spcAft>
              <a:buClr>
                <a:srgbClr val="222222"/>
              </a:buClr>
              <a:buSzPts val="2000"/>
              <a:buChar char="•"/>
            </a:pPr>
            <a:r>
              <a:rPr lang="en-US" sz="2000" b="0" i="0" dirty="0">
                <a:solidFill>
                  <a:srgbClr val="222222"/>
                </a:solidFill>
                <a:latin typeface="Lato"/>
                <a:ea typeface="Lato"/>
                <a:cs typeface="Lato"/>
                <a:sym typeface="Lato"/>
              </a:rPr>
              <a:t>The first MSB bit of binary is same in the first bit of gray code. In this example the binary bit is “0”. So, gray bit also “0”.</a:t>
            </a:r>
            <a:endParaRPr dirty="0"/>
          </a:p>
          <a:p>
            <a:pPr marL="685800" lvl="1" indent="-228600" algn="just" rtl="0">
              <a:lnSpc>
                <a:spcPct val="90000"/>
              </a:lnSpc>
              <a:spcBef>
                <a:spcPts val="500"/>
              </a:spcBef>
              <a:spcAft>
                <a:spcPts val="0"/>
              </a:spcAft>
              <a:buClr>
                <a:srgbClr val="222222"/>
              </a:buClr>
              <a:buSzPts val="2000"/>
              <a:buChar char="•"/>
            </a:pPr>
            <a:r>
              <a:rPr lang="en-US" sz="2000" b="0" i="0" dirty="0">
                <a:solidFill>
                  <a:srgbClr val="222222"/>
                </a:solidFill>
                <a:latin typeface="Lato"/>
                <a:ea typeface="Lato"/>
                <a:cs typeface="Lato"/>
                <a:sym typeface="Lato"/>
              </a:rPr>
              <a:t>Next gray bit is equal to the XOR of the first and the second binary bit. The first bit is 0, and the second bit is 1. The bits are different so resultant gray bit will be “1” (second gray codes bit)</a:t>
            </a:r>
            <a:endParaRPr dirty="0"/>
          </a:p>
          <a:p>
            <a:pPr marL="685800" lvl="1" indent="-228600" algn="just" rtl="0">
              <a:lnSpc>
                <a:spcPct val="90000"/>
              </a:lnSpc>
              <a:spcBef>
                <a:spcPts val="500"/>
              </a:spcBef>
              <a:spcAft>
                <a:spcPts val="0"/>
              </a:spcAft>
              <a:buClr>
                <a:srgbClr val="222222"/>
              </a:buClr>
              <a:buSzPts val="2000"/>
              <a:buChar char="•"/>
            </a:pPr>
            <a:r>
              <a:rPr lang="en-US" sz="2000" b="0" i="0" dirty="0">
                <a:solidFill>
                  <a:srgbClr val="222222"/>
                </a:solidFill>
                <a:latin typeface="Lato"/>
                <a:ea typeface="Lato"/>
                <a:cs typeface="Lato"/>
                <a:sym typeface="Lato"/>
              </a:rPr>
              <a:t>The XOR of the second and third binary bit. The second bit is 1 and third is 0. These bits are again different so the resultant gray bit will be 1 (third gray codes bit)</a:t>
            </a:r>
            <a:endParaRPr dirty="0"/>
          </a:p>
          <a:p>
            <a:pPr marL="685800" lvl="1" indent="-228600" algn="just" rtl="0">
              <a:lnSpc>
                <a:spcPct val="90000"/>
              </a:lnSpc>
              <a:spcBef>
                <a:spcPts val="500"/>
              </a:spcBef>
              <a:spcAft>
                <a:spcPts val="0"/>
              </a:spcAft>
              <a:buClr>
                <a:srgbClr val="222222"/>
              </a:buClr>
              <a:buSzPts val="2000"/>
              <a:buChar char="•"/>
            </a:pPr>
            <a:r>
              <a:rPr lang="en-US" sz="2000" b="0" i="0" dirty="0">
                <a:solidFill>
                  <a:srgbClr val="222222"/>
                </a:solidFill>
                <a:latin typeface="Lato"/>
                <a:ea typeface="Lato"/>
                <a:cs typeface="Lato"/>
                <a:sym typeface="Lato"/>
              </a:rPr>
              <a:t>Next we perform the XOR operation on third and fourth binary bit. The third bit is 0, and the fourth bit is 0. The both bits are same than resultant gray codes will be 0 (fourth gray codes bit).</a:t>
            </a:r>
            <a:endParaRPr dirty="0"/>
          </a:p>
          <a:p>
            <a:pPr marL="685800" lvl="1" indent="-228600" algn="just" rtl="0">
              <a:lnSpc>
                <a:spcPct val="90000"/>
              </a:lnSpc>
              <a:spcBef>
                <a:spcPts val="500"/>
              </a:spcBef>
              <a:spcAft>
                <a:spcPts val="0"/>
              </a:spcAft>
              <a:buClr>
                <a:srgbClr val="222222"/>
              </a:buClr>
              <a:buSzPts val="2000"/>
              <a:buChar char="•"/>
            </a:pPr>
            <a:r>
              <a:rPr lang="en-US" sz="2000" b="0" i="0" dirty="0">
                <a:solidFill>
                  <a:srgbClr val="222222"/>
                </a:solidFill>
                <a:latin typeface="Lato"/>
                <a:ea typeface="Lato"/>
                <a:cs typeface="Lato"/>
                <a:sym typeface="Lato"/>
              </a:rPr>
              <a:t>Take the XOR of the fourth and fifth binary bit. The fourth bit is 0 and fifth bit is 1. These bits are different than resultant gray codes will be 1 (fifth gray code bit)</a:t>
            </a:r>
            <a:endParaRPr dirty="0"/>
          </a:p>
          <a:p>
            <a:pPr marL="685800" lvl="1" indent="-228600" algn="just" rtl="0">
              <a:lnSpc>
                <a:spcPct val="90000"/>
              </a:lnSpc>
              <a:spcBef>
                <a:spcPts val="500"/>
              </a:spcBef>
              <a:spcAft>
                <a:spcPts val="0"/>
              </a:spcAft>
              <a:buClr>
                <a:srgbClr val="222222"/>
              </a:buClr>
              <a:buSzPts val="2000"/>
              <a:buChar char="•"/>
            </a:pPr>
            <a:r>
              <a:rPr lang="en-US" sz="2000" b="0" i="0" dirty="0">
                <a:solidFill>
                  <a:srgbClr val="222222"/>
                </a:solidFill>
                <a:latin typeface="Lato"/>
                <a:ea typeface="Lato"/>
                <a:cs typeface="Lato"/>
                <a:sym typeface="Lato"/>
              </a:rPr>
              <a:t>The result of binary to gray codes conversion is 01101.</a:t>
            </a:r>
            <a:endParaRPr dirty="0"/>
          </a:p>
          <a:p>
            <a:pPr marL="228600" lvl="0" indent="-114300" algn="l" rtl="0">
              <a:lnSpc>
                <a:spcPct val="90000"/>
              </a:lnSpc>
              <a:spcBef>
                <a:spcPts val="1000"/>
              </a:spcBef>
              <a:spcAft>
                <a:spcPts val="0"/>
              </a:spcAft>
              <a:buClr>
                <a:schemeClr val="dk1"/>
              </a:buClr>
              <a:buSzPts val="1800"/>
              <a:buNone/>
            </a:pPr>
            <a:endParaRPr sz="1800" dirty="0"/>
          </a:p>
        </p:txBody>
      </p:sp>
      <p:sp>
        <p:nvSpPr>
          <p:cNvPr id="623" name="Google Shape;623;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63"/>
          <p:cNvSpPr txBox="1">
            <a:spLocks noGrp="1"/>
          </p:cNvSpPr>
          <p:nvPr>
            <p:ph type="body" idx="1"/>
          </p:nvPr>
        </p:nvSpPr>
        <p:spPr>
          <a:xfrm>
            <a:off x="664633" y="942680"/>
            <a:ext cx="10972800" cy="530254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22222"/>
              </a:buClr>
              <a:buSzPts val="2800"/>
              <a:buChar char="•"/>
            </a:pPr>
            <a:r>
              <a:rPr lang="en-US" b="0" i="0" dirty="0">
                <a:solidFill>
                  <a:srgbClr val="222222"/>
                </a:solidFill>
                <a:latin typeface="Lato"/>
                <a:ea typeface="Lato"/>
                <a:cs typeface="Lato"/>
                <a:sym typeface="Lato"/>
              </a:rPr>
              <a:t>You can convert n bit (</a:t>
            </a:r>
            <a:r>
              <a:rPr lang="en-US" b="0" i="0" dirty="0" err="1">
                <a:solidFill>
                  <a:srgbClr val="222222"/>
                </a:solidFill>
                <a:latin typeface="Lato"/>
                <a:ea typeface="Lato"/>
                <a:cs typeface="Lato"/>
                <a:sym typeface="Lato"/>
              </a:rPr>
              <a:t>b</a:t>
            </a:r>
            <a:r>
              <a:rPr lang="en-US" b="0" i="0" baseline="-25000" dirty="0" err="1">
                <a:solidFill>
                  <a:srgbClr val="222222"/>
                </a:solidFill>
                <a:latin typeface="Lato"/>
                <a:ea typeface="Lato"/>
                <a:cs typeface="Lato"/>
                <a:sym typeface="Lato"/>
              </a:rPr>
              <a:t>n</a:t>
            </a:r>
            <a:r>
              <a:rPr lang="en-US" b="0" i="0" dirty="0" err="1">
                <a:solidFill>
                  <a:srgbClr val="222222"/>
                </a:solidFill>
                <a:latin typeface="Lato"/>
                <a:ea typeface="Lato"/>
                <a:cs typeface="Lato"/>
                <a:sym typeface="Lato"/>
              </a:rPr>
              <a:t>b</a:t>
            </a:r>
            <a:r>
              <a:rPr lang="en-US" b="0" i="0" baseline="-25000" dirty="0">
                <a:solidFill>
                  <a:srgbClr val="222222"/>
                </a:solidFill>
                <a:latin typeface="Lato"/>
                <a:ea typeface="Lato"/>
                <a:cs typeface="Lato"/>
                <a:sym typeface="Lato"/>
              </a:rPr>
              <a:t>(n-1)</a:t>
            </a:r>
            <a:r>
              <a:rPr lang="en-US" b="0" i="0" dirty="0">
                <a:solidFill>
                  <a:srgbClr val="222222"/>
                </a:solidFill>
                <a:latin typeface="Lato"/>
                <a:ea typeface="Lato"/>
                <a:cs typeface="Lato"/>
                <a:sym typeface="Lato"/>
              </a:rPr>
              <a:t>…b</a:t>
            </a:r>
            <a:r>
              <a:rPr lang="en-US" b="0" i="0" baseline="-25000" dirty="0">
                <a:solidFill>
                  <a:srgbClr val="222222"/>
                </a:solidFill>
                <a:latin typeface="Lato"/>
                <a:ea typeface="Lato"/>
                <a:cs typeface="Lato"/>
                <a:sym typeface="Lato"/>
              </a:rPr>
              <a:t>2</a:t>
            </a:r>
            <a:r>
              <a:rPr lang="en-US" b="0" i="0" dirty="0">
                <a:solidFill>
                  <a:srgbClr val="222222"/>
                </a:solidFill>
                <a:latin typeface="Lato"/>
                <a:ea typeface="Lato"/>
                <a:cs typeface="Lato"/>
                <a:sym typeface="Lato"/>
              </a:rPr>
              <a:t>b</a:t>
            </a:r>
            <a:r>
              <a:rPr lang="en-US" b="0" i="0" baseline="-25000" dirty="0">
                <a:solidFill>
                  <a:srgbClr val="222222"/>
                </a:solidFill>
                <a:latin typeface="Lato"/>
                <a:ea typeface="Lato"/>
                <a:cs typeface="Lato"/>
                <a:sym typeface="Lato"/>
              </a:rPr>
              <a:t>1</a:t>
            </a:r>
            <a:r>
              <a:rPr lang="en-US" b="0" i="0" dirty="0">
                <a:solidFill>
                  <a:srgbClr val="222222"/>
                </a:solidFill>
                <a:latin typeface="Lato"/>
                <a:ea typeface="Lato"/>
                <a:cs typeface="Lato"/>
                <a:sym typeface="Lato"/>
              </a:rPr>
              <a:t>b</a:t>
            </a:r>
            <a:r>
              <a:rPr lang="en-US" b="0" i="0" baseline="-25000" dirty="0">
                <a:solidFill>
                  <a:srgbClr val="222222"/>
                </a:solidFill>
                <a:latin typeface="Lato"/>
                <a:ea typeface="Lato"/>
                <a:cs typeface="Lato"/>
                <a:sym typeface="Lato"/>
              </a:rPr>
              <a:t>0</a:t>
            </a:r>
            <a:r>
              <a:rPr lang="en-US" b="0" i="0" dirty="0">
                <a:solidFill>
                  <a:srgbClr val="222222"/>
                </a:solidFill>
                <a:latin typeface="Lato"/>
                <a:ea typeface="Lato"/>
                <a:cs typeface="Lato"/>
                <a:sym typeface="Lato"/>
              </a:rPr>
              <a:t>) binary number to gray code (</a:t>
            </a:r>
            <a:r>
              <a:rPr lang="en-US" b="0" i="0" dirty="0" err="1">
                <a:solidFill>
                  <a:srgbClr val="222222"/>
                </a:solidFill>
                <a:latin typeface="Lato"/>
                <a:ea typeface="Lato"/>
                <a:cs typeface="Lato"/>
                <a:sym typeface="Lato"/>
              </a:rPr>
              <a:t>g</a:t>
            </a:r>
            <a:r>
              <a:rPr lang="en-US" b="0" i="0" baseline="-25000" dirty="0" err="1">
                <a:solidFill>
                  <a:srgbClr val="222222"/>
                </a:solidFill>
                <a:latin typeface="Lato"/>
                <a:ea typeface="Lato"/>
                <a:cs typeface="Lato"/>
                <a:sym typeface="Lato"/>
              </a:rPr>
              <a:t>n</a:t>
            </a:r>
            <a:r>
              <a:rPr lang="en-US" b="0" i="0" dirty="0" err="1">
                <a:solidFill>
                  <a:srgbClr val="222222"/>
                </a:solidFill>
                <a:latin typeface="Lato"/>
                <a:ea typeface="Lato"/>
                <a:cs typeface="Lato"/>
                <a:sym typeface="Lato"/>
              </a:rPr>
              <a:t>g</a:t>
            </a:r>
            <a:r>
              <a:rPr lang="en-US" b="0" i="0" baseline="-25000" dirty="0">
                <a:solidFill>
                  <a:srgbClr val="222222"/>
                </a:solidFill>
                <a:latin typeface="Lato"/>
                <a:ea typeface="Lato"/>
                <a:cs typeface="Lato"/>
                <a:sym typeface="Lato"/>
              </a:rPr>
              <a:t>(n-1)</a:t>
            </a:r>
            <a:r>
              <a:rPr lang="en-US" b="0" i="0" dirty="0">
                <a:solidFill>
                  <a:srgbClr val="222222"/>
                </a:solidFill>
                <a:latin typeface="Lato"/>
                <a:ea typeface="Lato"/>
                <a:cs typeface="Lato"/>
                <a:sym typeface="Lato"/>
              </a:rPr>
              <a:t>…g</a:t>
            </a:r>
            <a:r>
              <a:rPr lang="en-US" b="0" i="0" baseline="-25000" dirty="0">
                <a:solidFill>
                  <a:srgbClr val="222222"/>
                </a:solidFill>
                <a:latin typeface="Lato"/>
                <a:ea typeface="Lato"/>
                <a:cs typeface="Lato"/>
                <a:sym typeface="Lato"/>
              </a:rPr>
              <a:t>2</a:t>
            </a:r>
            <a:r>
              <a:rPr lang="en-US" b="0" i="0" dirty="0">
                <a:solidFill>
                  <a:srgbClr val="222222"/>
                </a:solidFill>
                <a:latin typeface="Lato"/>
                <a:ea typeface="Lato"/>
                <a:cs typeface="Lato"/>
                <a:sym typeface="Lato"/>
              </a:rPr>
              <a:t>g</a:t>
            </a:r>
            <a:r>
              <a:rPr lang="en-US" b="0" i="0" baseline="-25000" dirty="0">
                <a:solidFill>
                  <a:srgbClr val="222222"/>
                </a:solidFill>
                <a:latin typeface="Lato"/>
                <a:ea typeface="Lato"/>
                <a:cs typeface="Lato"/>
                <a:sym typeface="Lato"/>
              </a:rPr>
              <a:t>1</a:t>
            </a:r>
            <a:r>
              <a:rPr lang="en-US" b="0" i="0" dirty="0">
                <a:solidFill>
                  <a:srgbClr val="222222"/>
                </a:solidFill>
                <a:latin typeface="Lato"/>
                <a:ea typeface="Lato"/>
                <a:cs typeface="Lato"/>
                <a:sym typeface="Lato"/>
              </a:rPr>
              <a:t>g</a:t>
            </a:r>
            <a:r>
              <a:rPr lang="en-US" b="0" i="0" baseline="-25000" dirty="0">
                <a:solidFill>
                  <a:srgbClr val="222222"/>
                </a:solidFill>
                <a:latin typeface="Lato"/>
                <a:ea typeface="Lato"/>
                <a:cs typeface="Lato"/>
                <a:sym typeface="Lato"/>
              </a:rPr>
              <a:t>0</a:t>
            </a:r>
            <a:r>
              <a:rPr lang="en-US" b="0" i="0" dirty="0">
                <a:solidFill>
                  <a:srgbClr val="222222"/>
                </a:solidFill>
                <a:latin typeface="Lato"/>
                <a:ea typeface="Lato"/>
                <a:cs typeface="Lato"/>
                <a:sym typeface="Lato"/>
              </a:rPr>
              <a:t>). For most significant bit b</a:t>
            </a:r>
            <a:r>
              <a:rPr lang="en-US" b="0" i="0" baseline="-25000" dirty="0">
                <a:solidFill>
                  <a:srgbClr val="222222"/>
                </a:solidFill>
                <a:latin typeface="Lato"/>
                <a:ea typeface="Lato"/>
                <a:cs typeface="Lato"/>
                <a:sym typeface="Lato"/>
              </a:rPr>
              <a:t>n</a:t>
            </a:r>
            <a:r>
              <a:rPr lang="en-US" b="0" i="0" dirty="0">
                <a:solidFill>
                  <a:srgbClr val="222222"/>
                </a:solidFill>
                <a:latin typeface="Lato"/>
                <a:ea typeface="Lato"/>
                <a:cs typeface="Lato"/>
                <a:sym typeface="Lato"/>
              </a:rPr>
              <a:t>=</a:t>
            </a:r>
            <a:r>
              <a:rPr lang="en-US" b="0" i="0" dirty="0" err="1">
                <a:solidFill>
                  <a:srgbClr val="222222"/>
                </a:solidFill>
                <a:latin typeface="Lato"/>
                <a:ea typeface="Lato"/>
                <a:cs typeface="Lato"/>
                <a:sym typeface="Lato"/>
              </a:rPr>
              <a:t>g</a:t>
            </a:r>
            <a:r>
              <a:rPr lang="en-US" b="0" i="0" baseline="-25000" dirty="0" err="1">
                <a:solidFill>
                  <a:srgbClr val="222222"/>
                </a:solidFill>
                <a:latin typeface="Lato"/>
                <a:ea typeface="Lato"/>
                <a:cs typeface="Lato"/>
                <a:sym typeface="Lato"/>
              </a:rPr>
              <a:t>n</a:t>
            </a:r>
            <a:r>
              <a:rPr lang="en-US" b="0" i="0" dirty="0">
                <a:solidFill>
                  <a:srgbClr val="222222"/>
                </a:solidFill>
                <a:latin typeface="Lato"/>
                <a:ea typeface="Lato"/>
                <a:cs typeface="Lato"/>
                <a:sym typeface="Lato"/>
              </a:rPr>
              <a:t>, and rest of the bit by XORing b</a:t>
            </a:r>
            <a:r>
              <a:rPr lang="en-US" b="0" i="0" baseline="-25000" dirty="0">
                <a:solidFill>
                  <a:srgbClr val="222222"/>
                </a:solidFill>
                <a:latin typeface="Lato"/>
                <a:ea typeface="Lato"/>
                <a:cs typeface="Lato"/>
                <a:sym typeface="Lato"/>
              </a:rPr>
              <a:t>(n-1)</a:t>
            </a:r>
            <a:r>
              <a:rPr lang="en-US" b="0" i="0" dirty="0">
                <a:solidFill>
                  <a:srgbClr val="222222"/>
                </a:solidFill>
                <a:latin typeface="Lato"/>
                <a:ea typeface="Lato"/>
                <a:cs typeface="Lato"/>
                <a:sym typeface="Lato"/>
              </a:rPr>
              <a:t>=g</a:t>
            </a:r>
            <a:r>
              <a:rPr lang="en-US" b="0" i="0" baseline="-25000" dirty="0">
                <a:solidFill>
                  <a:srgbClr val="222222"/>
                </a:solidFill>
                <a:latin typeface="Lato"/>
                <a:ea typeface="Lato"/>
                <a:cs typeface="Lato"/>
                <a:sym typeface="Lato"/>
              </a:rPr>
              <a:t>(n-1)</a:t>
            </a:r>
            <a:r>
              <a:rPr lang="en-US" b="0" i="0" dirty="0">
                <a:solidFill>
                  <a:srgbClr val="222222"/>
                </a:solidFill>
                <a:latin typeface="Lato"/>
                <a:ea typeface="Lato"/>
                <a:cs typeface="Lato"/>
                <a:sym typeface="Lato"/>
              </a:rPr>
              <a:t>⊕</a:t>
            </a:r>
            <a:r>
              <a:rPr lang="en-US" b="0" i="0" dirty="0" err="1">
                <a:solidFill>
                  <a:srgbClr val="222222"/>
                </a:solidFill>
                <a:latin typeface="Lato"/>
                <a:ea typeface="Lato"/>
                <a:cs typeface="Lato"/>
                <a:sym typeface="Lato"/>
              </a:rPr>
              <a:t>g</a:t>
            </a:r>
            <a:r>
              <a:rPr lang="en-US" b="0" i="0" baseline="-25000" dirty="0" err="1">
                <a:solidFill>
                  <a:srgbClr val="222222"/>
                </a:solidFill>
                <a:latin typeface="Lato"/>
                <a:ea typeface="Lato"/>
                <a:cs typeface="Lato"/>
                <a:sym typeface="Lato"/>
              </a:rPr>
              <a:t>n</a:t>
            </a:r>
            <a:r>
              <a:rPr lang="en-US" b="0" i="0" dirty="0">
                <a:solidFill>
                  <a:srgbClr val="222222"/>
                </a:solidFill>
                <a:latin typeface="Lato"/>
                <a:ea typeface="Lato"/>
                <a:cs typeface="Lato"/>
                <a:sym typeface="Lato"/>
              </a:rPr>
              <a:t>, …. </a:t>
            </a:r>
            <a:endParaRPr dirty="0"/>
          </a:p>
        </p:txBody>
      </p:sp>
      <p:sp>
        <p:nvSpPr>
          <p:cNvPr id="640" name="Google Shape;640;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pic>
        <p:nvPicPr>
          <p:cNvPr id="641" name="Google Shape;641;p63" descr="binary-to-gray-code-converter-circuit"/>
          <p:cNvPicPr preferRelativeResize="0"/>
          <p:nvPr/>
        </p:nvPicPr>
        <p:blipFill rotWithShape="1">
          <a:blip r:embed="rId3">
            <a:alphaModFix/>
          </a:blip>
          <a:srcRect/>
          <a:stretch/>
        </p:blipFill>
        <p:spPr>
          <a:xfrm>
            <a:off x="2630592" y="2432963"/>
            <a:ext cx="5146521" cy="382253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6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marR="0" lvl="0" indent="0" algn="l" rtl="0">
              <a:lnSpc>
                <a:spcPct val="100000"/>
              </a:lnSpc>
              <a:spcBef>
                <a:spcPts val="0"/>
              </a:spcBef>
              <a:spcAft>
                <a:spcPts val="0"/>
              </a:spcAft>
              <a:buClr>
                <a:srgbClr val="222222"/>
              </a:buClr>
              <a:buSzPct val="100000"/>
              <a:buFont typeface="Work Sans"/>
              <a:buNone/>
            </a:pPr>
            <a:r>
              <a:rPr lang="en-US" sz="3200" b="1" i="0" u="none" strike="noStrike" cap="none">
                <a:solidFill>
                  <a:srgbClr val="222222"/>
                </a:solidFill>
                <a:latin typeface="Work Sans"/>
                <a:ea typeface="Work Sans"/>
                <a:cs typeface="Work Sans"/>
                <a:sym typeface="Work Sans"/>
              </a:rPr>
              <a:t>GRAY CODE TABLE</a:t>
            </a:r>
            <a:r>
              <a:rPr lang="en-US" sz="3200" b="1" i="0" u="none" strike="noStrike" cap="none">
                <a:solidFill>
                  <a:srgbClr val="222222"/>
                </a:solidFill>
                <a:latin typeface="Calibri"/>
                <a:ea typeface="Calibri"/>
                <a:cs typeface="Calibri"/>
                <a:sym typeface="Calibri"/>
              </a:rPr>
              <a:t> </a:t>
            </a:r>
            <a:r>
              <a:rPr lang="en-US" sz="1400" b="0" i="0" u="none" strike="noStrike" cap="none">
                <a:solidFill>
                  <a:schemeClr val="dk1"/>
                </a:solidFill>
              </a:rPr>
              <a:t/>
            </a:r>
            <a:br>
              <a:rPr lang="en-US" sz="1400" b="0" i="0" u="none" strike="noStrike" cap="none">
                <a:solidFill>
                  <a:schemeClr val="dk1"/>
                </a:solidFill>
              </a:rPr>
            </a:br>
            <a:r>
              <a:rPr lang="en-US" sz="2800" b="0" i="0" u="none" strike="noStrike" cap="none">
                <a:solidFill>
                  <a:srgbClr val="222222"/>
                </a:solidFill>
                <a:latin typeface="Lato"/>
                <a:ea typeface="Lato"/>
                <a:cs typeface="Lato"/>
                <a:sym typeface="Lato"/>
              </a:rPr>
              <a:t>The conversion in between decimal to gray and</a:t>
            </a:r>
            <a:r>
              <a:rPr lang="en-US" sz="2800" b="0" i="0" u="none" strike="noStrike" cap="none">
                <a:solidFill>
                  <a:srgbClr val="222222"/>
                </a:solidFill>
                <a:latin typeface="Calibri"/>
                <a:ea typeface="Calibri"/>
                <a:cs typeface="Calibri"/>
                <a:sym typeface="Calibri"/>
              </a:rPr>
              <a:t> </a:t>
            </a:r>
            <a:r>
              <a:rPr lang="en-US" sz="2800" b="1" i="0" u="sng" strike="noStrike" cap="none">
                <a:solidFill>
                  <a:srgbClr val="EB0254"/>
                </a:solidFill>
                <a:latin typeface="Lato"/>
                <a:ea typeface="Lato"/>
                <a:cs typeface="Lato"/>
                <a:sym typeface="Lato"/>
                <a:hlinkClick r:id="rId3">
                  <a:extLst>
                    <a:ext uri="{A12FA001-AC4F-418D-AE19-62706E023703}">
                      <ahyp:hlinkClr xmlns:ahyp="http://schemas.microsoft.com/office/drawing/2018/hyperlinkcolor" xmlns="" val="tx"/>
                    </a:ext>
                  </a:extLst>
                </a:hlinkClick>
              </a:rPr>
              <a:t>binary</a:t>
            </a:r>
            <a:r>
              <a:rPr lang="en-US" sz="2800" b="0" i="0" u="none" strike="noStrike" cap="none">
                <a:solidFill>
                  <a:srgbClr val="222222"/>
                </a:solidFill>
                <a:latin typeface="Calibri"/>
                <a:ea typeface="Calibri"/>
                <a:cs typeface="Calibri"/>
                <a:sym typeface="Calibri"/>
              </a:rPr>
              <a:t> </a:t>
            </a:r>
            <a:r>
              <a:rPr lang="en-US" sz="2800" b="0" i="0" u="none" strike="noStrike" cap="none">
                <a:solidFill>
                  <a:srgbClr val="222222"/>
                </a:solidFill>
                <a:latin typeface="Lato"/>
                <a:ea typeface="Lato"/>
                <a:cs typeface="Lato"/>
                <a:sym typeface="Lato"/>
              </a:rPr>
              <a:t>to gray code is given below</a:t>
            </a:r>
            <a:endParaRPr sz="2800"/>
          </a:p>
        </p:txBody>
      </p:sp>
      <p:graphicFrame>
        <p:nvGraphicFramePr>
          <p:cNvPr id="629" name="Google Shape;629;p62"/>
          <p:cNvGraphicFramePr/>
          <p:nvPr/>
        </p:nvGraphicFramePr>
        <p:xfrm>
          <a:off x="1062990" y="1715929"/>
          <a:ext cx="4789150" cy="4234275"/>
        </p:xfrm>
        <a:graphic>
          <a:graphicData uri="http://schemas.openxmlformats.org/drawingml/2006/table">
            <a:tbl>
              <a:tblPr firstRow="1" firstCol="1" bandRow="1">
                <a:noFill/>
                <a:tableStyleId>{65BCB809-4C7D-4E31-BA33-E4B15E20FA82}</a:tableStyleId>
              </a:tblPr>
              <a:tblGrid>
                <a:gridCol w="1055950">
                  <a:extLst>
                    <a:ext uri="{9D8B030D-6E8A-4147-A177-3AD203B41FA5}">
                      <a16:colId xmlns:a16="http://schemas.microsoft.com/office/drawing/2014/main" xmlns="" val="20000"/>
                    </a:ext>
                  </a:extLst>
                </a:gridCol>
                <a:gridCol w="1677675">
                  <a:extLst>
                    <a:ext uri="{9D8B030D-6E8A-4147-A177-3AD203B41FA5}">
                      <a16:colId xmlns:a16="http://schemas.microsoft.com/office/drawing/2014/main" xmlns="" val="20001"/>
                    </a:ext>
                  </a:extLst>
                </a:gridCol>
                <a:gridCol w="2055525">
                  <a:extLst>
                    <a:ext uri="{9D8B030D-6E8A-4147-A177-3AD203B41FA5}">
                      <a16:colId xmlns:a16="http://schemas.microsoft.com/office/drawing/2014/main" xmlns="" val="20002"/>
                    </a:ext>
                  </a:extLst>
                </a:gridCol>
              </a:tblGrid>
              <a:tr h="355375">
                <a:tc>
                  <a:txBody>
                    <a:bodyPr/>
                    <a:lstStyle/>
                    <a:p>
                      <a:pPr marL="0" marR="0" lvl="0" indent="0" algn="ctr" rtl="0">
                        <a:lnSpc>
                          <a:spcPct val="107000"/>
                        </a:lnSpc>
                        <a:spcBef>
                          <a:spcPts val="0"/>
                        </a:spcBef>
                        <a:spcAft>
                          <a:spcPts val="0"/>
                        </a:spcAft>
                        <a:buNone/>
                      </a:pPr>
                      <a:r>
                        <a:rPr lang="en-US" sz="1100" u="none" strike="noStrike" cap="none"/>
                        <a:t>Decimal Number</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Binary Number</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Gray Code</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xmlns="" val="10000"/>
                  </a:ext>
                </a:extLst>
              </a:tr>
              <a:tr h="254200">
                <a:tc>
                  <a:txBody>
                    <a:bodyPr/>
                    <a:lstStyle/>
                    <a:p>
                      <a:pPr marL="0" marR="0" lvl="0" indent="0" algn="ctr" rtl="0">
                        <a:lnSpc>
                          <a:spcPct val="107000"/>
                        </a:lnSpc>
                        <a:spcBef>
                          <a:spcPts val="0"/>
                        </a:spcBef>
                        <a:spcAft>
                          <a:spcPts val="0"/>
                        </a:spcAft>
                        <a:buNone/>
                      </a:pPr>
                      <a:r>
                        <a:rPr lang="en-US" sz="1100" u="none" strike="noStrike" cap="none"/>
                        <a:t>0</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0000</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0000</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xmlns="" val="10001"/>
                  </a:ext>
                </a:extLst>
              </a:tr>
              <a:tr h="232900">
                <a:tc>
                  <a:txBody>
                    <a:bodyPr/>
                    <a:lstStyle/>
                    <a:p>
                      <a:pPr marL="0" marR="0" lvl="0" indent="0" algn="ctr" rtl="0">
                        <a:lnSpc>
                          <a:spcPct val="107000"/>
                        </a:lnSpc>
                        <a:spcBef>
                          <a:spcPts val="0"/>
                        </a:spcBef>
                        <a:spcAft>
                          <a:spcPts val="0"/>
                        </a:spcAft>
                        <a:buNone/>
                      </a:pPr>
                      <a:r>
                        <a:rPr lang="en-US" sz="1100" u="none" strike="noStrike" cap="none"/>
                        <a:t>1</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0001</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0001</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xmlns="" val="10002"/>
                  </a:ext>
                </a:extLst>
              </a:tr>
              <a:tr h="254200">
                <a:tc>
                  <a:txBody>
                    <a:bodyPr/>
                    <a:lstStyle/>
                    <a:p>
                      <a:pPr marL="0" marR="0" lvl="0" indent="0" algn="ctr" rtl="0">
                        <a:lnSpc>
                          <a:spcPct val="107000"/>
                        </a:lnSpc>
                        <a:spcBef>
                          <a:spcPts val="0"/>
                        </a:spcBef>
                        <a:spcAft>
                          <a:spcPts val="0"/>
                        </a:spcAft>
                        <a:buNone/>
                      </a:pPr>
                      <a:r>
                        <a:rPr lang="en-US" sz="1100" u="none" strike="noStrike" cap="none"/>
                        <a:t>2</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0010</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0011</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xmlns="" val="10003"/>
                  </a:ext>
                </a:extLst>
              </a:tr>
              <a:tr h="232900">
                <a:tc>
                  <a:txBody>
                    <a:bodyPr/>
                    <a:lstStyle/>
                    <a:p>
                      <a:pPr marL="0" marR="0" lvl="0" indent="0" algn="ctr" rtl="0">
                        <a:lnSpc>
                          <a:spcPct val="107000"/>
                        </a:lnSpc>
                        <a:spcBef>
                          <a:spcPts val="0"/>
                        </a:spcBef>
                        <a:spcAft>
                          <a:spcPts val="0"/>
                        </a:spcAft>
                        <a:buNone/>
                      </a:pPr>
                      <a:r>
                        <a:rPr lang="en-US" sz="1100" u="none" strike="noStrike" cap="none"/>
                        <a:t>3</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0011</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0010</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xmlns="" val="10004"/>
                  </a:ext>
                </a:extLst>
              </a:tr>
              <a:tr h="232900">
                <a:tc>
                  <a:txBody>
                    <a:bodyPr/>
                    <a:lstStyle/>
                    <a:p>
                      <a:pPr marL="0" marR="0" lvl="0" indent="0" algn="ctr" rtl="0">
                        <a:lnSpc>
                          <a:spcPct val="107000"/>
                        </a:lnSpc>
                        <a:spcBef>
                          <a:spcPts val="0"/>
                        </a:spcBef>
                        <a:spcAft>
                          <a:spcPts val="0"/>
                        </a:spcAft>
                        <a:buNone/>
                      </a:pPr>
                      <a:r>
                        <a:rPr lang="en-US" sz="1100" u="none" strike="noStrike" cap="none"/>
                        <a:t>4</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0100</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0110</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xmlns="" val="10005"/>
                  </a:ext>
                </a:extLst>
              </a:tr>
              <a:tr h="254200">
                <a:tc>
                  <a:txBody>
                    <a:bodyPr/>
                    <a:lstStyle/>
                    <a:p>
                      <a:pPr marL="0" marR="0" lvl="0" indent="0" algn="ctr" rtl="0">
                        <a:lnSpc>
                          <a:spcPct val="107000"/>
                        </a:lnSpc>
                        <a:spcBef>
                          <a:spcPts val="0"/>
                        </a:spcBef>
                        <a:spcAft>
                          <a:spcPts val="0"/>
                        </a:spcAft>
                        <a:buNone/>
                      </a:pPr>
                      <a:r>
                        <a:rPr lang="en-US" sz="1100" u="none" strike="noStrike" cap="none"/>
                        <a:t>5</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0101</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0111</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xmlns="" val="10006"/>
                  </a:ext>
                </a:extLst>
              </a:tr>
              <a:tr h="232900">
                <a:tc>
                  <a:txBody>
                    <a:bodyPr/>
                    <a:lstStyle/>
                    <a:p>
                      <a:pPr marL="0" marR="0" lvl="0" indent="0" algn="ctr" rtl="0">
                        <a:lnSpc>
                          <a:spcPct val="107000"/>
                        </a:lnSpc>
                        <a:spcBef>
                          <a:spcPts val="0"/>
                        </a:spcBef>
                        <a:spcAft>
                          <a:spcPts val="0"/>
                        </a:spcAft>
                        <a:buNone/>
                      </a:pPr>
                      <a:r>
                        <a:rPr lang="en-US" sz="1100" u="none" strike="noStrike" cap="none"/>
                        <a:t>6</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0110</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0101</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xmlns="" val="10007"/>
                  </a:ext>
                </a:extLst>
              </a:tr>
              <a:tr h="254200">
                <a:tc>
                  <a:txBody>
                    <a:bodyPr/>
                    <a:lstStyle/>
                    <a:p>
                      <a:pPr marL="0" marR="0" lvl="0" indent="0" algn="ctr" rtl="0">
                        <a:lnSpc>
                          <a:spcPct val="107000"/>
                        </a:lnSpc>
                        <a:spcBef>
                          <a:spcPts val="0"/>
                        </a:spcBef>
                        <a:spcAft>
                          <a:spcPts val="0"/>
                        </a:spcAft>
                        <a:buNone/>
                      </a:pPr>
                      <a:r>
                        <a:rPr lang="en-US" sz="1100" u="none" strike="noStrike" cap="none"/>
                        <a:t>7</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0111</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0100</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xmlns="" val="10008"/>
                  </a:ext>
                </a:extLst>
              </a:tr>
              <a:tr h="232900">
                <a:tc>
                  <a:txBody>
                    <a:bodyPr/>
                    <a:lstStyle/>
                    <a:p>
                      <a:pPr marL="0" marR="0" lvl="0" indent="0" algn="ctr" rtl="0">
                        <a:lnSpc>
                          <a:spcPct val="107000"/>
                        </a:lnSpc>
                        <a:spcBef>
                          <a:spcPts val="0"/>
                        </a:spcBef>
                        <a:spcAft>
                          <a:spcPts val="0"/>
                        </a:spcAft>
                        <a:buNone/>
                      </a:pPr>
                      <a:r>
                        <a:rPr lang="en-US" sz="1100" u="none" strike="noStrike" cap="none"/>
                        <a:t>8</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1000</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1100</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xmlns="" val="10009"/>
                  </a:ext>
                </a:extLst>
              </a:tr>
              <a:tr h="254200">
                <a:tc>
                  <a:txBody>
                    <a:bodyPr/>
                    <a:lstStyle/>
                    <a:p>
                      <a:pPr marL="0" marR="0" lvl="0" indent="0" algn="ctr" rtl="0">
                        <a:lnSpc>
                          <a:spcPct val="107000"/>
                        </a:lnSpc>
                        <a:spcBef>
                          <a:spcPts val="0"/>
                        </a:spcBef>
                        <a:spcAft>
                          <a:spcPts val="0"/>
                        </a:spcAft>
                        <a:buNone/>
                      </a:pPr>
                      <a:r>
                        <a:rPr lang="en-US" sz="1100" u="none" strike="noStrike" cap="none"/>
                        <a:t>9</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1001</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1101</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xmlns="" val="10010"/>
                  </a:ext>
                </a:extLst>
              </a:tr>
              <a:tr h="232900">
                <a:tc>
                  <a:txBody>
                    <a:bodyPr/>
                    <a:lstStyle/>
                    <a:p>
                      <a:pPr marL="0" marR="0" lvl="0" indent="0" algn="ctr" rtl="0">
                        <a:lnSpc>
                          <a:spcPct val="107000"/>
                        </a:lnSpc>
                        <a:spcBef>
                          <a:spcPts val="0"/>
                        </a:spcBef>
                        <a:spcAft>
                          <a:spcPts val="0"/>
                        </a:spcAft>
                        <a:buNone/>
                      </a:pPr>
                      <a:r>
                        <a:rPr lang="en-US" sz="1100" u="none" strike="noStrike" cap="none"/>
                        <a:t>10</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1010</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1111</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xmlns="" val="10011"/>
                  </a:ext>
                </a:extLst>
              </a:tr>
              <a:tr h="232900">
                <a:tc>
                  <a:txBody>
                    <a:bodyPr/>
                    <a:lstStyle/>
                    <a:p>
                      <a:pPr marL="0" marR="0" lvl="0" indent="0" algn="ctr" rtl="0">
                        <a:lnSpc>
                          <a:spcPct val="107000"/>
                        </a:lnSpc>
                        <a:spcBef>
                          <a:spcPts val="0"/>
                        </a:spcBef>
                        <a:spcAft>
                          <a:spcPts val="0"/>
                        </a:spcAft>
                        <a:buNone/>
                      </a:pPr>
                      <a:r>
                        <a:rPr lang="en-US" sz="1100" u="none" strike="noStrike" cap="none"/>
                        <a:t>11</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1011</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1110</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xmlns="" val="10012"/>
                  </a:ext>
                </a:extLst>
              </a:tr>
              <a:tr h="254200">
                <a:tc>
                  <a:txBody>
                    <a:bodyPr/>
                    <a:lstStyle/>
                    <a:p>
                      <a:pPr marL="0" marR="0" lvl="0" indent="0" algn="ctr" rtl="0">
                        <a:lnSpc>
                          <a:spcPct val="107000"/>
                        </a:lnSpc>
                        <a:spcBef>
                          <a:spcPts val="0"/>
                        </a:spcBef>
                        <a:spcAft>
                          <a:spcPts val="0"/>
                        </a:spcAft>
                        <a:buNone/>
                      </a:pPr>
                      <a:r>
                        <a:rPr lang="en-US" sz="1100" u="none" strike="noStrike" cap="none"/>
                        <a:t>12</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1100</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1010</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xmlns="" val="10013"/>
                  </a:ext>
                </a:extLst>
              </a:tr>
              <a:tr h="232900">
                <a:tc>
                  <a:txBody>
                    <a:bodyPr/>
                    <a:lstStyle/>
                    <a:p>
                      <a:pPr marL="0" marR="0" lvl="0" indent="0" algn="ctr" rtl="0">
                        <a:lnSpc>
                          <a:spcPct val="107000"/>
                        </a:lnSpc>
                        <a:spcBef>
                          <a:spcPts val="0"/>
                        </a:spcBef>
                        <a:spcAft>
                          <a:spcPts val="0"/>
                        </a:spcAft>
                        <a:buNone/>
                      </a:pPr>
                      <a:r>
                        <a:rPr lang="en-US" sz="1100" u="none" strike="noStrike" cap="none"/>
                        <a:t>13</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1101</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1011</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xmlns="" val="10014"/>
                  </a:ext>
                </a:extLst>
              </a:tr>
              <a:tr h="254200">
                <a:tc>
                  <a:txBody>
                    <a:bodyPr/>
                    <a:lstStyle/>
                    <a:p>
                      <a:pPr marL="0" marR="0" lvl="0" indent="0" algn="ctr" rtl="0">
                        <a:lnSpc>
                          <a:spcPct val="107000"/>
                        </a:lnSpc>
                        <a:spcBef>
                          <a:spcPts val="0"/>
                        </a:spcBef>
                        <a:spcAft>
                          <a:spcPts val="0"/>
                        </a:spcAft>
                        <a:buNone/>
                      </a:pPr>
                      <a:r>
                        <a:rPr lang="en-US" sz="1100" u="none" strike="noStrike" cap="none"/>
                        <a:t>14</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1110</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1001</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xmlns="" val="10015"/>
                  </a:ext>
                </a:extLst>
              </a:tr>
              <a:tr h="232900">
                <a:tc>
                  <a:txBody>
                    <a:bodyPr/>
                    <a:lstStyle/>
                    <a:p>
                      <a:pPr marL="0" marR="0" lvl="0" indent="0" algn="ctr" rtl="0">
                        <a:lnSpc>
                          <a:spcPct val="107000"/>
                        </a:lnSpc>
                        <a:spcBef>
                          <a:spcPts val="0"/>
                        </a:spcBef>
                        <a:spcAft>
                          <a:spcPts val="0"/>
                        </a:spcAft>
                        <a:buNone/>
                      </a:pPr>
                      <a:r>
                        <a:rPr lang="en-US" sz="1100" u="none" strike="noStrike" cap="none"/>
                        <a:t>15</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1111</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07000"/>
                        </a:lnSpc>
                        <a:spcBef>
                          <a:spcPts val="0"/>
                        </a:spcBef>
                        <a:spcAft>
                          <a:spcPts val="0"/>
                        </a:spcAft>
                        <a:buNone/>
                      </a:pPr>
                      <a:r>
                        <a:rPr lang="en-US" sz="1100" u="none" strike="noStrike" cap="none"/>
                        <a:t>1000</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xmlns="" val="10016"/>
                  </a:ext>
                </a:extLst>
              </a:tr>
            </a:tbl>
          </a:graphicData>
        </a:graphic>
      </p:graphicFrame>
      <p:sp>
        <p:nvSpPr>
          <p:cNvPr id="631" name="Google Shape;631;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sp>
        <p:nvSpPr>
          <p:cNvPr id="632" name="Google Shape;632;p62"/>
          <p:cNvSpPr/>
          <p:nvPr/>
        </p:nvSpPr>
        <p:spPr>
          <a:xfrm>
            <a:off x="0" y="-48399"/>
            <a:ext cx="223138" cy="553998"/>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222222"/>
              </a:buClr>
              <a:buSzPts val="1200"/>
              <a:buFont typeface="Lato"/>
              <a:buNone/>
            </a:pPr>
            <a:r>
              <a:rPr lang="en-US" sz="1200" b="0" i="0" u="none" strike="noStrike" cap="none">
                <a:solidFill>
                  <a:srgbClr val="222222"/>
                </a:solidFill>
                <a:latin typeface="Lato"/>
                <a:ea typeface="Lato"/>
                <a:cs typeface="Lato"/>
                <a:sym typeface="Lato"/>
              </a:rPr>
              <a:t>:</a:t>
            </a:r>
            <a:endParaRPr sz="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633" name="Google Shape;633;p62"/>
          <p:cNvSpPr txBox="1"/>
          <p:nvPr/>
        </p:nvSpPr>
        <p:spPr>
          <a:xfrm>
            <a:off x="6949439" y="2048470"/>
            <a:ext cx="4426267"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a:solidFill>
                  <a:srgbClr val="FF0000"/>
                </a:solidFill>
                <a:latin typeface="Calibri"/>
                <a:ea typeface="Calibri"/>
                <a:cs typeface="Calibri"/>
                <a:sym typeface="Calibri"/>
              </a:rPr>
              <a:t>The gray code of the given binary code </a:t>
            </a:r>
            <a:endParaRPr/>
          </a:p>
          <a:p>
            <a:pPr marL="0" marR="0" lvl="0" indent="0" algn="l" rtl="0">
              <a:spcBef>
                <a:spcPts val="0"/>
              </a:spcBef>
              <a:spcAft>
                <a:spcPts val="0"/>
              </a:spcAft>
              <a:buClr>
                <a:srgbClr val="FF0000"/>
              </a:buClr>
              <a:buSzPts val="1800"/>
              <a:buFont typeface="Calibri"/>
              <a:buNone/>
            </a:pPr>
            <a:r>
              <a:rPr lang="en-US" sz="1800" i="1">
                <a:solidFill>
                  <a:srgbClr val="FF0000"/>
                </a:solidFill>
                <a:latin typeface="Calibri"/>
                <a:ea typeface="Calibri"/>
                <a:cs typeface="Calibri"/>
                <a:sym typeface="Calibri"/>
              </a:rPr>
              <a:t>(01</a:t>
            </a:r>
            <a:r>
              <a:rPr lang="en-US" sz="1800" i="1">
                <a:solidFill>
                  <a:schemeClr val="dk1"/>
                </a:solidFill>
                <a:latin typeface="Calibri"/>
                <a:ea typeface="Calibri"/>
                <a:cs typeface="Calibri"/>
                <a:sym typeface="Calibri"/>
              </a:rPr>
              <a:t>0</a:t>
            </a:r>
            <a:r>
              <a:rPr lang="en-US" sz="1800" i="1">
                <a:solidFill>
                  <a:srgbClr val="FF0000"/>
                </a:solidFill>
                <a:latin typeface="Calibri"/>
                <a:ea typeface="Calibri"/>
                <a:cs typeface="Calibri"/>
                <a:sym typeface="Calibri"/>
              </a:rPr>
              <a:t>01) =0 1 </a:t>
            </a:r>
            <a:r>
              <a:rPr lang="en-US" sz="1800" i="1">
                <a:solidFill>
                  <a:schemeClr val="dk1"/>
                </a:solidFill>
                <a:latin typeface="Calibri"/>
                <a:ea typeface="Calibri"/>
                <a:cs typeface="Calibri"/>
                <a:sym typeface="Calibri"/>
              </a:rPr>
              <a:t>1</a:t>
            </a:r>
            <a:r>
              <a:rPr lang="en-US" sz="1800" i="1">
                <a:solidFill>
                  <a:srgbClr val="FF0000"/>
                </a:solidFill>
                <a:latin typeface="Calibri"/>
                <a:ea typeface="Calibri"/>
                <a:cs typeface="Calibri"/>
                <a:sym typeface="Calibri"/>
              </a:rPr>
              <a:t> 0 1. We can see one bit change in the next incremental value.</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65"/>
          <p:cNvSpPr txBox="1">
            <a:spLocks noGrp="1"/>
          </p:cNvSpPr>
          <p:nvPr>
            <p:ph type="title"/>
          </p:nvPr>
        </p:nvSpPr>
        <p:spPr>
          <a:xfrm>
            <a:off x="838200" y="365125"/>
            <a:ext cx="9434264" cy="615603"/>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a:solidFill>
                  <a:schemeClr val="lt1"/>
                </a:solidFill>
                <a:latin typeface="Calibri"/>
                <a:ea typeface="Calibri"/>
                <a:cs typeface="Calibri"/>
                <a:sym typeface="Calibri"/>
              </a:rPr>
              <a:t>Gray-Binary code conversion</a:t>
            </a:r>
            <a:endParaRPr/>
          </a:p>
        </p:txBody>
      </p:sp>
      <p:sp>
        <p:nvSpPr>
          <p:cNvPr id="665" name="Google Shape;665;p65"/>
          <p:cNvSpPr txBox="1">
            <a:spLocks noGrp="1"/>
          </p:cNvSpPr>
          <p:nvPr>
            <p:ph type="body" idx="1"/>
          </p:nvPr>
        </p:nvSpPr>
        <p:spPr>
          <a:xfrm>
            <a:off x="838200" y="1268760"/>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22222"/>
              </a:buClr>
              <a:buSzPts val="2800"/>
              <a:buChar char="•"/>
            </a:pPr>
            <a:r>
              <a:rPr lang="en-US" b="1" i="0" cap="none">
                <a:solidFill>
                  <a:srgbClr val="222222"/>
                </a:solidFill>
                <a:latin typeface="Work Sans"/>
                <a:ea typeface="Work Sans"/>
                <a:cs typeface="Work Sans"/>
                <a:sym typeface="Work Sans"/>
              </a:rPr>
              <a:t>STEPS</a:t>
            </a:r>
            <a:endParaRPr/>
          </a:p>
          <a:p>
            <a:pPr marL="685800" lvl="1" indent="-228600" algn="l" rtl="0">
              <a:lnSpc>
                <a:spcPct val="90000"/>
              </a:lnSpc>
              <a:spcBef>
                <a:spcPts val="500"/>
              </a:spcBef>
              <a:spcAft>
                <a:spcPts val="0"/>
              </a:spcAft>
              <a:buClr>
                <a:srgbClr val="222222"/>
              </a:buClr>
              <a:buSzPts val="2000"/>
              <a:buFont typeface="Calibri"/>
              <a:buAutoNum type="arabicPeriod"/>
            </a:pPr>
            <a:r>
              <a:rPr lang="en-US" sz="2000" b="0" i="0">
                <a:solidFill>
                  <a:srgbClr val="222222"/>
                </a:solidFill>
                <a:latin typeface="Lato"/>
                <a:ea typeface="Lato"/>
                <a:cs typeface="Lato"/>
                <a:sym typeface="Lato"/>
              </a:rPr>
              <a:t>The most significant bit of gray codes is equal in binary number.</a:t>
            </a:r>
            <a:endParaRPr/>
          </a:p>
          <a:p>
            <a:pPr marL="685800" lvl="1" indent="-228600" algn="l" rtl="0">
              <a:lnSpc>
                <a:spcPct val="90000"/>
              </a:lnSpc>
              <a:spcBef>
                <a:spcPts val="500"/>
              </a:spcBef>
              <a:spcAft>
                <a:spcPts val="0"/>
              </a:spcAft>
              <a:buClr>
                <a:srgbClr val="222222"/>
              </a:buClr>
              <a:buSzPts val="2000"/>
              <a:buFont typeface="Calibri"/>
              <a:buAutoNum type="arabicPeriod"/>
            </a:pPr>
            <a:r>
              <a:rPr lang="en-US" sz="2000" b="0" i="0">
                <a:solidFill>
                  <a:srgbClr val="222222"/>
                </a:solidFill>
                <a:latin typeface="Lato"/>
                <a:ea typeface="Lato"/>
                <a:cs typeface="Lato"/>
                <a:sym typeface="Lato"/>
              </a:rPr>
              <a:t>Now move to the next gray bit, as it is 1 the previous bit will be alter i.e it will be 1, thus the second binary bit will be 1.</a:t>
            </a:r>
            <a:endParaRPr/>
          </a:p>
          <a:p>
            <a:pPr marL="685800" lvl="1" indent="-228600" algn="l" rtl="0">
              <a:lnSpc>
                <a:spcPct val="90000"/>
              </a:lnSpc>
              <a:spcBef>
                <a:spcPts val="500"/>
              </a:spcBef>
              <a:spcAft>
                <a:spcPts val="0"/>
              </a:spcAft>
              <a:buClr>
                <a:srgbClr val="222222"/>
              </a:buClr>
              <a:buSzPts val="2000"/>
              <a:buFont typeface="Calibri"/>
              <a:buAutoNum type="arabicPeriod"/>
            </a:pPr>
            <a:r>
              <a:rPr lang="en-US" sz="2000" b="0" i="0">
                <a:solidFill>
                  <a:srgbClr val="222222"/>
                </a:solidFill>
                <a:latin typeface="Lato"/>
                <a:ea typeface="Lato"/>
                <a:cs typeface="Lato"/>
                <a:sym typeface="Lato"/>
              </a:rPr>
              <a:t>Next see the third bit, in this example the third bit is 1 again, the third binary bit will be alter of second binary bit and the third binary bit will be 0.</a:t>
            </a:r>
            <a:endParaRPr/>
          </a:p>
          <a:p>
            <a:pPr marL="685800" lvl="1" indent="-228600" algn="l" rtl="0">
              <a:lnSpc>
                <a:spcPct val="90000"/>
              </a:lnSpc>
              <a:spcBef>
                <a:spcPts val="500"/>
              </a:spcBef>
              <a:spcAft>
                <a:spcPts val="0"/>
              </a:spcAft>
              <a:buClr>
                <a:srgbClr val="222222"/>
              </a:buClr>
              <a:buSzPts val="2000"/>
              <a:buFont typeface="Calibri"/>
              <a:buAutoNum type="arabicPeriod"/>
            </a:pPr>
            <a:r>
              <a:rPr lang="en-US" sz="2000" b="0" i="0">
                <a:solidFill>
                  <a:srgbClr val="222222"/>
                </a:solidFill>
                <a:latin typeface="Lato"/>
                <a:ea typeface="Lato"/>
                <a:cs typeface="Lato"/>
                <a:sym typeface="Lato"/>
              </a:rPr>
              <a:t>Now fourth bit of the, here the fourth bit of gray code is 0. So the fourth bit will be same as a previous binary bit, i.e 4th binary bit will be 0.</a:t>
            </a:r>
            <a:endParaRPr/>
          </a:p>
          <a:p>
            <a:pPr marL="685800" lvl="1" indent="-228600" algn="l" rtl="0">
              <a:lnSpc>
                <a:spcPct val="90000"/>
              </a:lnSpc>
              <a:spcBef>
                <a:spcPts val="500"/>
              </a:spcBef>
              <a:spcAft>
                <a:spcPts val="0"/>
              </a:spcAft>
              <a:buClr>
                <a:srgbClr val="222222"/>
              </a:buClr>
              <a:buSzPts val="2000"/>
              <a:buFont typeface="Calibri"/>
              <a:buAutoNum type="arabicPeriod"/>
            </a:pPr>
            <a:r>
              <a:rPr lang="en-US" sz="2000" b="0" i="0">
                <a:solidFill>
                  <a:srgbClr val="222222"/>
                </a:solidFill>
                <a:latin typeface="Lato"/>
                <a:ea typeface="Lato"/>
                <a:cs typeface="Lato"/>
                <a:sym typeface="Lato"/>
              </a:rPr>
              <a:t>The last fifth bit of gray codes is 1; the fifth binary number is altering of fourth binary number.</a:t>
            </a:r>
            <a:endParaRPr/>
          </a:p>
          <a:p>
            <a:pPr marL="685800" lvl="1" indent="-228600" algn="l" rtl="0">
              <a:lnSpc>
                <a:spcPct val="90000"/>
              </a:lnSpc>
              <a:spcBef>
                <a:spcPts val="500"/>
              </a:spcBef>
              <a:spcAft>
                <a:spcPts val="0"/>
              </a:spcAft>
              <a:buClr>
                <a:srgbClr val="222222"/>
              </a:buClr>
              <a:buSzPts val="2000"/>
              <a:buFont typeface="Calibri"/>
              <a:buAutoNum type="arabicPeriod"/>
            </a:pPr>
            <a:r>
              <a:rPr lang="en-US" sz="2000" b="0" i="0">
                <a:solidFill>
                  <a:srgbClr val="222222"/>
                </a:solidFill>
                <a:latin typeface="Lato"/>
                <a:ea typeface="Lato"/>
                <a:cs typeface="Lato"/>
                <a:sym typeface="Lato"/>
              </a:rPr>
              <a:t>Therefore the gray code (01101) equivalent in binary number is (01001)</a:t>
            </a:r>
            <a:endParaRPr/>
          </a:p>
          <a:p>
            <a:pPr marL="228600" lvl="0" indent="-50800" algn="l" rtl="0">
              <a:lnSpc>
                <a:spcPct val="90000"/>
              </a:lnSpc>
              <a:spcBef>
                <a:spcPts val="1000"/>
              </a:spcBef>
              <a:spcAft>
                <a:spcPts val="0"/>
              </a:spcAft>
              <a:buClr>
                <a:schemeClr val="dk1"/>
              </a:buClr>
              <a:buSzPts val="2800"/>
              <a:buNone/>
            </a:pPr>
            <a:endParaRPr/>
          </a:p>
        </p:txBody>
      </p:sp>
      <p:sp>
        <p:nvSpPr>
          <p:cNvPr id="667" name="Google Shape;667;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64"/>
          <p:cNvSpPr txBox="1">
            <a:spLocks noGrp="1"/>
          </p:cNvSpPr>
          <p:nvPr>
            <p:ph type="title"/>
          </p:nvPr>
        </p:nvSpPr>
        <p:spPr>
          <a:xfrm>
            <a:off x="609600" y="236931"/>
            <a:ext cx="109728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Explanation</a:t>
            </a:r>
            <a:endParaRPr/>
          </a:p>
        </p:txBody>
      </p:sp>
      <p:sp>
        <p:nvSpPr>
          <p:cNvPr id="647" name="Google Shape;647;p64"/>
          <p:cNvSpPr txBox="1">
            <a:spLocks noGrp="1"/>
          </p:cNvSpPr>
          <p:nvPr>
            <p:ph type="body" idx="1"/>
          </p:nvPr>
        </p:nvSpPr>
        <p:spPr>
          <a:xfrm>
            <a:off x="656619" y="1291263"/>
            <a:ext cx="10972800" cy="54302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 given gray code is 01101</a:t>
            </a:r>
            <a:endParaRPr/>
          </a:p>
          <a:p>
            <a:pPr marL="0" lvl="0" indent="0" algn="l" rtl="0">
              <a:lnSpc>
                <a:spcPct val="90000"/>
              </a:lnSpc>
              <a:spcBef>
                <a:spcPts val="1000"/>
              </a:spcBef>
              <a:spcAft>
                <a:spcPts val="0"/>
              </a:spcAft>
              <a:buClr>
                <a:schemeClr val="dk1"/>
              </a:buClr>
              <a:buSzPts val="2800"/>
              <a:buNone/>
            </a:pPr>
            <a:r>
              <a:rPr lang="en-US"/>
              <a:t>					</a:t>
            </a:r>
            <a:r>
              <a:rPr lang="en-US">
                <a:solidFill>
                  <a:srgbClr val="FF0000"/>
                </a:solidFill>
              </a:rPr>
              <a:t>0</a:t>
            </a:r>
            <a:r>
              <a:rPr lang="en-US"/>
              <a:t> 1 1 0 </a:t>
            </a:r>
            <a:r>
              <a:rPr lang="en-US">
                <a:solidFill>
                  <a:srgbClr val="FF0000"/>
                </a:solidFill>
              </a:rPr>
              <a:t>1 (Gray)</a:t>
            </a:r>
            <a:endParaRPr/>
          </a:p>
        </p:txBody>
      </p:sp>
      <p:sp>
        <p:nvSpPr>
          <p:cNvPr id="648" name="Google Shape;648;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grpSp>
        <p:nvGrpSpPr>
          <p:cNvPr id="649" name="Google Shape;649;p64"/>
          <p:cNvGrpSpPr/>
          <p:nvPr/>
        </p:nvGrpSpPr>
        <p:grpSpPr>
          <a:xfrm>
            <a:off x="2998137" y="1839540"/>
            <a:ext cx="6289764" cy="3616504"/>
            <a:chOff x="3084229" y="1783979"/>
            <a:chExt cx="6289764" cy="3616504"/>
          </a:xfrm>
        </p:grpSpPr>
        <p:cxnSp>
          <p:nvCxnSpPr>
            <p:cNvPr id="650" name="Google Shape;650;p64"/>
            <p:cNvCxnSpPr/>
            <p:nvPr/>
          </p:nvCxnSpPr>
          <p:spPr>
            <a:xfrm>
              <a:off x="6787299" y="2752627"/>
              <a:ext cx="0" cy="414779"/>
            </a:xfrm>
            <a:prstGeom prst="straightConnector1">
              <a:avLst/>
            </a:prstGeom>
            <a:noFill/>
            <a:ln w="38100" cap="flat" cmpd="sng">
              <a:solidFill>
                <a:schemeClr val="dk1"/>
              </a:solidFill>
              <a:prstDash val="solid"/>
              <a:miter lim="800000"/>
              <a:headEnd type="none" w="sm" len="sm"/>
              <a:tailEnd type="triangle" w="med" len="med"/>
            </a:ln>
          </p:spPr>
        </p:cxnSp>
        <p:cxnSp>
          <p:nvCxnSpPr>
            <p:cNvPr id="651" name="Google Shape;651;p64"/>
            <p:cNvCxnSpPr/>
            <p:nvPr/>
          </p:nvCxnSpPr>
          <p:spPr>
            <a:xfrm>
              <a:off x="5384277" y="2752627"/>
              <a:ext cx="0" cy="414779"/>
            </a:xfrm>
            <a:prstGeom prst="straightConnector1">
              <a:avLst/>
            </a:prstGeom>
            <a:noFill/>
            <a:ln w="38100" cap="flat" cmpd="sng">
              <a:solidFill>
                <a:schemeClr val="dk1"/>
              </a:solidFill>
              <a:prstDash val="solid"/>
              <a:miter lim="800000"/>
              <a:headEnd type="none" w="sm" len="sm"/>
              <a:tailEnd type="triangle" w="med" len="med"/>
            </a:ln>
          </p:spPr>
        </p:cxnSp>
        <p:sp>
          <p:nvSpPr>
            <p:cNvPr id="652" name="Google Shape;652;p64"/>
            <p:cNvSpPr/>
            <p:nvPr/>
          </p:nvSpPr>
          <p:spPr>
            <a:xfrm>
              <a:off x="4870519" y="3213279"/>
              <a:ext cx="1027516" cy="273377"/>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MSB</a:t>
              </a:r>
              <a:endParaRPr/>
            </a:p>
          </p:txBody>
        </p:sp>
        <p:sp>
          <p:nvSpPr>
            <p:cNvPr id="653" name="Google Shape;653;p64"/>
            <p:cNvSpPr/>
            <p:nvPr/>
          </p:nvSpPr>
          <p:spPr>
            <a:xfrm>
              <a:off x="6367809" y="3226157"/>
              <a:ext cx="1027516" cy="273377"/>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LSB</a:t>
              </a:r>
              <a:endParaRPr/>
            </a:p>
          </p:txBody>
        </p:sp>
        <p:sp>
          <p:nvSpPr>
            <p:cNvPr id="654" name="Google Shape;654;p64"/>
            <p:cNvSpPr/>
            <p:nvPr/>
          </p:nvSpPr>
          <p:spPr>
            <a:xfrm>
              <a:off x="5898035" y="3714161"/>
              <a:ext cx="469774" cy="838985"/>
            </a:xfrm>
            <a:prstGeom prst="downArrow">
              <a:avLst>
                <a:gd name="adj1" fmla="val 50000"/>
                <a:gd name="adj2" fmla="val 50000"/>
              </a:avLst>
            </a:prstGeom>
            <a:solidFill>
              <a:schemeClr val="accent6"/>
            </a:solidFill>
            <a:ln w="12700" cap="flat" cmpd="sng">
              <a:solidFill>
                <a:srgbClr val="2F491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5" name="Google Shape;655;p64"/>
            <p:cNvSpPr txBox="1"/>
            <p:nvPr/>
          </p:nvSpPr>
          <p:spPr>
            <a:xfrm>
              <a:off x="6645896" y="3996965"/>
              <a:ext cx="27280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Binary code Conversion</a:t>
              </a:r>
              <a:endParaRPr/>
            </a:p>
          </p:txBody>
        </p:sp>
        <p:sp>
          <p:nvSpPr>
            <p:cNvPr id="656" name="Google Shape;656;p64"/>
            <p:cNvSpPr/>
            <p:nvPr/>
          </p:nvSpPr>
          <p:spPr>
            <a:xfrm rot="-4354795" flipH="1">
              <a:off x="2807305" y="2697077"/>
              <a:ext cx="3228609" cy="1790307"/>
            </a:xfrm>
            <a:prstGeom prst="arc">
              <a:avLst>
                <a:gd name="adj1" fmla="val 10615523"/>
                <a:gd name="adj2" fmla="val 1602075"/>
              </a:avLst>
            </a:prstGeom>
            <a:noFill/>
            <a:ln w="38100" cap="flat" cmpd="sng">
              <a:solidFill>
                <a:schemeClr val="accent4"/>
              </a:solidFill>
              <a:prstDash val="solid"/>
              <a:miter lim="800000"/>
              <a:headEnd type="none" w="sm" len="sm"/>
              <a:tailEnd type="stealth"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pic>
        <p:nvPicPr>
          <p:cNvPr id="658" name="Google Shape;658;p64"/>
          <p:cNvPicPr preferRelativeResize="0"/>
          <p:nvPr/>
        </p:nvPicPr>
        <p:blipFill rotWithShape="1">
          <a:blip r:embed="rId3">
            <a:alphaModFix/>
          </a:blip>
          <a:srcRect/>
          <a:stretch/>
        </p:blipFill>
        <p:spPr>
          <a:xfrm>
            <a:off x="4629369" y="4585113"/>
            <a:ext cx="6420025" cy="2165737"/>
          </a:xfrm>
          <a:prstGeom prst="rect">
            <a:avLst/>
          </a:prstGeom>
          <a:noFill/>
          <a:ln>
            <a:noFill/>
          </a:ln>
        </p:spPr>
      </p:pic>
      <p:graphicFrame>
        <p:nvGraphicFramePr>
          <p:cNvPr id="659" name="Google Shape;659;p64"/>
          <p:cNvGraphicFramePr/>
          <p:nvPr>
            <p:extLst>
              <p:ext uri="{D42A27DB-BD31-4B8C-83A1-F6EECF244321}">
                <p14:modId xmlns:p14="http://schemas.microsoft.com/office/powerpoint/2010/main" val="1580451955"/>
              </p:ext>
            </p:extLst>
          </p:nvPr>
        </p:nvGraphicFramePr>
        <p:xfrm>
          <a:off x="9089004" y="1223577"/>
          <a:ext cx="2106900" cy="2831840"/>
        </p:xfrm>
        <a:graphic>
          <a:graphicData uri="http://schemas.openxmlformats.org/drawingml/2006/table">
            <a:tbl>
              <a:tblPr firstRow="1" bandRow="1">
                <a:noFill/>
                <a:tableStyleId>{C6F39B36-55F5-445C-BD81-517B801FB488}</a:tableStyleId>
              </a:tblPr>
              <a:tblGrid>
                <a:gridCol w="702300">
                  <a:extLst>
                    <a:ext uri="{9D8B030D-6E8A-4147-A177-3AD203B41FA5}">
                      <a16:colId xmlns:a16="http://schemas.microsoft.com/office/drawing/2014/main" xmlns="" val="20000"/>
                    </a:ext>
                  </a:extLst>
                </a:gridCol>
                <a:gridCol w="702300">
                  <a:extLst>
                    <a:ext uri="{9D8B030D-6E8A-4147-A177-3AD203B41FA5}">
                      <a16:colId xmlns:a16="http://schemas.microsoft.com/office/drawing/2014/main" xmlns="" val="20001"/>
                    </a:ext>
                  </a:extLst>
                </a:gridCol>
                <a:gridCol w="702300">
                  <a:extLst>
                    <a:ext uri="{9D8B030D-6E8A-4147-A177-3AD203B41FA5}">
                      <a16:colId xmlns:a16="http://schemas.microsoft.com/office/drawing/2014/main" xmlns="" val="20002"/>
                    </a:ext>
                  </a:extLst>
                </a:gridCol>
              </a:tblGrid>
              <a:tr h="438350">
                <a:tc gridSpan="3">
                  <a:txBody>
                    <a:bodyPr/>
                    <a:lstStyle/>
                    <a:p>
                      <a:pPr marL="0" marR="0" lvl="0" indent="0" algn="ctr" rtl="0">
                        <a:spcBef>
                          <a:spcPts val="0"/>
                        </a:spcBef>
                        <a:spcAft>
                          <a:spcPts val="0"/>
                        </a:spcAft>
                        <a:buNone/>
                      </a:pPr>
                      <a:r>
                        <a:rPr lang="en-US" sz="1800" u="none" strike="noStrike" cap="none"/>
                        <a:t>Truth Table of XOR </a:t>
                      </a:r>
                      <a:endParaRPr/>
                    </a:p>
                  </a:txBody>
                  <a:tcPr marL="91450" marR="91450" marT="45725" marB="45725"/>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438350">
                <a:tc>
                  <a:txBody>
                    <a:bodyPr/>
                    <a:lstStyle/>
                    <a:p>
                      <a:pPr marL="0" marR="0" lvl="0" indent="0" algn="ctr" rtl="0">
                        <a:spcBef>
                          <a:spcPts val="0"/>
                        </a:spcBef>
                        <a:spcAft>
                          <a:spcPts val="0"/>
                        </a:spcAft>
                        <a:buNone/>
                      </a:pPr>
                      <a:r>
                        <a:rPr lang="en-US" sz="1800" u="none" strike="noStrike" cap="none"/>
                        <a:t>A</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B</a:t>
                      </a:r>
                      <a:endParaRPr/>
                    </a:p>
                  </a:txBody>
                  <a:tcPr marL="91450" marR="91450" marT="45725" marB="45725"/>
                </a:tc>
                <a:tc>
                  <a:txBody>
                    <a:bodyPr/>
                    <a:lstStyle/>
                    <a:p>
                      <a:pPr marL="0" marR="0" lvl="0" indent="0" algn="ctr" rtl="0">
                        <a:spcBef>
                          <a:spcPts val="0"/>
                        </a:spcBef>
                        <a:spcAft>
                          <a:spcPts val="0"/>
                        </a:spcAft>
                        <a:buNone/>
                      </a:pPr>
                      <a:r>
                        <a:rPr lang="en-US" sz="1800" u="none" strike="noStrike" cap="none" dirty="0"/>
                        <a:t>C</a:t>
                      </a:r>
                      <a:endParaRPr dirty="0"/>
                    </a:p>
                  </a:txBody>
                  <a:tcPr marL="91450" marR="91450" marT="45725" marB="45725"/>
                </a:tc>
                <a:extLst>
                  <a:ext uri="{0D108BD9-81ED-4DB2-BD59-A6C34878D82A}">
                    <a16:rowId xmlns:a16="http://schemas.microsoft.com/office/drawing/2014/main" xmlns="" val="10001"/>
                  </a:ext>
                </a:extLst>
              </a:tr>
              <a:tr h="438350">
                <a:tc>
                  <a:txBody>
                    <a:bodyPr/>
                    <a:lstStyle/>
                    <a:p>
                      <a:pPr marL="0" marR="0" lvl="0" indent="0" algn="ctr" rtl="0">
                        <a:spcBef>
                          <a:spcPts val="0"/>
                        </a:spcBef>
                        <a:spcAft>
                          <a:spcPts val="0"/>
                        </a:spcAft>
                        <a:buNone/>
                      </a:pPr>
                      <a:r>
                        <a:rPr lang="en-US" sz="1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0</a:t>
                      </a:r>
                      <a:endParaRPr/>
                    </a:p>
                  </a:txBody>
                  <a:tcPr marL="91450" marR="91450" marT="45725" marB="45725"/>
                </a:tc>
                <a:extLst>
                  <a:ext uri="{0D108BD9-81ED-4DB2-BD59-A6C34878D82A}">
                    <a16:rowId xmlns:a16="http://schemas.microsoft.com/office/drawing/2014/main" xmlns="" val="10002"/>
                  </a:ext>
                </a:extLst>
              </a:tr>
              <a:tr h="438350">
                <a:tc>
                  <a:txBody>
                    <a:bodyPr/>
                    <a:lstStyle/>
                    <a:p>
                      <a:pPr marL="0" marR="0" lvl="0" indent="0" algn="ctr" rtl="0">
                        <a:spcBef>
                          <a:spcPts val="0"/>
                        </a:spcBef>
                        <a:spcAft>
                          <a:spcPts val="0"/>
                        </a:spcAft>
                        <a:buNone/>
                      </a:pPr>
                      <a:r>
                        <a:rPr lang="en-US" sz="1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extLst>
                  <a:ext uri="{0D108BD9-81ED-4DB2-BD59-A6C34878D82A}">
                    <a16:rowId xmlns:a16="http://schemas.microsoft.com/office/drawing/2014/main" xmlns="" val="10003"/>
                  </a:ext>
                </a:extLst>
              </a:tr>
              <a:tr h="438350">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extLst>
                  <a:ext uri="{0D108BD9-81ED-4DB2-BD59-A6C34878D82A}">
                    <a16:rowId xmlns:a16="http://schemas.microsoft.com/office/drawing/2014/main" xmlns="" val="10004"/>
                  </a:ext>
                </a:extLst>
              </a:tr>
              <a:tr h="438350">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1800" u="none" strike="noStrike" cap="none" dirty="0"/>
                        <a:t>0</a:t>
                      </a:r>
                      <a:endParaRPr dirty="0"/>
                    </a:p>
                  </a:txBody>
                  <a:tcPr marL="91450" marR="91450" marT="45725" marB="45725"/>
                </a:tc>
                <a:extLst>
                  <a:ext uri="{0D108BD9-81ED-4DB2-BD59-A6C34878D82A}">
                    <a16:rowId xmlns:a16="http://schemas.microsoft.com/office/drawing/2014/main" xmlns="" val="10005"/>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Merits &amp; Demerits of Gray Code</a:t>
            </a:r>
            <a:endParaRPr/>
          </a:p>
        </p:txBody>
      </p:sp>
      <p:sp>
        <p:nvSpPr>
          <p:cNvPr id="673" name="Google Shape;673;p6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22222"/>
              </a:buClr>
              <a:buSzPts val="2400"/>
              <a:buNone/>
            </a:pPr>
            <a:r>
              <a:rPr lang="en-US" sz="2400">
                <a:solidFill>
                  <a:srgbClr val="222222"/>
                </a:solidFill>
                <a:latin typeface="Lato"/>
                <a:ea typeface="Lato"/>
                <a:cs typeface="Lato"/>
                <a:sym typeface="Lato"/>
              </a:rPr>
              <a:t>Advantages of gray code</a:t>
            </a:r>
            <a:endParaRPr/>
          </a:p>
          <a:p>
            <a:pPr marL="228600" lvl="0" indent="-228600" algn="l" rtl="0">
              <a:lnSpc>
                <a:spcPct val="90000"/>
              </a:lnSpc>
              <a:spcBef>
                <a:spcPts val="1000"/>
              </a:spcBef>
              <a:spcAft>
                <a:spcPts val="0"/>
              </a:spcAft>
              <a:buClr>
                <a:srgbClr val="222222"/>
              </a:buClr>
              <a:buSzPts val="1000"/>
              <a:buFont typeface="Noto Sans Symbols"/>
              <a:buChar char="❖"/>
            </a:pPr>
            <a:r>
              <a:rPr lang="en-US" sz="2400">
                <a:solidFill>
                  <a:srgbClr val="222222"/>
                </a:solidFill>
                <a:latin typeface="Lato"/>
                <a:ea typeface="Lato"/>
                <a:cs typeface="Lato"/>
                <a:sym typeface="Lato"/>
              </a:rPr>
              <a:t>It is best for error minimization in conversion of analog to digital signals.</a:t>
            </a:r>
            <a:endParaRPr/>
          </a:p>
          <a:p>
            <a:pPr marL="228600" lvl="0" indent="-228600" algn="l" rtl="0">
              <a:lnSpc>
                <a:spcPct val="90000"/>
              </a:lnSpc>
              <a:spcBef>
                <a:spcPts val="1000"/>
              </a:spcBef>
              <a:spcAft>
                <a:spcPts val="0"/>
              </a:spcAft>
              <a:buClr>
                <a:srgbClr val="222222"/>
              </a:buClr>
              <a:buSzPts val="1000"/>
              <a:buFont typeface="Noto Sans Symbols"/>
              <a:buChar char="❖"/>
            </a:pPr>
            <a:r>
              <a:rPr lang="en-US" sz="2400">
                <a:solidFill>
                  <a:srgbClr val="222222"/>
                </a:solidFill>
                <a:latin typeface="Lato"/>
                <a:ea typeface="Lato"/>
                <a:cs typeface="Lato"/>
                <a:sym typeface="Lato"/>
              </a:rPr>
              <a:t>It is best for minimize a logic circuit</a:t>
            </a:r>
            <a:endParaRPr/>
          </a:p>
          <a:p>
            <a:pPr marL="228600" lvl="0" indent="-228600" algn="l" rtl="0">
              <a:lnSpc>
                <a:spcPct val="90000"/>
              </a:lnSpc>
              <a:spcBef>
                <a:spcPts val="1000"/>
              </a:spcBef>
              <a:spcAft>
                <a:spcPts val="0"/>
              </a:spcAft>
              <a:buClr>
                <a:srgbClr val="222222"/>
              </a:buClr>
              <a:buSzPts val="1000"/>
              <a:buFont typeface="Noto Sans Symbols"/>
              <a:buChar char="❖"/>
            </a:pPr>
            <a:r>
              <a:rPr lang="en-US" sz="2400">
                <a:solidFill>
                  <a:srgbClr val="222222"/>
                </a:solidFill>
                <a:latin typeface="Lato"/>
                <a:ea typeface="Lato"/>
                <a:cs typeface="Lato"/>
                <a:sym typeface="Lato"/>
              </a:rPr>
              <a:t>Decreases the “Hamming Walls” which is undesirable state, when used in genetic algorithms</a:t>
            </a:r>
            <a:endParaRPr/>
          </a:p>
          <a:p>
            <a:pPr marL="228600" lvl="0" indent="-228600" algn="l" rtl="0">
              <a:lnSpc>
                <a:spcPct val="90000"/>
              </a:lnSpc>
              <a:spcBef>
                <a:spcPts val="1000"/>
              </a:spcBef>
              <a:spcAft>
                <a:spcPts val="0"/>
              </a:spcAft>
              <a:buClr>
                <a:srgbClr val="222222"/>
              </a:buClr>
              <a:buSzPts val="1000"/>
              <a:buFont typeface="Noto Sans Symbols"/>
              <a:buChar char="❖"/>
            </a:pPr>
            <a:r>
              <a:rPr lang="en-US" sz="2400">
                <a:solidFill>
                  <a:srgbClr val="222222"/>
                </a:solidFill>
                <a:latin typeface="Lato"/>
                <a:ea typeface="Lato"/>
                <a:cs typeface="Lato"/>
                <a:sym typeface="Lato"/>
              </a:rPr>
              <a:t>It is useful in clock domain crossing</a:t>
            </a:r>
            <a:endParaRPr/>
          </a:p>
          <a:p>
            <a:pPr marL="0" lvl="0" indent="0" algn="l" rtl="0">
              <a:lnSpc>
                <a:spcPct val="90000"/>
              </a:lnSpc>
              <a:spcBef>
                <a:spcPts val="1000"/>
              </a:spcBef>
              <a:spcAft>
                <a:spcPts val="0"/>
              </a:spcAft>
              <a:buClr>
                <a:srgbClr val="222222"/>
              </a:buClr>
              <a:buSzPts val="2400"/>
              <a:buNone/>
            </a:pPr>
            <a:r>
              <a:rPr lang="en-US" sz="2400">
                <a:solidFill>
                  <a:srgbClr val="222222"/>
                </a:solidFill>
                <a:latin typeface="Lato"/>
                <a:ea typeface="Lato"/>
                <a:cs typeface="Lato"/>
                <a:sym typeface="Lato"/>
              </a:rPr>
              <a:t>Disadvantages of gray code</a:t>
            </a:r>
            <a:endParaRPr/>
          </a:p>
          <a:p>
            <a:pPr marL="228600" lvl="0" indent="-228600" algn="l" rtl="0">
              <a:lnSpc>
                <a:spcPct val="90000"/>
              </a:lnSpc>
              <a:spcBef>
                <a:spcPts val="1000"/>
              </a:spcBef>
              <a:spcAft>
                <a:spcPts val="0"/>
              </a:spcAft>
              <a:buClr>
                <a:srgbClr val="222222"/>
              </a:buClr>
              <a:buSzPts val="1000"/>
              <a:buChar char="•"/>
            </a:pPr>
            <a:r>
              <a:rPr lang="en-US" sz="2400">
                <a:solidFill>
                  <a:srgbClr val="222222"/>
                </a:solidFill>
                <a:latin typeface="Lato"/>
                <a:ea typeface="Lato"/>
                <a:cs typeface="Lato"/>
                <a:sym typeface="Lato"/>
              </a:rPr>
              <a:t>Not suitable for arithmetic operations</a:t>
            </a:r>
            <a:endParaRPr/>
          </a:p>
          <a:p>
            <a:pPr marL="228600" lvl="0" indent="-228600" algn="l" rtl="0">
              <a:lnSpc>
                <a:spcPct val="90000"/>
              </a:lnSpc>
              <a:spcBef>
                <a:spcPts val="1000"/>
              </a:spcBef>
              <a:spcAft>
                <a:spcPts val="0"/>
              </a:spcAft>
              <a:buClr>
                <a:srgbClr val="222222"/>
              </a:buClr>
              <a:buSzPts val="1000"/>
              <a:buChar char="•"/>
            </a:pPr>
            <a:r>
              <a:rPr lang="en-US" sz="2400">
                <a:solidFill>
                  <a:srgbClr val="222222"/>
                </a:solidFill>
                <a:latin typeface="Lato"/>
                <a:ea typeface="Lato"/>
                <a:cs typeface="Lato"/>
                <a:sym typeface="Lato"/>
              </a:rPr>
              <a:t>It has limited use.</a:t>
            </a:r>
            <a:endParaRPr/>
          </a:p>
          <a:p>
            <a:pPr marL="228600" lvl="0" indent="-50800" algn="l" rtl="0">
              <a:lnSpc>
                <a:spcPct val="90000"/>
              </a:lnSpc>
              <a:spcBef>
                <a:spcPts val="1000"/>
              </a:spcBef>
              <a:spcAft>
                <a:spcPts val="0"/>
              </a:spcAft>
              <a:buClr>
                <a:schemeClr val="dk1"/>
              </a:buClr>
              <a:buSzPts val="2800"/>
              <a:buNone/>
            </a:pPr>
            <a:endParaRPr/>
          </a:p>
        </p:txBody>
      </p:sp>
      <p:sp>
        <p:nvSpPr>
          <p:cNvPr id="675" name="Google Shape;675;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55"/>
          <p:cNvSpPr txBox="1">
            <a:spLocks noGrp="1"/>
          </p:cNvSpPr>
          <p:nvPr>
            <p:ph type="sldNum" idx="12"/>
          </p:nvPr>
        </p:nvSpPr>
        <p:spPr>
          <a:xfrm>
            <a:off x="9338469" y="6225978"/>
            <a:ext cx="27432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dirty="0">
                <a:solidFill>
                  <a:srgbClr val="888888"/>
                </a:solidFill>
                <a:latin typeface="Calibri"/>
                <a:ea typeface="Calibri"/>
                <a:cs typeface="Calibri"/>
                <a:sym typeface="Calibri"/>
              </a:rPr>
              <a:t>                                                                </a:t>
            </a:r>
            <a:fld id="{00000000-1234-1234-1234-123412341234}" type="slidenum">
              <a:rPr lang="en-US" sz="1200">
                <a:solidFill>
                  <a:srgbClr val="888888"/>
                </a:solidFill>
                <a:latin typeface="Calibri"/>
                <a:ea typeface="Calibri"/>
                <a:cs typeface="Calibri"/>
                <a:sym typeface="Calibri"/>
              </a:rPr>
              <a:t>59</a:t>
            </a:fld>
            <a:endParaRPr sz="1200" dirty="0">
              <a:solidFill>
                <a:srgbClr val="888888"/>
              </a:solidFill>
              <a:latin typeface="Calibri"/>
              <a:ea typeface="Calibri"/>
              <a:cs typeface="Calibri"/>
              <a:sym typeface="Calibri"/>
            </a:endParaRPr>
          </a:p>
        </p:txBody>
      </p:sp>
      <p:graphicFrame>
        <p:nvGraphicFramePr>
          <p:cNvPr id="420" name="Google Shape;420;p55"/>
          <p:cNvGraphicFramePr/>
          <p:nvPr>
            <p:extLst>
              <p:ext uri="{D42A27DB-BD31-4B8C-83A1-F6EECF244321}">
                <p14:modId xmlns:p14="http://schemas.microsoft.com/office/powerpoint/2010/main" val="2060117673"/>
              </p:ext>
            </p:extLst>
          </p:nvPr>
        </p:nvGraphicFramePr>
        <p:xfrm>
          <a:off x="3306763" y="2494852"/>
          <a:ext cx="6676223" cy="3527500"/>
        </p:xfrm>
        <a:graphic>
          <a:graphicData uri="http://schemas.openxmlformats.org/drawingml/2006/table">
            <a:tbl>
              <a:tblPr>
                <a:noFill/>
                <a:tableStyleId>{C6F39B36-55F5-445C-BD81-517B801FB488}</a:tableStyleId>
              </a:tblPr>
              <a:tblGrid>
                <a:gridCol w="1311275">
                  <a:extLst>
                    <a:ext uri="{9D8B030D-6E8A-4147-A177-3AD203B41FA5}">
                      <a16:colId xmlns:a16="http://schemas.microsoft.com/office/drawing/2014/main" xmlns="" val="20000"/>
                    </a:ext>
                  </a:extLst>
                </a:gridCol>
                <a:gridCol w="1309675">
                  <a:extLst>
                    <a:ext uri="{9D8B030D-6E8A-4147-A177-3AD203B41FA5}">
                      <a16:colId xmlns:a16="http://schemas.microsoft.com/office/drawing/2014/main" xmlns="" val="20001"/>
                    </a:ext>
                  </a:extLst>
                </a:gridCol>
                <a:gridCol w="1449400">
                  <a:extLst>
                    <a:ext uri="{9D8B030D-6E8A-4147-A177-3AD203B41FA5}">
                      <a16:colId xmlns:a16="http://schemas.microsoft.com/office/drawing/2014/main" xmlns="" val="20002"/>
                    </a:ext>
                  </a:extLst>
                </a:gridCol>
                <a:gridCol w="1347775">
                  <a:extLst>
                    <a:ext uri="{9D8B030D-6E8A-4147-A177-3AD203B41FA5}">
                      <a16:colId xmlns:a16="http://schemas.microsoft.com/office/drawing/2014/main" xmlns="" val="20003"/>
                    </a:ext>
                  </a:extLst>
                </a:gridCol>
                <a:gridCol w="1258098">
                  <a:extLst>
                    <a:ext uri="{9D8B030D-6E8A-4147-A177-3AD203B41FA5}">
                      <a16:colId xmlns:a16="http://schemas.microsoft.com/office/drawing/2014/main" xmlns="" val="20004"/>
                    </a:ext>
                  </a:extLst>
                </a:gridCol>
              </a:tblGrid>
              <a:tr h="423875">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dirty="0">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0"/>
                  </a:ext>
                </a:extLst>
              </a:tr>
              <a:tr h="358775">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dirty="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1"/>
                  </a:ext>
                </a:extLst>
              </a:tr>
              <a:tr h="290525">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dirty="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2"/>
                  </a:ext>
                </a:extLst>
              </a:tr>
              <a:tr h="274650">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3"/>
                  </a:ext>
                </a:extLst>
              </a:tr>
              <a:tr h="325450">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4"/>
                  </a:ext>
                </a:extLst>
              </a:tr>
              <a:tr h="303225">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5"/>
                  </a:ext>
                </a:extLst>
              </a:tr>
              <a:tr h="285750">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6"/>
                  </a:ext>
                </a:extLst>
              </a:tr>
              <a:tr h="288925">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7"/>
                  </a:ext>
                </a:extLst>
              </a:tr>
              <a:tr h="288925">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dirty="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8"/>
                  </a:ext>
                </a:extLst>
              </a:tr>
              <a:tr h="325450">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dirty="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9"/>
                  </a:ext>
                </a:extLst>
              </a:tr>
              <a:tr h="361950">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hlink"/>
                        </a:buClr>
                        <a:buSzPts val="800"/>
                        <a:buFont typeface="Noto Sans Symbols"/>
                        <a:buNone/>
                      </a:pPr>
                      <a:endParaRPr sz="800" b="0" i="0" u="none" strike="noStrike" cap="none" dirty="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xmlns="" val="10010"/>
                  </a:ext>
                </a:extLst>
              </a:tr>
            </a:tbl>
          </a:graphicData>
        </a:graphic>
      </p:graphicFrame>
      <p:sp>
        <p:nvSpPr>
          <p:cNvPr id="421" name="Google Shape;421;p55"/>
          <p:cNvSpPr txBox="1">
            <a:spLocks noGrp="1"/>
          </p:cNvSpPr>
          <p:nvPr>
            <p:ph type="title"/>
          </p:nvPr>
        </p:nvSpPr>
        <p:spPr>
          <a:xfrm>
            <a:off x="191344" y="228600"/>
            <a:ext cx="9867056" cy="838200"/>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ct val="100000"/>
              <a:buFont typeface="Arial Black"/>
              <a:buNone/>
            </a:pPr>
            <a:r>
              <a:rPr lang="en-US" b="1">
                <a:solidFill>
                  <a:schemeClr val="lt1"/>
                </a:solidFill>
                <a:latin typeface="Arial Black"/>
                <a:ea typeface="Arial Black"/>
                <a:cs typeface="Arial Black"/>
                <a:sym typeface="Arial Black"/>
              </a:rPr>
              <a:t>Binary Codes for Decimal Digits</a:t>
            </a:r>
            <a:endParaRPr/>
          </a:p>
        </p:txBody>
      </p:sp>
      <p:sp>
        <p:nvSpPr>
          <p:cNvPr id="422" name="Google Shape;422;p55"/>
          <p:cNvSpPr/>
          <p:nvPr/>
        </p:nvSpPr>
        <p:spPr>
          <a:xfrm>
            <a:off x="4592639" y="3255964"/>
            <a:ext cx="7937"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23" name="Google Shape;423;p55"/>
          <p:cNvSpPr/>
          <p:nvPr/>
        </p:nvSpPr>
        <p:spPr>
          <a:xfrm>
            <a:off x="6018214" y="5646739"/>
            <a:ext cx="9525" cy="7937"/>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24" name="Google Shape;424;p55"/>
          <p:cNvSpPr/>
          <p:nvPr/>
        </p:nvSpPr>
        <p:spPr>
          <a:xfrm>
            <a:off x="4592639" y="3556000"/>
            <a:ext cx="7937" cy="793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25" name="Google Shape;425;p55"/>
          <p:cNvSpPr/>
          <p:nvPr/>
        </p:nvSpPr>
        <p:spPr>
          <a:xfrm>
            <a:off x="4592639" y="5048251"/>
            <a:ext cx="7937"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26" name="Google Shape;426;p55"/>
          <p:cNvSpPr/>
          <p:nvPr/>
        </p:nvSpPr>
        <p:spPr>
          <a:xfrm>
            <a:off x="3306763" y="4711701"/>
            <a:ext cx="19050"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27" name="Google Shape;427;p55"/>
          <p:cNvSpPr/>
          <p:nvPr/>
        </p:nvSpPr>
        <p:spPr>
          <a:xfrm>
            <a:off x="3325813" y="4711701"/>
            <a:ext cx="1325562"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28" name="Google Shape;428;p55"/>
          <p:cNvSpPr/>
          <p:nvPr/>
        </p:nvSpPr>
        <p:spPr>
          <a:xfrm>
            <a:off x="4659314" y="4711701"/>
            <a:ext cx="1417637"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29" name="Google Shape;429;p55"/>
          <p:cNvSpPr/>
          <p:nvPr/>
        </p:nvSpPr>
        <p:spPr>
          <a:xfrm>
            <a:off x="6076951" y="4711701"/>
            <a:ext cx="9525"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30" name="Google Shape;430;p55"/>
          <p:cNvSpPr/>
          <p:nvPr/>
        </p:nvSpPr>
        <p:spPr>
          <a:xfrm>
            <a:off x="6086475" y="4711701"/>
            <a:ext cx="1379538"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31" name="Google Shape;431;p55"/>
          <p:cNvSpPr/>
          <p:nvPr/>
        </p:nvSpPr>
        <p:spPr>
          <a:xfrm>
            <a:off x="7466014" y="4711701"/>
            <a:ext cx="9525"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32" name="Google Shape;432;p55"/>
          <p:cNvSpPr/>
          <p:nvPr/>
        </p:nvSpPr>
        <p:spPr>
          <a:xfrm>
            <a:off x="7475538" y="4711701"/>
            <a:ext cx="1230312"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33" name="Google Shape;433;p55"/>
          <p:cNvSpPr/>
          <p:nvPr/>
        </p:nvSpPr>
        <p:spPr>
          <a:xfrm>
            <a:off x="8705850" y="4711701"/>
            <a:ext cx="19050"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34" name="Google Shape;434;p55"/>
          <p:cNvSpPr/>
          <p:nvPr/>
        </p:nvSpPr>
        <p:spPr>
          <a:xfrm>
            <a:off x="8724900" y="4711701"/>
            <a:ext cx="1227138"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35" name="Google Shape;435;p55"/>
          <p:cNvSpPr/>
          <p:nvPr/>
        </p:nvSpPr>
        <p:spPr>
          <a:xfrm>
            <a:off x="9952038" y="4711701"/>
            <a:ext cx="19050"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36" name="Google Shape;436;p55"/>
          <p:cNvSpPr/>
          <p:nvPr/>
        </p:nvSpPr>
        <p:spPr>
          <a:xfrm>
            <a:off x="3455988" y="2505075"/>
            <a:ext cx="100668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a:solidFill>
                  <a:srgbClr val="000000"/>
                </a:solidFill>
                <a:latin typeface="Calibri"/>
                <a:ea typeface="Calibri"/>
                <a:cs typeface="Calibri"/>
                <a:sym typeface="Calibri"/>
              </a:rPr>
              <a:t>Decimal</a:t>
            </a:r>
            <a:endParaRPr sz="2400">
              <a:solidFill>
                <a:schemeClr val="dk1"/>
              </a:solidFill>
              <a:latin typeface="Calibri"/>
              <a:ea typeface="Calibri"/>
              <a:cs typeface="Calibri"/>
              <a:sym typeface="Calibri"/>
            </a:endParaRPr>
          </a:p>
        </p:txBody>
      </p:sp>
      <p:sp>
        <p:nvSpPr>
          <p:cNvPr id="437" name="Google Shape;437;p55"/>
          <p:cNvSpPr/>
          <p:nvPr/>
        </p:nvSpPr>
        <p:spPr>
          <a:xfrm>
            <a:off x="4949825" y="2505075"/>
            <a:ext cx="852798"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a:solidFill>
                  <a:srgbClr val="000000"/>
                </a:solidFill>
                <a:latin typeface="Calibri"/>
                <a:ea typeface="Calibri"/>
                <a:cs typeface="Calibri"/>
                <a:sym typeface="Calibri"/>
              </a:rPr>
              <a:t>8,4,2,1</a:t>
            </a:r>
            <a:endParaRPr sz="2400">
              <a:solidFill>
                <a:schemeClr val="dk1"/>
              </a:solidFill>
              <a:latin typeface="Calibri"/>
              <a:ea typeface="Calibri"/>
              <a:cs typeface="Calibri"/>
              <a:sym typeface="Calibri"/>
            </a:endParaRPr>
          </a:p>
        </p:txBody>
      </p:sp>
      <p:sp>
        <p:nvSpPr>
          <p:cNvPr id="438" name="Google Shape;438;p55"/>
          <p:cNvSpPr/>
          <p:nvPr/>
        </p:nvSpPr>
        <p:spPr>
          <a:xfrm>
            <a:off x="5786438" y="2505075"/>
            <a:ext cx="6893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39" name="Google Shape;439;p55"/>
          <p:cNvSpPr/>
          <p:nvPr/>
        </p:nvSpPr>
        <p:spPr>
          <a:xfrm>
            <a:off x="6272213" y="2505075"/>
            <a:ext cx="95648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a:solidFill>
                  <a:srgbClr val="000000"/>
                </a:solidFill>
                <a:latin typeface="Calibri"/>
                <a:ea typeface="Calibri"/>
                <a:cs typeface="Calibri"/>
                <a:sym typeface="Calibri"/>
              </a:rPr>
              <a:t>Excess3</a:t>
            </a:r>
            <a:endParaRPr sz="2400">
              <a:solidFill>
                <a:schemeClr val="dk1"/>
              </a:solidFill>
              <a:latin typeface="Calibri"/>
              <a:ea typeface="Calibri"/>
              <a:cs typeface="Calibri"/>
              <a:sym typeface="Calibri"/>
            </a:endParaRPr>
          </a:p>
        </p:txBody>
      </p:sp>
      <p:sp>
        <p:nvSpPr>
          <p:cNvPr id="440" name="Google Shape;440;p55"/>
          <p:cNvSpPr/>
          <p:nvPr/>
        </p:nvSpPr>
        <p:spPr>
          <a:xfrm>
            <a:off x="7286625" y="2505075"/>
            <a:ext cx="6893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41" name="Google Shape;441;p55"/>
          <p:cNvSpPr/>
          <p:nvPr/>
        </p:nvSpPr>
        <p:spPr>
          <a:xfrm>
            <a:off x="7575551" y="2505075"/>
            <a:ext cx="464871"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a:solidFill>
                  <a:srgbClr val="000000"/>
                </a:solidFill>
                <a:latin typeface="Calibri"/>
                <a:ea typeface="Calibri"/>
                <a:cs typeface="Calibri"/>
                <a:sym typeface="Calibri"/>
              </a:rPr>
              <a:t>8,4,</a:t>
            </a:r>
            <a:endParaRPr sz="2400">
              <a:solidFill>
                <a:schemeClr val="dk1"/>
              </a:solidFill>
              <a:latin typeface="Calibri"/>
              <a:ea typeface="Calibri"/>
              <a:cs typeface="Calibri"/>
              <a:sym typeface="Calibri"/>
            </a:endParaRPr>
          </a:p>
        </p:txBody>
      </p:sp>
      <p:sp>
        <p:nvSpPr>
          <p:cNvPr id="442" name="Google Shape;442;p55"/>
          <p:cNvSpPr/>
          <p:nvPr/>
        </p:nvSpPr>
        <p:spPr>
          <a:xfrm>
            <a:off x="8032750" y="2505075"/>
            <a:ext cx="94578"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a:solidFill>
                  <a:srgbClr val="000000"/>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
        <p:nvSpPr>
          <p:cNvPr id="443" name="Google Shape;443;p55"/>
          <p:cNvSpPr/>
          <p:nvPr/>
        </p:nvSpPr>
        <p:spPr>
          <a:xfrm>
            <a:off x="8132763" y="2505075"/>
            <a:ext cx="23243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a:solidFill>
                  <a:srgbClr val="000000"/>
                </a:solidFill>
                <a:latin typeface="Calibri"/>
                <a:ea typeface="Calibri"/>
                <a:cs typeface="Calibri"/>
                <a:sym typeface="Calibri"/>
              </a:rPr>
              <a:t>2,</a:t>
            </a:r>
            <a:endParaRPr sz="2400">
              <a:solidFill>
                <a:schemeClr val="dk1"/>
              </a:solidFill>
              <a:latin typeface="Calibri"/>
              <a:ea typeface="Calibri"/>
              <a:cs typeface="Calibri"/>
              <a:sym typeface="Calibri"/>
            </a:endParaRPr>
          </a:p>
        </p:txBody>
      </p:sp>
      <p:sp>
        <p:nvSpPr>
          <p:cNvPr id="444" name="Google Shape;444;p55"/>
          <p:cNvSpPr/>
          <p:nvPr/>
        </p:nvSpPr>
        <p:spPr>
          <a:xfrm>
            <a:off x="8361363" y="2505075"/>
            <a:ext cx="94578"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a:solidFill>
                  <a:srgbClr val="000000"/>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
        <p:nvSpPr>
          <p:cNvPr id="445" name="Google Shape;445;p55"/>
          <p:cNvSpPr/>
          <p:nvPr/>
        </p:nvSpPr>
        <p:spPr>
          <a:xfrm>
            <a:off x="8462963" y="2505075"/>
            <a:ext cx="155492"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a:solidFill>
                  <a:srgbClr val="000000"/>
                </a:solidFill>
                <a:latin typeface="Calibri"/>
                <a:ea typeface="Calibri"/>
                <a:cs typeface="Calibri"/>
                <a:sym typeface="Calibri"/>
              </a:rPr>
              <a:t>1</a:t>
            </a:r>
            <a:endParaRPr sz="2400">
              <a:solidFill>
                <a:schemeClr val="dk1"/>
              </a:solidFill>
              <a:latin typeface="Calibri"/>
              <a:ea typeface="Calibri"/>
              <a:cs typeface="Calibri"/>
              <a:sym typeface="Calibri"/>
            </a:endParaRPr>
          </a:p>
        </p:txBody>
      </p:sp>
      <p:sp>
        <p:nvSpPr>
          <p:cNvPr id="446" name="Google Shape;446;p55"/>
          <p:cNvSpPr/>
          <p:nvPr/>
        </p:nvSpPr>
        <p:spPr>
          <a:xfrm>
            <a:off x="8785225" y="2505075"/>
            <a:ext cx="6893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47" name="Google Shape;447;p55"/>
          <p:cNvSpPr/>
          <p:nvPr/>
        </p:nvSpPr>
        <p:spPr>
          <a:xfrm>
            <a:off x="8997950" y="2505075"/>
            <a:ext cx="74203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dirty="0">
                <a:solidFill>
                  <a:srgbClr val="000000"/>
                </a:solidFill>
                <a:latin typeface="Calibri"/>
                <a:ea typeface="Calibri"/>
                <a:cs typeface="Calibri"/>
                <a:sym typeface="Calibri"/>
              </a:rPr>
              <a:t>Gray</a:t>
            </a:r>
            <a:endParaRPr sz="2400" dirty="0">
              <a:solidFill>
                <a:schemeClr val="dk1"/>
              </a:solidFill>
              <a:latin typeface="Calibri"/>
              <a:ea typeface="Calibri"/>
              <a:cs typeface="Calibri"/>
              <a:sym typeface="Calibri"/>
            </a:endParaRPr>
          </a:p>
        </p:txBody>
      </p:sp>
      <p:sp>
        <p:nvSpPr>
          <p:cNvPr id="448" name="Google Shape;448;p55"/>
          <p:cNvSpPr/>
          <p:nvPr/>
        </p:nvSpPr>
        <p:spPr>
          <a:xfrm>
            <a:off x="9671050" y="2505075"/>
            <a:ext cx="6893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400"/>
              <a:buFont typeface="Noto Sans Symbols"/>
              <a:buNone/>
            </a:pPr>
            <a:r>
              <a:rPr lang="en-US" sz="24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49" name="Google Shape;449;p55"/>
          <p:cNvSpPr/>
          <p:nvPr/>
        </p:nvSpPr>
        <p:spPr>
          <a:xfrm>
            <a:off x="3922713" y="2941639"/>
            <a:ext cx="129844"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a:t>
            </a:r>
            <a:endParaRPr sz="2400">
              <a:solidFill>
                <a:schemeClr val="dk1"/>
              </a:solidFill>
              <a:latin typeface="Calibri"/>
              <a:ea typeface="Calibri"/>
              <a:cs typeface="Calibri"/>
              <a:sym typeface="Calibri"/>
            </a:endParaRPr>
          </a:p>
        </p:txBody>
      </p:sp>
      <p:sp>
        <p:nvSpPr>
          <p:cNvPr id="450" name="Google Shape;450;p55"/>
          <p:cNvSpPr/>
          <p:nvPr/>
        </p:nvSpPr>
        <p:spPr>
          <a:xfrm>
            <a:off x="4051300" y="29416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51" name="Google Shape;451;p55"/>
          <p:cNvSpPr/>
          <p:nvPr/>
        </p:nvSpPr>
        <p:spPr>
          <a:xfrm>
            <a:off x="5113339" y="294163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0000</a:t>
            </a:r>
            <a:endParaRPr sz="2400">
              <a:solidFill>
                <a:schemeClr val="dk1"/>
              </a:solidFill>
              <a:latin typeface="Calibri"/>
              <a:ea typeface="Calibri"/>
              <a:cs typeface="Calibri"/>
              <a:sym typeface="Calibri"/>
            </a:endParaRPr>
          </a:p>
        </p:txBody>
      </p:sp>
      <p:sp>
        <p:nvSpPr>
          <p:cNvPr id="452" name="Google Shape;452;p55"/>
          <p:cNvSpPr/>
          <p:nvPr/>
        </p:nvSpPr>
        <p:spPr>
          <a:xfrm>
            <a:off x="5626100" y="29416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53" name="Google Shape;453;p55"/>
          <p:cNvSpPr/>
          <p:nvPr/>
        </p:nvSpPr>
        <p:spPr>
          <a:xfrm>
            <a:off x="6521451" y="294163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dirty="0">
                <a:solidFill>
                  <a:srgbClr val="000000"/>
                </a:solidFill>
                <a:latin typeface="Calibri"/>
                <a:ea typeface="Calibri"/>
                <a:cs typeface="Calibri"/>
                <a:sym typeface="Calibri"/>
              </a:rPr>
              <a:t>0011</a:t>
            </a:r>
            <a:endParaRPr sz="2400" dirty="0">
              <a:solidFill>
                <a:schemeClr val="dk1"/>
              </a:solidFill>
              <a:latin typeface="Calibri"/>
              <a:ea typeface="Calibri"/>
              <a:cs typeface="Calibri"/>
              <a:sym typeface="Calibri"/>
            </a:endParaRPr>
          </a:p>
        </p:txBody>
      </p:sp>
      <p:sp>
        <p:nvSpPr>
          <p:cNvPr id="454" name="Google Shape;454;p55"/>
          <p:cNvSpPr/>
          <p:nvPr/>
        </p:nvSpPr>
        <p:spPr>
          <a:xfrm>
            <a:off x="7032625" y="29416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55" name="Google Shape;455;p55"/>
          <p:cNvSpPr/>
          <p:nvPr/>
        </p:nvSpPr>
        <p:spPr>
          <a:xfrm>
            <a:off x="7837489" y="294163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0000</a:t>
            </a:r>
            <a:endParaRPr sz="2400">
              <a:solidFill>
                <a:schemeClr val="dk1"/>
              </a:solidFill>
              <a:latin typeface="Calibri"/>
              <a:ea typeface="Calibri"/>
              <a:cs typeface="Calibri"/>
              <a:sym typeface="Calibri"/>
            </a:endParaRPr>
          </a:p>
        </p:txBody>
      </p:sp>
      <p:sp>
        <p:nvSpPr>
          <p:cNvPr id="456" name="Google Shape;456;p55"/>
          <p:cNvSpPr/>
          <p:nvPr/>
        </p:nvSpPr>
        <p:spPr>
          <a:xfrm>
            <a:off x="8350250" y="29416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57" name="Google Shape;457;p55"/>
          <p:cNvSpPr/>
          <p:nvPr/>
        </p:nvSpPr>
        <p:spPr>
          <a:xfrm>
            <a:off x="9080501" y="294163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0000</a:t>
            </a:r>
            <a:endParaRPr sz="2400">
              <a:solidFill>
                <a:schemeClr val="dk1"/>
              </a:solidFill>
              <a:latin typeface="Calibri"/>
              <a:ea typeface="Calibri"/>
              <a:cs typeface="Calibri"/>
              <a:sym typeface="Calibri"/>
            </a:endParaRPr>
          </a:p>
        </p:txBody>
      </p:sp>
      <p:sp>
        <p:nvSpPr>
          <p:cNvPr id="458" name="Google Shape;458;p55"/>
          <p:cNvSpPr/>
          <p:nvPr/>
        </p:nvSpPr>
        <p:spPr>
          <a:xfrm>
            <a:off x="9593263" y="29416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59" name="Google Shape;459;p55"/>
          <p:cNvSpPr/>
          <p:nvPr/>
        </p:nvSpPr>
        <p:spPr>
          <a:xfrm>
            <a:off x="3306763" y="2919414"/>
            <a:ext cx="19050"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60" name="Google Shape;460;p55"/>
          <p:cNvSpPr/>
          <p:nvPr/>
        </p:nvSpPr>
        <p:spPr>
          <a:xfrm>
            <a:off x="3325813" y="2919414"/>
            <a:ext cx="1325562"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61" name="Google Shape;461;p55"/>
          <p:cNvSpPr/>
          <p:nvPr/>
        </p:nvSpPr>
        <p:spPr>
          <a:xfrm>
            <a:off x="4659314" y="2919414"/>
            <a:ext cx="1417637"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62" name="Google Shape;462;p55"/>
          <p:cNvSpPr/>
          <p:nvPr/>
        </p:nvSpPr>
        <p:spPr>
          <a:xfrm>
            <a:off x="6076951" y="2919414"/>
            <a:ext cx="9525"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63" name="Google Shape;463;p55"/>
          <p:cNvSpPr/>
          <p:nvPr/>
        </p:nvSpPr>
        <p:spPr>
          <a:xfrm>
            <a:off x="6086475" y="2919414"/>
            <a:ext cx="1379538"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64" name="Google Shape;464;p55"/>
          <p:cNvSpPr/>
          <p:nvPr/>
        </p:nvSpPr>
        <p:spPr>
          <a:xfrm>
            <a:off x="7466014" y="2919414"/>
            <a:ext cx="9525"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65" name="Google Shape;465;p55"/>
          <p:cNvSpPr/>
          <p:nvPr/>
        </p:nvSpPr>
        <p:spPr>
          <a:xfrm>
            <a:off x="7475538" y="2919414"/>
            <a:ext cx="1230312"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66" name="Google Shape;466;p55"/>
          <p:cNvSpPr/>
          <p:nvPr/>
        </p:nvSpPr>
        <p:spPr>
          <a:xfrm>
            <a:off x="8705850" y="2919414"/>
            <a:ext cx="19050"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67" name="Google Shape;467;p55"/>
          <p:cNvSpPr/>
          <p:nvPr/>
        </p:nvSpPr>
        <p:spPr>
          <a:xfrm>
            <a:off x="8724900" y="2919414"/>
            <a:ext cx="1227138"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68" name="Google Shape;468;p55"/>
          <p:cNvSpPr/>
          <p:nvPr/>
        </p:nvSpPr>
        <p:spPr>
          <a:xfrm>
            <a:off x="9952038" y="2919414"/>
            <a:ext cx="19050" cy="9525"/>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
        <p:nvSpPr>
          <p:cNvPr id="469" name="Google Shape;469;p55"/>
          <p:cNvSpPr/>
          <p:nvPr/>
        </p:nvSpPr>
        <p:spPr>
          <a:xfrm>
            <a:off x="3922713" y="3240089"/>
            <a:ext cx="129844"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1</a:t>
            </a:r>
            <a:endParaRPr sz="2400">
              <a:solidFill>
                <a:schemeClr val="dk1"/>
              </a:solidFill>
              <a:latin typeface="Calibri"/>
              <a:ea typeface="Calibri"/>
              <a:cs typeface="Calibri"/>
              <a:sym typeface="Calibri"/>
            </a:endParaRPr>
          </a:p>
        </p:txBody>
      </p:sp>
      <p:sp>
        <p:nvSpPr>
          <p:cNvPr id="470" name="Google Shape;470;p55"/>
          <p:cNvSpPr/>
          <p:nvPr/>
        </p:nvSpPr>
        <p:spPr>
          <a:xfrm>
            <a:off x="4051300" y="32400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71" name="Google Shape;471;p55"/>
          <p:cNvSpPr/>
          <p:nvPr/>
        </p:nvSpPr>
        <p:spPr>
          <a:xfrm>
            <a:off x="5113339" y="324008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0001</a:t>
            </a:r>
            <a:endParaRPr sz="2400">
              <a:solidFill>
                <a:schemeClr val="dk1"/>
              </a:solidFill>
              <a:latin typeface="Calibri"/>
              <a:ea typeface="Calibri"/>
              <a:cs typeface="Calibri"/>
              <a:sym typeface="Calibri"/>
            </a:endParaRPr>
          </a:p>
        </p:txBody>
      </p:sp>
      <p:sp>
        <p:nvSpPr>
          <p:cNvPr id="472" name="Google Shape;472;p55"/>
          <p:cNvSpPr/>
          <p:nvPr/>
        </p:nvSpPr>
        <p:spPr>
          <a:xfrm>
            <a:off x="5626100" y="32400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73" name="Google Shape;473;p55"/>
          <p:cNvSpPr/>
          <p:nvPr/>
        </p:nvSpPr>
        <p:spPr>
          <a:xfrm>
            <a:off x="6521451" y="324008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0100</a:t>
            </a:r>
            <a:endParaRPr sz="2400">
              <a:solidFill>
                <a:schemeClr val="dk1"/>
              </a:solidFill>
              <a:latin typeface="Calibri"/>
              <a:ea typeface="Calibri"/>
              <a:cs typeface="Calibri"/>
              <a:sym typeface="Calibri"/>
            </a:endParaRPr>
          </a:p>
        </p:txBody>
      </p:sp>
      <p:sp>
        <p:nvSpPr>
          <p:cNvPr id="474" name="Google Shape;474;p55"/>
          <p:cNvSpPr/>
          <p:nvPr/>
        </p:nvSpPr>
        <p:spPr>
          <a:xfrm>
            <a:off x="7032625" y="32400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75" name="Google Shape;475;p55"/>
          <p:cNvSpPr/>
          <p:nvPr/>
        </p:nvSpPr>
        <p:spPr>
          <a:xfrm>
            <a:off x="7837489" y="324008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0111</a:t>
            </a:r>
            <a:endParaRPr sz="2400">
              <a:solidFill>
                <a:schemeClr val="dk1"/>
              </a:solidFill>
              <a:latin typeface="Calibri"/>
              <a:ea typeface="Calibri"/>
              <a:cs typeface="Calibri"/>
              <a:sym typeface="Calibri"/>
            </a:endParaRPr>
          </a:p>
        </p:txBody>
      </p:sp>
      <p:sp>
        <p:nvSpPr>
          <p:cNvPr id="476" name="Google Shape;476;p55"/>
          <p:cNvSpPr/>
          <p:nvPr/>
        </p:nvSpPr>
        <p:spPr>
          <a:xfrm>
            <a:off x="8350250" y="32400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77" name="Google Shape;477;p55"/>
          <p:cNvSpPr/>
          <p:nvPr/>
        </p:nvSpPr>
        <p:spPr>
          <a:xfrm>
            <a:off x="9080501" y="324008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0100</a:t>
            </a:r>
            <a:endParaRPr sz="2400">
              <a:solidFill>
                <a:schemeClr val="dk1"/>
              </a:solidFill>
              <a:latin typeface="Calibri"/>
              <a:ea typeface="Calibri"/>
              <a:cs typeface="Calibri"/>
              <a:sym typeface="Calibri"/>
            </a:endParaRPr>
          </a:p>
        </p:txBody>
      </p:sp>
      <p:sp>
        <p:nvSpPr>
          <p:cNvPr id="478" name="Google Shape;478;p55"/>
          <p:cNvSpPr/>
          <p:nvPr/>
        </p:nvSpPr>
        <p:spPr>
          <a:xfrm>
            <a:off x="9593263" y="32400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79" name="Google Shape;479;p55"/>
          <p:cNvSpPr/>
          <p:nvPr/>
        </p:nvSpPr>
        <p:spPr>
          <a:xfrm>
            <a:off x="3922713" y="3538539"/>
            <a:ext cx="129844"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2</a:t>
            </a:r>
            <a:endParaRPr sz="2400">
              <a:solidFill>
                <a:schemeClr val="dk1"/>
              </a:solidFill>
              <a:latin typeface="Calibri"/>
              <a:ea typeface="Calibri"/>
              <a:cs typeface="Calibri"/>
              <a:sym typeface="Calibri"/>
            </a:endParaRPr>
          </a:p>
        </p:txBody>
      </p:sp>
      <p:sp>
        <p:nvSpPr>
          <p:cNvPr id="480" name="Google Shape;480;p55"/>
          <p:cNvSpPr/>
          <p:nvPr/>
        </p:nvSpPr>
        <p:spPr>
          <a:xfrm>
            <a:off x="4051300" y="35385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81" name="Google Shape;481;p55"/>
          <p:cNvSpPr/>
          <p:nvPr/>
        </p:nvSpPr>
        <p:spPr>
          <a:xfrm>
            <a:off x="5113339" y="353853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0010</a:t>
            </a:r>
            <a:endParaRPr sz="2400">
              <a:solidFill>
                <a:schemeClr val="dk1"/>
              </a:solidFill>
              <a:latin typeface="Calibri"/>
              <a:ea typeface="Calibri"/>
              <a:cs typeface="Calibri"/>
              <a:sym typeface="Calibri"/>
            </a:endParaRPr>
          </a:p>
        </p:txBody>
      </p:sp>
      <p:sp>
        <p:nvSpPr>
          <p:cNvPr id="482" name="Google Shape;482;p55"/>
          <p:cNvSpPr/>
          <p:nvPr/>
        </p:nvSpPr>
        <p:spPr>
          <a:xfrm>
            <a:off x="5626100" y="35385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83" name="Google Shape;483;p55"/>
          <p:cNvSpPr/>
          <p:nvPr/>
        </p:nvSpPr>
        <p:spPr>
          <a:xfrm>
            <a:off x="6521451" y="353853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dirty="0">
                <a:solidFill>
                  <a:srgbClr val="000000"/>
                </a:solidFill>
                <a:latin typeface="Calibri"/>
                <a:ea typeface="Calibri"/>
                <a:cs typeface="Calibri"/>
                <a:sym typeface="Calibri"/>
              </a:rPr>
              <a:t>0101</a:t>
            </a:r>
            <a:endParaRPr sz="2400" dirty="0">
              <a:solidFill>
                <a:schemeClr val="dk1"/>
              </a:solidFill>
              <a:latin typeface="Calibri"/>
              <a:ea typeface="Calibri"/>
              <a:cs typeface="Calibri"/>
              <a:sym typeface="Calibri"/>
            </a:endParaRPr>
          </a:p>
        </p:txBody>
      </p:sp>
      <p:sp>
        <p:nvSpPr>
          <p:cNvPr id="484" name="Google Shape;484;p55"/>
          <p:cNvSpPr/>
          <p:nvPr/>
        </p:nvSpPr>
        <p:spPr>
          <a:xfrm>
            <a:off x="7032625" y="35385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85" name="Google Shape;485;p55"/>
          <p:cNvSpPr/>
          <p:nvPr/>
        </p:nvSpPr>
        <p:spPr>
          <a:xfrm>
            <a:off x="7837489" y="353853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0110</a:t>
            </a:r>
            <a:endParaRPr sz="2400">
              <a:solidFill>
                <a:schemeClr val="dk1"/>
              </a:solidFill>
              <a:latin typeface="Calibri"/>
              <a:ea typeface="Calibri"/>
              <a:cs typeface="Calibri"/>
              <a:sym typeface="Calibri"/>
            </a:endParaRPr>
          </a:p>
        </p:txBody>
      </p:sp>
      <p:sp>
        <p:nvSpPr>
          <p:cNvPr id="486" name="Google Shape;486;p55"/>
          <p:cNvSpPr/>
          <p:nvPr/>
        </p:nvSpPr>
        <p:spPr>
          <a:xfrm>
            <a:off x="8350250" y="35385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87" name="Google Shape;487;p55"/>
          <p:cNvSpPr/>
          <p:nvPr/>
        </p:nvSpPr>
        <p:spPr>
          <a:xfrm>
            <a:off x="9080501" y="353853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0101</a:t>
            </a:r>
            <a:endParaRPr sz="2400">
              <a:solidFill>
                <a:schemeClr val="dk1"/>
              </a:solidFill>
              <a:latin typeface="Calibri"/>
              <a:ea typeface="Calibri"/>
              <a:cs typeface="Calibri"/>
              <a:sym typeface="Calibri"/>
            </a:endParaRPr>
          </a:p>
        </p:txBody>
      </p:sp>
      <p:sp>
        <p:nvSpPr>
          <p:cNvPr id="488" name="Google Shape;488;p55"/>
          <p:cNvSpPr/>
          <p:nvPr/>
        </p:nvSpPr>
        <p:spPr>
          <a:xfrm>
            <a:off x="9593263" y="35385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89" name="Google Shape;489;p55"/>
          <p:cNvSpPr/>
          <p:nvPr/>
        </p:nvSpPr>
        <p:spPr>
          <a:xfrm>
            <a:off x="3922713" y="3836989"/>
            <a:ext cx="129844"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3</a:t>
            </a:r>
            <a:endParaRPr sz="2400">
              <a:solidFill>
                <a:schemeClr val="dk1"/>
              </a:solidFill>
              <a:latin typeface="Calibri"/>
              <a:ea typeface="Calibri"/>
              <a:cs typeface="Calibri"/>
              <a:sym typeface="Calibri"/>
            </a:endParaRPr>
          </a:p>
        </p:txBody>
      </p:sp>
      <p:sp>
        <p:nvSpPr>
          <p:cNvPr id="490" name="Google Shape;490;p55"/>
          <p:cNvSpPr/>
          <p:nvPr/>
        </p:nvSpPr>
        <p:spPr>
          <a:xfrm>
            <a:off x="4051300" y="38369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91" name="Google Shape;491;p55"/>
          <p:cNvSpPr/>
          <p:nvPr/>
        </p:nvSpPr>
        <p:spPr>
          <a:xfrm>
            <a:off x="5113339" y="383698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dirty="0">
                <a:solidFill>
                  <a:srgbClr val="000000"/>
                </a:solidFill>
                <a:latin typeface="Calibri"/>
                <a:ea typeface="Calibri"/>
                <a:cs typeface="Calibri"/>
                <a:sym typeface="Calibri"/>
              </a:rPr>
              <a:t>0011</a:t>
            </a:r>
            <a:endParaRPr sz="2400" dirty="0">
              <a:solidFill>
                <a:schemeClr val="dk1"/>
              </a:solidFill>
              <a:latin typeface="Calibri"/>
              <a:ea typeface="Calibri"/>
              <a:cs typeface="Calibri"/>
              <a:sym typeface="Calibri"/>
            </a:endParaRPr>
          </a:p>
        </p:txBody>
      </p:sp>
      <p:sp>
        <p:nvSpPr>
          <p:cNvPr id="492" name="Google Shape;492;p55"/>
          <p:cNvSpPr/>
          <p:nvPr/>
        </p:nvSpPr>
        <p:spPr>
          <a:xfrm>
            <a:off x="5626100" y="38369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93" name="Google Shape;493;p55"/>
          <p:cNvSpPr/>
          <p:nvPr/>
        </p:nvSpPr>
        <p:spPr>
          <a:xfrm>
            <a:off x="6521451" y="383698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0110</a:t>
            </a:r>
            <a:endParaRPr sz="2400">
              <a:solidFill>
                <a:schemeClr val="dk1"/>
              </a:solidFill>
              <a:latin typeface="Calibri"/>
              <a:ea typeface="Calibri"/>
              <a:cs typeface="Calibri"/>
              <a:sym typeface="Calibri"/>
            </a:endParaRPr>
          </a:p>
        </p:txBody>
      </p:sp>
      <p:sp>
        <p:nvSpPr>
          <p:cNvPr id="494" name="Google Shape;494;p55"/>
          <p:cNvSpPr/>
          <p:nvPr/>
        </p:nvSpPr>
        <p:spPr>
          <a:xfrm>
            <a:off x="7032625" y="38369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95" name="Google Shape;495;p55"/>
          <p:cNvSpPr/>
          <p:nvPr/>
        </p:nvSpPr>
        <p:spPr>
          <a:xfrm>
            <a:off x="7837489" y="383698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0101</a:t>
            </a:r>
            <a:endParaRPr sz="2400">
              <a:solidFill>
                <a:schemeClr val="dk1"/>
              </a:solidFill>
              <a:latin typeface="Calibri"/>
              <a:ea typeface="Calibri"/>
              <a:cs typeface="Calibri"/>
              <a:sym typeface="Calibri"/>
            </a:endParaRPr>
          </a:p>
        </p:txBody>
      </p:sp>
      <p:sp>
        <p:nvSpPr>
          <p:cNvPr id="496" name="Google Shape;496;p55"/>
          <p:cNvSpPr/>
          <p:nvPr/>
        </p:nvSpPr>
        <p:spPr>
          <a:xfrm>
            <a:off x="8350250" y="38369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97" name="Google Shape;497;p55"/>
          <p:cNvSpPr/>
          <p:nvPr/>
        </p:nvSpPr>
        <p:spPr>
          <a:xfrm>
            <a:off x="9080501" y="383698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0111</a:t>
            </a:r>
            <a:endParaRPr sz="2400">
              <a:solidFill>
                <a:schemeClr val="dk1"/>
              </a:solidFill>
              <a:latin typeface="Calibri"/>
              <a:ea typeface="Calibri"/>
              <a:cs typeface="Calibri"/>
              <a:sym typeface="Calibri"/>
            </a:endParaRPr>
          </a:p>
        </p:txBody>
      </p:sp>
      <p:sp>
        <p:nvSpPr>
          <p:cNvPr id="498" name="Google Shape;498;p55"/>
          <p:cNvSpPr/>
          <p:nvPr/>
        </p:nvSpPr>
        <p:spPr>
          <a:xfrm>
            <a:off x="9593263" y="38369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499" name="Google Shape;499;p55"/>
          <p:cNvSpPr/>
          <p:nvPr/>
        </p:nvSpPr>
        <p:spPr>
          <a:xfrm>
            <a:off x="3922713" y="4135439"/>
            <a:ext cx="129844"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4</a:t>
            </a:r>
            <a:endParaRPr sz="2400">
              <a:solidFill>
                <a:schemeClr val="dk1"/>
              </a:solidFill>
              <a:latin typeface="Calibri"/>
              <a:ea typeface="Calibri"/>
              <a:cs typeface="Calibri"/>
              <a:sym typeface="Calibri"/>
            </a:endParaRPr>
          </a:p>
        </p:txBody>
      </p:sp>
      <p:sp>
        <p:nvSpPr>
          <p:cNvPr id="500" name="Google Shape;500;p55"/>
          <p:cNvSpPr/>
          <p:nvPr/>
        </p:nvSpPr>
        <p:spPr>
          <a:xfrm>
            <a:off x="4051300" y="41354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01" name="Google Shape;501;p55"/>
          <p:cNvSpPr/>
          <p:nvPr/>
        </p:nvSpPr>
        <p:spPr>
          <a:xfrm>
            <a:off x="5113339" y="413543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0100</a:t>
            </a:r>
            <a:endParaRPr sz="2400">
              <a:solidFill>
                <a:schemeClr val="dk1"/>
              </a:solidFill>
              <a:latin typeface="Calibri"/>
              <a:ea typeface="Calibri"/>
              <a:cs typeface="Calibri"/>
              <a:sym typeface="Calibri"/>
            </a:endParaRPr>
          </a:p>
        </p:txBody>
      </p:sp>
      <p:sp>
        <p:nvSpPr>
          <p:cNvPr id="502" name="Google Shape;502;p55"/>
          <p:cNvSpPr/>
          <p:nvPr/>
        </p:nvSpPr>
        <p:spPr>
          <a:xfrm>
            <a:off x="5626100" y="41354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03" name="Google Shape;503;p55"/>
          <p:cNvSpPr/>
          <p:nvPr/>
        </p:nvSpPr>
        <p:spPr>
          <a:xfrm>
            <a:off x="6521451" y="413543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0111</a:t>
            </a:r>
            <a:endParaRPr sz="2400">
              <a:solidFill>
                <a:schemeClr val="dk1"/>
              </a:solidFill>
              <a:latin typeface="Calibri"/>
              <a:ea typeface="Calibri"/>
              <a:cs typeface="Calibri"/>
              <a:sym typeface="Calibri"/>
            </a:endParaRPr>
          </a:p>
        </p:txBody>
      </p:sp>
      <p:sp>
        <p:nvSpPr>
          <p:cNvPr id="504" name="Google Shape;504;p55"/>
          <p:cNvSpPr/>
          <p:nvPr/>
        </p:nvSpPr>
        <p:spPr>
          <a:xfrm>
            <a:off x="7032625" y="41354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05" name="Google Shape;505;p55"/>
          <p:cNvSpPr/>
          <p:nvPr/>
        </p:nvSpPr>
        <p:spPr>
          <a:xfrm>
            <a:off x="7837489" y="413543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0100</a:t>
            </a:r>
            <a:endParaRPr sz="2400">
              <a:solidFill>
                <a:schemeClr val="dk1"/>
              </a:solidFill>
              <a:latin typeface="Calibri"/>
              <a:ea typeface="Calibri"/>
              <a:cs typeface="Calibri"/>
              <a:sym typeface="Calibri"/>
            </a:endParaRPr>
          </a:p>
        </p:txBody>
      </p:sp>
      <p:sp>
        <p:nvSpPr>
          <p:cNvPr id="506" name="Google Shape;506;p55"/>
          <p:cNvSpPr/>
          <p:nvPr/>
        </p:nvSpPr>
        <p:spPr>
          <a:xfrm>
            <a:off x="8350250" y="41354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07" name="Google Shape;507;p55"/>
          <p:cNvSpPr/>
          <p:nvPr/>
        </p:nvSpPr>
        <p:spPr>
          <a:xfrm>
            <a:off x="9080501" y="413543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0110</a:t>
            </a:r>
            <a:endParaRPr sz="2400">
              <a:solidFill>
                <a:schemeClr val="dk1"/>
              </a:solidFill>
              <a:latin typeface="Calibri"/>
              <a:ea typeface="Calibri"/>
              <a:cs typeface="Calibri"/>
              <a:sym typeface="Calibri"/>
            </a:endParaRPr>
          </a:p>
        </p:txBody>
      </p:sp>
      <p:sp>
        <p:nvSpPr>
          <p:cNvPr id="508" name="Google Shape;508;p55"/>
          <p:cNvSpPr/>
          <p:nvPr/>
        </p:nvSpPr>
        <p:spPr>
          <a:xfrm>
            <a:off x="9593263" y="41354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09" name="Google Shape;509;p55"/>
          <p:cNvSpPr/>
          <p:nvPr/>
        </p:nvSpPr>
        <p:spPr>
          <a:xfrm>
            <a:off x="3922713" y="4433889"/>
            <a:ext cx="129844"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5</a:t>
            </a:r>
            <a:endParaRPr sz="2400">
              <a:solidFill>
                <a:schemeClr val="dk1"/>
              </a:solidFill>
              <a:latin typeface="Calibri"/>
              <a:ea typeface="Calibri"/>
              <a:cs typeface="Calibri"/>
              <a:sym typeface="Calibri"/>
            </a:endParaRPr>
          </a:p>
        </p:txBody>
      </p:sp>
      <p:sp>
        <p:nvSpPr>
          <p:cNvPr id="510" name="Google Shape;510;p55"/>
          <p:cNvSpPr/>
          <p:nvPr/>
        </p:nvSpPr>
        <p:spPr>
          <a:xfrm>
            <a:off x="4051300" y="44338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11" name="Google Shape;511;p55"/>
          <p:cNvSpPr/>
          <p:nvPr/>
        </p:nvSpPr>
        <p:spPr>
          <a:xfrm>
            <a:off x="5113339" y="443388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0101</a:t>
            </a:r>
            <a:endParaRPr sz="2400">
              <a:solidFill>
                <a:schemeClr val="dk1"/>
              </a:solidFill>
              <a:latin typeface="Calibri"/>
              <a:ea typeface="Calibri"/>
              <a:cs typeface="Calibri"/>
              <a:sym typeface="Calibri"/>
            </a:endParaRPr>
          </a:p>
        </p:txBody>
      </p:sp>
      <p:sp>
        <p:nvSpPr>
          <p:cNvPr id="512" name="Google Shape;512;p55"/>
          <p:cNvSpPr/>
          <p:nvPr/>
        </p:nvSpPr>
        <p:spPr>
          <a:xfrm>
            <a:off x="5626100" y="44338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13" name="Google Shape;513;p55"/>
          <p:cNvSpPr/>
          <p:nvPr/>
        </p:nvSpPr>
        <p:spPr>
          <a:xfrm>
            <a:off x="6521451" y="443388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1000</a:t>
            </a:r>
            <a:endParaRPr sz="2400">
              <a:solidFill>
                <a:schemeClr val="dk1"/>
              </a:solidFill>
              <a:latin typeface="Calibri"/>
              <a:ea typeface="Calibri"/>
              <a:cs typeface="Calibri"/>
              <a:sym typeface="Calibri"/>
            </a:endParaRPr>
          </a:p>
        </p:txBody>
      </p:sp>
      <p:sp>
        <p:nvSpPr>
          <p:cNvPr id="514" name="Google Shape;514;p55"/>
          <p:cNvSpPr/>
          <p:nvPr/>
        </p:nvSpPr>
        <p:spPr>
          <a:xfrm>
            <a:off x="7032625" y="44338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15" name="Google Shape;515;p55"/>
          <p:cNvSpPr/>
          <p:nvPr/>
        </p:nvSpPr>
        <p:spPr>
          <a:xfrm>
            <a:off x="7837489" y="443388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1011</a:t>
            </a:r>
            <a:endParaRPr sz="2400">
              <a:solidFill>
                <a:schemeClr val="dk1"/>
              </a:solidFill>
              <a:latin typeface="Calibri"/>
              <a:ea typeface="Calibri"/>
              <a:cs typeface="Calibri"/>
              <a:sym typeface="Calibri"/>
            </a:endParaRPr>
          </a:p>
        </p:txBody>
      </p:sp>
      <p:sp>
        <p:nvSpPr>
          <p:cNvPr id="516" name="Google Shape;516;p55"/>
          <p:cNvSpPr/>
          <p:nvPr/>
        </p:nvSpPr>
        <p:spPr>
          <a:xfrm>
            <a:off x="8350250" y="44338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17" name="Google Shape;517;p55"/>
          <p:cNvSpPr/>
          <p:nvPr/>
        </p:nvSpPr>
        <p:spPr>
          <a:xfrm>
            <a:off x="9080501" y="443388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0010</a:t>
            </a:r>
            <a:endParaRPr sz="2400">
              <a:solidFill>
                <a:schemeClr val="dk1"/>
              </a:solidFill>
              <a:latin typeface="Calibri"/>
              <a:ea typeface="Calibri"/>
              <a:cs typeface="Calibri"/>
              <a:sym typeface="Calibri"/>
            </a:endParaRPr>
          </a:p>
        </p:txBody>
      </p:sp>
      <p:sp>
        <p:nvSpPr>
          <p:cNvPr id="518" name="Google Shape;518;p55"/>
          <p:cNvSpPr/>
          <p:nvPr/>
        </p:nvSpPr>
        <p:spPr>
          <a:xfrm>
            <a:off x="9593263" y="44338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19" name="Google Shape;519;p55"/>
          <p:cNvSpPr/>
          <p:nvPr/>
        </p:nvSpPr>
        <p:spPr>
          <a:xfrm>
            <a:off x="3922713" y="4732339"/>
            <a:ext cx="129844"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6</a:t>
            </a:r>
            <a:endParaRPr sz="2400">
              <a:solidFill>
                <a:schemeClr val="dk1"/>
              </a:solidFill>
              <a:latin typeface="Calibri"/>
              <a:ea typeface="Calibri"/>
              <a:cs typeface="Calibri"/>
              <a:sym typeface="Calibri"/>
            </a:endParaRPr>
          </a:p>
        </p:txBody>
      </p:sp>
      <p:sp>
        <p:nvSpPr>
          <p:cNvPr id="520" name="Google Shape;520;p55"/>
          <p:cNvSpPr/>
          <p:nvPr/>
        </p:nvSpPr>
        <p:spPr>
          <a:xfrm>
            <a:off x="4051300" y="47323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21" name="Google Shape;521;p55"/>
          <p:cNvSpPr/>
          <p:nvPr/>
        </p:nvSpPr>
        <p:spPr>
          <a:xfrm>
            <a:off x="5113339" y="473233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0110</a:t>
            </a:r>
            <a:endParaRPr sz="2400">
              <a:solidFill>
                <a:schemeClr val="dk1"/>
              </a:solidFill>
              <a:latin typeface="Calibri"/>
              <a:ea typeface="Calibri"/>
              <a:cs typeface="Calibri"/>
              <a:sym typeface="Calibri"/>
            </a:endParaRPr>
          </a:p>
        </p:txBody>
      </p:sp>
      <p:sp>
        <p:nvSpPr>
          <p:cNvPr id="522" name="Google Shape;522;p55"/>
          <p:cNvSpPr/>
          <p:nvPr/>
        </p:nvSpPr>
        <p:spPr>
          <a:xfrm>
            <a:off x="5626100" y="47323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23" name="Google Shape;523;p55"/>
          <p:cNvSpPr/>
          <p:nvPr/>
        </p:nvSpPr>
        <p:spPr>
          <a:xfrm>
            <a:off x="6521451" y="473233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1001</a:t>
            </a:r>
            <a:endParaRPr sz="2400">
              <a:solidFill>
                <a:schemeClr val="dk1"/>
              </a:solidFill>
              <a:latin typeface="Calibri"/>
              <a:ea typeface="Calibri"/>
              <a:cs typeface="Calibri"/>
              <a:sym typeface="Calibri"/>
            </a:endParaRPr>
          </a:p>
        </p:txBody>
      </p:sp>
      <p:sp>
        <p:nvSpPr>
          <p:cNvPr id="524" name="Google Shape;524;p55"/>
          <p:cNvSpPr/>
          <p:nvPr/>
        </p:nvSpPr>
        <p:spPr>
          <a:xfrm>
            <a:off x="7032625" y="47323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25" name="Google Shape;525;p55"/>
          <p:cNvSpPr/>
          <p:nvPr/>
        </p:nvSpPr>
        <p:spPr>
          <a:xfrm>
            <a:off x="7837489" y="473233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1010</a:t>
            </a:r>
            <a:endParaRPr sz="2400">
              <a:solidFill>
                <a:schemeClr val="dk1"/>
              </a:solidFill>
              <a:latin typeface="Calibri"/>
              <a:ea typeface="Calibri"/>
              <a:cs typeface="Calibri"/>
              <a:sym typeface="Calibri"/>
            </a:endParaRPr>
          </a:p>
        </p:txBody>
      </p:sp>
      <p:sp>
        <p:nvSpPr>
          <p:cNvPr id="526" name="Google Shape;526;p55"/>
          <p:cNvSpPr/>
          <p:nvPr/>
        </p:nvSpPr>
        <p:spPr>
          <a:xfrm>
            <a:off x="8350250" y="47323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27" name="Google Shape;527;p55"/>
          <p:cNvSpPr/>
          <p:nvPr/>
        </p:nvSpPr>
        <p:spPr>
          <a:xfrm>
            <a:off x="9080501" y="473233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0011</a:t>
            </a:r>
            <a:endParaRPr sz="2400">
              <a:solidFill>
                <a:schemeClr val="dk1"/>
              </a:solidFill>
              <a:latin typeface="Calibri"/>
              <a:ea typeface="Calibri"/>
              <a:cs typeface="Calibri"/>
              <a:sym typeface="Calibri"/>
            </a:endParaRPr>
          </a:p>
        </p:txBody>
      </p:sp>
      <p:sp>
        <p:nvSpPr>
          <p:cNvPr id="528" name="Google Shape;528;p55"/>
          <p:cNvSpPr/>
          <p:nvPr/>
        </p:nvSpPr>
        <p:spPr>
          <a:xfrm>
            <a:off x="9593263" y="473233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29" name="Google Shape;529;p55"/>
          <p:cNvSpPr/>
          <p:nvPr/>
        </p:nvSpPr>
        <p:spPr>
          <a:xfrm>
            <a:off x="3922713" y="5030789"/>
            <a:ext cx="129844"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7</a:t>
            </a:r>
            <a:endParaRPr sz="2400">
              <a:solidFill>
                <a:schemeClr val="dk1"/>
              </a:solidFill>
              <a:latin typeface="Calibri"/>
              <a:ea typeface="Calibri"/>
              <a:cs typeface="Calibri"/>
              <a:sym typeface="Calibri"/>
            </a:endParaRPr>
          </a:p>
        </p:txBody>
      </p:sp>
      <p:sp>
        <p:nvSpPr>
          <p:cNvPr id="530" name="Google Shape;530;p55"/>
          <p:cNvSpPr/>
          <p:nvPr/>
        </p:nvSpPr>
        <p:spPr>
          <a:xfrm>
            <a:off x="4051300" y="50307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31" name="Google Shape;531;p55"/>
          <p:cNvSpPr/>
          <p:nvPr/>
        </p:nvSpPr>
        <p:spPr>
          <a:xfrm>
            <a:off x="5113339" y="503078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0111</a:t>
            </a:r>
            <a:endParaRPr sz="2400">
              <a:solidFill>
                <a:schemeClr val="dk1"/>
              </a:solidFill>
              <a:latin typeface="Calibri"/>
              <a:ea typeface="Calibri"/>
              <a:cs typeface="Calibri"/>
              <a:sym typeface="Calibri"/>
            </a:endParaRPr>
          </a:p>
        </p:txBody>
      </p:sp>
      <p:sp>
        <p:nvSpPr>
          <p:cNvPr id="532" name="Google Shape;532;p55"/>
          <p:cNvSpPr/>
          <p:nvPr/>
        </p:nvSpPr>
        <p:spPr>
          <a:xfrm>
            <a:off x="5626100" y="50307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33" name="Google Shape;533;p55"/>
          <p:cNvSpPr/>
          <p:nvPr/>
        </p:nvSpPr>
        <p:spPr>
          <a:xfrm>
            <a:off x="6521451" y="503078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1010</a:t>
            </a:r>
            <a:endParaRPr sz="2400">
              <a:solidFill>
                <a:schemeClr val="dk1"/>
              </a:solidFill>
              <a:latin typeface="Calibri"/>
              <a:ea typeface="Calibri"/>
              <a:cs typeface="Calibri"/>
              <a:sym typeface="Calibri"/>
            </a:endParaRPr>
          </a:p>
        </p:txBody>
      </p:sp>
      <p:sp>
        <p:nvSpPr>
          <p:cNvPr id="534" name="Google Shape;534;p55"/>
          <p:cNvSpPr/>
          <p:nvPr/>
        </p:nvSpPr>
        <p:spPr>
          <a:xfrm>
            <a:off x="7032625" y="50307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35" name="Google Shape;535;p55"/>
          <p:cNvSpPr/>
          <p:nvPr/>
        </p:nvSpPr>
        <p:spPr>
          <a:xfrm>
            <a:off x="7837489" y="503078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1001</a:t>
            </a:r>
            <a:endParaRPr sz="2400">
              <a:solidFill>
                <a:schemeClr val="dk1"/>
              </a:solidFill>
              <a:latin typeface="Calibri"/>
              <a:ea typeface="Calibri"/>
              <a:cs typeface="Calibri"/>
              <a:sym typeface="Calibri"/>
            </a:endParaRPr>
          </a:p>
        </p:txBody>
      </p:sp>
      <p:sp>
        <p:nvSpPr>
          <p:cNvPr id="536" name="Google Shape;536;p55"/>
          <p:cNvSpPr/>
          <p:nvPr/>
        </p:nvSpPr>
        <p:spPr>
          <a:xfrm>
            <a:off x="8350250" y="50307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37" name="Google Shape;537;p55"/>
          <p:cNvSpPr/>
          <p:nvPr/>
        </p:nvSpPr>
        <p:spPr>
          <a:xfrm>
            <a:off x="9080501" y="5030789"/>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0001</a:t>
            </a:r>
            <a:endParaRPr sz="2400">
              <a:solidFill>
                <a:schemeClr val="dk1"/>
              </a:solidFill>
              <a:latin typeface="Calibri"/>
              <a:ea typeface="Calibri"/>
              <a:cs typeface="Calibri"/>
              <a:sym typeface="Calibri"/>
            </a:endParaRPr>
          </a:p>
        </p:txBody>
      </p:sp>
      <p:sp>
        <p:nvSpPr>
          <p:cNvPr id="538" name="Google Shape;538;p55"/>
          <p:cNvSpPr/>
          <p:nvPr/>
        </p:nvSpPr>
        <p:spPr>
          <a:xfrm>
            <a:off x="9593263" y="5030789"/>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39" name="Google Shape;539;p55"/>
          <p:cNvSpPr/>
          <p:nvPr/>
        </p:nvSpPr>
        <p:spPr>
          <a:xfrm>
            <a:off x="3922713" y="5330826"/>
            <a:ext cx="129844"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8</a:t>
            </a:r>
            <a:endParaRPr sz="2400">
              <a:solidFill>
                <a:schemeClr val="dk1"/>
              </a:solidFill>
              <a:latin typeface="Calibri"/>
              <a:ea typeface="Calibri"/>
              <a:cs typeface="Calibri"/>
              <a:sym typeface="Calibri"/>
            </a:endParaRPr>
          </a:p>
        </p:txBody>
      </p:sp>
      <p:sp>
        <p:nvSpPr>
          <p:cNvPr id="540" name="Google Shape;540;p55"/>
          <p:cNvSpPr/>
          <p:nvPr/>
        </p:nvSpPr>
        <p:spPr>
          <a:xfrm>
            <a:off x="4051300" y="5330826"/>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41" name="Google Shape;541;p55"/>
          <p:cNvSpPr/>
          <p:nvPr/>
        </p:nvSpPr>
        <p:spPr>
          <a:xfrm>
            <a:off x="5113339" y="5330826"/>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1000</a:t>
            </a:r>
            <a:endParaRPr sz="2400">
              <a:solidFill>
                <a:schemeClr val="dk1"/>
              </a:solidFill>
              <a:latin typeface="Calibri"/>
              <a:ea typeface="Calibri"/>
              <a:cs typeface="Calibri"/>
              <a:sym typeface="Calibri"/>
            </a:endParaRPr>
          </a:p>
        </p:txBody>
      </p:sp>
      <p:sp>
        <p:nvSpPr>
          <p:cNvPr id="542" name="Google Shape;542;p55"/>
          <p:cNvSpPr/>
          <p:nvPr/>
        </p:nvSpPr>
        <p:spPr>
          <a:xfrm>
            <a:off x="5626100" y="5330826"/>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43" name="Google Shape;543;p55"/>
          <p:cNvSpPr/>
          <p:nvPr/>
        </p:nvSpPr>
        <p:spPr>
          <a:xfrm>
            <a:off x="6521451" y="5330826"/>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1011</a:t>
            </a:r>
            <a:endParaRPr sz="2400">
              <a:solidFill>
                <a:schemeClr val="dk1"/>
              </a:solidFill>
              <a:latin typeface="Calibri"/>
              <a:ea typeface="Calibri"/>
              <a:cs typeface="Calibri"/>
              <a:sym typeface="Calibri"/>
            </a:endParaRPr>
          </a:p>
        </p:txBody>
      </p:sp>
      <p:sp>
        <p:nvSpPr>
          <p:cNvPr id="544" name="Google Shape;544;p55"/>
          <p:cNvSpPr/>
          <p:nvPr/>
        </p:nvSpPr>
        <p:spPr>
          <a:xfrm>
            <a:off x="7032625" y="5330826"/>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45" name="Google Shape;545;p55"/>
          <p:cNvSpPr/>
          <p:nvPr/>
        </p:nvSpPr>
        <p:spPr>
          <a:xfrm>
            <a:off x="7837489" y="5330826"/>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1000</a:t>
            </a:r>
            <a:endParaRPr sz="2400">
              <a:solidFill>
                <a:schemeClr val="dk1"/>
              </a:solidFill>
              <a:latin typeface="Calibri"/>
              <a:ea typeface="Calibri"/>
              <a:cs typeface="Calibri"/>
              <a:sym typeface="Calibri"/>
            </a:endParaRPr>
          </a:p>
        </p:txBody>
      </p:sp>
      <p:sp>
        <p:nvSpPr>
          <p:cNvPr id="546" name="Google Shape;546;p55"/>
          <p:cNvSpPr/>
          <p:nvPr/>
        </p:nvSpPr>
        <p:spPr>
          <a:xfrm>
            <a:off x="8350250" y="5330826"/>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47" name="Google Shape;547;p55"/>
          <p:cNvSpPr/>
          <p:nvPr/>
        </p:nvSpPr>
        <p:spPr>
          <a:xfrm>
            <a:off x="9080501" y="5330826"/>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1001</a:t>
            </a:r>
            <a:endParaRPr sz="2400">
              <a:solidFill>
                <a:schemeClr val="dk1"/>
              </a:solidFill>
              <a:latin typeface="Calibri"/>
              <a:ea typeface="Calibri"/>
              <a:cs typeface="Calibri"/>
              <a:sym typeface="Calibri"/>
            </a:endParaRPr>
          </a:p>
        </p:txBody>
      </p:sp>
      <p:sp>
        <p:nvSpPr>
          <p:cNvPr id="548" name="Google Shape;548;p55"/>
          <p:cNvSpPr/>
          <p:nvPr/>
        </p:nvSpPr>
        <p:spPr>
          <a:xfrm>
            <a:off x="9593263" y="5330826"/>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49" name="Google Shape;549;p55"/>
          <p:cNvSpPr/>
          <p:nvPr/>
        </p:nvSpPr>
        <p:spPr>
          <a:xfrm>
            <a:off x="3922713" y="5629276"/>
            <a:ext cx="129844"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9</a:t>
            </a:r>
            <a:endParaRPr sz="2400">
              <a:solidFill>
                <a:schemeClr val="dk1"/>
              </a:solidFill>
              <a:latin typeface="Calibri"/>
              <a:ea typeface="Calibri"/>
              <a:cs typeface="Calibri"/>
              <a:sym typeface="Calibri"/>
            </a:endParaRPr>
          </a:p>
        </p:txBody>
      </p:sp>
      <p:sp>
        <p:nvSpPr>
          <p:cNvPr id="550" name="Google Shape;550;p55"/>
          <p:cNvSpPr/>
          <p:nvPr/>
        </p:nvSpPr>
        <p:spPr>
          <a:xfrm>
            <a:off x="4051300" y="5629276"/>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51" name="Google Shape;551;p55"/>
          <p:cNvSpPr/>
          <p:nvPr/>
        </p:nvSpPr>
        <p:spPr>
          <a:xfrm>
            <a:off x="5113339" y="5629276"/>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1001</a:t>
            </a:r>
            <a:endParaRPr sz="2400">
              <a:solidFill>
                <a:schemeClr val="dk1"/>
              </a:solidFill>
              <a:latin typeface="Calibri"/>
              <a:ea typeface="Calibri"/>
              <a:cs typeface="Calibri"/>
              <a:sym typeface="Calibri"/>
            </a:endParaRPr>
          </a:p>
        </p:txBody>
      </p:sp>
      <p:sp>
        <p:nvSpPr>
          <p:cNvPr id="552" name="Google Shape;552;p55"/>
          <p:cNvSpPr/>
          <p:nvPr/>
        </p:nvSpPr>
        <p:spPr>
          <a:xfrm>
            <a:off x="5626100" y="5629276"/>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53" name="Google Shape;553;p55"/>
          <p:cNvSpPr/>
          <p:nvPr/>
        </p:nvSpPr>
        <p:spPr>
          <a:xfrm>
            <a:off x="6521450" y="5629276"/>
            <a:ext cx="129844"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1</a:t>
            </a:r>
            <a:endParaRPr sz="2400">
              <a:solidFill>
                <a:schemeClr val="dk1"/>
              </a:solidFill>
              <a:latin typeface="Calibri"/>
              <a:ea typeface="Calibri"/>
              <a:cs typeface="Calibri"/>
              <a:sym typeface="Calibri"/>
            </a:endParaRPr>
          </a:p>
        </p:txBody>
      </p:sp>
      <p:sp>
        <p:nvSpPr>
          <p:cNvPr id="554" name="Google Shape;554;p55"/>
          <p:cNvSpPr/>
          <p:nvPr/>
        </p:nvSpPr>
        <p:spPr>
          <a:xfrm>
            <a:off x="6650038" y="5629276"/>
            <a:ext cx="38953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100</a:t>
            </a:r>
            <a:endParaRPr sz="2400">
              <a:solidFill>
                <a:schemeClr val="dk1"/>
              </a:solidFill>
              <a:latin typeface="Calibri"/>
              <a:ea typeface="Calibri"/>
              <a:cs typeface="Calibri"/>
              <a:sym typeface="Calibri"/>
            </a:endParaRPr>
          </a:p>
        </p:txBody>
      </p:sp>
      <p:sp>
        <p:nvSpPr>
          <p:cNvPr id="555" name="Google Shape;555;p55"/>
          <p:cNvSpPr/>
          <p:nvPr/>
        </p:nvSpPr>
        <p:spPr>
          <a:xfrm>
            <a:off x="7032625" y="5629276"/>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56" name="Google Shape;556;p55"/>
          <p:cNvSpPr/>
          <p:nvPr/>
        </p:nvSpPr>
        <p:spPr>
          <a:xfrm>
            <a:off x="7837489" y="5629276"/>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1111</a:t>
            </a:r>
            <a:endParaRPr sz="2400">
              <a:solidFill>
                <a:schemeClr val="dk1"/>
              </a:solidFill>
              <a:latin typeface="Calibri"/>
              <a:ea typeface="Calibri"/>
              <a:cs typeface="Calibri"/>
              <a:sym typeface="Calibri"/>
            </a:endParaRPr>
          </a:p>
        </p:txBody>
      </p:sp>
      <p:sp>
        <p:nvSpPr>
          <p:cNvPr id="557" name="Google Shape;557;p55"/>
          <p:cNvSpPr/>
          <p:nvPr/>
        </p:nvSpPr>
        <p:spPr>
          <a:xfrm>
            <a:off x="8350250" y="5629276"/>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58" name="Google Shape;558;p55"/>
          <p:cNvSpPr/>
          <p:nvPr/>
        </p:nvSpPr>
        <p:spPr>
          <a:xfrm>
            <a:off x="9080501" y="5629276"/>
            <a:ext cx="519373"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1000</a:t>
            </a:r>
            <a:endParaRPr sz="2400">
              <a:solidFill>
                <a:schemeClr val="dk1"/>
              </a:solidFill>
              <a:latin typeface="Calibri"/>
              <a:ea typeface="Calibri"/>
              <a:cs typeface="Calibri"/>
              <a:sym typeface="Calibri"/>
            </a:endParaRPr>
          </a:p>
        </p:txBody>
      </p:sp>
      <p:sp>
        <p:nvSpPr>
          <p:cNvPr id="559" name="Google Shape;559;p55"/>
          <p:cNvSpPr/>
          <p:nvPr/>
        </p:nvSpPr>
        <p:spPr>
          <a:xfrm>
            <a:off x="9593263" y="5629276"/>
            <a:ext cx="5770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2000"/>
              <a:buFont typeface="Noto Sans Symbols"/>
              <a:buNone/>
            </a:pPr>
            <a:r>
              <a:rPr lang="en-US" sz="2000">
                <a:solidFill>
                  <a:srgbClr val="000000"/>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560" name="Google Shape;560;p55"/>
          <p:cNvSpPr/>
          <p:nvPr/>
        </p:nvSpPr>
        <p:spPr>
          <a:xfrm>
            <a:off x="641220" y="1295401"/>
            <a:ext cx="9448931" cy="830997"/>
          </a:xfrm>
          <a:prstGeom prst="rect">
            <a:avLst/>
          </a:prstGeom>
          <a:noFill/>
          <a:ln>
            <a:noFill/>
          </a:ln>
        </p:spPr>
        <p:txBody>
          <a:bodyPr spcFirstLastPara="1" wrap="square" lIns="91425" tIns="45700" rIns="91425" bIns="45700" anchor="t" anchorCtr="0">
            <a:spAutoFit/>
          </a:bodyPr>
          <a:lstStyle/>
          <a:p>
            <a:pPr marL="0" marR="0" lvl="0" indent="-152400" algn="l" rtl="0">
              <a:spcBef>
                <a:spcPts val="0"/>
              </a:spcBef>
              <a:spcAft>
                <a:spcPts val="0"/>
              </a:spcAft>
              <a:buClr>
                <a:schemeClr val="hlink"/>
              </a:buClr>
              <a:buSzPts val="2400"/>
              <a:buFont typeface="Noto Sans Symbols"/>
              <a:buChar char="▪"/>
            </a:pPr>
            <a:r>
              <a:rPr lang="en-US" sz="2400" dirty="0">
                <a:solidFill>
                  <a:schemeClr val="dk1"/>
                </a:solidFill>
                <a:latin typeface="Calibri"/>
                <a:ea typeface="Calibri"/>
                <a:cs typeface="Calibri"/>
                <a:sym typeface="Calibri"/>
              </a:rPr>
              <a:t> There are over 8,000 ways that you can chose 10 elements from the 16 binary numbers of 4 bits.   A few are useful:</a:t>
            </a:r>
            <a:r>
              <a:rPr lang="en-US" sz="1100" dirty="0">
                <a:solidFill>
                  <a:schemeClr val="dk1"/>
                </a:solidFill>
                <a:latin typeface="Calibri"/>
                <a:ea typeface="Calibri"/>
                <a:cs typeface="Calibri"/>
                <a:sym typeface="Calibri"/>
              </a:rPr>
              <a:t> </a:t>
            </a:r>
            <a:endParaRPr sz="24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913483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56"/>
          <p:cNvSpPr txBox="1">
            <a:spLocks noGrp="1"/>
          </p:cNvSpPr>
          <p:nvPr>
            <p:ph type="sldNum" idx="12"/>
          </p:nvPr>
        </p:nvSpPr>
        <p:spPr>
          <a:xfrm>
            <a:off x="11113699" y="6183822"/>
            <a:ext cx="27432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dirty="0">
                <a:solidFill>
                  <a:srgbClr val="888888"/>
                </a:solidFill>
                <a:latin typeface="Calibri"/>
                <a:ea typeface="Calibri"/>
                <a:cs typeface="Calibri"/>
                <a:sym typeface="Calibri"/>
              </a:rPr>
              <a:t>            </a:t>
            </a:r>
            <a:fld id="{00000000-1234-1234-1234-123412341234}" type="slidenum">
              <a:rPr lang="en-US" sz="1200">
                <a:solidFill>
                  <a:srgbClr val="888888"/>
                </a:solidFill>
                <a:latin typeface="Calibri"/>
                <a:ea typeface="Calibri"/>
                <a:cs typeface="Calibri"/>
                <a:sym typeface="Calibri"/>
              </a:rPr>
              <a:t>60</a:t>
            </a:fld>
            <a:endParaRPr sz="1200" dirty="0">
              <a:solidFill>
                <a:srgbClr val="888888"/>
              </a:solidFill>
              <a:latin typeface="Calibri"/>
              <a:ea typeface="Calibri"/>
              <a:cs typeface="Calibri"/>
              <a:sym typeface="Calibri"/>
            </a:endParaRPr>
          </a:p>
        </p:txBody>
      </p:sp>
      <p:sp>
        <p:nvSpPr>
          <p:cNvPr id="567" name="Google Shape;567;p56"/>
          <p:cNvSpPr txBox="1">
            <a:spLocks noGrp="1"/>
          </p:cNvSpPr>
          <p:nvPr>
            <p:ph type="title"/>
          </p:nvPr>
        </p:nvSpPr>
        <p:spPr>
          <a:xfrm>
            <a:off x="838200" y="365125"/>
            <a:ext cx="9218240" cy="687611"/>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Arial Black"/>
              <a:buNone/>
            </a:pPr>
            <a:r>
              <a:rPr lang="en-US">
                <a:solidFill>
                  <a:schemeClr val="lt1"/>
                </a:solidFill>
                <a:latin typeface="Arial Black"/>
                <a:ea typeface="Arial Black"/>
                <a:cs typeface="Arial Black"/>
                <a:sym typeface="Arial Black"/>
              </a:rPr>
              <a:t>Binary Coded Decimal (BCD)</a:t>
            </a:r>
            <a:endParaRPr/>
          </a:p>
        </p:txBody>
      </p:sp>
      <p:sp>
        <p:nvSpPr>
          <p:cNvPr id="568" name="Google Shape;568;p56"/>
          <p:cNvSpPr txBox="1">
            <a:spLocks noGrp="1"/>
          </p:cNvSpPr>
          <p:nvPr>
            <p:ph type="body" idx="1"/>
          </p:nvPr>
        </p:nvSpPr>
        <p:spPr>
          <a:xfrm>
            <a:off x="838200" y="1196752"/>
            <a:ext cx="10515600" cy="4351338"/>
          </a:xfrm>
          <a:prstGeom prst="rect">
            <a:avLst/>
          </a:prstGeom>
          <a:noFill/>
          <a:ln>
            <a:noFill/>
          </a:ln>
        </p:spPr>
        <p:txBody>
          <a:bodyPr spcFirstLastPara="1" wrap="square" lIns="91425" tIns="45700" rIns="91425" bIns="45700" anchor="t" anchorCtr="0">
            <a:noAutofit/>
          </a:bodyPr>
          <a:lstStyle/>
          <a:p>
            <a:pPr marL="228600" lvl="0" indent="-228600" algn="just" rtl="0">
              <a:lnSpc>
                <a:spcPct val="150000"/>
              </a:lnSpc>
              <a:spcBef>
                <a:spcPts val="0"/>
              </a:spcBef>
              <a:spcAft>
                <a:spcPts val="0"/>
              </a:spcAft>
              <a:buClr>
                <a:schemeClr val="dk1"/>
              </a:buClr>
              <a:buSzPts val="2400"/>
              <a:buChar char="•"/>
            </a:pPr>
            <a:r>
              <a:rPr lang="en-US" sz="2400" b="1" dirty="0">
                <a:latin typeface="Arial"/>
                <a:ea typeface="Arial"/>
                <a:cs typeface="Arial"/>
                <a:sym typeface="Arial"/>
              </a:rPr>
              <a:t>The BCD code is the 8,4,2,1 code.</a:t>
            </a:r>
            <a:endParaRPr sz="2400" dirty="0">
              <a:latin typeface="Arial"/>
              <a:ea typeface="Arial"/>
              <a:cs typeface="Arial"/>
              <a:sym typeface="Arial"/>
            </a:endParaRPr>
          </a:p>
          <a:p>
            <a:pPr marL="228600" lvl="0" indent="-228600" algn="just" rtl="0">
              <a:lnSpc>
                <a:spcPct val="150000"/>
              </a:lnSpc>
              <a:spcBef>
                <a:spcPts val="1000"/>
              </a:spcBef>
              <a:spcAft>
                <a:spcPts val="0"/>
              </a:spcAft>
              <a:buClr>
                <a:schemeClr val="dk1"/>
              </a:buClr>
              <a:buSzPts val="2400"/>
              <a:buChar char="•"/>
            </a:pPr>
            <a:r>
              <a:rPr lang="en-US" sz="2400" b="1" dirty="0">
                <a:latin typeface="Arial"/>
                <a:ea typeface="Arial"/>
                <a:cs typeface="Arial"/>
                <a:sym typeface="Arial"/>
              </a:rPr>
              <a:t>This code is the simplest, most intuitive binary code for decimal digits and uses the same powers of 2 as a binary number, but only encodes the first ten values from 0 to 9.</a:t>
            </a:r>
            <a:endParaRPr sz="2400" dirty="0">
              <a:latin typeface="Arial"/>
              <a:ea typeface="Arial"/>
              <a:cs typeface="Arial"/>
              <a:sym typeface="Arial"/>
            </a:endParaRPr>
          </a:p>
          <a:p>
            <a:pPr marL="228600" lvl="0" indent="-228600" algn="just" rtl="0">
              <a:lnSpc>
                <a:spcPct val="150000"/>
              </a:lnSpc>
              <a:spcBef>
                <a:spcPts val="1000"/>
              </a:spcBef>
              <a:spcAft>
                <a:spcPts val="0"/>
              </a:spcAft>
              <a:buClr>
                <a:schemeClr val="dk1"/>
              </a:buClr>
              <a:buSzPts val="2400"/>
              <a:buChar char="•"/>
            </a:pPr>
            <a:r>
              <a:rPr lang="en-US" sz="2400" b="1" dirty="0">
                <a:latin typeface="Arial"/>
                <a:ea typeface="Arial"/>
                <a:cs typeface="Arial"/>
                <a:sym typeface="Arial"/>
              </a:rPr>
              <a:t>Example:  1001 (9) = 1000 (8) + 0001 (1)</a:t>
            </a:r>
            <a:endParaRPr dirty="0"/>
          </a:p>
          <a:p>
            <a:pPr marL="228600" lvl="0" indent="-228600" algn="just" rtl="0">
              <a:lnSpc>
                <a:spcPct val="150000"/>
              </a:lnSpc>
              <a:spcBef>
                <a:spcPts val="1000"/>
              </a:spcBef>
              <a:spcAft>
                <a:spcPts val="0"/>
              </a:spcAft>
              <a:buClr>
                <a:schemeClr val="dk1"/>
              </a:buClr>
              <a:buSzPts val="2400"/>
              <a:buChar char="•"/>
            </a:pPr>
            <a:r>
              <a:rPr lang="en-US" sz="2400" b="1" dirty="0">
                <a:latin typeface="Arial"/>
                <a:ea typeface="Arial"/>
                <a:cs typeface="Arial"/>
                <a:sym typeface="Arial"/>
              </a:rPr>
              <a:t>How many “invalid” code words are there?</a:t>
            </a:r>
            <a:endParaRPr dirty="0"/>
          </a:p>
          <a:p>
            <a:pPr marL="228600" lvl="0" indent="-228600" algn="just" rtl="0">
              <a:lnSpc>
                <a:spcPct val="150000"/>
              </a:lnSpc>
              <a:spcBef>
                <a:spcPts val="1000"/>
              </a:spcBef>
              <a:spcAft>
                <a:spcPts val="0"/>
              </a:spcAft>
              <a:buClr>
                <a:schemeClr val="dk1"/>
              </a:buClr>
              <a:buSzPts val="2400"/>
              <a:buChar char="•"/>
            </a:pPr>
            <a:r>
              <a:rPr lang="en-US" sz="2400" b="1" dirty="0">
                <a:latin typeface="Arial"/>
                <a:ea typeface="Arial"/>
                <a:cs typeface="Arial"/>
                <a:sym typeface="Arial"/>
              </a:rPr>
              <a:t>What are the “invalid” code words?</a:t>
            </a:r>
            <a:endParaRPr sz="2400" dirty="0">
              <a:latin typeface="Arial"/>
              <a:ea typeface="Arial"/>
              <a:cs typeface="Arial"/>
              <a:sym typeface="Arial"/>
            </a:endParaRPr>
          </a:p>
          <a:p>
            <a:pPr marL="685800" lvl="1" indent="-228600" algn="just" rtl="0">
              <a:lnSpc>
                <a:spcPct val="150000"/>
              </a:lnSpc>
              <a:spcBef>
                <a:spcPts val="500"/>
              </a:spcBef>
              <a:spcAft>
                <a:spcPts val="0"/>
              </a:spcAft>
              <a:buClr>
                <a:schemeClr val="dk1"/>
              </a:buClr>
              <a:buSzPts val="2400"/>
              <a:buFont typeface="Arial"/>
              <a:buNone/>
            </a:pPr>
            <a:r>
              <a:rPr lang="en-US" b="1" dirty="0">
                <a:latin typeface="Arial"/>
                <a:ea typeface="Arial"/>
                <a:cs typeface="Arial"/>
                <a:sym typeface="Arial"/>
              </a:rPr>
              <a:t>                          </a:t>
            </a:r>
            <a:endParaRPr dirty="0">
              <a:latin typeface="Arial"/>
              <a:ea typeface="Arial"/>
              <a:cs typeface="Arial"/>
              <a:sym typeface="Arial"/>
            </a:endParaRPr>
          </a:p>
        </p:txBody>
      </p:sp>
    </p:spTree>
    <p:extLst>
      <p:ext uri="{BB962C8B-B14F-4D97-AF65-F5344CB8AC3E}">
        <p14:creationId xmlns:p14="http://schemas.microsoft.com/office/powerpoint/2010/main" val="17861675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57"/>
          <p:cNvSpPr txBox="1">
            <a:spLocks noGrp="1"/>
          </p:cNvSpPr>
          <p:nvPr>
            <p:ph type="sldNum" idx="12"/>
          </p:nvPr>
        </p:nvSpPr>
        <p:spPr>
          <a:xfrm>
            <a:off x="11155392" y="6149316"/>
            <a:ext cx="27432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dirty="0">
                <a:solidFill>
                  <a:srgbClr val="888888"/>
                </a:solidFill>
                <a:latin typeface="Calibri"/>
                <a:ea typeface="Calibri"/>
                <a:cs typeface="Calibri"/>
                <a:sym typeface="Calibri"/>
              </a:rPr>
              <a:t>            </a:t>
            </a:r>
            <a:fld id="{00000000-1234-1234-1234-123412341234}" type="slidenum">
              <a:rPr lang="en-US" sz="1200">
                <a:solidFill>
                  <a:srgbClr val="888888"/>
                </a:solidFill>
                <a:latin typeface="Calibri"/>
                <a:ea typeface="Calibri"/>
                <a:cs typeface="Calibri"/>
                <a:sym typeface="Calibri"/>
              </a:rPr>
              <a:t>61</a:t>
            </a:fld>
            <a:endParaRPr sz="1200" dirty="0">
              <a:solidFill>
                <a:srgbClr val="888888"/>
              </a:solidFill>
              <a:latin typeface="Calibri"/>
              <a:ea typeface="Calibri"/>
              <a:cs typeface="Calibri"/>
              <a:sym typeface="Calibri"/>
            </a:endParaRPr>
          </a:p>
        </p:txBody>
      </p:sp>
      <p:sp>
        <p:nvSpPr>
          <p:cNvPr id="575" name="Google Shape;575;p57"/>
          <p:cNvSpPr txBox="1">
            <a:spLocks noGrp="1"/>
          </p:cNvSpPr>
          <p:nvPr>
            <p:ph type="body" idx="1"/>
          </p:nvPr>
        </p:nvSpPr>
        <p:spPr>
          <a:xfrm>
            <a:off x="335361" y="1489075"/>
            <a:ext cx="10513168" cy="555148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b="1" dirty="0"/>
          </a:p>
          <a:p>
            <a:pPr marL="228600" lvl="0" indent="-50800" algn="l" rtl="0">
              <a:lnSpc>
                <a:spcPct val="90000"/>
              </a:lnSpc>
              <a:spcBef>
                <a:spcPts val="1000"/>
              </a:spcBef>
              <a:spcAft>
                <a:spcPts val="0"/>
              </a:spcAft>
              <a:buClr>
                <a:schemeClr val="dk1"/>
              </a:buClr>
              <a:buSzPts val="2800"/>
              <a:buNone/>
            </a:pPr>
            <a:endParaRPr b="1" dirty="0"/>
          </a:p>
          <a:p>
            <a:pPr marL="228600" lvl="0" indent="-228600" algn="l" rtl="0">
              <a:lnSpc>
                <a:spcPct val="90000"/>
              </a:lnSpc>
              <a:spcBef>
                <a:spcPts val="1000"/>
              </a:spcBef>
              <a:spcAft>
                <a:spcPts val="0"/>
              </a:spcAft>
              <a:buClr>
                <a:schemeClr val="dk1"/>
              </a:buClr>
              <a:buSzPts val="2800"/>
              <a:buChar char="•"/>
            </a:pPr>
            <a:r>
              <a:rPr lang="en-US" b="1" dirty="0"/>
              <a:t>What interesting property is common to these two codes?</a:t>
            </a:r>
            <a:endParaRPr dirty="0"/>
          </a:p>
        </p:txBody>
      </p:sp>
      <p:sp>
        <p:nvSpPr>
          <p:cNvPr id="576" name="Google Shape;576;p57"/>
          <p:cNvSpPr txBox="1">
            <a:spLocks noGrp="1"/>
          </p:cNvSpPr>
          <p:nvPr>
            <p:ph type="title"/>
          </p:nvPr>
        </p:nvSpPr>
        <p:spPr>
          <a:xfrm>
            <a:off x="2212975" y="1"/>
            <a:ext cx="7799388" cy="112712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Excess 3 Code and 8, 4, –2, –1 Code</a:t>
            </a:r>
            <a:endParaRPr/>
          </a:p>
        </p:txBody>
      </p:sp>
      <p:graphicFrame>
        <p:nvGraphicFramePr>
          <p:cNvPr id="577" name="Google Shape;577;p57"/>
          <p:cNvGraphicFramePr/>
          <p:nvPr/>
        </p:nvGraphicFramePr>
        <p:xfrm>
          <a:off x="3048001" y="1279525"/>
          <a:ext cx="5013325" cy="4358750"/>
        </p:xfrm>
        <a:graphic>
          <a:graphicData uri="http://schemas.openxmlformats.org/drawingml/2006/table">
            <a:tbl>
              <a:tblPr>
                <a:noFill/>
                <a:tableStyleId>{C6F39B36-55F5-445C-BD81-517B801FB488}</a:tableStyleId>
              </a:tblPr>
              <a:tblGrid>
                <a:gridCol w="1508125">
                  <a:extLst>
                    <a:ext uri="{9D8B030D-6E8A-4147-A177-3AD203B41FA5}">
                      <a16:colId xmlns:a16="http://schemas.microsoft.com/office/drawing/2014/main" xmlns="" val="20000"/>
                    </a:ext>
                  </a:extLst>
                </a:gridCol>
                <a:gridCol w="1539875">
                  <a:extLst>
                    <a:ext uri="{9D8B030D-6E8A-4147-A177-3AD203B41FA5}">
                      <a16:colId xmlns:a16="http://schemas.microsoft.com/office/drawing/2014/main" xmlns="" val="20001"/>
                    </a:ext>
                  </a:extLst>
                </a:gridCol>
                <a:gridCol w="1965325">
                  <a:extLst>
                    <a:ext uri="{9D8B030D-6E8A-4147-A177-3AD203B41FA5}">
                      <a16:colId xmlns:a16="http://schemas.microsoft.com/office/drawing/2014/main" xmlns="" val="20002"/>
                    </a:ext>
                  </a:extLst>
                </a:gridCol>
              </a:tblGrid>
              <a:tr h="246075">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Decimal</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Excess 3</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8, 4, –2, –1</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0"/>
                  </a:ext>
                </a:extLst>
              </a:tr>
              <a:tr h="168275">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0</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0011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0000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1"/>
                  </a:ext>
                </a:extLst>
              </a:tr>
              <a:tr h="168275">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1</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0100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0111</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2"/>
                  </a:ext>
                </a:extLst>
              </a:tr>
              <a:tr h="166700">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2</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0101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0110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3"/>
                  </a:ext>
                </a:extLst>
              </a:tr>
              <a:tr h="168275">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3</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0110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0101</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4"/>
                  </a:ext>
                </a:extLst>
              </a:tr>
              <a:tr h="168275">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4</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0111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0100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5"/>
                  </a:ext>
                </a:extLst>
              </a:tr>
              <a:tr h="168275">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5</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1000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1011</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6"/>
                  </a:ext>
                </a:extLst>
              </a:tr>
              <a:tr h="395300">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6</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1001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1010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7"/>
                  </a:ext>
                </a:extLst>
              </a:tr>
              <a:tr h="395300">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7</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1010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1001</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8"/>
                  </a:ext>
                </a:extLst>
              </a:tr>
              <a:tr h="395300">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8</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1011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1000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9"/>
                  </a:ext>
                </a:extLst>
              </a:tr>
              <a:tr h="168275">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9</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1100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hlink"/>
                        </a:buClr>
                        <a:buSzPts val="2000"/>
                        <a:buFont typeface="Noto Sans Symbols"/>
                        <a:buNone/>
                      </a:pPr>
                      <a:r>
                        <a:rPr lang="en-US" sz="2000" b="1" i="0" u="none" strike="noStrike" cap="none">
                          <a:solidFill>
                            <a:schemeClr val="dk1"/>
                          </a:solidFill>
                          <a:latin typeface="Times New Roman"/>
                          <a:ea typeface="Times New Roman"/>
                          <a:cs typeface="Times New Roman"/>
                          <a:sym typeface="Times New Roman"/>
                        </a:rPr>
                        <a:t>1111</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xmlns="" val="10010"/>
                  </a:ext>
                </a:extLst>
              </a:tr>
            </a:tbl>
          </a:graphicData>
        </a:graphic>
      </p:graphicFrame>
    </p:spTree>
    <p:extLst>
      <p:ext uri="{BB962C8B-B14F-4D97-AF65-F5344CB8AC3E}">
        <p14:creationId xmlns:p14="http://schemas.microsoft.com/office/powerpoint/2010/main" val="34102377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67"/>
          <p:cNvSpPr txBox="1">
            <a:spLocks noGrp="1"/>
          </p:cNvSpPr>
          <p:nvPr>
            <p:ph type="title"/>
          </p:nvPr>
        </p:nvSpPr>
        <p:spPr>
          <a:xfrm>
            <a:off x="838200" y="365125"/>
            <a:ext cx="9362256" cy="543595"/>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a:solidFill>
                  <a:schemeClr val="lt1"/>
                </a:solidFill>
                <a:latin typeface="Calibri"/>
                <a:ea typeface="Calibri"/>
                <a:cs typeface="Calibri"/>
                <a:sym typeface="Calibri"/>
              </a:rPr>
              <a:t>Decimal to BCD</a:t>
            </a:r>
            <a:endParaRPr/>
          </a:p>
        </p:txBody>
      </p:sp>
      <p:sp>
        <p:nvSpPr>
          <p:cNvPr id="681" name="Google Shape;681;p67"/>
          <p:cNvSpPr txBox="1">
            <a:spLocks noGrp="1"/>
          </p:cNvSpPr>
          <p:nvPr>
            <p:ph type="body" idx="1"/>
          </p:nvPr>
        </p:nvSpPr>
        <p:spPr>
          <a:xfrm>
            <a:off x="609600" y="1166018"/>
            <a:ext cx="10972800" cy="5079207"/>
          </a:xfrm>
          <a:prstGeom prst="rect">
            <a:avLst/>
          </a:prstGeom>
          <a:blipFill rotWithShape="1">
            <a:blip r:embed="rId3">
              <a:alphaModFix/>
            </a:blip>
            <a:stretch>
              <a:fillRect l="-1721" t="-2880" r="-831" b="-718"/>
            </a:stretch>
          </a:blip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2800"/>
              <a:buChar char="•"/>
            </a:pPr>
            <a:r>
              <a:rPr lang="en-US"/>
              <a:t> </a:t>
            </a:r>
            <a:endParaRPr/>
          </a:p>
        </p:txBody>
      </p:sp>
      <p:sp>
        <p:nvSpPr>
          <p:cNvPr id="683" name="Google Shape;683;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68"/>
          <p:cNvSpPr txBox="1">
            <a:spLocks noGrp="1"/>
          </p:cNvSpPr>
          <p:nvPr>
            <p:ph type="title"/>
          </p:nvPr>
        </p:nvSpPr>
        <p:spPr>
          <a:xfrm>
            <a:off x="407368" y="365125"/>
            <a:ext cx="10009112" cy="543595"/>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a:solidFill>
                  <a:schemeClr val="lt1"/>
                </a:solidFill>
                <a:latin typeface="Calibri"/>
                <a:ea typeface="Calibri"/>
                <a:cs typeface="Calibri"/>
                <a:sym typeface="Calibri"/>
              </a:rPr>
              <a:t>Binary to BCD conversion</a:t>
            </a:r>
            <a:endParaRPr/>
          </a:p>
        </p:txBody>
      </p:sp>
      <p:sp>
        <p:nvSpPr>
          <p:cNvPr id="689" name="Google Shape;689;p68"/>
          <p:cNvSpPr txBox="1">
            <a:spLocks noGrp="1"/>
          </p:cNvSpPr>
          <p:nvPr>
            <p:ph type="body" idx="1"/>
          </p:nvPr>
        </p:nvSpPr>
        <p:spPr>
          <a:xfrm>
            <a:off x="609600" y="1448493"/>
            <a:ext cx="10972800" cy="4765876"/>
          </a:xfrm>
          <a:prstGeom prst="rect">
            <a:avLst/>
          </a:prstGeom>
          <a:blipFill rotWithShape="1">
            <a:blip r:embed="rId3">
              <a:alphaModFix/>
            </a:blip>
            <a:stretch>
              <a:fillRect l="-1277" t="-1663" b="-2303"/>
            </a:stretch>
          </a:blip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2800"/>
              <a:buChar char="•"/>
            </a:pPr>
            <a:r>
              <a:rPr lang="en-US"/>
              <a:t> </a:t>
            </a:r>
            <a:endParaRPr/>
          </a:p>
        </p:txBody>
      </p:sp>
      <p:sp>
        <p:nvSpPr>
          <p:cNvPr id="691" name="Google Shape;691;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6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Advantages of BCD</a:t>
            </a:r>
            <a:endParaRPr/>
          </a:p>
        </p:txBody>
      </p:sp>
      <p:sp>
        <p:nvSpPr>
          <p:cNvPr id="697" name="Google Shape;697;p6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685800" lvl="1" indent="-228600" algn="just" rtl="0">
              <a:lnSpc>
                <a:spcPct val="90000"/>
              </a:lnSpc>
              <a:spcBef>
                <a:spcPts val="0"/>
              </a:spcBef>
              <a:spcAft>
                <a:spcPts val="0"/>
              </a:spcAft>
              <a:buClr>
                <a:schemeClr val="dk1"/>
              </a:buClr>
              <a:buSzPts val="2400"/>
              <a:buChar char="•"/>
            </a:pPr>
            <a:r>
              <a:rPr lang="en-US">
                <a:solidFill>
                  <a:schemeClr val="dk1"/>
                </a:solidFill>
              </a:rPr>
              <a:t>Easy to </a:t>
            </a:r>
            <a:r>
              <a:rPr lang="en-US" b="1">
                <a:solidFill>
                  <a:schemeClr val="dk1"/>
                </a:solidFill>
              </a:rPr>
              <a:t>encode and Decode </a:t>
            </a:r>
            <a:r>
              <a:rPr lang="en-US">
                <a:solidFill>
                  <a:schemeClr val="dk1"/>
                </a:solidFill>
              </a:rPr>
              <a:t>decimals into BCD and Vice-versa</a:t>
            </a:r>
            <a:endParaRPr/>
          </a:p>
          <a:p>
            <a:pPr marL="685800" lvl="1" indent="-228600" algn="just" rtl="0">
              <a:lnSpc>
                <a:spcPct val="90000"/>
              </a:lnSpc>
              <a:spcBef>
                <a:spcPts val="500"/>
              </a:spcBef>
              <a:spcAft>
                <a:spcPts val="0"/>
              </a:spcAft>
              <a:buClr>
                <a:schemeClr val="dk1"/>
              </a:buClr>
              <a:buSzPts val="2400"/>
              <a:buChar char="•"/>
            </a:pPr>
            <a:r>
              <a:rPr lang="en-US">
                <a:solidFill>
                  <a:schemeClr val="dk1"/>
                </a:solidFill>
              </a:rPr>
              <a:t>Easy to implement a </a:t>
            </a:r>
            <a:r>
              <a:rPr lang="en-US" b="1">
                <a:solidFill>
                  <a:schemeClr val="dk1"/>
                </a:solidFill>
              </a:rPr>
              <a:t>hardware algorithm </a:t>
            </a:r>
            <a:r>
              <a:rPr lang="en-US">
                <a:solidFill>
                  <a:schemeClr val="dk1"/>
                </a:solidFill>
              </a:rPr>
              <a:t>for BCD converter</a:t>
            </a:r>
            <a:endParaRPr/>
          </a:p>
          <a:p>
            <a:pPr marL="685800" lvl="1" indent="-228600" algn="just" rtl="0">
              <a:lnSpc>
                <a:spcPct val="90000"/>
              </a:lnSpc>
              <a:spcBef>
                <a:spcPts val="500"/>
              </a:spcBef>
              <a:spcAft>
                <a:spcPts val="0"/>
              </a:spcAft>
              <a:buClr>
                <a:schemeClr val="dk1"/>
              </a:buClr>
              <a:buSzPts val="2400"/>
              <a:buChar char="•"/>
            </a:pPr>
            <a:r>
              <a:rPr lang="en-US">
                <a:solidFill>
                  <a:schemeClr val="dk1"/>
                </a:solidFill>
              </a:rPr>
              <a:t>Very useful in </a:t>
            </a:r>
            <a:r>
              <a:rPr lang="en-US" b="1">
                <a:solidFill>
                  <a:schemeClr val="dk1"/>
                </a:solidFill>
              </a:rPr>
              <a:t>digital systems </a:t>
            </a:r>
            <a:r>
              <a:rPr lang="en-US">
                <a:solidFill>
                  <a:schemeClr val="dk1"/>
                </a:solidFill>
              </a:rPr>
              <a:t>whenever decimal information reqd.</a:t>
            </a:r>
            <a:endParaRPr/>
          </a:p>
          <a:p>
            <a:pPr marL="685800" marR="0" lvl="1" indent="-228600" algn="just" rtl="0">
              <a:lnSpc>
                <a:spcPct val="90000"/>
              </a:lnSpc>
              <a:spcBef>
                <a:spcPts val="500"/>
              </a:spcBef>
              <a:spcAft>
                <a:spcPts val="0"/>
              </a:spcAft>
              <a:buClr>
                <a:schemeClr val="dk1"/>
              </a:buClr>
              <a:buSzPts val="2400"/>
              <a:buFont typeface="Calibri"/>
              <a:buChar char="–"/>
            </a:pPr>
            <a:r>
              <a:rPr lang="en-US" b="1">
                <a:solidFill>
                  <a:schemeClr val="dk1"/>
                </a:solidFill>
              </a:rPr>
              <a:t>Digital voltmeters, frequency converters </a:t>
            </a:r>
            <a:r>
              <a:rPr lang="en-US">
                <a:solidFill>
                  <a:schemeClr val="dk1"/>
                </a:solidFill>
              </a:rPr>
              <a:t>and </a:t>
            </a:r>
            <a:r>
              <a:rPr lang="en-US" b="1">
                <a:solidFill>
                  <a:schemeClr val="dk1"/>
                </a:solidFill>
              </a:rPr>
              <a:t>digital clocks </a:t>
            </a:r>
            <a:r>
              <a:rPr lang="en-US">
                <a:solidFill>
                  <a:schemeClr val="dk1"/>
                </a:solidFill>
              </a:rPr>
              <a:t>all use BCD as they display output information in decimal. </a:t>
            </a:r>
            <a:endParaRPr/>
          </a:p>
          <a:p>
            <a:pPr marL="685800" lvl="1" indent="-76200" algn="l" rtl="0">
              <a:lnSpc>
                <a:spcPct val="90000"/>
              </a:lnSpc>
              <a:spcBef>
                <a:spcPts val="500"/>
              </a:spcBef>
              <a:spcAft>
                <a:spcPts val="0"/>
              </a:spcAft>
              <a:buClr>
                <a:schemeClr val="dk1"/>
              </a:buClr>
              <a:buSzPts val="2400"/>
              <a:buNone/>
            </a:pPr>
            <a:endParaRPr/>
          </a:p>
        </p:txBody>
      </p:sp>
      <p:sp>
        <p:nvSpPr>
          <p:cNvPr id="699" name="Google Shape;699;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Disadvantages of BCD Code </a:t>
            </a:r>
            <a:endParaRPr/>
          </a:p>
        </p:txBody>
      </p:sp>
      <p:sp>
        <p:nvSpPr>
          <p:cNvPr id="705" name="Google Shape;705;p7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685800" lvl="1" indent="-228600" algn="just" rtl="0">
              <a:lnSpc>
                <a:spcPct val="90000"/>
              </a:lnSpc>
              <a:spcBef>
                <a:spcPts val="0"/>
              </a:spcBef>
              <a:spcAft>
                <a:spcPts val="0"/>
              </a:spcAft>
              <a:buClr>
                <a:schemeClr val="dk1"/>
              </a:buClr>
              <a:buSzPts val="2400"/>
              <a:buChar char="•"/>
            </a:pPr>
            <a:r>
              <a:rPr lang="en-US" b="1">
                <a:solidFill>
                  <a:schemeClr val="dk1"/>
                </a:solidFill>
              </a:rPr>
              <a:t>Require more bits </a:t>
            </a:r>
            <a:r>
              <a:rPr lang="en-US">
                <a:solidFill>
                  <a:schemeClr val="dk1"/>
                </a:solidFill>
              </a:rPr>
              <a:t>than straight binary code</a:t>
            </a:r>
            <a:endParaRPr/>
          </a:p>
          <a:p>
            <a:pPr marL="685800" lvl="1" indent="-228600" algn="just" rtl="0">
              <a:lnSpc>
                <a:spcPct val="90000"/>
              </a:lnSpc>
              <a:spcBef>
                <a:spcPts val="500"/>
              </a:spcBef>
              <a:spcAft>
                <a:spcPts val="0"/>
              </a:spcAft>
              <a:buClr>
                <a:schemeClr val="dk1"/>
              </a:buClr>
              <a:buSzPts val="2400"/>
              <a:buChar char="•"/>
            </a:pPr>
            <a:r>
              <a:rPr lang="en-US">
                <a:solidFill>
                  <a:schemeClr val="dk1"/>
                </a:solidFill>
              </a:rPr>
              <a:t>Difficult to be used in </a:t>
            </a:r>
            <a:r>
              <a:rPr lang="en-US" b="1">
                <a:solidFill>
                  <a:schemeClr val="dk1"/>
                </a:solidFill>
              </a:rPr>
              <a:t>high speed digital computer </a:t>
            </a:r>
            <a:r>
              <a:rPr lang="en-US">
                <a:solidFill>
                  <a:schemeClr val="dk1"/>
                </a:solidFill>
              </a:rPr>
              <a:t>when the size and capacity of their internal registers are </a:t>
            </a:r>
            <a:r>
              <a:rPr lang="en-US" b="1">
                <a:solidFill>
                  <a:srgbClr val="FF0000"/>
                </a:solidFill>
              </a:rPr>
              <a:t>restricted or limited</a:t>
            </a:r>
            <a:r>
              <a:rPr lang="en-US">
                <a:solidFill>
                  <a:schemeClr val="dk1"/>
                </a:solidFill>
              </a:rPr>
              <a:t>.</a:t>
            </a:r>
            <a:endParaRPr/>
          </a:p>
          <a:p>
            <a:pPr marL="685800" lvl="1" indent="-228600" algn="just" rtl="0">
              <a:lnSpc>
                <a:spcPct val="90000"/>
              </a:lnSpc>
              <a:spcBef>
                <a:spcPts val="500"/>
              </a:spcBef>
              <a:spcAft>
                <a:spcPts val="0"/>
              </a:spcAft>
              <a:buClr>
                <a:schemeClr val="dk1"/>
              </a:buClr>
              <a:buSzPts val="2400"/>
              <a:buChar char="•"/>
            </a:pPr>
            <a:r>
              <a:rPr lang="en-US">
                <a:solidFill>
                  <a:schemeClr val="dk1"/>
                </a:solidFill>
              </a:rPr>
              <a:t>The arithmetic operations using BCD code require a </a:t>
            </a:r>
            <a:r>
              <a:rPr lang="en-US" b="1">
                <a:solidFill>
                  <a:schemeClr val="dk1"/>
                </a:solidFill>
              </a:rPr>
              <a:t>complex design of Arithmetic and Logic Unit (ALU) </a:t>
            </a:r>
            <a:r>
              <a:rPr lang="en-US">
                <a:solidFill>
                  <a:schemeClr val="dk1"/>
                </a:solidFill>
              </a:rPr>
              <a:t>than the straight binary number system. </a:t>
            </a:r>
            <a:endParaRPr/>
          </a:p>
          <a:p>
            <a:pPr marL="685800" lvl="1" indent="-228600" algn="just" rtl="0">
              <a:lnSpc>
                <a:spcPct val="90000"/>
              </a:lnSpc>
              <a:spcBef>
                <a:spcPts val="500"/>
              </a:spcBef>
              <a:spcAft>
                <a:spcPts val="0"/>
              </a:spcAft>
              <a:buClr>
                <a:schemeClr val="dk1"/>
              </a:buClr>
              <a:buSzPts val="2400"/>
              <a:buChar char="•"/>
            </a:pPr>
            <a:r>
              <a:rPr lang="en-US">
                <a:solidFill>
                  <a:schemeClr val="dk1"/>
                </a:solidFill>
              </a:rPr>
              <a:t>The speed of the arithmetic operations that can be realized using BCD code is naturally slow due to the </a:t>
            </a:r>
            <a:r>
              <a:rPr lang="en-US" b="1">
                <a:solidFill>
                  <a:schemeClr val="dk1"/>
                </a:solidFill>
              </a:rPr>
              <a:t>complex hardware circuitry </a:t>
            </a:r>
            <a:r>
              <a:rPr lang="en-US">
                <a:solidFill>
                  <a:schemeClr val="dk1"/>
                </a:solidFill>
              </a:rPr>
              <a:t>involved.</a:t>
            </a:r>
            <a:endParaRPr/>
          </a:p>
          <a:p>
            <a:pPr marL="685800" lvl="1" indent="-228600" algn="just" rtl="0">
              <a:lnSpc>
                <a:spcPct val="90000"/>
              </a:lnSpc>
              <a:spcBef>
                <a:spcPts val="500"/>
              </a:spcBef>
              <a:spcAft>
                <a:spcPts val="0"/>
              </a:spcAft>
              <a:buClr>
                <a:schemeClr val="dk1"/>
              </a:buClr>
              <a:buSzPts val="2400"/>
              <a:buChar char="•"/>
            </a:pPr>
            <a:r>
              <a:rPr lang="en-US"/>
              <a:t/>
            </a:r>
            <a:br>
              <a:rPr lang="en-US"/>
            </a:br>
            <a:endParaRPr/>
          </a:p>
        </p:txBody>
      </p:sp>
      <p:sp>
        <p:nvSpPr>
          <p:cNvPr id="707" name="Google Shape;707;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71"/>
          <p:cNvSpPr txBox="1">
            <a:spLocks noGrp="1"/>
          </p:cNvSpPr>
          <p:nvPr>
            <p:ph type="title"/>
          </p:nvPr>
        </p:nvSpPr>
        <p:spPr>
          <a:xfrm>
            <a:off x="838200" y="365125"/>
            <a:ext cx="9074224" cy="831627"/>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400"/>
              <a:buFont typeface="Arial Black"/>
              <a:buNone/>
            </a:pPr>
            <a:r>
              <a:rPr lang="en-US">
                <a:solidFill>
                  <a:schemeClr val="lt1"/>
                </a:solidFill>
                <a:latin typeface="Arial Black"/>
                <a:ea typeface="Arial Black"/>
                <a:cs typeface="Arial Black"/>
                <a:sym typeface="Arial Black"/>
              </a:rPr>
              <a:t>Excess-3 code </a:t>
            </a:r>
            <a:endParaRPr/>
          </a:p>
        </p:txBody>
      </p:sp>
      <p:sp>
        <p:nvSpPr>
          <p:cNvPr id="713" name="Google Shape;713;p71"/>
          <p:cNvSpPr txBox="1">
            <a:spLocks noGrp="1"/>
          </p:cNvSpPr>
          <p:nvPr>
            <p:ph type="body" idx="1"/>
          </p:nvPr>
        </p:nvSpPr>
        <p:spPr>
          <a:xfrm>
            <a:off x="838200" y="1556792"/>
            <a:ext cx="10515600" cy="4620171"/>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90000"/>
              </a:lnSpc>
              <a:spcBef>
                <a:spcPts val="0"/>
              </a:spcBef>
              <a:spcAft>
                <a:spcPts val="0"/>
              </a:spcAft>
              <a:buClr>
                <a:srgbClr val="333333"/>
              </a:buClr>
              <a:buSzPts val="2800"/>
              <a:buChar char="•"/>
            </a:pPr>
            <a:r>
              <a:rPr lang="en-US" b="0" i="0">
                <a:solidFill>
                  <a:srgbClr val="333333"/>
                </a:solidFill>
                <a:latin typeface="Inter"/>
                <a:ea typeface="Inter"/>
                <a:cs typeface="Inter"/>
                <a:sym typeface="Inter"/>
              </a:rPr>
              <a:t>The excess-3 code is also treated as </a:t>
            </a:r>
            <a:r>
              <a:rPr lang="en-US" b="1" i="0">
                <a:solidFill>
                  <a:srgbClr val="333333"/>
                </a:solidFill>
                <a:latin typeface="Inter"/>
                <a:ea typeface="Inter"/>
                <a:cs typeface="Inter"/>
                <a:sym typeface="Inter"/>
              </a:rPr>
              <a:t>XS-3 code</a:t>
            </a:r>
            <a:r>
              <a:rPr lang="en-US" b="0" i="0">
                <a:solidFill>
                  <a:srgbClr val="333333"/>
                </a:solidFill>
                <a:latin typeface="Inter"/>
                <a:ea typeface="Inter"/>
                <a:cs typeface="Inter"/>
                <a:sym typeface="Inter"/>
              </a:rPr>
              <a:t>. The excess-3 code is a </a:t>
            </a:r>
            <a:r>
              <a:rPr lang="en-US" b="1" i="0">
                <a:solidFill>
                  <a:srgbClr val="333333"/>
                </a:solidFill>
                <a:latin typeface="Inter"/>
                <a:ea typeface="Inter"/>
                <a:cs typeface="Inter"/>
                <a:sym typeface="Inter"/>
              </a:rPr>
              <a:t>non-weighted</a:t>
            </a:r>
            <a:r>
              <a:rPr lang="en-US" b="0" i="0">
                <a:solidFill>
                  <a:srgbClr val="333333"/>
                </a:solidFill>
                <a:latin typeface="Inter"/>
                <a:ea typeface="Inter"/>
                <a:cs typeface="Inter"/>
                <a:sym typeface="Inter"/>
              </a:rPr>
              <a:t> and </a:t>
            </a:r>
            <a:r>
              <a:rPr lang="en-US" b="1" i="0">
                <a:solidFill>
                  <a:srgbClr val="333333"/>
                </a:solidFill>
                <a:latin typeface="Inter"/>
                <a:ea typeface="Inter"/>
                <a:cs typeface="Inter"/>
                <a:sym typeface="Inter"/>
              </a:rPr>
              <a:t>self-complementary BCD code </a:t>
            </a:r>
            <a:r>
              <a:rPr lang="en-US" b="0" i="0">
                <a:solidFill>
                  <a:srgbClr val="333333"/>
                </a:solidFill>
                <a:latin typeface="Inter"/>
                <a:ea typeface="Inter"/>
                <a:cs typeface="Inter"/>
                <a:sym typeface="Inter"/>
              </a:rPr>
              <a:t>used to represent the decimal numbers. </a:t>
            </a:r>
            <a:endParaRPr/>
          </a:p>
          <a:p>
            <a:pPr marL="228600" lvl="0" indent="-228600" algn="just" rtl="0">
              <a:lnSpc>
                <a:spcPct val="90000"/>
              </a:lnSpc>
              <a:spcBef>
                <a:spcPts val="1000"/>
              </a:spcBef>
              <a:spcAft>
                <a:spcPts val="0"/>
              </a:spcAft>
              <a:buClr>
                <a:srgbClr val="333333"/>
              </a:buClr>
              <a:buSzPts val="2800"/>
              <a:buChar char="•"/>
            </a:pPr>
            <a:r>
              <a:rPr lang="en-US" b="0" i="0">
                <a:solidFill>
                  <a:srgbClr val="333333"/>
                </a:solidFill>
                <a:latin typeface="Inter"/>
                <a:ea typeface="Inter"/>
                <a:cs typeface="Inter"/>
                <a:sym typeface="Inter"/>
              </a:rPr>
              <a:t>This code has a </a:t>
            </a:r>
            <a:r>
              <a:rPr lang="en-US" b="1" i="0">
                <a:solidFill>
                  <a:srgbClr val="333333"/>
                </a:solidFill>
                <a:latin typeface="Inter"/>
                <a:ea typeface="Inter"/>
                <a:cs typeface="Inter"/>
                <a:sym typeface="Inter"/>
              </a:rPr>
              <a:t>biased representation</a:t>
            </a:r>
            <a:r>
              <a:rPr lang="en-US" b="0" i="0">
                <a:solidFill>
                  <a:srgbClr val="333333"/>
                </a:solidFill>
                <a:latin typeface="Inter"/>
                <a:ea typeface="Inter"/>
                <a:cs typeface="Inter"/>
                <a:sym typeface="Inter"/>
              </a:rPr>
              <a:t>. This code plays an </a:t>
            </a:r>
            <a:r>
              <a:rPr lang="en-US" b="1" i="0">
                <a:solidFill>
                  <a:srgbClr val="333333"/>
                </a:solidFill>
                <a:latin typeface="Inter"/>
                <a:ea typeface="Inter"/>
                <a:cs typeface="Inter"/>
                <a:sym typeface="Inter"/>
              </a:rPr>
              <a:t>important role in arithmetic operations </a:t>
            </a:r>
            <a:r>
              <a:rPr lang="en-US" b="0" i="0">
                <a:solidFill>
                  <a:srgbClr val="333333"/>
                </a:solidFill>
                <a:latin typeface="Inter"/>
                <a:ea typeface="Inter"/>
                <a:cs typeface="Inter"/>
                <a:sym typeface="Inter"/>
              </a:rPr>
              <a:t>because it </a:t>
            </a:r>
            <a:r>
              <a:rPr lang="en-US" b="0" i="0">
                <a:solidFill>
                  <a:srgbClr val="FF0000"/>
                </a:solidFill>
                <a:latin typeface="Inter"/>
                <a:ea typeface="Inter"/>
                <a:cs typeface="Inter"/>
                <a:sym typeface="Inter"/>
              </a:rPr>
              <a:t>resolves</a:t>
            </a:r>
            <a:r>
              <a:rPr lang="en-US" b="0" i="0">
                <a:solidFill>
                  <a:srgbClr val="333333"/>
                </a:solidFill>
                <a:latin typeface="Inter"/>
                <a:ea typeface="Inter"/>
                <a:cs typeface="Inter"/>
                <a:sym typeface="Inter"/>
              </a:rPr>
              <a:t> </a:t>
            </a:r>
            <a:r>
              <a:rPr lang="en-US" b="1" i="0">
                <a:solidFill>
                  <a:srgbClr val="333333"/>
                </a:solidFill>
                <a:latin typeface="Inter"/>
                <a:ea typeface="Inter"/>
                <a:cs typeface="Inter"/>
                <a:sym typeface="Inter"/>
              </a:rPr>
              <a:t>deficiencies encountered </a:t>
            </a:r>
            <a:r>
              <a:rPr lang="en-US" b="0" i="0">
                <a:solidFill>
                  <a:srgbClr val="333333"/>
                </a:solidFill>
                <a:latin typeface="Inter"/>
                <a:ea typeface="Inter"/>
                <a:cs typeface="Inter"/>
                <a:sym typeface="Inter"/>
              </a:rPr>
              <a:t>when we use the 8421 BCD code for adding two decimal digits whose sum is greater than 9. </a:t>
            </a:r>
            <a:endParaRPr/>
          </a:p>
          <a:p>
            <a:pPr marL="228600" lvl="0" indent="-228600" algn="just" rtl="0">
              <a:lnSpc>
                <a:spcPct val="90000"/>
              </a:lnSpc>
              <a:spcBef>
                <a:spcPts val="1000"/>
              </a:spcBef>
              <a:spcAft>
                <a:spcPts val="0"/>
              </a:spcAft>
              <a:buClr>
                <a:srgbClr val="333333"/>
              </a:buClr>
              <a:buSzPts val="2800"/>
              <a:buChar char="•"/>
            </a:pPr>
            <a:r>
              <a:rPr lang="en-US" b="0" i="0">
                <a:solidFill>
                  <a:srgbClr val="333333"/>
                </a:solidFill>
                <a:latin typeface="Inter"/>
                <a:ea typeface="Inter"/>
                <a:cs typeface="Inter"/>
                <a:sym typeface="Inter"/>
              </a:rPr>
              <a:t>The Excess-3 code uses a </a:t>
            </a:r>
            <a:r>
              <a:rPr lang="en-US" b="1" i="0">
                <a:solidFill>
                  <a:srgbClr val="FF0000"/>
                </a:solidFill>
                <a:latin typeface="Inter"/>
                <a:ea typeface="Inter"/>
                <a:cs typeface="Inter"/>
                <a:sym typeface="Inter"/>
              </a:rPr>
              <a:t>special type of algorithm</a:t>
            </a:r>
            <a:r>
              <a:rPr lang="en-US" b="0" i="0">
                <a:solidFill>
                  <a:srgbClr val="333333"/>
                </a:solidFill>
                <a:latin typeface="Inter"/>
                <a:ea typeface="Inter"/>
                <a:cs typeface="Inter"/>
                <a:sym typeface="Inter"/>
              </a:rPr>
              <a:t>, which differs from the binary positional number system or normal non-biased BCD.</a:t>
            </a:r>
            <a:endParaRPr/>
          </a:p>
        </p:txBody>
      </p:sp>
      <p:sp>
        <p:nvSpPr>
          <p:cNvPr id="715" name="Google Shape;715;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66</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72"/>
          <p:cNvSpPr txBox="1">
            <a:spLocks noGrp="1"/>
          </p:cNvSpPr>
          <p:nvPr>
            <p:ph type="title"/>
          </p:nvPr>
        </p:nvSpPr>
        <p:spPr>
          <a:xfrm>
            <a:off x="838200" y="365125"/>
            <a:ext cx="9434264" cy="543595"/>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Calibri"/>
              <a:buNone/>
            </a:pPr>
            <a:r>
              <a:rPr lang="en-US">
                <a:solidFill>
                  <a:schemeClr val="lt1"/>
                </a:solidFill>
                <a:latin typeface="Calibri"/>
                <a:ea typeface="Calibri"/>
                <a:cs typeface="Calibri"/>
                <a:sym typeface="Calibri"/>
              </a:rPr>
              <a:t>Decimal to Excess-3 code conversion</a:t>
            </a:r>
            <a:endParaRPr/>
          </a:p>
        </p:txBody>
      </p:sp>
      <p:sp>
        <p:nvSpPr>
          <p:cNvPr id="721" name="Google Shape;721;p72"/>
          <p:cNvSpPr txBox="1">
            <a:spLocks noGrp="1"/>
          </p:cNvSpPr>
          <p:nvPr>
            <p:ph type="body" idx="1"/>
          </p:nvPr>
        </p:nvSpPr>
        <p:spPr>
          <a:xfrm>
            <a:off x="838200" y="1124744"/>
            <a:ext cx="10515600" cy="5052219"/>
          </a:xfrm>
          <a:prstGeom prst="rect">
            <a:avLst/>
          </a:prstGeom>
          <a:noFill/>
          <a:ln>
            <a:noFill/>
          </a:ln>
        </p:spPr>
        <p:txBody>
          <a:bodyPr spcFirstLastPara="1" wrap="square" lIns="91425" tIns="45700" rIns="91425" bIns="45700" anchor="t" anchorCtr="0">
            <a:normAutofit fontScale="92500" lnSpcReduction="20000"/>
          </a:bodyPr>
          <a:lstStyle/>
          <a:p>
            <a:pPr marL="0" lvl="0" indent="0" algn="just" rtl="0">
              <a:lnSpc>
                <a:spcPct val="150000"/>
              </a:lnSpc>
              <a:spcBef>
                <a:spcPts val="0"/>
              </a:spcBef>
              <a:spcAft>
                <a:spcPts val="0"/>
              </a:spcAft>
              <a:buClr>
                <a:srgbClr val="000000"/>
              </a:buClr>
              <a:buSzPct val="100000"/>
              <a:buNone/>
            </a:pPr>
            <a:r>
              <a:rPr lang="en-US" b="0" i="0">
                <a:solidFill>
                  <a:srgbClr val="000000"/>
                </a:solidFill>
                <a:latin typeface="Inter"/>
                <a:ea typeface="Inter"/>
                <a:cs typeface="Inter"/>
                <a:sym typeface="Inter"/>
              </a:rPr>
              <a:t>Step-1: We find the decimal number of the given binary number. Step-2: Then we add 3 in each digit of the decimal number. </a:t>
            </a:r>
            <a:endParaRPr/>
          </a:p>
          <a:p>
            <a:pPr marL="0" lvl="0" indent="0" algn="just" rtl="0">
              <a:lnSpc>
                <a:spcPct val="150000"/>
              </a:lnSpc>
              <a:spcBef>
                <a:spcPts val="1000"/>
              </a:spcBef>
              <a:spcAft>
                <a:spcPts val="0"/>
              </a:spcAft>
              <a:buClr>
                <a:srgbClr val="000000"/>
              </a:buClr>
              <a:buSzPct val="100000"/>
              <a:buNone/>
            </a:pPr>
            <a:r>
              <a:rPr lang="en-US" b="0" i="0">
                <a:solidFill>
                  <a:srgbClr val="000000"/>
                </a:solidFill>
                <a:latin typeface="Inter"/>
                <a:ea typeface="Inter"/>
                <a:cs typeface="Inter"/>
                <a:sym typeface="Inter"/>
              </a:rPr>
              <a:t>Step-3: Now, we find the binary code of each digit of the newly generated decimal number.</a:t>
            </a:r>
            <a:endParaRPr/>
          </a:p>
          <a:p>
            <a:pPr marL="0" lvl="0" indent="0" algn="just" rtl="0">
              <a:lnSpc>
                <a:spcPct val="150000"/>
              </a:lnSpc>
              <a:spcBef>
                <a:spcPts val="1000"/>
              </a:spcBef>
              <a:spcAft>
                <a:spcPts val="0"/>
              </a:spcAft>
              <a:buClr>
                <a:srgbClr val="000000"/>
              </a:buClr>
              <a:buSzPct val="100000"/>
              <a:buNone/>
            </a:pPr>
            <a:r>
              <a:rPr lang="en-US">
                <a:solidFill>
                  <a:srgbClr val="000000"/>
                </a:solidFill>
                <a:latin typeface="Inter"/>
                <a:ea typeface="Inter"/>
                <a:cs typeface="Inter"/>
                <a:sym typeface="Inter"/>
              </a:rPr>
              <a:t>Alternatively,</a:t>
            </a:r>
            <a:endParaRPr b="0" i="0">
              <a:solidFill>
                <a:srgbClr val="000000"/>
              </a:solidFill>
              <a:latin typeface="Inter"/>
              <a:ea typeface="Inter"/>
              <a:cs typeface="Inter"/>
              <a:sym typeface="Inter"/>
            </a:endParaRPr>
          </a:p>
          <a:p>
            <a:pPr marL="228600" lvl="0" indent="-228600" algn="just" rtl="0">
              <a:lnSpc>
                <a:spcPct val="150000"/>
              </a:lnSpc>
              <a:spcBef>
                <a:spcPts val="1000"/>
              </a:spcBef>
              <a:spcAft>
                <a:spcPts val="0"/>
              </a:spcAft>
              <a:buClr>
                <a:srgbClr val="FF0000"/>
              </a:buClr>
              <a:buSzPct val="100000"/>
              <a:buChar char="•"/>
            </a:pPr>
            <a:r>
              <a:rPr lang="en-US" b="0" i="0">
                <a:solidFill>
                  <a:srgbClr val="FF0000"/>
                </a:solidFill>
                <a:latin typeface="Inter"/>
                <a:ea typeface="Inter"/>
                <a:cs typeface="Inter"/>
                <a:sym typeface="Inter"/>
              </a:rPr>
              <a:t>We can also add 0011 in each 4-bit </a:t>
            </a:r>
            <a:r>
              <a:rPr lang="en-US" b="0" i="0">
                <a:solidFill>
                  <a:srgbClr val="00B0F0"/>
                </a:solidFill>
                <a:latin typeface="Inter"/>
                <a:ea typeface="Inter"/>
                <a:cs typeface="Inter"/>
                <a:sym typeface="Inter"/>
              </a:rPr>
              <a:t>BCD code </a:t>
            </a:r>
            <a:r>
              <a:rPr lang="en-US" b="0" i="0">
                <a:solidFill>
                  <a:srgbClr val="FF0000"/>
                </a:solidFill>
                <a:latin typeface="Inter"/>
                <a:ea typeface="Inter"/>
                <a:cs typeface="Inter"/>
                <a:sym typeface="Inter"/>
              </a:rPr>
              <a:t>of the decimal number for getting excess-3 code.</a:t>
            </a:r>
            <a:endParaRPr/>
          </a:p>
          <a:p>
            <a:pPr marL="0" lvl="0" indent="0" algn="l" rtl="0">
              <a:lnSpc>
                <a:spcPct val="90000"/>
              </a:lnSpc>
              <a:spcBef>
                <a:spcPts val="1000"/>
              </a:spcBef>
              <a:spcAft>
                <a:spcPts val="0"/>
              </a:spcAft>
              <a:buClr>
                <a:schemeClr val="dk1"/>
              </a:buClr>
              <a:buSzPct val="100000"/>
              <a:buNone/>
            </a:pPr>
            <a:r>
              <a:rPr lang="en-US"/>
              <a:t/>
            </a:r>
            <a:br>
              <a:rPr lang="en-US"/>
            </a:br>
            <a:endParaRPr/>
          </a:p>
        </p:txBody>
      </p:sp>
      <p:sp>
        <p:nvSpPr>
          <p:cNvPr id="723" name="Google Shape;723;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Ex-1</a:t>
            </a:r>
            <a:endParaRPr/>
          </a:p>
        </p:txBody>
      </p:sp>
      <p:sp>
        <p:nvSpPr>
          <p:cNvPr id="729" name="Google Shape;729;p73"/>
          <p:cNvSpPr txBox="1">
            <a:spLocks noGrp="1"/>
          </p:cNvSpPr>
          <p:nvPr>
            <p:ph type="body" idx="1"/>
          </p:nvPr>
        </p:nvSpPr>
        <p:spPr>
          <a:xfrm>
            <a:off x="838200" y="1825625"/>
            <a:ext cx="10515600" cy="4351338"/>
          </a:xfrm>
          <a:prstGeom prst="rect">
            <a:avLst/>
          </a:prstGeom>
          <a:blipFill rotWithShape="1">
            <a:blip r:embed="rId3">
              <a:alphaModFix/>
            </a:blip>
            <a:stretch>
              <a:fillRect l="-1277" t="-1751"/>
            </a:stretch>
          </a:blip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2800"/>
              <a:buChar char="•"/>
            </a:pPr>
            <a:r>
              <a:rPr lang="en-US"/>
              <a:t> </a:t>
            </a:r>
            <a:endParaRPr/>
          </a:p>
        </p:txBody>
      </p:sp>
      <p:sp>
        <p:nvSpPr>
          <p:cNvPr id="731" name="Google Shape;731;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7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Ex-2</a:t>
            </a:r>
            <a:endParaRPr/>
          </a:p>
        </p:txBody>
      </p:sp>
      <p:sp>
        <p:nvSpPr>
          <p:cNvPr id="737" name="Google Shape;737;p74"/>
          <p:cNvSpPr txBox="1">
            <a:spLocks noGrp="1"/>
          </p:cNvSpPr>
          <p:nvPr>
            <p:ph type="body" idx="1"/>
          </p:nvPr>
        </p:nvSpPr>
        <p:spPr>
          <a:xfrm>
            <a:off x="838200" y="1825625"/>
            <a:ext cx="10515600" cy="4351338"/>
          </a:xfrm>
          <a:prstGeom prst="rect">
            <a:avLst/>
          </a:prstGeom>
          <a:blipFill rotWithShape="1">
            <a:blip r:embed="rId3">
              <a:alphaModFix/>
            </a:blip>
            <a:stretch>
              <a:fillRect l="-1388" t="-1751"/>
            </a:stretch>
          </a:blip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2800"/>
              <a:buChar char="•"/>
            </a:pPr>
            <a:r>
              <a:rPr lang="en-US"/>
              <a:t> </a:t>
            </a:r>
            <a:endParaRPr/>
          </a:p>
        </p:txBody>
      </p:sp>
      <p:sp>
        <p:nvSpPr>
          <p:cNvPr id="739" name="Google Shape;739;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7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Ex-3</a:t>
            </a:r>
            <a:endParaRPr/>
          </a:p>
        </p:txBody>
      </p:sp>
      <p:sp>
        <p:nvSpPr>
          <p:cNvPr id="745" name="Google Shape;745;p75"/>
          <p:cNvSpPr txBox="1">
            <a:spLocks noGrp="1"/>
          </p:cNvSpPr>
          <p:nvPr>
            <p:ph type="body" idx="1"/>
          </p:nvPr>
        </p:nvSpPr>
        <p:spPr>
          <a:xfrm>
            <a:off x="838200" y="1825625"/>
            <a:ext cx="10515600" cy="4351338"/>
          </a:xfrm>
          <a:prstGeom prst="rect">
            <a:avLst/>
          </a:prstGeom>
          <a:blipFill rotWithShape="1">
            <a:blip r:embed="rId3">
              <a:alphaModFix/>
            </a:blip>
            <a:stretch>
              <a:fillRect l="-1277" t="-1751"/>
            </a:stretch>
          </a:blip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2800"/>
              <a:buChar char="•"/>
            </a:pPr>
            <a:r>
              <a:rPr lang="en-US"/>
              <a:t> </a:t>
            </a:r>
            <a:endParaRPr/>
          </a:p>
        </p:txBody>
      </p:sp>
      <p:sp>
        <p:nvSpPr>
          <p:cNvPr id="747" name="Google Shape;747;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70</a:t>
            </a:fld>
            <a:endParaRPr/>
          </a:p>
        </p:txBody>
      </p:sp>
      <p:pic>
        <p:nvPicPr>
          <p:cNvPr id="748" name="Google Shape;748;p75"/>
          <p:cNvPicPr preferRelativeResize="0"/>
          <p:nvPr/>
        </p:nvPicPr>
        <p:blipFill rotWithShape="1">
          <a:blip r:embed="rId4">
            <a:alphaModFix/>
          </a:blip>
          <a:srcRect/>
          <a:stretch/>
        </p:blipFill>
        <p:spPr>
          <a:xfrm>
            <a:off x="2995694" y="3013170"/>
            <a:ext cx="5027388" cy="1423942"/>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Excess-3 code</a:t>
            </a:r>
            <a:endParaRPr/>
          </a:p>
        </p:txBody>
      </p:sp>
      <p:pic>
        <p:nvPicPr>
          <p:cNvPr id="754" name="Google Shape;754;p76"/>
          <p:cNvPicPr preferRelativeResize="0">
            <a:picLocks noGrp="1"/>
          </p:cNvPicPr>
          <p:nvPr>
            <p:ph type="body" idx="1"/>
          </p:nvPr>
        </p:nvPicPr>
        <p:blipFill rotWithShape="1">
          <a:blip r:embed="rId3">
            <a:alphaModFix/>
          </a:blip>
          <a:srcRect t="8570" r="71"/>
          <a:stretch/>
        </p:blipFill>
        <p:spPr>
          <a:xfrm>
            <a:off x="3206187" y="1632030"/>
            <a:ext cx="5220183" cy="4363656"/>
          </a:xfrm>
          <a:prstGeom prst="rect">
            <a:avLst/>
          </a:prstGeom>
          <a:noFill/>
          <a:ln>
            <a:noFill/>
          </a:ln>
        </p:spPr>
      </p:pic>
      <p:sp>
        <p:nvSpPr>
          <p:cNvPr id="756" name="Google Shape;756;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71</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7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Ex-4</a:t>
            </a:r>
            <a:endParaRPr/>
          </a:p>
        </p:txBody>
      </p:sp>
      <p:sp>
        <p:nvSpPr>
          <p:cNvPr id="762" name="Google Shape;762;p77"/>
          <p:cNvSpPr txBox="1">
            <a:spLocks noGrp="1"/>
          </p:cNvSpPr>
          <p:nvPr>
            <p:ph type="body" idx="1"/>
          </p:nvPr>
        </p:nvSpPr>
        <p:spPr>
          <a:xfrm>
            <a:off x="838200" y="1825625"/>
            <a:ext cx="10515600" cy="4351338"/>
          </a:xfrm>
          <a:prstGeom prst="rect">
            <a:avLst/>
          </a:prstGeom>
          <a:blipFill rotWithShape="1">
            <a:blip r:embed="rId3">
              <a:alphaModFix/>
            </a:blip>
            <a:stretch>
              <a:fillRect l="-1277" t="-1751"/>
            </a:stretch>
          </a:blip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2800"/>
              <a:buChar char="•"/>
            </a:pPr>
            <a:r>
              <a:rPr lang="en-US"/>
              <a:t> </a:t>
            </a:r>
            <a:endParaRPr/>
          </a:p>
        </p:txBody>
      </p:sp>
      <p:sp>
        <p:nvSpPr>
          <p:cNvPr id="764" name="Google Shape;764;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72</a:t>
            </a:fld>
            <a:endParaRPr/>
          </a:p>
        </p:txBody>
      </p:sp>
      <p:graphicFrame>
        <p:nvGraphicFramePr>
          <p:cNvPr id="765" name="Google Shape;765;p77"/>
          <p:cNvGraphicFramePr/>
          <p:nvPr/>
        </p:nvGraphicFramePr>
        <p:xfrm>
          <a:off x="1684760" y="2976729"/>
          <a:ext cx="3199750" cy="2081375"/>
        </p:xfrm>
        <a:graphic>
          <a:graphicData uri="http://schemas.openxmlformats.org/drawingml/2006/table">
            <a:tbl>
              <a:tblPr firstRow="1" bandRow="1">
                <a:noFill/>
                <a:tableStyleId>{65BCB809-4C7D-4E31-BA33-E4B15E20FA82}</a:tableStyleId>
              </a:tblPr>
              <a:tblGrid>
                <a:gridCol w="1599875">
                  <a:extLst>
                    <a:ext uri="{9D8B030D-6E8A-4147-A177-3AD203B41FA5}">
                      <a16:colId xmlns:a16="http://schemas.microsoft.com/office/drawing/2014/main" xmlns="" val="20000"/>
                    </a:ext>
                  </a:extLst>
                </a:gridCol>
                <a:gridCol w="1599875">
                  <a:extLst>
                    <a:ext uri="{9D8B030D-6E8A-4147-A177-3AD203B41FA5}">
                      <a16:colId xmlns:a16="http://schemas.microsoft.com/office/drawing/2014/main" xmlns="" val="20001"/>
                    </a:ext>
                  </a:extLst>
                </a:gridCol>
              </a:tblGrid>
              <a:tr h="416275">
                <a:tc>
                  <a:txBody>
                    <a:bodyPr/>
                    <a:lstStyle/>
                    <a:p>
                      <a:pPr marL="0" marR="0" lvl="0" indent="0" algn="ctr" rtl="0">
                        <a:spcBef>
                          <a:spcPts val="0"/>
                        </a:spcBef>
                        <a:spcAft>
                          <a:spcPts val="0"/>
                        </a:spcAft>
                        <a:buNone/>
                      </a:pPr>
                      <a:r>
                        <a:rPr lang="en-US" sz="1800" u="none" strike="noStrike" cap="none"/>
                        <a:t>Decimal</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BCD</a:t>
                      </a:r>
                      <a:endParaRPr/>
                    </a:p>
                  </a:txBody>
                  <a:tcPr marL="91450" marR="91450" marT="45725" marB="45725"/>
                </a:tc>
                <a:extLst>
                  <a:ext uri="{0D108BD9-81ED-4DB2-BD59-A6C34878D82A}">
                    <a16:rowId xmlns:a16="http://schemas.microsoft.com/office/drawing/2014/main" xmlns="" val="10000"/>
                  </a:ext>
                </a:extLst>
              </a:tr>
              <a:tr h="416275">
                <a:tc>
                  <a:txBody>
                    <a:bodyPr/>
                    <a:lstStyle/>
                    <a:p>
                      <a:pPr marL="0" marR="0" lvl="0" indent="0" algn="ctr" rtl="0">
                        <a:spcBef>
                          <a:spcPts val="0"/>
                        </a:spcBef>
                        <a:spcAft>
                          <a:spcPts val="0"/>
                        </a:spcAft>
                        <a:buNone/>
                      </a:pPr>
                      <a:r>
                        <a:rPr lang="en-US" sz="1800" u="none" strike="noStrike" cap="none"/>
                        <a:t>8</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1000</a:t>
                      </a:r>
                      <a:endParaRPr/>
                    </a:p>
                  </a:txBody>
                  <a:tcPr marL="91450" marR="91450" marT="45725" marB="45725"/>
                </a:tc>
                <a:extLst>
                  <a:ext uri="{0D108BD9-81ED-4DB2-BD59-A6C34878D82A}">
                    <a16:rowId xmlns:a16="http://schemas.microsoft.com/office/drawing/2014/main" xmlns="" val="10001"/>
                  </a:ext>
                </a:extLst>
              </a:tr>
              <a:tr h="416275">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0001</a:t>
                      </a:r>
                      <a:endParaRPr/>
                    </a:p>
                  </a:txBody>
                  <a:tcPr marL="91450" marR="91450" marT="45725" marB="45725"/>
                </a:tc>
                <a:extLst>
                  <a:ext uri="{0D108BD9-81ED-4DB2-BD59-A6C34878D82A}">
                    <a16:rowId xmlns:a16="http://schemas.microsoft.com/office/drawing/2014/main" xmlns="" val="10002"/>
                  </a:ext>
                </a:extLst>
              </a:tr>
              <a:tr h="416275">
                <a:tc>
                  <a:txBody>
                    <a:bodyPr/>
                    <a:lstStyle/>
                    <a:p>
                      <a:pPr marL="0" marR="0" lvl="0" indent="0" algn="ctr" rtl="0">
                        <a:spcBef>
                          <a:spcPts val="0"/>
                        </a:spcBef>
                        <a:spcAft>
                          <a:spcPts val="0"/>
                        </a:spcAft>
                        <a:buNone/>
                      </a:pPr>
                      <a:r>
                        <a:rPr lang="en-US" sz="1800" u="none" strike="noStrike" cap="none"/>
                        <a:t>6</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0110</a:t>
                      </a:r>
                      <a:endParaRPr/>
                    </a:p>
                  </a:txBody>
                  <a:tcPr marL="91450" marR="91450" marT="45725" marB="45725"/>
                </a:tc>
                <a:extLst>
                  <a:ext uri="{0D108BD9-81ED-4DB2-BD59-A6C34878D82A}">
                    <a16:rowId xmlns:a16="http://schemas.microsoft.com/office/drawing/2014/main" xmlns="" val="10003"/>
                  </a:ext>
                </a:extLst>
              </a:tr>
              <a:tr h="416275">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0001</a:t>
                      </a:r>
                      <a:endParaRPr/>
                    </a:p>
                  </a:txBody>
                  <a:tcPr marL="91450" marR="91450" marT="45725" marB="45725"/>
                </a:tc>
                <a:extLst>
                  <a:ext uri="{0D108BD9-81ED-4DB2-BD59-A6C34878D82A}">
                    <a16:rowId xmlns:a16="http://schemas.microsoft.com/office/drawing/2014/main" xmlns="" val="10004"/>
                  </a:ext>
                </a:extLst>
              </a:tr>
            </a:tbl>
          </a:graphicData>
        </a:graphic>
      </p:graphicFrame>
      <p:graphicFrame>
        <p:nvGraphicFramePr>
          <p:cNvPr id="766" name="Google Shape;766;p77"/>
          <p:cNvGraphicFramePr/>
          <p:nvPr/>
        </p:nvGraphicFramePr>
        <p:xfrm>
          <a:off x="6231036" y="2920150"/>
          <a:ext cx="3329650" cy="2337625"/>
        </p:xfrm>
        <a:graphic>
          <a:graphicData uri="http://schemas.openxmlformats.org/drawingml/2006/table">
            <a:tbl>
              <a:tblPr firstRow="1" bandRow="1">
                <a:noFill/>
                <a:tableStyleId>{65BCB809-4C7D-4E31-BA33-E4B15E20FA82}</a:tableStyleId>
              </a:tblPr>
              <a:tblGrid>
                <a:gridCol w="1664825">
                  <a:extLst>
                    <a:ext uri="{9D8B030D-6E8A-4147-A177-3AD203B41FA5}">
                      <a16:colId xmlns:a16="http://schemas.microsoft.com/office/drawing/2014/main" xmlns="" val="20000"/>
                    </a:ext>
                  </a:extLst>
                </a:gridCol>
                <a:gridCol w="1664825">
                  <a:extLst>
                    <a:ext uri="{9D8B030D-6E8A-4147-A177-3AD203B41FA5}">
                      <a16:colId xmlns:a16="http://schemas.microsoft.com/office/drawing/2014/main" xmlns="" val="20001"/>
                    </a:ext>
                  </a:extLst>
                </a:gridCol>
              </a:tblGrid>
              <a:tr h="467525">
                <a:tc>
                  <a:txBody>
                    <a:bodyPr/>
                    <a:lstStyle/>
                    <a:p>
                      <a:pPr marL="0" marR="0" lvl="0" indent="0" algn="l" rtl="0">
                        <a:spcBef>
                          <a:spcPts val="0"/>
                        </a:spcBef>
                        <a:spcAft>
                          <a:spcPts val="0"/>
                        </a:spcAft>
                        <a:buNone/>
                      </a:pPr>
                      <a:r>
                        <a:rPr lang="en-US" sz="1800" u="none" strike="noStrike" cap="none"/>
                        <a:t>BCD+ 0011 </a:t>
                      </a:r>
                      <a:endParaRPr/>
                    </a:p>
                  </a:txBody>
                  <a:tcPr marL="91450" marR="91450" marT="45725" marB="45725"/>
                </a:tc>
                <a:tc>
                  <a:txBody>
                    <a:bodyPr/>
                    <a:lstStyle/>
                    <a:p>
                      <a:pPr marL="0" marR="0" lvl="0" indent="0" algn="l" rtl="0">
                        <a:spcBef>
                          <a:spcPts val="0"/>
                        </a:spcBef>
                        <a:spcAft>
                          <a:spcPts val="0"/>
                        </a:spcAft>
                        <a:buNone/>
                      </a:pPr>
                      <a:r>
                        <a:rPr lang="en-US" sz="1800"/>
                        <a:t>Excess-3</a:t>
                      </a:r>
                      <a:endParaRPr/>
                    </a:p>
                  </a:txBody>
                  <a:tcPr marL="91450" marR="91450" marT="45725" marB="45725"/>
                </a:tc>
                <a:extLst>
                  <a:ext uri="{0D108BD9-81ED-4DB2-BD59-A6C34878D82A}">
                    <a16:rowId xmlns:a16="http://schemas.microsoft.com/office/drawing/2014/main" xmlns="" val="10000"/>
                  </a:ext>
                </a:extLst>
              </a:tr>
              <a:tr h="467525">
                <a:tc>
                  <a:txBody>
                    <a:bodyPr/>
                    <a:lstStyle/>
                    <a:p>
                      <a:pPr marL="0" marR="0" lvl="0" indent="0" algn="l" rtl="0">
                        <a:spcBef>
                          <a:spcPts val="0"/>
                        </a:spcBef>
                        <a:spcAft>
                          <a:spcPts val="0"/>
                        </a:spcAft>
                        <a:buNone/>
                      </a:pPr>
                      <a:r>
                        <a:rPr lang="en-US" sz="1800"/>
                        <a:t>1000+0011</a:t>
                      </a:r>
                      <a:endParaRPr/>
                    </a:p>
                  </a:txBody>
                  <a:tcPr marL="91450" marR="91450" marT="45725" marB="45725"/>
                </a:tc>
                <a:tc>
                  <a:txBody>
                    <a:bodyPr/>
                    <a:lstStyle/>
                    <a:p>
                      <a:pPr marL="0" marR="0" lvl="0" indent="0" algn="ctr" rtl="0">
                        <a:spcBef>
                          <a:spcPts val="0"/>
                        </a:spcBef>
                        <a:spcAft>
                          <a:spcPts val="0"/>
                        </a:spcAft>
                        <a:buNone/>
                      </a:pPr>
                      <a:r>
                        <a:rPr lang="en-US" sz="1800"/>
                        <a:t>1011</a:t>
                      </a:r>
                      <a:endParaRPr/>
                    </a:p>
                  </a:txBody>
                  <a:tcPr marL="91450" marR="91450" marT="45725" marB="45725"/>
                </a:tc>
                <a:extLst>
                  <a:ext uri="{0D108BD9-81ED-4DB2-BD59-A6C34878D82A}">
                    <a16:rowId xmlns:a16="http://schemas.microsoft.com/office/drawing/2014/main" xmlns="" val="10001"/>
                  </a:ext>
                </a:extLst>
              </a:tr>
              <a:tr h="467525">
                <a:tc>
                  <a:txBody>
                    <a:bodyPr/>
                    <a:lstStyle/>
                    <a:p>
                      <a:pPr marL="0" marR="0" lvl="0" indent="0" algn="l" rtl="0">
                        <a:spcBef>
                          <a:spcPts val="0"/>
                        </a:spcBef>
                        <a:spcAft>
                          <a:spcPts val="0"/>
                        </a:spcAft>
                        <a:buNone/>
                      </a:pPr>
                      <a:r>
                        <a:rPr lang="en-US" sz="1800"/>
                        <a:t>0001+0011</a:t>
                      </a:r>
                      <a:endParaRPr/>
                    </a:p>
                  </a:txBody>
                  <a:tcPr marL="91450" marR="91450" marT="45725" marB="45725"/>
                </a:tc>
                <a:tc>
                  <a:txBody>
                    <a:bodyPr/>
                    <a:lstStyle/>
                    <a:p>
                      <a:pPr marL="0" marR="0" lvl="0" indent="0" algn="ctr" rtl="0">
                        <a:spcBef>
                          <a:spcPts val="0"/>
                        </a:spcBef>
                        <a:spcAft>
                          <a:spcPts val="0"/>
                        </a:spcAft>
                        <a:buNone/>
                      </a:pPr>
                      <a:r>
                        <a:rPr lang="en-US" sz="1800"/>
                        <a:t>0100</a:t>
                      </a:r>
                      <a:endParaRPr/>
                    </a:p>
                  </a:txBody>
                  <a:tcPr marL="91450" marR="91450" marT="45725" marB="45725"/>
                </a:tc>
                <a:extLst>
                  <a:ext uri="{0D108BD9-81ED-4DB2-BD59-A6C34878D82A}">
                    <a16:rowId xmlns:a16="http://schemas.microsoft.com/office/drawing/2014/main" xmlns="" val="10002"/>
                  </a:ext>
                </a:extLst>
              </a:tr>
              <a:tr h="467525">
                <a:tc>
                  <a:txBody>
                    <a:bodyPr/>
                    <a:lstStyle/>
                    <a:p>
                      <a:pPr marL="0" marR="0" lvl="0" indent="0" algn="l" rtl="0">
                        <a:spcBef>
                          <a:spcPts val="0"/>
                        </a:spcBef>
                        <a:spcAft>
                          <a:spcPts val="0"/>
                        </a:spcAft>
                        <a:buNone/>
                      </a:pPr>
                      <a:r>
                        <a:rPr lang="en-US" sz="1800"/>
                        <a:t>0110+0011</a:t>
                      </a:r>
                      <a:endParaRPr/>
                    </a:p>
                  </a:txBody>
                  <a:tcPr marL="91450" marR="91450" marT="45725" marB="45725"/>
                </a:tc>
                <a:tc>
                  <a:txBody>
                    <a:bodyPr/>
                    <a:lstStyle/>
                    <a:p>
                      <a:pPr marL="0" marR="0" lvl="0" indent="0" algn="ctr" rtl="0">
                        <a:spcBef>
                          <a:spcPts val="0"/>
                        </a:spcBef>
                        <a:spcAft>
                          <a:spcPts val="0"/>
                        </a:spcAft>
                        <a:buNone/>
                      </a:pPr>
                      <a:r>
                        <a:rPr lang="en-US" sz="1800"/>
                        <a:t>1001</a:t>
                      </a:r>
                      <a:endParaRPr/>
                    </a:p>
                  </a:txBody>
                  <a:tcPr marL="91450" marR="91450" marT="45725" marB="45725"/>
                </a:tc>
                <a:extLst>
                  <a:ext uri="{0D108BD9-81ED-4DB2-BD59-A6C34878D82A}">
                    <a16:rowId xmlns:a16="http://schemas.microsoft.com/office/drawing/2014/main" xmlns="" val="10003"/>
                  </a:ext>
                </a:extLst>
              </a:tr>
              <a:tr h="467525">
                <a:tc>
                  <a:txBody>
                    <a:bodyPr/>
                    <a:lstStyle/>
                    <a:p>
                      <a:pPr marL="0" marR="0" lvl="0" indent="0" algn="l" rtl="0">
                        <a:spcBef>
                          <a:spcPts val="0"/>
                        </a:spcBef>
                        <a:spcAft>
                          <a:spcPts val="0"/>
                        </a:spcAft>
                        <a:buNone/>
                      </a:pPr>
                      <a:r>
                        <a:rPr lang="en-US" sz="1800"/>
                        <a:t>0001+0011</a:t>
                      </a:r>
                      <a:endParaRPr/>
                    </a:p>
                  </a:txBody>
                  <a:tcPr marL="91450" marR="91450" marT="45725" marB="45725"/>
                </a:tc>
                <a:tc>
                  <a:txBody>
                    <a:bodyPr/>
                    <a:lstStyle/>
                    <a:p>
                      <a:pPr marL="0" marR="0" lvl="0" indent="0" algn="ctr" rtl="0">
                        <a:spcBef>
                          <a:spcPts val="0"/>
                        </a:spcBef>
                        <a:spcAft>
                          <a:spcPts val="0"/>
                        </a:spcAft>
                        <a:buNone/>
                      </a:pPr>
                      <a:r>
                        <a:rPr lang="en-US" sz="1800"/>
                        <a:t>0100</a:t>
                      </a:r>
                      <a:endParaRPr/>
                    </a:p>
                  </a:txBody>
                  <a:tcPr marL="91450" marR="91450" marT="45725" marB="45725"/>
                </a:tc>
                <a:extLst>
                  <a:ext uri="{0D108BD9-81ED-4DB2-BD59-A6C34878D82A}">
                    <a16:rowId xmlns:a16="http://schemas.microsoft.com/office/drawing/2014/main" xmlns="" val="10004"/>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 5</a:t>
            </a:r>
            <a:endParaRPr/>
          </a:p>
        </p:txBody>
      </p:sp>
      <p:sp>
        <p:nvSpPr>
          <p:cNvPr id="772" name="Google Shape;772;p7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333333"/>
              </a:buClr>
              <a:buSzPts val="2800"/>
              <a:buChar char="•"/>
            </a:pPr>
            <a:r>
              <a:rPr lang="en-US" b="1" i="0">
                <a:solidFill>
                  <a:srgbClr val="333333"/>
                </a:solidFill>
                <a:latin typeface="Inter"/>
                <a:ea typeface="Inter"/>
                <a:cs typeface="Inter"/>
                <a:sym typeface="Inter"/>
              </a:rPr>
              <a:t>Convert (11110)</a:t>
            </a:r>
            <a:r>
              <a:rPr lang="en-US" b="1" i="0" baseline="-25000">
                <a:solidFill>
                  <a:srgbClr val="333333"/>
                </a:solidFill>
                <a:latin typeface="Inter"/>
                <a:ea typeface="Inter"/>
                <a:cs typeface="Inter"/>
                <a:sym typeface="Inter"/>
              </a:rPr>
              <a:t>2</a:t>
            </a:r>
            <a:r>
              <a:rPr lang="en-US" b="1" i="0">
                <a:solidFill>
                  <a:srgbClr val="333333"/>
                </a:solidFill>
                <a:latin typeface="Inter"/>
                <a:ea typeface="Inter"/>
                <a:cs typeface="Inter"/>
                <a:sym typeface="Inter"/>
              </a:rPr>
              <a:t> to Excess-3 using binary</a:t>
            </a:r>
            <a:endParaRPr/>
          </a:p>
          <a:p>
            <a:pPr marL="228600" lvl="0" indent="-228600" algn="l" rtl="0">
              <a:lnSpc>
                <a:spcPct val="90000"/>
              </a:lnSpc>
              <a:spcBef>
                <a:spcPts val="1000"/>
              </a:spcBef>
              <a:spcAft>
                <a:spcPts val="0"/>
              </a:spcAft>
              <a:buClr>
                <a:srgbClr val="333333"/>
              </a:buClr>
              <a:buSzPts val="2800"/>
              <a:buChar char="•"/>
            </a:pPr>
            <a:r>
              <a:rPr lang="en-US" b="1">
                <a:solidFill>
                  <a:srgbClr val="333333"/>
                </a:solidFill>
                <a:latin typeface="Inter"/>
                <a:ea typeface="Inter"/>
                <a:cs typeface="Inter"/>
                <a:sym typeface="Inter"/>
              </a:rPr>
              <a:t>Step 1: Convert binary to Decimal. </a:t>
            </a:r>
            <a:r>
              <a:rPr lang="en-US" b="1" i="0">
                <a:solidFill>
                  <a:srgbClr val="333333"/>
                </a:solidFill>
                <a:latin typeface="Inter"/>
                <a:ea typeface="Inter"/>
                <a:cs typeface="Inter"/>
                <a:sym typeface="Inter"/>
              </a:rPr>
              <a:t>(11110)</a:t>
            </a:r>
            <a:r>
              <a:rPr lang="en-US" b="1" i="0" baseline="-25000">
                <a:solidFill>
                  <a:srgbClr val="333333"/>
                </a:solidFill>
                <a:latin typeface="Inter"/>
                <a:ea typeface="Inter"/>
                <a:cs typeface="Inter"/>
                <a:sym typeface="Inter"/>
              </a:rPr>
              <a:t>2</a:t>
            </a:r>
            <a:r>
              <a:rPr lang="en-US" b="1" i="0">
                <a:solidFill>
                  <a:srgbClr val="333333"/>
                </a:solidFill>
                <a:latin typeface="Inter"/>
                <a:ea typeface="Inter"/>
                <a:cs typeface="Inter"/>
                <a:sym typeface="Inter"/>
              </a:rPr>
              <a:t> = (30)</a:t>
            </a:r>
            <a:r>
              <a:rPr lang="en-US" b="1" baseline="-25000">
                <a:solidFill>
                  <a:srgbClr val="333333"/>
                </a:solidFill>
                <a:latin typeface="Inter"/>
                <a:ea typeface="Inter"/>
                <a:cs typeface="Inter"/>
                <a:sym typeface="Inter"/>
              </a:rPr>
              <a:t>10</a:t>
            </a:r>
            <a:r>
              <a:rPr lang="en-US" b="1" i="0">
                <a:solidFill>
                  <a:srgbClr val="333333"/>
                </a:solidFill>
                <a:latin typeface="Inter"/>
                <a:ea typeface="Inter"/>
                <a:cs typeface="Inter"/>
                <a:sym typeface="Inter"/>
              </a:rPr>
              <a:t> </a:t>
            </a:r>
            <a:endParaRPr b="1">
              <a:solidFill>
                <a:srgbClr val="333333"/>
              </a:solidFill>
              <a:latin typeface="Inter"/>
              <a:ea typeface="Inter"/>
              <a:cs typeface="Inter"/>
              <a:sym typeface="Inter"/>
            </a:endParaRPr>
          </a:p>
          <a:p>
            <a:pPr marL="228600" lvl="0" indent="-228600" algn="l" rtl="0">
              <a:lnSpc>
                <a:spcPct val="90000"/>
              </a:lnSpc>
              <a:spcBef>
                <a:spcPts val="1000"/>
              </a:spcBef>
              <a:spcAft>
                <a:spcPts val="0"/>
              </a:spcAft>
              <a:buClr>
                <a:srgbClr val="333333"/>
              </a:buClr>
              <a:buSzPts val="2800"/>
              <a:buChar char="•"/>
            </a:pPr>
            <a:r>
              <a:rPr lang="en-US" b="1">
                <a:solidFill>
                  <a:srgbClr val="333333"/>
                </a:solidFill>
                <a:latin typeface="Inter"/>
                <a:ea typeface="Inter"/>
                <a:cs typeface="Inter"/>
                <a:sym typeface="Inter"/>
              </a:rPr>
              <a:t>Step 2: Add ‘3’ to individual digits to decimal number </a:t>
            </a:r>
            <a:endParaRPr/>
          </a:p>
          <a:p>
            <a:pPr marL="0" lvl="0" indent="0" algn="l" rtl="0">
              <a:lnSpc>
                <a:spcPct val="90000"/>
              </a:lnSpc>
              <a:spcBef>
                <a:spcPts val="1000"/>
              </a:spcBef>
              <a:spcAft>
                <a:spcPts val="0"/>
              </a:spcAft>
              <a:buClr>
                <a:srgbClr val="333333"/>
              </a:buClr>
              <a:buSzPts val="2800"/>
              <a:buNone/>
            </a:pPr>
            <a:r>
              <a:rPr lang="en-US" b="1">
                <a:solidFill>
                  <a:srgbClr val="333333"/>
                </a:solidFill>
                <a:latin typeface="Inter"/>
                <a:ea typeface="Inter"/>
                <a:cs typeface="Inter"/>
                <a:sym typeface="Inter"/>
              </a:rPr>
              <a:t>   3    0</a:t>
            </a:r>
            <a:endParaRPr/>
          </a:p>
          <a:p>
            <a:pPr marL="0" lvl="0" indent="0" algn="l" rtl="0">
              <a:lnSpc>
                <a:spcPct val="90000"/>
              </a:lnSpc>
              <a:spcBef>
                <a:spcPts val="1000"/>
              </a:spcBef>
              <a:spcAft>
                <a:spcPts val="0"/>
              </a:spcAft>
              <a:buClr>
                <a:srgbClr val="333333"/>
              </a:buClr>
              <a:buSzPts val="2800"/>
              <a:buNone/>
            </a:pPr>
            <a:r>
              <a:rPr lang="en-US" b="1">
                <a:solidFill>
                  <a:srgbClr val="333333"/>
                </a:solidFill>
                <a:latin typeface="Inter"/>
                <a:ea typeface="Inter"/>
                <a:cs typeface="Inter"/>
                <a:sym typeface="Inter"/>
              </a:rPr>
              <a:t>   </a:t>
            </a:r>
            <a:r>
              <a:rPr lang="en-US" b="1" u="sng">
                <a:solidFill>
                  <a:srgbClr val="333333"/>
                </a:solidFill>
                <a:latin typeface="Inter"/>
                <a:ea typeface="Inter"/>
                <a:cs typeface="Inter"/>
                <a:sym typeface="Inter"/>
              </a:rPr>
              <a:t>3    3</a:t>
            </a:r>
            <a:endParaRPr/>
          </a:p>
          <a:p>
            <a:pPr marL="0" lvl="0" indent="0" algn="l" rtl="0">
              <a:lnSpc>
                <a:spcPct val="90000"/>
              </a:lnSpc>
              <a:spcBef>
                <a:spcPts val="1000"/>
              </a:spcBef>
              <a:spcAft>
                <a:spcPts val="0"/>
              </a:spcAft>
              <a:buClr>
                <a:schemeClr val="dk1"/>
              </a:buClr>
              <a:buSzPts val="2800"/>
              <a:buNone/>
            </a:pPr>
            <a:r>
              <a:rPr lang="en-US"/>
              <a:t>   6  3</a:t>
            </a:r>
            <a:endParaRPr/>
          </a:p>
          <a:p>
            <a:pPr marL="0" lvl="0" indent="0" algn="l" rtl="0">
              <a:lnSpc>
                <a:spcPct val="90000"/>
              </a:lnSpc>
              <a:spcBef>
                <a:spcPts val="1000"/>
              </a:spcBef>
              <a:spcAft>
                <a:spcPts val="0"/>
              </a:spcAft>
              <a:buClr>
                <a:schemeClr val="dk1"/>
              </a:buClr>
              <a:buSzPts val="2800"/>
              <a:buNone/>
            </a:pPr>
            <a:r>
              <a:rPr lang="en-US"/>
              <a:t>Step 3: Find binary values of (63)</a:t>
            </a:r>
            <a:r>
              <a:rPr lang="en-US" sz="1800"/>
              <a:t>10 </a:t>
            </a:r>
            <a:r>
              <a:rPr lang="en-US"/>
              <a:t>= </a:t>
            </a:r>
            <a:r>
              <a:rPr lang="en-US" b="0" i="0">
                <a:solidFill>
                  <a:srgbClr val="333333"/>
                </a:solidFill>
                <a:latin typeface="Inter"/>
                <a:ea typeface="Inter"/>
                <a:cs typeface="Inter"/>
                <a:sym typeface="Inter"/>
              </a:rPr>
              <a:t>(01100011)</a:t>
            </a:r>
            <a:r>
              <a:rPr lang="en-US" b="0" i="0" baseline="-25000">
                <a:solidFill>
                  <a:srgbClr val="333333"/>
                </a:solidFill>
                <a:latin typeface="Inter"/>
                <a:ea typeface="Inter"/>
                <a:cs typeface="Inter"/>
                <a:sym typeface="Inter"/>
              </a:rPr>
              <a:t>Excess-3</a:t>
            </a:r>
            <a:endParaRPr/>
          </a:p>
        </p:txBody>
      </p:sp>
      <p:sp>
        <p:nvSpPr>
          <p:cNvPr id="774" name="Google Shape;774;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p7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 6</a:t>
            </a:r>
            <a:endParaRPr/>
          </a:p>
        </p:txBody>
      </p:sp>
      <p:sp>
        <p:nvSpPr>
          <p:cNvPr id="780" name="Google Shape;780;p79"/>
          <p:cNvSpPr txBox="1">
            <a:spLocks noGrp="1"/>
          </p:cNvSpPr>
          <p:nvPr>
            <p:ph type="body" idx="1"/>
          </p:nvPr>
        </p:nvSpPr>
        <p:spPr>
          <a:xfrm>
            <a:off x="838200" y="146331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Convert </a:t>
            </a:r>
            <a:r>
              <a:rPr lang="en-US" b="1" i="0" dirty="0">
                <a:solidFill>
                  <a:srgbClr val="333333"/>
                </a:solidFill>
                <a:latin typeface="Inter"/>
                <a:ea typeface="Inter"/>
                <a:cs typeface="Inter"/>
                <a:sym typeface="Inter"/>
              </a:rPr>
              <a:t> (01100011)</a:t>
            </a:r>
            <a:r>
              <a:rPr lang="en-US" b="1" baseline="-25000" dirty="0">
                <a:solidFill>
                  <a:srgbClr val="333333"/>
                </a:solidFill>
                <a:latin typeface="Inter"/>
                <a:ea typeface="Inter"/>
                <a:cs typeface="Inter"/>
                <a:sym typeface="Inter"/>
              </a:rPr>
              <a:t> Excess-3 </a:t>
            </a:r>
            <a:r>
              <a:rPr lang="en-US" b="1" i="0" dirty="0">
                <a:solidFill>
                  <a:srgbClr val="333333"/>
                </a:solidFill>
                <a:latin typeface="Inter"/>
                <a:ea typeface="Inter"/>
                <a:cs typeface="Inter"/>
                <a:sym typeface="Inter"/>
              </a:rPr>
              <a:t> to binary. </a:t>
            </a:r>
            <a:endParaRPr dirty="0"/>
          </a:p>
          <a:p>
            <a:pPr marL="228600" lvl="0" indent="-228600" algn="l" rtl="0">
              <a:lnSpc>
                <a:spcPct val="90000"/>
              </a:lnSpc>
              <a:spcBef>
                <a:spcPts val="1000"/>
              </a:spcBef>
              <a:spcAft>
                <a:spcPts val="0"/>
              </a:spcAft>
              <a:buClr>
                <a:srgbClr val="333333"/>
              </a:buClr>
              <a:buSzPts val="2800"/>
              <a:buChar char="•"/>
            </a:pPr>
            <a:r>
              <a:rPr lang="en-US" b="1" dirty="0">
                <a:solidFill>
                  <a:srgbClr val="333333"/>
                </a:solidFill>
                <a:latin typeface="Inter"/>
                <a:ea typeface="Inter"/>
                <a:cs typeface="Inter"/>
                <a:sym typeface="Inter"/>
              </a:rPr>
              <a:t>Step- 1 : Find the decimal by dividing it four digits </a:t>
            </a:r>
            <a:endParaRPr dirty="0"/>
          </a:p>
          <a:p>
            <a:pPr marL="685800" lvl="1" indent="-228600" algn="l" rtl="0">
              <a:lnSpc>
                <a:spcPct val="90000"/>
              </a:lnSpc>
              <a:spcBef>
                <a:spcPts val="500"/>
              </a:spcBef>
              <a:spcAft>
                <a:spcPts val="0"/>
              </a:spcAft>
              <a:buClr>
                <a:srgbClr val="333333"/>
              </a:buClr>
              <a:buSzPts val="2400"/>
              <a:buChar char="•"/>
            </a:pPr>
            <a:r>
              <a:rPr lang="en-US" b="1" i="0" dirty="0">
                <a:solidFill>
                  <a:srgbClr val="333333"/>
                </a:solidFill>
                <a:latin typeface="Inter"/>
                <a:ea typeface="Inter"/>
                <a:cs typeface="Inter"/>
                <a:sym typeface="Inter"/>
              </a:rPr>
              <a:t>(01100011)</a:t>
            </a:r>
            <a:r>
              <a:rPr lang="en-US" b="1" baseline="-25000" dirty="0">
                <a:solidFill>
                  <a:srgbClr val="333333"/>
                </a:solidFill>
                <a:latin typeface="Inter"/>
                <a:ea typeface="Inter"/>
                <a:cs typeface="Inter"/>
                <a:sym typeface="Inter"/>
              </a:rPr>
              <a:t> Excess-3   </a:t>
            </a:r>
            <a:r>
              <a:rPr lang="en-US" b="1" dirty="0">
                <a:solidFill>
                  <a:srgbClr val="333333"/>
                </a:solidFill>
                <a:latin typeface="Inter"/>
                <a:ea typeface="Inter"/>
                <a:cs typeface="Inter"/>
                <a:sym typeface="Inter"/>
              </a:rPr>
              <a:t>= (0110 0011) </a:t>
            </a:r>
            <a:r>
              <a:rPr lang="en-US" b="1" baseline="-25000" dirty="0">
                <a:solidFill>
                  <a:srgbClr val="333333"/>
                </a:solidFill>
                <a:latin typeface="Inter"/>
                <a:ea typeface="Inter"/>
                <a:cs typeface="Inter"/>
                <a:sym typeface="Inter"/>
              </a:rPr>
              <a:t>Excess-3 </a:t>
            </a:r>
            <a:r>
              <a:rPr lang="en-US" b="1" dirty="0">
                <a:solidFill>
                  <a:srgbClr val="333333"/>
                </a:solidFill>
                <a:latin typeface="Inter"/>
                <a:ea typeface="Inter"/>
                <a:cs typeface="Inter"/>
                <a:sym typeface="Inter"/>
              </a:rPr>
              <a:t>= (30) </a:t>
            </a:r>
            <a:r>
              <a:rPr lang="en-US" sz="1800" b="1" dirty="0">
                <a:solidFill>
                  <a:srgbClr val="333333"/>
                </a:solidFill>
                <a:latin typeface="Inter"/>
                <a:ea typeface="Inter"/>
                <a:cs typeface="Inter"/>
                <a:sym typeface="Inter"/>
              </a:rPr>
              <a:t>10</a:t>
            </a:r>
            <a:endParaRPr dirty="0"/>
          </a:p>
          <a:p>
            <a:pPr marL="228600" lvl="0" indent="-228600" algn="l" rtl="0">
              <a:lnSpc>
                <a:spcPct val="90000"/>
              </a:lnSpc>
              <a:spcBef>
                <a:spcPts val="1000"/>
              </a:spcBef>
              <a:spcAft>
                <a:spcPts val="0"/>
              </a:spcAft>
              <a:buClr>
                <a:srgbClr val="333333"/>
              </a:buClr>
              <a:buSzPts val="3600"/>
              <a:buFont typeface="Arial"/>
              <a:buChar char="•"/>
            </a:pPr>
            <a:r>
              <a:rPr lang="en-US" sz="3600" b="1" dirty="0">
                <a:solidFill>
                  <a:srgbClr val="333333"/>
                </a:solidFill>
                <a:latin typeface="Inter"/>
                <a:ea typeface="Inter"/>
                <a:cs typeface="Inter"/>
                <a:sym typeface="Inter"/>
              </a:rPr>
              <a:t>Step-2 : Find the binary value of the decimal through division method.</a:t>
            </a:r>
            <a:endParaRPr dirty="0"/>
          </a:p>
          <a:p>
            <a:pPr marL="0" lvl="0" indent="0" algn="l" rtl="0">
              <a:lnSpc>
                <a:spcPct val="90000"/>
              </a:lnSpc>
              <a:spcBef>
                <a:spcPts val="1000"/>
              </a:spcBef>
              <a:spcAft>
                <a:spcPts val="0"/>
              </a:spcAft>
              <a:buClr>
                <a:srgbClr val="333333"/>
              </a:buClr>
              <a:buSzPts val="3600"/>
              <a:buNone/>
            </a:pPr>
            <a:r>
              <a:rPr lang="en-US" sz="3600" b="1" i="0" dirty="0">
                <a:solidFill>
                  <a:srgbClr val="333333"/>
                </a:solidFill>
                <a:latin typeface="Inter"/>
                <a:ea typeface="Inter"/>
                <a:cs typeface="Inter"/>
                <a:sym typeface="Inter"/>
              </a:rPr>
              <a:t>	(01100011)</a:t>
            </a:r>
            <a:r>
              <a:rPr lang="en-US" sz="3600" b="1" baseline="-25000" dirty="0">
                <a:solidFill>
                  <a:srgbClr val="333333"/>
                </a:solidFill>
                <a:latin typeface="Inter"/>
                <a:ea typeface="Inter"/>
                <a:cs typeface="Inter"/>
                <a:sym typeface="Inter"/>
              </a:rPr>
              <a:t> Excess-3 </a:t>
            </a:r>
            <a:r>
              <a:rPr lang="en-US" sz="3600" b="1" dirty="0">
                <a:solidFill>
                  <a:srgbClr val="333333"/>
                </a:solidFill>
                <a:latin typeface="Inter"/>
                <a:ea typeface="Inter"/>
                <a:cs typeface="Inter"/>
                <a:sym typeface="Inter"/>
              </a:rPr>
              <a:t>= (11110)</a:t>
            </a:r>
            <a:r>
              <a:rPr lang="en-US" sz="2000" b="1" dirty="0">
                <a:solidFill>
                  <a:srgbClr val="333333"/>
                </a:solidFill>
                <a:latin typeface="Inter"/>
                <a:ea typeface="Inter"/>
                <a:cs typeface="Inter"/>
                <a:sym typeface="Inter"/>
              </a:rPr>
              <a:t>2</a:t>
            </a:r>
            <a:endParaRPr sz="3600" b="1" dirty="0">
              <a:solidFill>
                <a:srgbClr val="333333"/>
              </a:solidFill>
              <a:latin typeface="Inter"/>
              <a:ea typeface="Inter"/>
              <a:cs typeface="Inter"/>
              <a:sym typeface="Inter"/>
            </a:endParaRPr>
          </a:p>
        </p:txBody>
      </p:sp>
      <p:sp>
        <p:nvSpPr>
          <p:cNvPr id="782" name="Google Shape;782;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74</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p80"/>
          <p:cNvSpPr txBox="1">
            <a:spLocks noGrp="1"/>
          </p:cNvSpPr>
          <p:nvPr>
            <p:ph type="title"/>
          </p:nvPr>
        </p:nvSpPr>
        <p:spPr>
          <a:xfrm>
            <a:off x="609600" y="274638"/>
            <a:ext cx="10972800" cy="84931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Advantages</a:t>
            </a:r>
            <a:endParaRPr/>
          </a:p>
        </p:txBody>
      </p:sp>
      <p:sp>
        <p:nvSpPr>
          <p:cNvPr id="788" name="Google Shape;788;p80"/>
          <p:cNvSpPr txBox="1">
            <a:spLocks noGrp="1"/>
          </p:cNvSpPr>
          <p:nvPr>
            <p:ph type="body" idx="1"/>
          </p:nvPr>
        </p:nvSpPr>
        <p:spPr>
          <a:xfrm>
            <a:off x="582083" y="1206661"/>
            <a:ext cx="11027833" cy="4645025"/>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90000"/>
              </a:lnSpc>
              <a:spcBef>
                <a:spcPts val="0"/>
              </a:spcBef>
              <a:spcAft>
                <a:spcPts val="0"/>
              </a:spcAft>
              <a:buClr>
                <a:srgbClr val="000000"/>
              </a:buClr>
              <a:buSzPct val="100000"/>
              <a:buFont typeface="Calibri"/>
              <a:buAutoNum type="arabicPeriod"/>
            </a:pPr>
            <a:r>
              <a:rPr lang="en-US" sz="2800" b="0" i="0">
                <a:solidFill>
                  <a:srgbClr val="000000"/>
                </a:solidFill>
                <a:latin typeface="Inter"/>
                <a:ea typeface="Inter"/>
                <a:cs typeface="Inter"/>
                <a:sym typeface="Inter"/>
              </a:rPr>
              <a:t>These codes are </a:t>
            </a:r>
            <a:r>
              <a:rPr lang="en-US" sz="2800" b="1" i="0">
                <a:solidFill>
                  <a:srgbClr val="000000"/>
                </a:solidFill>
                <a:latin typeface="Inter"/>
                <a:ea typeface="Inter"/>
                <a:cs typeface="Inter"/>
                <a:sym typeface="Inter"/>
              </a:rPr>
              <a:t>self-complementary</a:t>
            </a:r>
            <a:r>
              <a:rPr lang="en-US" sz="2800" b="0" i="0">
                <a:solidFill>
                  <a:srgbClr val="000000"/>
                </a:solidFill>
                <a:latin typeface="Inter"/>
                <a:ea typeface="Inter"/>
                <a:cs typeface="Inter"/>
                <a:sym typeface="Inter"/>
              </a:rPr>
              <a:t>.</a:t>
            </a:r>
            <a:endParaRPr/>
          </a:p>
          <a:p>
            <a:pPr marL="228600" lvl="0" indent="-228600" algn="just" rtl="0">
              <a:lnSpc>
                <a:spcPct val="90000"/>
              </a:lnSpc>
              <a:spcBef>
                <a:spcPts val="1000"/>
              </a:spcBef>
              <a:spcAft>
                <a:spcPts val="0"/>
              </a:spcAft>
              <a:buClr>
                <a:srgbClr val="000000"/>
              </a:buClr>
              <a:buSzPct val="100000"/>
              <a:buFont typeface="Calibri"/>
              <a:buAutoNum type="arabicPeriod"/>
            </a:pPr>
            <a:r>
              <a:rPr lang="en-US" sz="2800" b="0" i="0">
                <a:solidFill>
                  <a:srgbClr val="000000"/>
                </a:solidFill>
                <a:latin typeface="Inter"/>
                <a:ea typeface="Inter"/>
                <a:cs typeface="Inter"/>
                <a:sym typeface="Inter"/>
              </a:rPr>
              <a:t>These codes </a:t>
            </a:r>
            <a:r>
              <a:rPr lang="en-US" sz="2800" b="1" i="0">
                <a:solidFill>
                  <a:srgbClr val="000000"/>
                </a:solidFill>
                <a:latin typeface="Inter"/>
                <a:ea typeface="Inter"/>
                <a:cs typeface="Inter"/>
                <a:sym typeface="Inter"/>
              </a:rPr>
              <a:t>use biased representation</a:t>
            </a:r>
            <a:r>
              <a:rPr lang="en-US" sz="2800" b="0" i="0">
                <a:solidFill>
                  <a:srgbClr val="000000"/>
                </a:solidFill>
                <a:latin typeface="Inter"/>
                <a:ea typeface="Inter"/>
                <a:cs typeface="Inter"/>
                <a:sym typeface="Inter"/>
              </a:rPr>
              <a:t>.</a:t>
            </a:r>
            <a:endParaRPr/>
          </a:p>
          <a:p>
            <a:pPr marL="228600" lvl="0" indent="-228600" algn="just" rtl="0">
              <a:lnSpc>
                <a:spcPct val="90000"/>
              </a:lnSpc>
              <a:spcBef>
                <a:spcPts val="1000"/>
              </a:spcBef>
              <a:spcAft>
                <a:spcPts val="0"/>
              </a:spcAft>
              <a:buClr>
                <a:srgbClr val="000000"/>
              </a:buClr>
              <a:buSzPct val="100000"/>
              <a:buFont typeface="Calibri"/>
              <a:buAutoNum type="arabicPeriod"/>
            </a:pPr>
            <a:r>
              <a:rPr lang="en-US" sz="2800" b="0" i="0">
                <a:solidFill>
                  <a:srgbClr val="000000"/>
                </a:solidFill>
                <a:latin typeface="Inter"/>
                <a:ea typeface="Inter"/>
                <a:cs typeface="Inter"/>
                <a:sym typeface="Inter"/>
              </a:rPr>
              <a:t>The excess-3 code has </a:t>
            </a:r>
            <a:r>
              <a:rPr lang="en-US" sz="2800" b="1" i="0">
                <a:solidFill>
                  <a:srgbClr val="000000"/>
                </a:solidFill>
                <a:latin typeface="Inter"/>
                <a:ea typeface="Inter"/>
                <a:cs typeface="Inter"/>
                <a:sym typeface="Inter"/>
              </a:rPr>
              <a:t>no limitation</a:t>
            </a:r>
            <a:r>
              <a:rPr lang="en-US" sz="2800" b="0" i="0">
                <a:solidFill>
                  <a:srgbClr val="000000"/>
                </a:solidFill>
                <a:latin typeface="Inter"/>
                <a:ea typeface="Inter"/>
                <a:cs typeface="Inter"/>
                <a:sym typeface="Inter"/>
              </a:rPr>
              <a:t>, so that it considerably simplifies arithmetic operations.</a:t>
            </a:r>
            <a:endParaRPr/>
          </a:p>
          <a:p>
            <a:pPr marL="228600" lvl="0" indent="-228600" algn="just" rtl="0">
              <a:lnSpc>
                <a:spcPct val="90000"/>
              </a:lnSpc>
              <a:spcBef>
                <a:spcPts val="1000"/>
              </a:spcBef>
              <a:spcAft>
                <a:spcPts val="0"/>
              </a:spcAft>
              <a:buClr>
                <a:srgbClr val="000000"/>
              </a:buClr>
              <a:buSzPct val="100000"/>
              <a:buFont typeface="Calibri"/>
              <a:buAutoNum type="arabicPeriod"/>
            </a:pPr>
            <a:r>
              <a:rPr lang="en-US" sz="2800" b="0" i="0">
                <a:solidFill>
                  <a:srgbClr val="000000"/>
                </a:solidFill>
                <a:latin typeface="Inter"/>
                <a:ea typeface="Inter"/>
                <a:cs typeface="Inter"/>
                <a:sym typeface="Inter"/>
              </a:rPr>
              <a:t>The codes 0000 and 1111 can cause a fault in the transmission line. The excess-3 code doesn't use these codes and gives an advantage for memory organization.</a:t>
            </a:r>
            <a:endParaRPr/>
          </a:p>
          <a:p>
            <a:pPr marL="228600" lvl="0" indent="-228600" algn="just" rtl="0">
              <a:lnSpc>
                <a:spcPct val="90000"/>
              </a:lnSpc>
              <a:spcBef>
                <a:spcPts val="1000"/>
              </a:spcBef>
              <a:spcAft>
                <a:spcPts val="0"/>
              </a:spcAft>
              <a:buClr>
                <a:srgbClr val="000000"/>
              </a:buClr>
              <a:buSzPct val="100000"/>
              <a:buFont typeface="Calibri"/>
              <a:buAutoNum type="arabicPeriod"/>
            </a:pPr>
            <a:r>
              <a:rPr lang="en-US" sz="2800" b="0" i="0">
                <a:solidFill>
                  <a:srgbClr val="000000"/>
                </a:solidFill>
                <a:latin typeface="Inter"/>
                <a:ea typeface="Inter"/>
                <a:cs typeface="Inter"/>
                <a:sym typeface="Inter"/>
              </a:rPr>
              <a:t>These codes are usually </a:t>
            </a:r>
            <a:r>
              <a:rPr lang="en-US" sz="2800" b="1" i="0">
                <a:solidFill>
                  <a:srgbClr val="000000"/>
                </a:solidFill>
                <a:latin typeface="Inter"/>
                <a:ea typeface="Inter"/>
                <a:cs typeface="Inter"/>
                <a:sym typeface="Inter"/>
              </a:rPr>
              <a:t>unweighted binary decimal codes</a:t>
            </a:r>
            <a:r>
              <a:rPr lang="en-US" sz="2800" b="0" i="0">
                <a:solidFill>
                  <a:srgbClr val="000000"/>
                </a:solidFill>
                <a:latin typeface="Inter"/>
                <a:ea typeface="Inter"/>
                <a:cs typeface="Inter"/>
                <a:sym typeface="Inter"/>
              </a:rPr>
              <a:t>.</a:t>
            </a:r>
            <a:endParaRPr/>
          </a:p>
          <a:p>
            <a:pPr marL="228600" lvl="0" indent="-228600" algn="just" rtl="0">
              <a:lnSpc>
                <a:spcPct val="90000"/>
              </a:lnSpc>
              <a:spcBef>
                <a:spcPts val="1000"/>
              </a:spcBef>
              <a:spcAft>
                <a:spcPts val="0"/>
              </a:spcAft>
              <a:buClr>
                <a:srgbClr val="000000"/>
              </a:buClr>
              <a:buSzPct val="100000"/>
              <a:buFont typeface="Calibri"/>
              <a:buAutoNum type="arabicPeriod"/>
            </a:pPr>
            <a:r>
              <a:rPr lang="en-US" sz="2800" b="0" i="0">
                <a:solidFill>
                  <a:srgbClr val="000000"/>
                </a:solidFill>
                <a:latin typeface="Inter"/>
                <a:ea typeface="Inter"/>
                <a:cs typeface="Inter"/>
                <a:sym typeface="Inter"/>
              </a:rPr>
              <a:t>This code has a </a:t>
            </a:r>
            <a:r>
              <a:rPr lang="en-US" sz="2800" b="1" i="0">
                <a:solidFill>
                  <a:srgbClr val="000000"/>
                </a:solidFill>
                <a:latin typeface="Inter"/>
                <a:ea typeface="Inter"/>
                <a:cs typeface="Inter"/>
                <a:sym typeface="Inter"/>
              </a:rPr>
              <a:t>vital role </a:t>
            </a:r>
            <a:r>
              <a:rPr lang="en-US" sz="2800" b="0" i="0">
                <a:solidFill>
                  <a:srgbClr val="000000"/>
                </a:solidFill>
                <a:latin typeface="Inter"/>
                <a:ea typeface="Inter"/>
                <a:cs typeface="Inter"/>
                <a:sym typeface="Inter"/>
              </a:rPr>
              <a:t>in arithmetic operations. It is because it resolves deficiencies which are encountered when we use the 8421 BCD code for adding two decimal digits whose sum is greater than 9.</a:t>
            </a:r>
            <a:endParaRPr/>
          </a:p>
          <a:p>
            <a:pPr marL="228600" lvl="0" indent="-64135" algn="l" rtl="0">
              <a:lnSpc>
                <a:spcPct val="90000"/>
              </a:lnSpc>
              <a:spcBef>
                <a:spcPts val="1000"/>
              </a:spcBef>
              <a:spcAft>
                <a:spcPts val="0"/>
              </a:spcAft>
              <a:buClr>
                <a:schemeClr val="dk1"/>
              </a:buClr>
              <a:buSzPct val="100000"/>
              <a:buNone/>
            </a:pPr>
            <a:endParaRPr/>
          </a:p>
        </p:txBody>
      </p:sp>
      <p:sp>
        <p:nvSpPr>
          <p:cNvPr id="790" name="Google Shape;790;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75</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p81"/>
          <p:cNvSpPr txBox="1">
            <a:spLocks noGrp="1"/>
          </p:cNvSpPr>
          <p:nvPr>
            <p:ph type="title"/>
          </p:nvPr>
        </p:nvSpPr>
        <p:spPr>
          <a:xfrm>
            <a:off x="609600" y="274638"/>
            <a:ext cx="9590856" cy="811724"/>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400"/>
              <a:buFont typeface="Arial Black"/>
              <a:buNone/>
            </a:pPr>
            <a:r>
              <a:rPr lang="en-US">
                <a:solidFill>
                  <a:schemeClr val="lt1"/>
                </a:solidFill>
                <a:latin typeface="Arial Black"/>
                <a:ea typeface="Arial Black"/>
                <a:cs typeface="Arial Black"/>
                <a:sym typeface="Arial Black"/>
              </a:rPr>
              <a:t>ASCII</a:t>
            </a:r>
            <a:endParaRPr/>
          </a:p>
        </p:txBody>
      </p:sp>
      <p:sp>
        <p:nvSpPr>
          <p:cNvPr id="796" name="Google Shape;796;p81"/>
          <p:cNvSpPr txBox="1">
            <a:spLocks noGrp="1"/>
          </p:cNvSpPr>
          <p:nvPr>
            <p:ph type="body" idx="1"/>
          </p:nvPr>
        </p:nvSpPr>
        <p:spPr>
          <a:xfrm>
            <a:off x="609600" y="1407298"/>
            <a:ext cx="10972800" cy="4525963"/>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333333"/>
              </a:buClr>
              <a:buSzPts val="3200"/>
              <a:buChar char="•"/>
            </a:pPr>
            <a:r>
              <a:rPr lang="en-US" sz="3200" b="0" i="0" u="none" strike="noStrike" cap="none">
                <a:solidFill>
                  <a:srgbClr val="333333"/>
                </a:solidFill>
                <a:latin typeface="Inter"/>
                <a:ea typeface="Inter"/>
                <a:cs typeface="Inter"/>
                <a:sym typeface="Inter"/>
              </a:rPr>
              <a:t>The ASCII stands for </a:t>
            </a:r>
            <a:r>
              <a:rPr lang="en-US" sz="3200" b="1" i="0" u="none" strike="noStrike" cap="none">
                <a:solidFill>
                  <a:srgbClr val="FF0000"/>
                </a:solidFill>
                <a:latin typeface="Inter"/>
                <a:ea typeface="Inter"/>
                <a:cs typeface="Inter"/>
                <a:sym typeface="Inter"/>
              </a:rPr>
              <a:t>American Standard Code for Information Interchange.</a:t>
            </a:r>
            <a:r>
              <a:rPr lang="en-US" sz="3200" b="0" i="0" u="none" strike="noStrike" cap="none">
                <a:solidFill>
                  <a:srgbClr val="333333"/>
                </a:solidFill>
                <a:latin typeface="Inter"/>
                <a:ea typeface="Inter"/>
                <a:cs typeface="Inter"/>
                <a:sym typeface="Inter"/>
              </a:rPr>
              <a:t> The ASCII code is an </a:t>
            </a:r>
            <a:r>
              <a:rPr lang="en-US" sz="3200" b="1" i="0" u="none" strike="noStrike" cap="none">
                <a:solidFill>
                  <a:srgbClr val="333333"/>
                </a:solidFill>
                <a:latin typeface="Inter"/>
                <a:ea typeface="Inter"/>
                <a:cs typeface="Inter"/>
                <a:sym typeface="Inter"/>
              </a:rPr>
              <a:t>alphanumeric code </a:t>
            </a:r>
            <a:r>
              <a:rPr lang="en-US" sz="3200" b="0" i="0" u="none" strike="noStrike" cap="none">
                <a:solidFill>
                  <a:srgbClr val="333333"/>
                </a:solidFill>
                <a:latin typeface="Inter"/>
                <a:ea typeface="Inter"/>
                <a:cs typeface="Inter"/>
                <a:sym typeface="Inter"/>
              </a:rPr>
              <a:t>used for data communication in digital computers. </a:t>
            </a:r>
            <a:endParaRPr/>
          </a:p>
          <a:p>
            <a:pPr marL="228600" lvl="0" indent="-228600" algn="just" rtl="0">
              <a:lnSpc>
                <a:spcPct val="90000"/>
              </a:lnSpc>
              <a:spcBef>
                <a:spcPts val="1000"/>
              </a:spcBef>
              <a:spcAft>
                <a:spcPts val="0"/>
              </a:spcAft>
              <a:buClr>
                <a:srgbClr val="333333"/>
              </a:buClr>
              <a:buSzPts val="3200"/>
              <a:buChar char="•"/>
            </a:pPr>
            <a:r>
              <a:rPr lang="en-US" sz="3200" b="0" i="0" u="none" strike="noStrike" cap="none">
                <a:solidFill>
                  <a:srgbClr val="333333"/>
                </a:solidFill>
                <a:latin typeface="Inter"/>
                <a:ea typeface="Inter"/>
                <a:cs typeface="Inter"/>
                <a:sym typeface="Inter"/>
              </a:rPr>
              <a:t>The ASCII is a 7-bit code capable of representing </a:t>
            </a:r>
            <a:r>
              <a:rPr lang="en-US" sz="3200" b="1" i="0" u="none" strike="noStrike" cap="none">
                <a:solidFill>
                  <a:srgbClr val="FF0000"/>
                </a:solidFill>
                <a:latin typeface="Inter"/>
                <a:ea typeface="Inter"/>
                <a:cs typeface="Inter"/>
                <a:sym typeface="Inter"/>
              </a:rPr>
              <a:t>2</a:t>
            </a:r>
            <a:r>
              <a:rPr lang="en-US" sz="3200" b="1" i="0" u="none" strike="noStrike" cap="none" baseline="30000">
                <a:solidFill>
                  <a:srgbClr val="FF0000"/>
                </a:solidFill>
                <a:latin typeface="Inter"/>
                <a:ea typeface="Inter"/>
                <a:cs typeface="Inter"/>
                <a:sym typeface="Inter"/>
              </a:rPr>
              <a:t>7</a:t>
            </a:r>
            <a:r>
              <a:rPr lang="en-US" sz="3200" b="0" i="0" u="none" strike="noStrike" cap="none">
                <a:solidFill>
                  <a:srgbClr val="333333"/>
                </a:solidFill>
                <a:latin typeface="Inter"/>
                <a:ea typeface="Inter"/>
                <a:cs typeface="Inter"/>
                <a:sym typeface="Inter"/>
              </a:rPr>
              <a:t> or </a:t>
            </a:r>
            <a:r>
              <a:rPr lang="en-US" sz="3200" b="1" i="0" u="none" strike="noStrike" cap="none">
                <a:solidFill>
                  <a:srgbClr val="FF0000"/>
                </a:solidFill>
                <a:latin typeface="Inter"/>
                <a:ea typeface="Inter"/>
                <a:cs typeface="Inter"/>
                <a:sym typeface="Inter"/>
              </a:rPr>
              <a:t>128</a:t>
            </a:r>
            <a:r>
              <a:rPr lang="en-US" sz="3200" b="0" i="0" u="none" strike="noStrike" cap="none">
                <a:solidFill>
                  <a:srgbClr val="333333"/>
                </a:solidFill>
                <a:latin typeface="Inter"/>
                <a:ea typeface="Inter"/>
                <a:cs typeface="Inter"/>
                <a:sym typeface="Inter"/>
              </a:rPr>
              <a:t> number of different characters. The ASCII code is made up of a three-bit group, which is followed by a four-bit code.</a:t>
            </a:r>
            <a:endParaRPr sz="1600" b="0" i="0" u="none" strike="noStrike" cap="none">
              <a:solidFill>
                <a:schemeClr val="dk1"/>
              </a:solidFill>
            </a:endParaRPr>
          </a:p>
          <a:p>
            <a:pPr marL="228600" lvl="0" indent="-50800" algn="l" rtl="0">
              <a:lnSpc>
                <a:spcPct val="90000"/>
              </a:lnSpc>
              <a:spcBef>
                <a:spcPts val="1000"/>
              </a:spcBef>
              <a:spcAft>
                <a:spcPts val="0"/>
              </a:spcAft>
              <a:buClr>
                <a:schemeClr val="dk1"/>
              </a:buClr>
              <a:buSzPts val="2800"/>
              <a:buNone/>
            </a:pPr>
            <a:endParaRPr/>
          </a:p>
        </p:txBody>
      </p:sp>
      <p:sp>
        <p:nvSpPr>
          <p:cNvPr id="798" name="Google Shape;798;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76</a:t>
            </a:fld>
            <a:endParaRPr/>
          </a:p>
        </p:txBody>
      </p:sp>
      <p:sp>
        <p:nvSpPr>
          <p:cNvPr id="799" name="Google Shape;799;p81"/>
          <p:cNvSpPr/>
          <p:nvPr/>
        </p:nvSpPr>
        <p:spPr>
          <a:xfrm>
            <a:off x="479376" y="-460479"/>
            <a:ext cx="9145016" cy="1400383"/>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dk1"/>
              </a:buClr>
              <a:buSzPts val="8500"/>
              <a:buFont typeface="Arial"/>
              <a:buNone/>
            </a:pPr>
            <a:r>
              <a:rPr lang="en-US" sz="8500" b="0" i="0" u="none" strike="noStrike" cap="none">
                <a:solidFill>
                  <a:schemeClr val="dk1"/>
                </a:solidFill>
                <a:latin typeface="Arial"/>
                <a:ea typeface="Arial"/>
                <a:cs typeface="Arial"/>
                <a:sym typeface="Arial"/>
              </a:rPr>
              <a:t>             </a:t>
            </a:r>
            <a:r>
              <a:rPr lang="en-US" sz="1800" b="0" i="0" u="none" strike="noStrike" cap="none">
                <a:solidFill>
                  <a:schemeClr val="dk1"/>
                </a:solidFill>
                <a:latin typeface="Arial"/>
                <a:ea typeface="Arial"/>
                <a:cs typeface="Arial"/>
                <a:sym typeface="Arial"/>
              </a:rPr>
              <a:t> </a:t>
            </a:r>
            <a:endParaRPr/>
          </a:p>
        </p:txBody>
      </p:sp>
      <p:pic>
        <p:nvPicPr>
          <p:cNvPr id="800" name="Google Shape;800;p81" descr="ASCII Code"/>
          <p:cNvPicPr preferRelativeResize="0"/>
          <p:nvPr/>
        </p:nvPicPr>
        <p:blipFill rotWithShape="1">
          <a:blip r:embed="rId3">
            <a:alphaModFix/>
          </a:blip>
          <a:srcRect/>
          <a:stretch/>
        </p:blipFill>
        <p:spPr>
          <a:xfrm>
            <a:off x="4343914" y="4988403"/>
            <a:ext cx="4403846" cy="1544437"/>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8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ASCII Characters</a:t>
            </a:r>
            <a:endParaRPr/>
          </a:p>
        </p:txBody>
      </p:sp>
      <p:sp>
        <p:nvSpPr>
          <p:cNvPr id="806" name="Google Shape;806;p82"/>
          <p:cNvSpPr txBox="1">
            <a:spLocks noGrp="1"/>
          </p:cNvSpPr>
          <p:nvPr>
            <p:ph type="body" idx="1"/>
          </p:nvPr>
        </p:nvSpPr>
        <p:spPr>
          <a:xfrm>
            <a:off x="838200" y="1446063"/>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610B4B"/>
              </a:buClr>
              <a:buSzPts val="2800"/>
              <a:buChar char="•"/>
            </a:pPr>
            <a:r>
              <a:rPr lang="en-US" b="0" i="0" dirty="0">
                <a:solidFill>
                  <a:srgbClr val="610B4B"/>
                </a:solidFill>
                <a:latin typeface="Arial"/>
                <a:ea typeface="Arial"/>
                <a:cs typeface="Arial"/>
                <a:sym typeface="Arial"/>
              </a:rPr>
              <a:t>Control Characters-</a:t>
            </a:r>
            <a:r>
              <a:rPr lang="en-US" b="0" i="0" dirty="0">
                <a:solidFill>
                  <a:srgbClr val="333333"/>
                </a:solidFill>
                <a:latin typeface="Inter"/>
                <a:ea typeface="Inter"/>
                <a:cs typeface="Inter"/>
                <a:sym typeface="Inter"/>
              </a:rPr>
              <a:t>0 to 31 and 127 </a:t>
            </a:r>
            <a:endParaRPr dirty="0"/>
          </a:p>
          <a:p>
            <a:pPr marL="228600" lvl="0" indent="-228600" algn="just" rtl="0">
              <a:lnSpc>
                <a:spcPct val="90000"/>
              </a:lnSpc>
              <a:spcBef>
                <a:spcPts val="1000"/>
              </a:spcBef>
              <a:spcAft>
                <a:spcPts val="0"/>
              </a:spcAft>
              <a:buClr>
                <a:srgbClr val="610B4B"/>
              </a:buClr>
              <a:buSzPts val="2800"/>
              <a:buChar char="•"/>
            </a:pPr>
            <a:r>
              <a:rPr lang="en-US" b="0" i="0" dirty="0">
                <a:solidFill>
                  <a:srgbClr val="610B4B"/>
                </a:solidFill>
                <a:latin typeface="Arial"/>
                <a:ea typeface="Arial"/>
                <a:cs typeface="Arial"/>
                <a:sym typeface="Arial"/>
              </a:rPr>
              <a:t>Special Characters- </a:t>
            </a:r>
            <a:r>
              <a:rPr lang="en-US" b="0" i="0" dirty="0">
                <a:solidFill>
                  <a:srgbClr val="333333"/>
                </a:solidFill>
                <a:latin typeface="Inter"/>
                <a:ea typeface="Inter"/>
                <a:cs typeface="Inter"/>
                <a:sym typeface="Inter"/>
              </a:rPr>
              <a:t>32 to 47, 58 to 64, 91 to 96, and 123 to 126</a:t>
            </a:r>
            <a:endParaRPr b="0" i="0" dirty="0">
              <a:solidFill>
                <a:srgbClr val="610B4B"/>
              </a:solidFill>
              <a:latin typeface="Arial"/>
              <a:ea typeface="Arial"/>
              <a:cs typeface="Arial"/>
              <a:sym typeface="Arial"/>
            </a:endParaRPr>
          </a:p>
          <a:p>
            <a:pPr marL="228600" lvl="0" indent="-228600" algn="l" rtl="0">
              <a:lnSpc>
                <a:spcPct val="90000"/>
              </a:lnSpc>
              <a:spcBef>
                <a:spcPts val="1000"/>
              </a:spcBef>
              <a:spcAft>
                <a:spcPts val="0"/>
              </a:spcAft>
              <a:buClr>
                <a:srgbClr val="610B4B"/>
              </a:buClr>
              <a:buSzPts val="2800"/>
              <a:buChar char="•"/>
            </a:pPr>
            <a:r>
              <a:rPr lang="en-US" b="0" i="0" dirty="0">
                <a:solidFill>
                  <a:srgbClr val="610B4B"/>
                </a:solidFill>
                <a:latin typeface="Arial"/>
                <a:ea typeface="Arial"/>
                <a:cs typeface="Arial"/>
                <a:sym typeface="Arial"/>
              </a:rPr>
              <a:t>Numbers Characters- 0 to 9</a:t>
            </a:r>
            <a:endParaRPr dirty="0"/>
          </a:p>
          <a:p>
            <a:pPr marL="228600" lvl="0" indent="-228600" algn="l" rtl="0">
              <a:lnSpc>
                <a:spcPct val="90000"/>
              </a:lnSpc>
              <a:spcBef>
                <a:spcPts val="1000"/>
              </a:spcBef>
              <a:spcAft>
                <a:spcPts val="0"/>
              </a:spcAft>
              <a:buClr>
                <a:srgbClr val="610B4B"/>
              </a:buClr>
              <a:buSzPts val="2800"/>
              <a:buChar char="•"/>
            </a:pPr>
            <a:r>
              <a:rPr lang="en-US" b="0" i="0" dirty="0">
                <a:solidFill>
                  <a:srgbClr val="610B4B"/>
                </a:solidFill>
                <a:latin typeface="Arial"/>
                <a:ea typeface="Arial"/>
                <a:cs typeface="Arial"/>
                <a:sym typeface="Arial"/>
              </a:rPr>
              <a:t>Letters Characters - </a:t>
            </a:r>
            <a:r>
              <a:rPr lang="en-US" b="0" i="0" dirty="0">
                <a:solidFill>
                  <a:srgbClr val="333333"/>
                </a:solidFill>
                <a:latin typeface="Inter"/>
                <a:ea typeface="Inter"/>
                <a:cs typeface="Inter"/>
                <a:sym typeface="Inter"/>
              </a:rPr>
              <a:t>65 to 90 and 97 to 122</a:t>
            </a:r>
            <a:endParaRPr dirty="0"/>
          </a:p>
          <a:p>
            <a:pPr marL="228600" lvl="0" indent="-50800" algn="l" rtl="0">
              <a:lnSpc>
                <a:spcPct val="90000"/>
              </a:lnSpc>
              <a:spcBef>
                <a:spcPts val="1000"/>
              </a:spcBef>
              <a:spcAft>
                <a:spcPts val="0"/>
              </a:spcAft>
              <a:buClr>
                <a:schemeClr val="dk1"/>
              </a:buClr>
              <a:buSzPts val="2800"/>
              <a:buNone/>
            </a:pPr>
            <a:endParaRPr b="0" i="0" dirty="0">
              <a:solidFill>
                <a:srgbClr val="610B4B"/>
              </a:solidFill>
              <a:latin typeface="Arial"/>
              <a:ea typeface="Arial"/>
              <a:cs typeface="Arial"/>
              <a:sym typeface="Arial"/>
            </a:endParaRPr>
          </a:p>
          <a:p>
            <a:pPr marL="0" lvl="0" indent="0" algn="l" rtl="0">
              <a:lnSpc>
                <a:spcPct val="90000"/>
              </a:lnSpc>
              <a:spcBef>
                <a:spcPts val="1000"/>
              </a:spcBef>
              <a:spcAft>
                <a:spcPts val="0"/>
              </a:spcAft>
              <a:buClr>
                <a:schemeClr val="dk1"/>
              </a:buClr>
              <a:buSzPts val="2800"/>
              <a:buNone/>
            </a:pPr>
            <a:r>
              <a:rPr lang="en-US" dirty="0"/>
              <a:t/>
            </a:r>
            <a:br>
              <a:rPr lang="en-US" dirty="0"/>
            </a:br>
            <a:endParaRPr dirty="0"/>
          </a:p>
        </p:txBody>
      </p:sp>
      <p:sp>
        <p:nvSpPr>
          <p:cNvPr id="808" name="Google Shape;808;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77</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p8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 1</a:t>
            </a:r>
            <a:endParaRPr/>
          </a:p>
        </p:txBody>
      </p:sp>
      <p:sp>
        <p:nvSpPr>
          <p:cNvPr id="814" name="Google Shape;814;p8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Encode (</a:t>
            </a:r>
            <a:r>
              <a:rPr lang="en-US" b="0" i="0">
                <a:solidFill>
                  <a:srgbClr val="610B4B"/>
                </a:solidFill>
                <a:latin typeface="Arial"/>
                <a:ea typeface="Arial"/>
                <a:cs typeface="Arial"/>
                <a:sym typeface="Arial"/>
              </a:rPr>
              <a:t>10010101100001111011011000011010100111000011011111101001 110111011101001000000011000101100100110011)</a:t>
            </a:r>
            <a:r>
              <a:rPr lang="en-US" b="0" i="0" baseline="-25000">
                <a:solidFill>
                  <a:srgbClr val="610B4B"/>
                </a:solidFill>
                <a:latin typeface="Arial"/>
                <a:ea typeface="Arial"/>
                <a:cs typeface="Arial"/>
                <a:sym typeface="Arial"/>
              </a:rPr>
              <a:t>2 </a:t>
            </a:r>
            <a:r>
              <a:rPr lang="en-US">
                <a:solidFill>
                  <a:srgbClr val="610B4B"/>
                </a:solidFill>
                <a:latin typeface="Arial"/>
                <a:ea typeface="Arial"/>
                <a:cs typeface="Arial"/>
                <a:sym typeface="Arial"/>
              </a:rPr>
              <a:t> to ASCII.</a:t>
            </a:r>
            <a:endParaRPr/>
          </a:p>
          <a:p>
            <a:pPr marL="228600" lvl="0" indent="-50800" algn="l" rtl="0">
              <a:lnSpc>
                <a:spcPct val="90000"/>
              </a:lnSpc>
              <a:spcBef>
                <a:spcPts val="1000"/>
              </a:spcBef>
              <a:spcAft>
                <a:spcPts val="0"/>
              </a:spcAft>
              <a:buClr>
                <a:schemeClr val="dk1"/>
              </a:buClr>
              <a:buSzPts val="2800"/>
              <a:buNone/>
            </a:pPr>
            <a:endParaRPr>
              <a:solidFill>
                <a:srgbClr val="610B4B"/>
              </a:solidFill>
              <a:latin typeface="Arial"/>
              <a:ea typeface="Arial"/>
              <a:cs typeface="Arial"/>
              <a:sym typeface="Arial"/>
            </a:endParaRPr>
          </a:p>
          <a:p>
            <a:pPr marL="228600" lvl="0" indent="-50800" algn="l" rtl="0">
              <a:lnSpc>
                <a:spcPct val="90000"/>
              </a:lnSpc>
              <a:spcBef>
                <a:spcPts val="1000"/>
              </a:spcBef>
              <a:spcAft>
                <a:spcPts val="0"/>
              </a:spcAft>
              <a:buClr>
                <a:schemeClr val="dk1"/>
              </a:buClr>
              <a:buSzPts val="2800"/>
              <a:buNone/>
            </a:pPr>
            <a:endParaRPr/>
          </a:p>
        </p:txBody>
      </p:sp>
      <p:sp>
        <p:nvSpPr>
          <p:cNvPr id="816" name="Google Shape;816;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78</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p84"/>
          <p:cNvSpPr txBox="1">
            <a:spLocks noGrp="1"/>
          </p:cNvSpPr>
          <p:nvPr>
            <p:ph type="body" idx="1"/>
          </p:nvPr>
        </p:nvSpPr>
        <p:spPr>
          <a:xfrm>
            <a:off x="609600" y="986742"/>
            <a:ext cx="10972800" cy="498579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610B4B"/>
              </a:buClr>
              <a:buSzPts val="2800"/>
              <a:buChar char="•"/>
            </a:pPr>
            <a:r>
              <a:rPr lang="en-US">
                <a:solidFill>
                  <a:srgbClr val="610B4B"/>
                </a:solidFill>
                <a:latin typeface="Arial"/>
                <a:ea typeface="Arial"/>
                <a:cs typeface="Arial"/>
                <a:sym typeface="Arial"/>
              </a:rPr>
              <a:t>Step 1:</a:t>
            </a:r>
            <a:endParaRPr/>
          </a:p>
          <a:p>
            <a:pPr marL="228600" lvl="0" indent="-228600" algn="just" rtl="0">
              <a:lnSpc>
                <a:spcPct val="90000"/>
              </a:lnSpc>
              <a:spcBef>
                <a:spcPts val="1000"/>
              </a:spcBef>
              <a:spcAft>
                <a:spcPts val="0"/>
              </a:spcAft>
              <a:buClr>
                <a:srgbClr val="333333"/>
              </a:buClr>
              <a:buSzPts val="2800"/>
              <a:buChar char="•"/>
            </a:pPr>
            <a:r>
              <a:rPr lang="en-US" b="0" i="0">
                <a:solidFill>
                  <a:srgbClr val="333333"/>
                </a:solidFill>
                <a:latin typeface="Inter"/>
                <a:ea typeface="Inter"/>
                <a:cs typeface="Inter"/>
                <a:sym typeface="Inter"/>
              </a:rPr>
              <a:t>The given binary data is grouped into 7-bits because the ASCII code is 7 bit.</a:t>
            </a:r>
            <a:endParaRPr/>
          </a:p>
          <a:p>
            <a:pPr marL="228600" lvl="0" indent="-228600" algn="just" rtl="0">
              <a:lnSpc>
                <a:spcPct val="90000"/>
              </a:lnSpc>
              <a:spcBef>
                <a:spcPts val="1000"/>
              </a:spcBef>
              <a:spcAft>
                <a:spcPts val="0"/>
              </a:spcAft>
              <a:buClr>
                <a:srgbClr val="333333"/>
              </a:buClr>
              <a:buSzPts val="2800"/>
              <a:buChar char="•"/>
            </a:pPr>
            <a:r>
              <a:rPr lang="en-US" b="0" i="0">
                <a:solidFill>
                  <a:srgbClr val="333333"/>
                </a:solidFill>
                <a:latin typeface="Inter"/>
                <a:ea typeface="Inter"/>
                <a:cs typeface="Inter"/>
                <a:sym typeface="Inter"/>
              </a:rPr>
              <a:t>1001010 1100001 1110110 1100001 1010100 1110000 1101111 1101001 1101110 1110100 1000000 0110001 0110010 0110011</a:t>
            </a:r>
            <a:endParaRPr/>
          </a:p>
          <a:p>
            <a:pPr marL="228600" lvl="0" indent="-228600" algn="l" rtl="0">
              <a:lnSpc>
                <a:spcPct val="90000"/>
              </a:lnSpc>
              <a:spcBef>
                <a:spcPts val="1000"/>
              </a:spcBef>
              <a:spcAft>
                <a:spcPts val="0"/>
              </a:spcAft>
              <a:buClr>
                <a:srgbClr val="610B4B"/>
              </a:buClr>
              <a:buSzPts val="2800"/>
              <a:buChar char="•"/>
            </a:pPr>
            <a:r>
              <a:rPr lang="en-US">
                <a:solidFill>
                  <a:srgbClr val="610B4B"/>
                </a:solidFill>
                <a:latin typeface="Arial"/>
                <a:ea typeface="Arial"/>
                <a:cs typeface="Arial"/>
                <a:sym typeface="Arial"/>
              </a:rPr>
              <a:t>Step 2:</a:t>
            </a:r>
            <a:endParaRPr/>
          </a:p>
          <a:p>
            <a:pPr marL="228600" lvl="0" indent="-228600" algn="l" rtl="0">
              <a:lnSpc>
                <a:spcPct val="90000"/>
              </a:lnSpc>
              <a:spcBef>
                <a:spcPts val="1000"/>
              </a:spcBef>
              <a:spcAft>
                <a:spcPts val="0"/>
              </a:spcAft>
              <a:buClr>
                <a:srgbClr val="333333"/>
              </a:buClr>
              <a:buSzPts val="2800"/>
              <a:buChar char="•"/>
            </a:pPr>
            <a:r>
              <a:rPr lang="en-US" b="0" i="0">
                <a:solidFill>
                  <a:srgbClr val="333333"/>
                </a:solidFill>
                <a:latin typeface="Inter"/>
                <a:ea typeface="Inter"/>
                <a:cs typeface="Inter"/>
                <a:sym typeface="Inter"/>
              </a:rPr>
              <a:t>Then, we find the equivalent decimal number of the binary digits either from the ASCII table or </a:t>
            </a:r>
            <a:r>
              <a:rPr lang="en-US" b="1" i="0">
                <a:solidFill>
                  <a:srgbClr val="333333"/>
                </a:solidFill>
                <a:latin typeface="Inter"/>
                <a:ea typeface="Inter"/>
                <a:cs typeface="Inter"/>
                <a:sym typeface="Inter"/>
              </a:rPr>
              <a:t>64 32 16 8 4 2 1</a:t>
            </a:r>
            <a:r>
              <a:rPr lang="en-US" b="0" i="0">
                <a:solidFill>
                  <a:srgbClr val="333333"/>
                </a:solidFill>
                <a:latin typeface="Inter"/>
                <a:ea typeface="Inter"/>
                <a:cs typeface="Inter"/>
                <a:sym typeface="Inter"/>
              </a:rPr>
              <a:t> scheme.</a:t>
            </a:r>
            <a:endParaRPr>
              <a:solidFill>
                <a:srgbClr val="610B4B"/>
              </a:solidFill>
              <a:latin typeface="Arial"/>
              <a:ea typeface="Arial"/>
              <a:cs typeface="Arial"/>
              <a:sym typeface="Arial"/>
            </a:endParaRPr>
          </a:p>
          <a:p>
            <a:pPr marL="228600" lvl="0" indent="-50800" algn="l" rtl="0">
              <a:lnSpc>
                <a:spcPct val="90000"/>
              </a:lnSpc>
              <a:spcBef>
                <a:spcPts val="1000"/>
              </a:spcBef>
              <a:spcAft>
                <a:spcPts val="0"/>
              </a:spcAft>
              <a:buClr>
                <a:schemeClr val="dk1"/>
              </a:buClr>
              <a:buSzPts val="2800"/>
              <a:buNone/>
            </a:pPr>
            <a:endParaRPr/>
          </a:p>
        </p:txBody>
      </p:sp>
      <p:sp>
        <p:nvSpPr>
          <p:cNvPr id="823" name="Google Shape;823;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79</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8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Cont’d</a:t>
            </a:r>
            <a:endParaRPr/>
          </a:p>
        </p:txBody>
      </p:sp>
      <p:sp>
        <p:nvSpPr>
          <p:cNvPr id="830" name="Google Shape;830;p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80</a:t>
            </a:fld>
            <a:endParaRPr/>
          </a:p>
        </p:txBody>
      </p:sp>
      <p:graphicFrame>
        <p:nvGraphicFramePr>
          <p:cNvPr id="831" name="Google Shape;831;p85"/>
          <p:cNvGraphicFramePr/>
          <p:nvPr/>
        </p:nvGraphicFramePr>
        <p:xfrm>
          <a:off x="1794076" y="1689904"/>
          <a:ext cx="8900950" cy="3634525"/>
        </p:xfrm>
        <a:graphic>
          <a:graphicData uri="http://schemas.openxmlformats.org/drawingml/2006/table">
            <a:tbl>
              <a:tblPr>
                <a:noFill/>
                <a:tableStyleId>{65BCB809-4C7D-4E31-BA33-E4B15E20FA82}</a:tableStyleId>
              </a:tblPr>
              <a:tblGrid>
                <a:gridCol w="2090050">
                  <a:extLst>
                    <a:ext uri="{9D8B030D-6E8A-4147-A177-3AD203B41FA5}">
                      <a16:colId xmlns:a16="http://schemas.microsoft.com/office/drawing/2014/main" xmlns="" val="20000"/>
                    </a:ext>
                  </a:extLst>
                </a:gridCol>
                <a:gridCol w="701550">
                  <a:extLst>
                    <a:ext uri="{9D8B030D-6E8A-4147-A177-3AD203B41FA5}">
                      <a16:colId xmlns:a16="http://schemas.microsoft.com/office/drawing/2014/main" xmlns="" val="20001"/>
                    </a:ext>
                  </a:extLst>
                </a:gridCol>
                <a:gridCol w="701550">
                  <a:extLst>
                    <a:ext uri="{9D8B030D-6E8A-4147-A177-3AD203B41FA5}">
                      <a16:colId xmlns:a16="http://schemas.microsoft.com/office/drawing/2014/main" xmlns="" val="20002"/>
                    </a:ext>
                  </a:extLst>
                </a:gridCol>
                <a:gridCol w="701550">
                  <a:extLst>
                    <a:ext uri="{9D8B030D-6E8A-4147-A177-3AD203B41FA5}">
                      <a16:colId xmlns:a16="http://schemas.microsoft.com/office/drawing/2014/main" xmlns="" val="20003"/>
                    </a:ext>
                  </a:extLst>
                </a:gridCol>
                <a:gridCol w="701550">
                  <a:extLst>
                    <a:ext uri="{9D8B030D-6E8A-4147-A177-3AD203B41FA5}">
                      <a16:colId xmlns:a16="http://schemas.microsoft.com/office/drawing/2014/main" xmlns="" val="20004"/>
                    </a:ext>
                  </a:extLst>
                </a:gridCol>
                <a:gridCol w="701550">
                  <a:extLst>
                    <a:ext uri="{9D8B030D-6E8A-4147-A177-3AD203B41FA5}">
                      <a16:colId xmlns:a16="http://schemas.microsoft.com/office/drawing/2014/main" xmlns="" val="20005"/>
                    </a:ext>
                  </a:extLst>
                </a:gridCol>
                <a:gridCol w="701550">
                  <a:extLst>
                    <a:ext uri="{9D8B030D-6E8A-4147-A177-3AD203B41FA5}">
                      <a16:colId xmlns:a16="http://schemas.microsoft.com/office/drawing/2014/main" xmlns="" val="20006"/>
                    </a:ext>
                  </a:extLst>
                </a:gridCol>
                <a:gridCol w="701550">
                  <a:extLst>
                    <a:ext uri="{9D8B030D-6E8A-4147-A177-3AD203B41FA5}">
                      <a16:colId xmlns:a16="http://schemas.microsoft.com/office/drawing/2014/main" xmlns="" val="20007"/>
                    </a:ext>
                  </a:extLst>
                </a:gridCol>
                <a:gridCol w="1110800">
                  <a:extLst>
                    <a:ext uri="{9D8B030D-6E8A-4147-A177-3AD203B41FA5}">
                      <a16:colId xmlns:a16="http://schemas.microsoft.com/office/drawing/2014/main" xmlns="" val="20008"/>
                    </a:ext>
                  </a:extLst>
                </a:gridCol>
                <a:gridCol w="789250">
                  <a:extLst>
                    <a:ext uri="{9D8B030D-6E8A-4147-A177-3AD203B41FA5}">
                      <a16:colId xmlns:a16="http://schemas.microsoft.com/office/drawing/2014/main" xmlns="" val="20009"/>
                    </a:ext>
                  </a:extLst>
                </a:gridCol>
              </a:tblGrid>
              <a:tr h="311525">
                <a:tc>
                  <a:txBody>
                    <a:bodyPr/>
                    <a:lstStyle/>
                    <a:p>
                      <a:pPr marL="0" marR="0" lvl="0" indent="0" algn="ctr" rtl="0">
                        <a:spcBef>
                          <a:spcPts val="0"/>
                        </a:spcBef>
                        <a:spcAft>
                          <a:spcPts val="0"/>
                        </a:spcAft>
                        <a:buNone/>
                      </a:pPr>
                      <a:r>
                        <a:rPr lang="en-US" sz="1800" u="none" strike="noStrike"/>
                        <a:t>Binary</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64</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32</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16</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8</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4</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2</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DECIMAL</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ASCII</a:t>
                      </a:r>
                      <a:endParaRPr sz="1800" b="1" i="0" u="none" strike="noStrike">
                        <a:solidFill>
                          <a:srgbClr val="000000"/>
                        </a:solidFill>
                        <a:latin typeface="Calibri"/>
                        <a:ea typeface="Calibri"/>
                        <a:cs typeface="Calibri"/>
                        <a:sym typeface="Calibri"/>
                      </a:endParaRPr>
                    </a:p>
                  </a:txBody>
                  <a:tcPr marL="7625" marR="7625" marT="7625" marB="0" anchor="ctr"/>
                </a:tc>
                <a:extLst>
                  <a:ext uri="{0D108BD9-81ED-4DB2-BD59-A6C34878D82A}">
                    <a16:rowId xmlns:a16="http://schemas.microsoft.com/office/drawing/2014/main" xmlns="" val="10000"/>
                  </a:ext>
                </a:extLst>
              </a:tr>
              <a:tr h="415375">
                <a:tc>
                  <a:txBody>
                    <a:bodyPr/>
                    <a:lstStyle/>
                    <a:p>
                      <a:pPr marL="0" marR="0" lvl="0" indent="0" algn="ctr" rtl="0">
                        <a:spcBef>
                          <a:spcPts val="0"/>
                        </a:spcBef>
                        <a:spcAft>
                          <a:spcPts val="0"/>
                        </a:spcAft>
                        <a:buNone/>
                      </a:pPr>
                      <a:r>
                        <a:rPr lang="en-US" sz="2000" u="none" strike="noStrike"/>
                        <a:t>1100011</a:t>
                      </a:r>
                      <a:endParaRPr sz="2000" b="1" i="0" u="none" strike="noStrike">
                        <a:solidFill>
                          <a:srgbClr val="333333"/>
                        </a:solidFill>
                        <a:latin typeface="Quattrocento Sans"/>
                        <a:ea typeface="Quattrocento Sans"/>
                        <a:cs typeface="Quattrocento Sans"/>
                        <a:sym typeface="Quattrocento Sans"/>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99</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C</a:t>
                      </a:r>
                      <a:endParaRPr sz="1800" b="1" i="0" u="none" strike="noStrike">
                        <a:solidFill>
                          <a:srgbClr val="000000"/>
                        </a:solidFill>
                        <a:latin typeface="Calibri"/>
                        <a:ea typeface="Calibri"/>
                        <a:cs typeface="Calibri"/>
                        <a:sym typeface="Calibri"/>
                      </a:endParaRPr>
                    </a:p>
                  </a:txBody>
                  <a:tcPr marL="7625" marR="7625" marT="7625" marB="0" anchor="ctr"/>
                </a:tc>
                <a:extLst>
                  <a:ext uri="{0D108BD9-81ED-4DB2-BD59-A6C34878D82A}">
                    <a16:rowId xmlns:a16="http://schemas.microsoft.com/office/drawing/2014/main" xmlns="" val="10001"/>
                  </a:ext>
                </a:extLst>
              </a:tr>
              <a:tr h="415375">
                <a:tc>
                  <a:txBody>
                    <a:bodyPr/>
                    <a:lstStyle/>
                    <a:p>
                      <a:pPr marL="0" marR="0" lvl="0" indent="0" algn="ctr" rtl="0">
                        <a:spcBef>
                          <a:spcPts val="0"/>
                        </a:spcBef>
                        <a:spcAft>
                          <a:spcPts val="0"/>
                        </a:spcAft>
                        <a:buNone/>
                      </a:pPr>
                      <a:r>
                        <a:rPr lang="en-US" sz="2000" u="none" strike="noStrike"/>
                        <a:t>1101111</a:t>
                      </a:r>
                      <a:endParaRPr sz="2000" b="1" i="0" u="none" strike="noStrike">
                        <a:solidFill>
                          <a:srgbClr val="333333"/>
                        </a:solidFill>
                        <a:latin typeface="Quattrocento Sans"/>
                        <a:ea typeface="Quattrocento Sans"/>
                        <a:cs typeface="Quattrocento Sans"/>
                        <a:sym typeface="Quattrocento Sans"/>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111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O</a:t>
                      </a:r>
                      <a:endParaRPr sz="1800" b="1" i="0" u="none" strike="noStrike">
                        <a:solidFill>
                          <a:srgbClr val="000000"/>
                        </a:solidFill>
                        <a:latin typeface="Calibri"/>
                        <a:ea typeface="Calibri"/>
                        <a:cs typeface="Calibri"/>
                        <a:sym typeface="Calibri"/>
                      </a:endParaRPr>
                    </a:p>
                  </a:txBody>
                  <a:tcPr marL="7625" marR="7625" marT="7625" marB="0" anchor="ctr"/>
                </a:tc>
                <a:extLst>
                  <a:ext uri="{0D108BD9-81ED-4DB2-BD59-A6C34878D82A}">
                    <a16:rowId xmlns:a16="http://schemas.microsoft.com/office/drawing/2014/main" xmlns="" val="10002"/>
                  </a:ext>
                </a:extLst>
              </a:tr>
              <a:tr h="415375">
                <a:tc>
                  <a:txBody>
                    <a:bodyPr/>
                    <a:lstStyle/>
                    <a:p>
                      <a:pPr marL="0" marR="0" lvl="0" indent="0" algn="ctr" rtl="0">
                        <a:spcBef>
                          <a:spcPts val="0"/>
                        </a:spcBef>
                        <a:spcAft>
                          <a:spcPts val="0"/>
                        </a:spcAft>
                        <a:buNone/>
                      </a:pPr>
                      <a:r>
                        <a:rPr lang="en-US" sz="2000" u="none" strike="noStrike"/>
                        <a:t>1101101</a:t>
                      </a:r>
                      <a:endParaRPr sz="2000" b="1" i="0" u="none" strike="noStrike">
                        <a:solidFill>
                          <a:srgbClr val="333333"/>
                        </a:solidFill>
                        <a:latin typeface="Quattrocento Sans"/>
                        <a:ea typeface="Quattrocento Sans"/>
                        <a:cs typeface="Quattrocento Sans"/>
                        <a:sym typeface="Quattrocento Sans"/>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109</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M</a:t>
                      </a:r>
                      <a:endParaRPr sz="1800" b="1" i="0" u="none" strike="noStrike">
                        <a:solidFill>
                          <a:srgbClr val="000000"/>
                        </a:solidFill>
                        <a:latin typeface="Calibri"/>
                        <a:ea typeface="Calibri"/>
                        <a:cs typeface="Calibri"/>
                        <a:sym typeface="Calibri"/>
                      </a:endParaRPr>
                    </a:p>
                  </a:txBody>
                  <a:tcPr marL="7625" marR="7625" marT="7625" marB="0" anchor="ctr"/>
                </a:tc>
                <a:extLst>
                  <a:ext uri="{0D108BD9-81ED-4DB2-BD59-A6C34878D82A}">
                    <a16:rowId xmlns:a16="http://schemas.microsoft.com/office/drawing/2014/main" xmlns="" val="10003"/>
                  </a:ext>
                </a:extLst>
              </a:tr>
              <a:tr h="415375">
                <a:tc>
                  <a:txBody>
                    <a:bodyPr/>
                    <a:lstStyle/>
                    <a:p>
                      <a:pPr marL="0" marR="0" lvl="0" indent="0" algn="ctr" rtl="0">
                        <a:spcBef>
                          <a:spcPts val="0"/>
                        </a:spcBef>
                        <a:spcAft>
                          <a:spcPts val="0"/>
                        </a:spcAft>
                        <a:buNone/>
                      </a:pPr>
                      <a:r>
                        <a:rPr lang="en-US" sz="2000" u="none" strike="noStrike"/>
                        <a:t>1110000</a:t>
                      </a:r>
                      <a:endParaRPr sz="2000" b="1" i="0" u="none" strike="noStrike">
                        <a:solidFill>
                          <a:srgbClr val="333333"/>
                        </a:solidFill>
                        <a:latin typeface="Quattrocento Sans"/>
                        <a:ea typeface="Quattrocento Sans"/>
                        <a:cs typeface="Quattrocento Sans"/>
                        <a:sym typeface="Quattrocento Sans"/>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112</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P</a:t>
                      </a:r>
                      <a:endParaRPr sz="1800" b="1" i="0" u="none" strike="noStrike">
                        <a:solidFill>
                          <a:srgbClr val="000000"/>
                        </a:solidFill>
                        <a:latin typeface="Calibri"/>
                        <a:ea typeface="Calibri"/>
                        <a:cs typeface="Calibri"/>
                        <a:sym typeface="Calibri"/>
                      </a:endParaRPr>
                    </a:p>
                  </a:txBody>
                  <a:tcPr marL="7625" marR="7625" marT="7625" marB="0" anchor="ctr"/>
                </a:tc>
                <a:extLst>
                  <a:ext uri="{0D108BD9-81ED-4DB2-BD59-A6C34878D82A}">
                    <a16:rowId xmlns:a16="http://schemas.microsoft.com/office/drawing/2014/main" xmlns="" val="10004"/>
                  </a:ext>
                </a:extLst>
              </a:tr>
              <a:tr h="415375">
                <a:tc>
                  <a:txBody>
                    <a:bodyPr/>
                    <a:lstStyle/>
                    <a:p>
                      <a:pPr marL="0" marR="0" lvl="0" indent="0" algn="ctr" rtl="0">
                        <a:spcBef>
                          <a:spcPts val="0"/>
                        </a:spcBef>
                        <a:spcAft>
                          <a:spcPts val="0"/>
                        </a:spcAft>
                        <a:buNone/>
                      </a:pPr>
                      <a:r>
                        <a:rPr lang="en-US" sz="2000" u="none" strike="noStrike"/>
                        <a:t>1110101</a:t>
                      </a:r>
                      <a:endParaRPr sz="2000" b="1" i="0" u="none" strike="noStrike">
                        <a:solidFill>
                          <a:srgbClr val="333333"/>
                        </a:solidFill>
                        <a:latin typeface="Quattrocento Sans"/>
                        <a:ea typeface="Quattrocento Sans"/>
                        <a:cs typeface="Quattrocento Sans"/>
                        <a:sym typeface="Quattrocento Sans"/>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117</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U</a:t>
                      </a:r>
                      <a:endParaRPr sz="1800" b="1" i="0" u="none" strike="noStrike">
                        <a:solidFill>
                          <a:srgbClr val="000000"/>
                        </a:solidFill>
                        <a:latin typeface="Calibri"/>
                        <a:ea typeface="Calibri"/>
                        <a:cs typeface="Calibri"/>
                        <a:sym typeface="Calibri"/>
                      </a:endParaRPr>
                    </a:p>
                  </a:txBody>
                  <a:tcPr marL="7625" marR="7625" marT="7625" marB="0" anchor="ctr"/>
                </a:tc>
                <a:extLst>
                  <a:ext uri="{0D108BD9-81ED-4DB2-BD59-A6C34878D82A}">
                    <a16:rowId xmlns:a16="http://schemas.microsoft.com/office/drawing/2014/main" xmlns="" val="10005"/>
                  </a:ext>
                </a:extLst>
              </a:tr>
              <a:tr h="415375">
                <a:tc>
                  <a:txBody>
                    <a:bodyPr/>
                    <a:lstStyle/>
                    <a:p>
                      <a:pPr marL="0" marR="0" lvl="0" indent="0" algn="ctr" rtl="0">
                        <a:spcBef>
                          <a:spcPts val="0"/>
                        </a:spcBef>
                        <a:spcAft>
                          <a:spcPts val="0"/>
                        </a:spcAft>
                        <a:buNone/>
                      </a:pPr>
                      <a:r>
                        <a:rPr lang="en-US" sz="2000" u="none" strike="noStrike"/>
                        <a:t>1110100</a:t>
                      </a:r>
                      <a:endParaRPr sz="2000" b="1" i="0" u="none" strike="noStrike">
                        <a:solidFill>
                          <a:srgbClr val="333333"/>
                        </a:solidFill>
                        <a:latin typeface="Quattrocento Sans"/>
                        <a:ea typeface="Quattrocento Sans"/>
                        <a:cs typeface="Quattrocento Sans"/>
                        <a:sym typeface="Quattrocento Sans"/>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116</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T</a:t>
                      </a:r>
                      <a:endParaRPr sz="1800" b="1" i="0" u="none" strike="noStrike">
                        <a:solidFill>
                          <a:srgbClr val="000000"/>
                        </a:solidFill>
                        <a:latin typeface="Calibri"/>
                        <a:ea typeface="Calibri"/>
                        <a:cs typeface="Calibri"/>
                        <a:sym typeface="Calibri"/>
                      </a:endParaRPr>
                    </a:p>
                  </a:txBody>
                  <a:tcPr marL="7625" marR="7625" marT="7625" marB="0" anchor="ctr"/>
                </a:tc>
                <a:extLst>
                  <a:ext uri="{0D108BD9-81ED-4DB2-BD59-A6C34878D82A}">
                    <a16:rowId xmlns:a16="http://schemas.microsoft.com/office/drawing/2014/main" xmlns="" val="10006"/>
                  </a:ext>
                </a:extLst>
              </a:tr>
              <a:tr h="415375">
                <a:tc>
                  <a:txBody>
                    <a:bodyPr/>
                    <a:lstStyle/>
                    <a:p>
                      <a:pPr marL="0" marR="0" lvl="0" indent="0" algn="ctr" rtl="0">
                        <a:spcBef>
                          <a:spcPts val="0"/>
                        </a:spcBef>
                        <a:spcAft>
                          <a:spcPts val="0"/>
                        </a:spcAft>
                        <a:buNone/>
                      </a:pPr>
                      <a:r>
                        <a:rPr lang="en-US" sz="2000" u="none" strike="noStrike"/>
                        <a:t>1100101</a:t>
                      </a:r>
                      <a:endParaRPr sz="2000" b="1" i="0" u="none" strike="noStrike">
                        <a:solidFill>
                          <a:srgbClr val="333333"/>
                        </a:solidFill>
                        <a:latin typeface="Quattrocento Sans"/>
                        <a:ea typeface="Quattrocento Sans"/>
                        <a:cs typeface="Quattrocento Sans"/>
                        <a:sym typeface="Quattrocento Sans"/>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101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E</a:t>
                      </a:r>
                      <a:endParaRPr sz="1800" b="1" i="0" u="none" strike="noStrike">
                        <a:solidFill>
                          <a:srgbClr val="000000"/>
                        </a:solidFill>
                        <a:latin typeface="Calibri"/>
                        <a:ea typeface="Calibri"/>
                        <a:cs typeface="Calibri"/>
                        <a:sym typeface="Calibri"/>
                      </a:endParaRPr>
                    </a:p>
                  </a:txBody>
                  <a:tcPr marL="7625" marR="7625" marT="7625" marB="0" anchor="ctr"/>
                </a:tc>
                <a:extLst>
                  <a:ext uri="{0D108BD9-81ED-4DB2-BD59-A6C34878D82A}">
                    <a16:rowId xmlns:a16="http://schemas.microsoft.com/office/drawing/2014/main" xmlns="" val="10007"/>
                  </a:ext>
                </a:extLst>
              </a:tr>
              <a:tr h="415375">
                <a:tc>
                  <a:txBody>
                    <a:bodyPr/>
                    <a:lstStyle/>
                    <a:p>
                      <a:pPr marL="0" marR="0" lvl="0" indent="0" algn="ctr" rtl="0">
                        <a:spcBef>
                          <a:spcPts val="0"/>
                        </a:spcBef>
                        <a:spcAft>
                          <a:spcPts val="0"/>
                        </a:spcAft>
                        <a:buNone/>
                      </a:pPr>
                      <a:r>
                        <a:rPr lang="en-US" sz="2000" u="none" strike="noStrike"/>
                        <a:t>1110010</a:t>
                      </a:r>
                      <a:endParaRPr sz="2000" b="1" i="0" u="none" strike="noStrike">
                        <a:solidFill>
                          <a:srgbClr val="333333"/>
                        </a:solidFill>
                        <a:latin typeface="Quattrocento Sans"/>
                        <a:ea typeface="Quattrocento Sans"/>
                        <a:cs typeface="Quattrocento Sans"/>
                        <a:sym typeface="Quattrocento Sans"/>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0</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114</a:t>
                      </a:r>
                      <a:endParaRPr sz="1800" b="1" i="0" u="none" strike="noStrike">
                        <a:solidFill>
                          <a:srgbClr val="000000"/>
                        </a:solidFill>
                        <a:latin typeface="Calibri"/>
                        <a:ea typeface="Calibri"/>
                        <a:cs typeface="Calibri"/>
                        <a:sym typeface="Calibri"/>
                      </a:endParaRPr>
                    </a:p>
                  </a:txBody>
                  <a:tcPr marL="7625" marR="7625" marT="7625" marB="0" anchor="ctr"/>
                </a:tc>
                <a:tc>
                  <a:txBody>
                    <a:bodyPr/>
                    <a:lstStyle/>
                    <a:p>
                      <a:pPr marL="0" marR="0" lvl="0" indent="0" algn="ctr" rtl="0">
                        <a:spcBef>
                          <a:spcPts val="0"/>
                        </a:spcBef>
                        <a:spcAft>
                          <a:spcPts val="0"/>
                        </a:spcAft>
                        <a:buNone/>
                      </a:pPr>
                      <a:r>
                        <a:rPr lang="en-US" sz="1800" u="none" strike="noStrike"/>
                        <a:t>R</a:t>
                      </a:r>
                      <a:endParaRPr sz="1800" b="1" i="0" u="none" strike="noStrike">
                        <a:solidFill>
                          <a:srgbClr val="000000"/>
                        </a:solidFill>
                        <a:latin typeface="Calibri"/>
                        <a:ea typeface="Calibri"/>
                        <a:cs typeface="Calibri"/>
                        <a:sym typeface="Calibri"/>
                      </a:endParaRPr>
                    </a:p>
                  </a:txBody>
                  <a:tcPr marL="7625" marR="7625" marT="7625" marB="0" anchor="ctr"/>
                </a:tc>
                <a:extLst>
                  <a:ext uri="{0D108BD9-81ED-4DB2-BD59-A6C34878D82A}">
                    <a16:rowId xmlns:a16="http://schemas.microsoft.com/office/drawing/2014/main" xmlns="" val="10008"/>
                  </a:ext>
                </a:extLst>
              </a:tr>
            </a:tbl>
          </a:graphicData>
        </a:graphic>
      </p:graphicFrame>
      <p:sp>
        <p:nvSpPr>
          <p:cNvPr id="832" name="Google Shape;832;p85"/>
          <p:cNvSpPr txBox="1"/>
          <p:nvPr/>
        </p:nvSpPr>
        <p:spPr>
          <a:xfrm>
            <a:off x="1527858" y="5602147"/>
            <a:ext cx="927132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So the given binary digits results in ASCII Keyword  COMPUTER</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8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Parity Code</a:t>
            </a:r>
            <a:endParaRPr/>
          </a:p>
        </p:txBody>
      </p:sp>
      <p:sp>
        <p:nvSpPr>
          <p:cNvPr id="838" name="Google Shape;838;p86"/>
          <p:cNvSpPr txBox="1">
            <a:spLocks noGrp="1"/>
          </p:cNvSpPr>
          <p:nvPr>
            <p:ph type="body" idx="1"/>
          </p:nvPr>
        </p:nvSpPr>
        <p:spPr>
          <a:xfrm>
            <a:off x="838200" y="1885974"/>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a:solidFill>
                  <a:schemeClr val="dk1"/>
                </a:solidFill>
              </a:rPr>
              <a:t>The parity code is used for the purpose of </a:t>
            </a:r>
            <a:r>
              <a:rPr lang="en-US" b="1">
                <a:solidFill>
                  <a:srgbClr val="0000FF"/>
                </a:solidFill>
              </a:rPr>
              <a:t>detecting errors </a:t>
            </a:r>
            <a:r>
              <a:rPr lang="en-US">
                <a:solidFill>
                  <a:schemeClr val="dk1"/>
                </a:solidFill>
              </a:rPr>
              <a:t>during the transmission of binary information. The parity code is a bit that is included with the binary data to be transmitted.</a:t>
            </a:r>
            <a:endParaRPr/>
          </a:p>
          <a:p>
            <a:pPr marL="228600" lvl="0" indent="-228600" algn="just" rtl="0">
              <a:lnSpc>
                <a:spcPct val="90000"/>
              </a:lnSpc>
              <a:spcBef>
                <a:spcPts val="1000"/>
              </a:spcBef>
              <a:spcAft>
                <a:spcPts val="0"/>
              </a:spcAft>
              <a:buClr>
                <a:schemeClr val="dk1"/>
              </a:buClr>
              <a:buSzPts val="2800"/>
              <a:buChar char="•"/>
            </a:pPr>
            <a:r>
              <a:rPr lang="en-US">
                <a:solidFill>
                  <a:schemeClr val="dk1"/>
                </a:solidFill>
              </a:rPr>
              <a:t>The inclusion of a parity bit will make the number of </a:t>
            </a:r>
            <a:r>
              <a:rPr lang="en-US" b="1">
                <a:solidFill>
                  <a:srgbClr val="0000FF"/>
                </a:solidFill>
              </a:rPr>
              <a:t>1’s either odd </a:t>
            </a:r>
            <a:r>
              <a:rPr lang="en-US">
                <a:solidFill>
                  <a:schemeClr val="dk1"/>
                </a:solidFill>
              </a:rPr>
              <a:t>or </a:t>
            </a:r>
            <a:r>
              <a:rPr lang="en-US" b="1">
                <a:solidFill>
                  <a:srgbClr val="0000FF"/>
                </a:solidFill>
              </a:rPr>
              <a:t>even.</a:t>
            </a:r>
            <a:r>
              <a:rPr lang="en-US">
                <a:solidFill>
                  <a:schemeClr val="dk1"/>
                </a:solidFill>
              </a:rPr>
              <a:t> Based on the number of 1’s in the transmitted data, the parity code is of two types.</a:t>
            </a:r>
            <a:endParaRPr/>
          </a:p>
          <a:p>
            <a:pPr marL="685800" lvl="1" indent="-228600" algn="just" rtl="0">
              <a:lnSpc>
                <a:spcPct val="90000"/>
              </a:lnSpc>
              <a:spcBef>
                <a:spcPts val="500"/>
              </a:spcBef>
              <a:spcAft>
                <a:spcPts val="0"/>
              </a:spcAft>
              <a:buClr>
                <a:schemeClr val="dk1"/>
              </a:buClr>
              <a:buSzPts val="2400"/>
              <a:buChar char="•"/>
            </a:pPr>
            <a:r>
              <a:rPr lang="en-US">
                <a:solidFill>
                  <a:schemeClr val="dk1"/>
                </a:solidFill>
              </a:rPr>
              <a:t>Even parity code</a:t>
            </a:r>
            <a:endParaRPr/>
          </a:p>
          <a:p>
            <a:pPr marL="685800" lvl="1" indent="-228600" algn="just" rtl="0">
              <a:lnSpc>
                <a:spcPct val="90000"/>
              </a:lnSpc>
              <a:spcBef>
                <a:spcPts val="500"/>
              </a:spcBef>
              <a:spcAft>
                <a:spcPts val="0"/>
              </a:spcAft>
              <a:buClr>
                <a:schemeClr val="dk1"/>
              </a:buClr>
              <a:buSzPts val="2400"/>
              <a:buChar char="•"/>
            </a:pPr>
            <a:r>
              <a:rPr lang="en-US">
                <a:solidFill>
                  <a:schemeClr val="dk1"/>
                </a:solidFill>
              </a:rPr>
              <a:t>Odd parity code</a:t>
            </a:r>
            <a:endParaRPr/>
          </a:p>
        </p:txBody>
      </p:sp>
      <p:sp>
        <p:nvSpPr>
          <p:cNvPr id="840" name="Google Shape;840;p8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81</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6" name="Google Shape;846;p8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a:solidFill>
                  <a:schemeClr val="dk1"/>
                </a:solidFill>
              </a:rPr>
              <a:t>In even parity, the added parity bit will make the total number of 1’s </a:t>
            </a:r>
            <a:r>
              <a:rPr lang="en-US" b="1">
                <a:solidFill>
                  <a:schemeClr val="dk1"/>
                </a:solidFill>
              </a:rPr>
              <a:t>an even number</a:t>
            </a:r>
            <a:r>
              <a:rPr lang="en-US">
                <a:solidFill>
                  <a:schemeClr val="dk1"/>
                </a:solidFill>
              </a:rPr>
              <a:t>. </a:t>
            </a:r>
            <a:endParaRPr/>
          </a:p>
          <a:p>
            <a:pPr marL="228600" lvl="0" indent="-228600" algn="just" rtl="0">
              <a:lnSpc>
                <a:spcPct val="90000"/>
              </a:lnSpc>
              <a:spcBef>
                <a:spcPts val="1000"/>
              </a:spcBef>
              <a:spcAft>
                <a:spcPts val="0"/>
              </a:spcAft>
              <a:buClr>
                <a:schemeClr val="dk1"/>
              </a:buClr>
              <a:buSzPts val="2800"/>
              <a:buChar char="•"/>
            </a:pPr>
            <a:r>
              <a:rPr lang="en-US">
                <a:solidFill>
                  <a:schemeClr val="dk1"/>
                </a:solidFill>
              </a:rPr>
              <a:t>If the added parity bit make the total number of 1’s as </a:t>
            </a:r>
            <a:r>
              <a:rPr lang="en-US" b="1">
                <a:solidFill>
                  <a:schemeClr val="dk1"/>
                </a:solidFill>
              </a:rPr>
              <a:t>odd number</a:t>
            </a:r>
            <a:r>
              <a:rPr lang="en-US">
                <a:solidFill>
                  <a:schemeClr val="dk1"/>
                </a:solidFill>
              </a:rPr>
              <a:t>, such parity code is said to be odd parity code.</a:t>
            </a:r>
            <a:endParaRPr>
              <a:solidFill>
                <a:schemeClr val="dk1"/>
              </a:solidFill>
            </a:endParaRPr>
          </a:p>
        </p:txBody>
      </p:sp>
      <p:sp>
        <p:nvSpPr>
          <p:cNvPr id="848" name="Google Shape;848;p8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82</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p8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Explanation</a:t>
            </a:r>
            <a:endParaRPr/>
          </a:p>
        </p:txBody>
      </p:sp>
      <p:pic>
        <p:nvPicPr>
          <p:cNvPr id="854" name="Google Shape;854;p88"/>
          <p:cNvPicPr preferRelativeResize="0">
            <a:picLocks noGrp="1"/>
          </p:cNvPicPr>
          <p:nvPr>
            <p:ph type="body" idx="1"/>
          </p:nvPr>
        </p:nvPicPr>
        <p:blipFill rotWithShape="1">
          <a:blip r:embed="rId3">
            <a:alphaModFix/>
          </a:blip>
          <a:srcRect t="7428" r="16765"/>
          <a:stretch/>
        </p:blipFill>
        <p:spPr>
          <a:xfrm>
            <a:off x="2069096" y="1759352"/>
            <a:ext cx="8646905" cy="3808071"/>
          </a:xfrm>
          <a:prstGeom prst="rect">
            <a:avLst/>
          </a:prstGeom>
          <a:noFill/>
          <a:ln>
            <a:noFill/>
          </a:ln>
        </p:spPr>
      </p:pic>
      <p:sp>
        <p:nvSpPr>
          <p:cNvPr id="856" name="Google Shape;856;p8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83</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2" name="Google Shape;862;p89"/>
          <p:cNvSpPr txBox="1">
            <a:spLocks noGrp="1"/>
          </p:cNvSpPr>
          <p:nvPr>
            <p:ph type="body" idx="1"/>
          </p:nvPr>
        </p:nvSpPr>
        <p:spPr>
          <a:xfrm>
            <a:off x="648418" y="1426950"/>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400"/>
              <a:buChar char="•"/>
            </a:pPr>
            <a:r>
              <a:rPr lang="en-US" sz="2400" b="0" i="0" u="none" strike="noStrike" cap="none" dirty="0">
                <a:solidFill>
                  <a:srgbClr val="000000"/>
                </a:solidFill>
                <a:latin typeface="Georgia"/>
                <a:ea typeface="Georgia"/>
                <a:cs typeface="Georgia"/>
                <a:sym typeface="Georgia"/>
              </a:rPr>
              <a:t>On the receiver side, if the received data is other than the sent data, then it is an error. If the sent date is even parity code and the received data is odd parity, then there is an error. </a:t>
            </a:r>
            <a:endParaRPr dirty="0"/>
          </a:p>
          <a:p>
            <a:pPr marL="228600" lvl="0" indent="-76200" algn="l" rtl="0">
              <a:lnSpc>
                <a:spcPct val="90000"/>
              </a:lnSpc>
              <a:spcBef>
                <a:spcPts val="1000"/>
              </a:spcBef>
              <a:spcAft>
                <a:spcPts val="0"/>
              </a:spcAft>
              <a:buClr>
                <a:schemeClr val="dk1"/>
              </a:buClr>
              <a:buSzPts val="2400"/>
              <a:buNone/>
            </a:pPr>
            <a:endParaRPr sz="2400" dirty="0">
              <a:solidFill>
                <a:srgbClr val="000000"/>
              </a:solidFill>
              <a:latin typeface="Georgia"/>
              <a:ea typeface="Georgia"/>
              <a:cs typeface="Georgia"/>
              <a:sym typeface="Georgia"/>
            </a:endParaRPr>
          </a:p>
          <a:p>
            <a:pPr marL="228600" lvl="0" indent="-76200" algn="l" rtl="0">
              <a:lnSpc>
                <a:spcPct val="90000"/>
              </a:lnSpc>
              <a:spcBef>
                <a:spcPts val="1000"/>
              </a:spcBef>
              <a:spcAft>
                <a:spcPts val="0"/>
              </a:spcAft>
              <a:buClr>
                <a:schemeClr val="dk1"/>
              </a:buClr>
              <a:buSzPts val="2400"/>
              <a:buNone/>
            </a:pPr>
            <a:endParaRPr sz="2400" b="0" i="0" u="none" strike="noStrike" cap="none" dirty="0">
              <a:solidFill>
                <a:srgbClr val="000000"/>
              </a:solidFill>
              <a:latin typeface="Georgia"/>
              <a:ea typeface="Georgia"/>
              <a:cs typeface="Georgia"/>
              <a:sym typeface="Georgia"/>
            </a:endParaRPr>
          </a:p>
          <a:p>
            <a:pPr marL="228600" lvl="0" indent="-76200" algn="l" rtl="0">
              <a:lnSpc>
                <a:spcPct val="90000"/>
              </a:lnSpc>
              <a:spcBef>
                <a:spcPts val="1000"/>
              </a:spcBef>
              <a:spcAft>
                <a:spcPts val="0"/>
              </a:spcAft>
              <a:buClr>
                <a:schemeClr val="dk1"/>
              </a:buClr>
              <a:buSzPts val="2400"/>
              <a:buNone/>
            </a:pPr>
            <a:endParaRPr sz="2400" dirty="0">
              <a:solidFill>
                <a:srgbClr val="000000"/>
              </a:solidFill>
              <a:latin typeface="Georgia"/>
              <a:ea typeface="Georgia"/>
              <a:cs typeface="Georgia"/>
              <a:sym typeface="Georgia"/>
            </a:endParaRPr>
          </a:p>
          <a:p>
            <a:pPr marL="228600" lvl="0" indent="-76200" algn="l" rtl="0">
              <a:lnSpc>
                <a:spcPct val="90000"/>
              </a:lnSpc>
              <a:spcBef>
                <a:spcPts val="1000"/>
              </a:spcBef>
              <a:spcAft>
                <a:spcPts val="0"/>
              </a:spcAft>
              <a:buClr>
                <a:schemeClr val="dk1"/>
              </a:buClr>
              <a:buSzPts val="2400"/>
              <a:buNone/>
            </a:pPr>
            <a:endParaRPr sz="2400" b="0" i="0" u="none" strike="noStrike" cap="none" dirty="0">
              <a:solidFill>
                <a:srgbClr val="000000"/>
              </a:solidFill>
              <a:latin typeface="Georgia"/>
              <a:ea typeface="Georgia"/>
              <a:cs typeface="Georgia"/>
              <a:sym typeface="Georgia"/>
            </a:endParaRPr>
          </a:p>
          <a:p>
            <a:pPr marL="228600" lvl="0" indent="-228600" algn="l" rtl="0">
              <a:lnSpc>
                <a:spcPct val="90000"/>
              </a:lnSpc>
              <a:spcBef>
                <a:spcPts val="1000"/>
              </a:spcBef>
              <a:spcAft>
                <a:spcPts val="0"/>
              </a:spcAft>
              <a:buClr>
                <a:srgbClr val="000000"/>
              </a:buClr>
              <a:buSzPts val="2400"/>
              <a:buChar char="•"/>
            </a:pPr>
            <a:r>
              <a:rPr lang="en-US" sz="2400" b="0" i="0" u="none" strike="noStrike" cap="none" dirty="0">
                <a:solidFill>
                  <a:srgbClr val="000000"/>
                </a:solidFill>
                <a:latin typeface="Georgia"/>
                <a:ea typeface="Georgia"/>
                <a:cs typeface="Georgia"/>
                <a:sym typeface="Georgia"/>
              </a:rPr>
              <a:t>So, both even and odd parity codes are used only for the detection of error and not for the correction in the transmitted data. Even parity is commonly used and it has almost become a convention.</a:t>
            </a:r>
            <a:endParaRPr sz="3600" b="0" i="0" u="none" strike="noStrike" cap="none" dirty="0">
              <a:solidFill>
                <a:schemeClr val="dk1"/>
              </a:solidFill>
              <a:latin typeface="Arial"/>
              <a:ea typeface="Arial"/>
              <a:cs typeface="Arial"/>
              <a:sym typeface="Arial"/>
            </a:endParaRPr>
          </a:p>
          <a:p>
            <a:pPr marL="228600" lvl="0" indent="-76200" algn="l" rtl="0">
              <a:lnSpc>
                <a:spcPct val="90000"/>
              </a:lnSpc>
              <a:spcBef>
                <a:spcPts val="1000"/>
              </a:spcBef>
              <a:spcAft>
                <a:spcPts val="0"/>
              </a:spcAft>
              <a:buClr>
                <a:schemeClr val="dk1"/>
              </a:buClr>
              <a:buSzPts val="2400"/>
              <a:buNone/>
            </a:pPr>
            <a:endParaRPr sz="2400" dirty="0"/>
          </a:p>
        </p:txBody>
      </p:sp>
      <p:sp>
        <p:nvSpPr>
          <p:cNvPr id="864" name="Google Shape;864;p8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84</a:t>
            </a:fld>
            <a:endParaRPr/>
          </a:p>
        </p:txBody>
      </p:sp>
      <p:sp>
        <p:nvSpPr>
          <p:cNvPr id="865" name="Google Shape;865;p89"/>
          <p:cNvSpPr/>
          <p:nvPr/>
        </p:nvSpPr>
        <p:spPr>
          <a:xfrm>
            <a:off x="3164749" y="-486980"/>
            <a:ext cx="5862502" cy="1431161"/>
          </a:xfrm>
          <a:prstGeom prst="rect">
            <a:avLst/>
          </a:prstGeom>
          <a:noFill/>
          <a:ln>
            <a:noFill/>
          </a:ln>
        </p:spPr>
        <p:txBody>
          <a:bodyPr spcFirstLastPara="1" wrap="square" lIns="91425" tIns="45700" rIns="91425" bIns="45700" anchor="ctr" anchorCtr="0">
            <a:spAutoFit/>
          </a:bodyPr>
          <a:lstStyle/>
          <a:p>
            <a:pPr marL="0" marR="0" lvl="0" indent="0" algn="just" rtl="0">
              <a:lnSpc>
                <a:spcPct val="100000"/>
              </a:lnSpc>
              <a:spcBef>
                <a:spcPts val="0"/>
              </a:spcBef>
              <a:spcAft>
                <a:spcPts val="0"/>
              </a:spcAft>
              <a:buClr>
                <a:schemeClr val="dk1"/>
              </a:buClr>
              <a:buSzPts val="800"/>
              <a:buFont typeface="Arial"/>
              <a:buNone/>
            </a:pPr>
            <a:endParaRPr sz="800" b="0" i="0" u="none" strike="noStrike" cap="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Georgia"/>
              <a:buNone/>
            </a:pPr>
            <a:r>
              <a:rPr lang="en-US" sz="1200" b="0" i="0" u="none" strike="noStrike" cap="none" dirty="0">
                <a:solidFill>
                  <a:srgbClr val="000000"/>
                </a:solidFill>
                <a:latin typeface="Georgia"/>
                <a:ea typeface="Georgia"/>
                <a:cs typeface="Georgia"/>
                <a:sym typeface="Georgia"/>
              </a:rPr>
              <a:t>  </a:t>
            </a:r>
            <a:r>
              <a:rPr lang="en-US" sz="7900" b="0" i="0" u="none" strike="noStrike" cap="none" dirty="0">
                <a:solidFill>
                  <a:srgbClr val="000000"/>
                </a:solidFill>
                <a:latin typeface="Georgia"/>
                <a:ea typeface="Georgia"/>
                <a:cs typeface="Georgia"/>
                <a:sym typeface="Georgia"/>
              </a:rPr>
              <a:t>                       </a:t>
            </a:r>
            <a:endParaRPr sz="800" b="0" i="0" u="none" strike="noStrike" cap="none" dirty="0">
              <a:solidFill>
                <a:schemeClr val="dk1"/>
              </a:solidFill>
              <a:latin typeface="Arial"/>
              <a:ea typeface="Arial"/>
              <a:cs typeface="Arial"/>
              <a:sym typeface="Arial"/>
            </a:endParaRPr>
          </a:p>
        </p:txBody>
      </p:sp>
      <p:sp>
        <p:nvSpPr>
          <p:cNvPr id="866" name="Google Shape;866;p89" descr="Error detection in parity code"/>
          <p:cNvSpPr/>
          <p:nvPr/>
        </p:nvSpPr>
        <p:spPr>
          <a:xfrm>
            <a:off x="73025" y="-601663"/>
            <a:ext cx="5391150" cy="126682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867" name="Google Shape;867;p89"/>
          <p:cNvPicPr preferRelativeResize="0"/>
          <p:nvPr/>
        </p:nvPicPr>
        <p:blipFill rotWithShape="1">
          <a:blip r:embed="rId3">
            <a:alphaModFix/>
          </a:blip>
          <a:srcRect/>
          <a:stretch/>
        </p:blipFill>
        <p:spPr>
          <a:xfrm>
            <a:off x="2626088" y="2890088"/>
            <a:ext cx="5921253" cy="1425063"/>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82F29C-7575-94F2-261E-F6F9AA757BD3}"/>
              </a:ext>
            </a:extLst>
          </p:cNvPr>
          <p:cNvSpPr>
            <a:spLocks noGrp="1"/>
          </p:cNvSpPr>
          <p:nvPr>
            <p:ph type="ctrTitle"/>
          </p:nvPr>
        </p:nvSpPr>
        <p:spPr>
          <a:xfrm>
            <a:off x="551384" y="188640"/>
            <a:ext cx="9430816" cy="938743"/>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altLang="en-US" dirty="0">
                <a:latin typeface="Arial Black" panose="020B0A04020102020204" pitchFamily="34" charset="0"/>
              </a:rPr>
              <a:t>Logic Gates</a:t>
            </a:r>
            <a:endParaRPr lang="en-IN" dirty="0">
              <a:latin typeface="Arial Black" panose="020B0A04020102020204" pitchFamily="34" charset="0"/>
            </a:endParaRPr>
          </a:p>
        </p:txBody>
      </p:sp>
      <p:sp>
        <p:nvSpPr>
          <p:cNvPr id="3" name="Subtitle 2">
            <a:extLst>
              <a:ext uri="{FF2B5EF4-FFF2-40B4-BE49-F238E27FC236}">
                <a16:creationId xmlns:a16="http://schemas.microsoft.com/office/drawing/2014/main" xmlns="" id="{021A2005-EAE5-8B2C-4A70-45F78A03BD2B}"/>
              </a:ext>
            </a:extLst>
          </p:cNvPr>
          <p:cNvSpPr>
            <a:spLocks noGrp="1"/>
          </p:cNvSpPr>
          <p:nvPr>
            <p:ph type="subTitle" idx="1"/>
          </p:nvPr>
        </p:nvSpPr>
        <p:spPr>
          <a:xfrm>
            <a:off x="335360" y="1196752"/>
            <a:ext cx="11377264" cy="4821494"/>
          </a:xfrm>
        </p:spPr>
        <p:txBody>
          <a:bodyPr>
            <a:normAutofit/>
          </a:bodyPr>
          <a:lstStyle/>
          <a:p>
            <a:pPr algn="just" eaLnBrk="1" hangingPunct="1">
              <a:lnSpc>
                <a:spcPct val="150000"/>
              </a:lnSpc>
            </a:pPr>
            <a:r>
              <a:rPr lang="en-US" altLang="en-US" sz="4000" dirty="0">
                <a:solidFill>
                  <a:schemeClr val="dk1"/>
                </a:solidFill>
                <a:latin typeface="Arial" panose="020B0604020202020204" pitchFamily="34" charset="0"/>
                <a:cs typeface="Arial" panose="020B0604020202020204" pitchFamily="34" charset="0"/>
              </a:rPr>
              <a:t>Goal</a:t>
            </a:r>
            <a:r>
              <a:rPr lang="en-US" altLang="en-US" b="1" dirty="0">
                <a:latin typeface="Arial" panose="020B0604020202020204" pitchFamily="34" charset="0"/>
                <a:cs typeface="Arial" panose="020B0604020202020204" pitchFamily="34" charset="0"/>
              </a:rPr>
              <a:t>:</a:t>
            </a:r>
          </a:p>
          <a:p>
            <a:pPr algn="just" eaLnBrk="1" hangingPunct="1">
              <a:lnSpc>
                <a:spcPct val="150000"/>
              </a:lnSpc>
            </a:pPr>
            <a:r>
              <a:rPr lang="en-US" altLang="en-US" sz="3200" dirty="0">
                <a:solidFill>
                  <a:schemeClr val="dk1"/>
                </a:solidFill>
                <a:latin typeface="Arial" panose="020B0604020202020204" pitchFamily="34" charset="0"/>
                <a:cs typeface="Arial" panose="020B0604020202020204" pitchFamily="34" charset="0"/>
              </a:rPr>
              <a:t>    To understand how digital a computer can work, at the lowest level</a:t>
            </a:r>
            <a:r>
              <a:rPr lang="en-US" altLang="en-US" dirty="0">
                <a:solidFill>
                  <a:schemeClr val="dk1"/>
                </a:solidFill>
                <a:latin typeface="Arial" panose="020B0604020202020204" pitchFamily="34" charset="0"/>
                <a:cs typeface="Arial" panose="020B0604020202020204" pitchFamily="34" charset="0"/>
              </a:rPr>
              <a:t>.</a:t>
            </a:r>
          </a:p>
          <a:p>
            <a:pPr algn="just" eaLnBrk="1" hangingPunct="1">
              <a:lnSpc>
                <a:spcPct val="150000"/>
              </a:lnSpc>
            </a:pPr>
            <a:r>
              <a:rPr lang="en-US" altLang="en-US" sz="3200" dirty="0">
                <a:solidFill>
                  <a:schemeClr val="dk1"/>
                </a:solidFill>
                <a:latin typeface="Arial" panose="020B0604020202020204" pitchFamily="34" charset="0"/>
                <a:cs typeface="Arial" panose="020B0604020202020204" pitchFamily="34" charset="0"/>
              </a:rPr>
              <a:t>    To understand what is possible and the limitations of what is possible for a digital computer.</a:t>
            </a:r>
          </a:p>
          <a:p>
            <a:endParaRPr lang="en-IN" dirty="0"/>
          </a:p>
        </p:txBody>
      </p:sp>
      <p:sp>
        <p:nvSpPr>
          <p:cNvPr id="4" name="Slide Number Placeholder 3">
            <a:extLst>
              <a:ext uri="{FF2B5EF4-FFF2-40B4-BE49-F238E27FC236}">
                <a16:creationId xmlns:a16="http://schemas.microsoft.com/office/drawing/2014/main" xmlns="" id="{F364B05E-C2C1-9135-5C7B-A7169B473150}"/>
              </a:ext>
            </a:extLst>
          </p:cNvPr>
          <p:cNvSpPr>
            <a:spLocks noGrp="1"/>
          </p:cNvSpPr>
          <p:nvPr>
            <p:ph type="sldNum" idx="12"/>
          </p:nvPr>
        </p:nvSpPr>
        <p:spPr/>
        <p:txBody>
          <a:bodyPr/>
          <a:lstStyle/>
          <a:p>
            <a:fld id="{00000000-1234-1234-1234-123412341234}" type="slidenum">
              <a:rPr lang="en-US" smtClean="0"/>
              <a:pPr/>
              <a:t>85</a:t>
            </a:fld>
            <a:endParaRPr lang="en-US"/>
          </a:p>
        </p:txBody>
      </p:sp>
    </p:spTree>
    <p:extLst>
      <p:ext uri="{BB962C8B-B14F-4D97-AF65-F5344CB8AC3E}">
        <p14:creationId xmlns:p14="http://schemas.microsoft.com/office/powerpoint/2010/main" val="10735289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82F29C-7575-94F2-261E-F6F9AA757BD3}"/>
              </a:ext>
            </a:extLst>
          </p:cNvPr>
          <p:cNvSpPr>
            <a:spLocks noGrp="1"/>
          </p:cNvSpPr>
          <p:nvPr>
            <p:ph type="ctrTitle"/>
          </p:nvPr>
        </p:nvSpPr>
        <p:spPr>
          <a:xfrm>
            <a:off x="407368" y="404664"/>
            <a:ext cx="9803432" cy="576064"/>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altLang="en-US" sz="4400" dirty="0">
                <a:latin typeface="Arial Black" panose="020B0A04020102020204" pitchFamily="34" charset="0"/>
              </a:rPr>
              <a:t>Logic Gates</a:t>
            </a:r>
            <a:endParaRPr lang="en-IN" sz="4400" dirty="0">
              <a:latin typeface="Arial Black" panose="020B0A04020102020204" pitchFamily="34" charset="0"/>
            </a:endParaRPr>
          </a:p>
        </p:txBody>
      </p:sp>
      <p:sp>
        <p:nvSpPr>
          <p:cNvPr id="3" name="Subtitle 2">
            <a:extLst>
              <a:ext uri="{FF2B5EF4-FFF2-40B4-BE49-F238E27FC236}">
                <a16:creationId xmlns:a16="http://schemas.microsoft.com/office/drawing/2014/main" xmlns="" id="{021A2005-EAE5-8B2C-4A70-45F78A03BD2B}"/>
              </a:ext>
            </a:extLst>
          </p:cNvPr>
          <p:cNvSpPr>
            <a:spLocks noGrp="1"/>
          </p:cNvSpPr>
          <p:nvPr>
            <p:ph type="subTitle" idx="1"/>
          </p:nvPr>
        </p:nvSpPr>
        <p:spPr>
          <a:xfrm>
            <a:off x="407368" y="1196752"/>
            <a:ext cx="11377264" cy="5241371"/>
          </a:xfrm>
        </p:spPr>
        <p:txBody>
          <a:bodyPr>
            <a:normAutofit/>
          </a:bodyPr>
          <a:lstStyle/>
          <a:p>
            <a:pPr marL="482600" indent="-457200" algn="just">
              <a:buFont typeface="Arial" panose="020B0604020202020204" pitchFamily="34" charset="0"/>
              <a:buChar char="•"/>
            </a:pPr>
            <a:r>
              <a:rPr lang="en-US" altLang="en-US" sz="3500" dirty="0">
                <a:solidFill>
                  <a:schemeClr val="dk1"/>
                </a:solidFill>
              </a:rPr>
              <a:t>All digital computers for the past 50 years have been constructed using the same type of components.</a:t>
            </a:r>
          </a:p>
          <a:p>
            <a:pPr marL="482600" indent="-457200" algn="just">
              <a:buFont typeface="Arial" panose="020B0604020202020204" pitchFamily="34" charset="0"/>
              <a:buChar char="•"/>
            </a:pPr>
            <a:r>
              <a:rPr lang="en-US" altLang="en-US" sz="3500" dirty="0">
                <a:solidFill>
                  <a:schemeClr val="dk1"/>
                </a:solidFill>
              </a:rPr>
              <a:t>These components are called logic gates.</a:t>
            </a:r>
          </a:p>
          <a:p>
            <a:pPr marL="482600" indent="-457200" algn="just">
              <a:buFont typeface="Arial" panose="020B0604020202020204" pitchFamily="34" charset="0"/>
              <a:buChar char="•"/>
            </a:pPr>
            <a:r>
              <a:rPr lang="en-US" altLang="en-US" sz="3500" dirty="0">
                <a:solidFill>
                  <a:schemeClr val="dk1"/>
                </a:solidFill>
              </a:rPr>
              <a:t>Logic gates have been implemented in many different ways.</a:t>
            </a:r>
          </a:p>
          <a:p>
            <a:pPr marL="482600" indent="-457200" algn="just">
              <a:buFont typeface="Arial" panose="020B0604020202020204" pitchFamily="34" charset="0"/>
              <a:buChar char="•"/>
            </a:pPr>
            <a:r>
              <a:rPr lang="en-US" altLang="en-US" sz="3500" dirty="0">
                <a:solidFill>
                  <a:schemeClr val="dk1"/>
                </a:solidFill>
              </a:rPr>
              <a:t>Currently, logic gates are most commonly implemented using electronic VLSI transistor logic.</a:t>
            </a:r>
          </a:p>
          <a:p>
            <a:endParaRPr lang="en-IN" dirty="0"/>
          </a:p>
        </p:txBody>
      </p:sp>
      <p:sp>
        <p:nvSpPr>
          <p:cNvPr id="4" name="Slide Number Placeholder 3">
            <a:extLst>
              <a:ext uri="{FF2B5EF4-FFF2-40B4-BE49-F238E27FC236}">
                <a16:creationId xmlns:a16="http://schemas.microsoft.com/office/drawing/2014/main" xmlns="" id="{F364B05E-C2C1-9135-5C7B-A7169B473150}"/>
              </a:ext>
            </a:extLst>
          </p:cNvPr>
          <p:cNvSpPr>
            <a:spLocks noGrp="1"/>
          </p:cNvSpPr>
          <p:nvPr>
            <p:ph type="sldNum" idx="12"/>
          </p:nvPr>
        </p:nvSpPr>
        <p:spPr/>
        <p:txBody>
          <a:bodyPr/>
          <a:lstStyle/>
          <a:p>
            <a:fld id="{00000000-1234-1234-1234-123412341234}" type="slidenum">
              <a:rPr lang="en-US" smtClean="0"/>
              <a:pPr/>
              <a:t>86</a:t>
            </a:fld>
            <a:endParaRPr lang="en-US"/>
          </a:p>
        </p:txBody>
      </p:sp>
    </p:spTree>
    <p:extLst>
      <p:ext uri="{BB962C8B-B14F-4D97-AF65-F5344CB8AC3E}">
        <p14:creationId xmlns:p14="http://schemas.microsoft.com/office/powerpoint/2010/main" val="10189578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2B986F3F-0845-46F2-77AF-B9E46C43B557}"/>
              </a:ext>
            </a:extLst>
          </p:cNvPr>
          <p:cNvSpPr>
            <a:spLocks noGrp="1"/>
          </p:cNvSpPr>
          <p:nvPr>
            <p:ph type="subTitle" idx="1"/>
          </p:nvPr>
        </p:nvSpPr>
        <p:spPr>
          <a:xfrm>
            <a:off x="263352" y="980728"/>
            <a:ext cx="11593288" cy="5375623"/>
          </a:xfrm>
        </p:spPr>
        <p:txBody>
          <a:bodyPr>
            <a:noAutofit/>
          </a:bodyPr>
          <a:lstStyle/>
          <a:p>
            <a:pPr marL="482600" indent="-457200" algn="just">
              <a:lnSpc>
                <a:spcPct val="150000"/>
              </a:lnSpc>
              <a:buFont typeface="Arial" panose="020B0604020202020204" pitchFamily="34" charset="0"/>
              <a:buChar char="•"/>
            </a:pPr>
            <a:r>
              <a:rPr lang="en-US" sz="2000" dirty="0">
                <a:solidFill>
                  <a:schemeClr val="dk1"/>
                </a:solidFill>
                <a:latin typeface="Arial" panose="020B0604020202020204" pitchFamily="34" charset="0"/>
                <a:cs typeface="Arial" panose="020B0604020202020204" pitchFamily="34" charset="0"/>
              </a:rPr>
              <a:t>A logic gate is a simple switching circuit that determines whether an input pulse can pass through to the output in digital circuits. </a:t>
            </a:r>
          </a:p>
          <a:p>
            <a:pPr marL="482600" indent="-457200" algn="just">
              <a:lnSpc>
                <a:spcPct val="150000"/>
              </a:lnSpc>
              <a:buFont typeface="Arial" panose="020B0604020202020204" pitchFamily="34" charset="0"/>
              <a:buChar char="•"/>
            </a:pPr>
            <a:r>
              <a:rPr lang="en-US" sz="2000" dirty="0">
                <a:solidFill>
                  <a:schemeClr val="dk1"/>
                </a:solidFill>
                <a:latin typeface="Arial" panose="020B0604020202020204" pitchFamily="34" charset="0"/>
                <a:cs typeface="Arial" panose="020B0604020202020204" pitchFamily="34" charset="0"/>
              </a:rPr>
              <a:t>The building blocks of a digital circuit are logic gates, which execute numerous logical operations that are required by any digital circuit. </a:t>
            </a:r>
          </a:p>
          <a:p>
            <a:pPr marL="482600" indent="-457200" algn="just">
              <a:lnSpc>
                <a:spcPct val="150000"/>
              </a:lnSpc>
              <a:buFont typeface="Arial" panose="020B0604020202020204" pitchFamily="34" charset="0"/>
              <a:buChar char="•"/>
            </a:pPr>
            <a:r>
              <a:rPr lang="en-US" sz="2000" dirty="0">
                <a:solidFill>
                  <a:schemeClr val="dk1"/>
                </a:solidFill>
                <a:latin typeface="Arial" panose="020B0604020202020204" pitchFamily="34" charset="0"/>
                <a:cs typeface="Arial" panose="020B0604020202020204" pitchFamily="34" charset="0"/>
              </a:rPr>
              <a:t>These can take two or more inputs but only produce one output. </a:t>
            </a:r>
          </a:p>
          <a:p>
            <a:pPr marL="482600" indent="-457200" algn="just">
              <a:lnSpc>
                <a:spcPct val="150000"/>
              </a:lnSpc>
              <a:buFont typeface="Arial" panose="020B0604020202020204" pitchFamily="34" charset="0"/>
              <a:buChar char="•"/>
            </a:pPr>
            <a:r>
              <a:rPr lang="en-US" sz="2000" dirty="0">
                <a:solidFill>
                  <a:schemeClr val="dk1"/>
                </a:solidFill>
                <a:latin typeface="Arial" panose="020B0604020202020204" pitchFamily="34" charset="0"/>
                <a:cs typeface="Arial" panose="020B0604020202020204" pitchFamily="34" charset="0"/>
              </a:rPr>
              <a:t>The mix of inputs applied across a logic gate determines its output. Logic gates use Boolean algebra to execute logical processes.</a:t>
            </a:r>
          </a:p>
          <a:p>
            <a:pPr marL="482600" indent="-457200" algn="just">
              <a:lnSpc>
                <a:spcPct val="150000"/>
              </a:lnSpc>
              <a:buFont typeface="Arial" panose="020B0604020202020204" pitchFamily="34" charset="0"/>
              <a:buChar char="•"/>
            </a:pPr>
            <a:r>
              <a:rPr lang="en-US" sz="2000" dirty="0">
                <a:solidFill>
                  <a:schemeClr val="dk1"/>
                </a:solidFill>
                <a:latin typeface="Arial" panose="020B0604020202020204" pitchFamily="34" charset="0"/>
                <a:cs typeface="Arial" panose="020B0604020202020204" pitchFamily="34" charset="0"/>
              </a:rPr>
              <a:t>Logic gates are found in nearly every digital gadget we use on a regular basis. </a:t>
            </a:r>
          </a:p>
          <a:p>
            <a:pPr marL="482600" indent="-457200" algn="just">
              <a:lnSpc>
                <a:spcPct val="150000"/>
              </a:lnSpc>
              <a:buFont typeface="Arial" panose="020B0604020202020204" pitchFamily="34" charset="0"/>
              <a:buChar char="•"/>
            </a:pPr>
            <a:r>
              <a:rPr lang="en-US" sz="2000" dirty="0">
                <a:solidFill>
                  <a:schemeClr val="dk1"/>
                </a:solidFill>
                <a:latin typeface="Arial" panose="020B0604020202020204" pitchFamily="34" charset="0"/>
                <a:cs typeface="Arial" panose="020B0604020202020204" pitchFamily="34" charset="0"/>
              </a:rPr>
              <a:t>Logic gates are used in the architecture of our telephones, laptops, tablets, and memory devices.</a:t>
            </a:r>
            <a:endParaRPr lang="en-IN" sz="2000" dirty="0">
              <a:solidFill>
                <a:schemeClr val="dk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xmlns="" id="{D338F4D6-70F3-DBE0-94A7-E3F0F1A5827E}"/>
              </a:ext>
            </a:extLst>
          </p:cNvPr>
          <p:cNvSpPr>
            <a:spLocks noGrp="1"/>
          </p:cNvSpPr>
          <p:nvPr>
            <p:ph type="sldNum" idx="12"/>
          </p:nvPr>
        </p:nvSpPr>
        <p:spPr/>
        <p:txBody>
          <a:bodyPr/>
          <a:lstStyle/>
          <a:p>
            <a:fld id="{00000000-1234-1234-1234-123412341234}" type="slidenum">
              <a:rPr lang="en-US" smtClean="0"/>
              <a:pPr/>
              <a:t>87</a:t>
            </a:fld>
            <a:endParaRPr lang="en-US"/>
          </a:p>
        </p:txBody>
      </p:sp>
      <p:sp>
        <p:nvSpPr>
          <p:cNvPr id="6" name="Title 1">
            <a:extLst>
              <a:ext uri="{FF2B5EF4-FFF2-40B4-BE49-F238E27FC236}">
                <a16:creationId xmlns:a16="http://schemas.microsoft.com/office/drawing/2014/main" xmlns="" id="{8E82F29C-7575-94F2-261E-F6F9AA757BD3}"/>
              </a:ext>
            </a:extLst>
          </p:cNvPr>
          <p:cNvSpPr>
            <a:spLocks noGrp="1"/>
          </p:cNvSpPr>
          <p:nvPr>
            <p:ph type="ctrTitle"/>
          </p:nvPr>
        </p:nvSpPr>
        <p:spPr>
          <a:xfrm>
            <a:off x="407368" y="404664"/>
            <a:ext cx="9803432" cy="576064"/>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altLang="en-US" sz="4400" dirty="0">
                <a:latin typeface="Arial Black" panose="020B0A04020102020204" pitchFamily="34" charset="0"/>
              </a:rPr>
              <a:t>Logic Gates</a:t>
            </a:r>
            <a:endParaRPr lang="en-IN" sz="4400" dirty="0">
              <a:latin typeface="Arial Black" panose="020B0A04020102020204" pitchFamily="34" charset="0"/>
            </a:endParaRPr>
          </a:p>
        </p:txBody>
      </p:sp>
    </p:spTree>
    <p:extLst>
      <p:ext uri="{BB962C8B-B14F-4D97-AF65-F5344CB8AC3E}">
        <p14:creationId xmlns:p14="http://schemas.microsoft.com/office/powerpoint/2010/main" val="113039182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021A2005-EAE5-8B2C-4A70-45F78A03BD2B}"/>
              </a:ext>
            </a:extLst>
          </p:cNvPr>
          <p:cNvSpPr>
            <a:spLocks noGrp="1"/>
          </p:cNvSpPr>
          <p:nvPr>
            <p:ph type="subTitle" idx="1"/>
          </p:nvPr>
        </p:nvSpPr>
        <p:spPr>
          <a:xfrm>
            <a:off x="623392" y="1097360"/>
            <a:ext cx="9358808" cy="5340763"/>
          </a:xfrm>
        </p:spPr>
        <p:txBody>
          <a:bodyPr/>
          <a:lstStyle/>
          <a:p>
            <a:pPr algn="l"/>
            <a:r>
              <a:rPr lang="en-US" altLang="en-US" dirty="0">
                <a:solidFill>
                  <a:schemeClr val="dk1"/>
                </a:solidFill>
              </a:rPr>
              <a:t>All basic logic gates have the ability to accept either one or two input signals (depending upon the type of gate) and generate one output signal.</a:t>
            </a:r>
          </a:p>
          <a:p>
            <a:endParaRPr lang="en-IN" dirty="0"/>
          </a:p>
        </p:txBody>
      </p:sp>
      <p:sp>
        <p:nvSpPr>
          <p:cNvPr id="4" name="Slide Number Placeholder 3">
            <a:extLst>
              <a:ext uri="{FF2B5EF4-FFF2-40B4-BE49-F238E27FC236}">
                <a16:creationId xmlns:a16="http://schemas.microsoft.com/office/drawing/2014/main" xmlns="" id="{F364B05E-C2C1-9135-5C7B-A7169B473150}"/>
              </a:ext>
            </a:extLst>
          </p:cNvPr>
          <p:cNvSpPr>
            <a:spLocks noGrp="1"/>
          </p:cNvSpPr>
          <p:nvPr>
            <p:ph type="sldNum" idx="12"/>
          </p:nvPr>
        </p:nvSpPr>
        <p:spPr/>
        <p:txBody>
          <a:bodyPr/>
          <a:lstStyle/>
          <a:p>
            <a:fld id="{00000000-1234-1234-1234-123412341234}" type="slidenum">
              <a:rPr lang="en-US" smtClean="0"/>
              <a:pPr/>
              <a:t>88</a:t>
            </a:fld>
            <a:endParaRPr lang="en-US"/>
          </a:p>
        </p:txBody>
      </p:sp>
      <p:pic>
        <p:nvPicPr>
          <p:cNvPr id="9" name="Picture 4" descr="1-2input">
            <a:extLst>
              <a:ext uri="{FF2B5EF4-FFF2-40B4-BE49-F238E27FC236}">
                <a16:creationId xmlns:a16="http://schemas.microsoft.com/office/drawing/2014/main" xmlns="" id="{6F43026B-3D49-52D2-D969-2B16E72A633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75520" y="2636912"/>
            <a:ext cx="8568951" cy="3602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xmlns="" id="{8E82F29C-7575-94F2-261E-F6F9AA757BD3}"/>
              </a:ext>
            </a:extLst>
          </p:cNvPr>
          <p:cNvSpPr txBox="1">
            <a:spLocks/>
          </p:cNvSpPr>
          <p:nvPr/>
        </p:nvSpPr>
        <p:spPr>
          <a:xfrm>
            <a:off x="407368" y="404664"/>
            <a:ext cx="9803432" cy="5760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vert="horz" lIns="91440" tIns="45720" rIns="91440" bIns="45720" rtlCol="0" anchor="b">
            <a:normAutofit fontScale="90000" lnSpcReduction="20000"/>
          </a:bodyPr>
          <a:lstStyle>
            <a:defPPr>
              <a:defRPr/>
            </a:defPPr>
            <a:lvl1pPr algn="ctr" defTabSz="914400" rtl="0" eaLnBrk="1" latinLnBrk="0" hangingPunct="1">
              <a:lnSpc>
                <a:spcPct val="90000"/>
              </a:lnSpc>
              <a:spcBef>
                <a:spcPct val="0"/>
              </a:spcBef>
              <a:buNone/>
              <a:defRPr sz="60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altLang="en-US" sz="4400">
                <a:latin typeface="Arial Black" panose="020B0A04020102020204" pitchFamily="34" charset="0"/>
              </a:rPr>
              <a:t>Logic Gates</a:t>
            </a:r>
            <a:endParaRPr lang="en-IN" sz="4400" dirty="0">
              <a:latin typeface="Arial Black" panose="020B0A04020102020204" pitchFamily="34" charset="0"/>
            </a:endParaRPr>
          </a:p>
        </p:txBody>
      </p:sp>
    </p:spTree>
    <p:extLst>
      <p:ext uri="{BB962C8B-B14F-4D97-AF65-F5344CB8AC3E}">
        <p14:creationId xmlns:p14="http://schemas.microsoft.com/office/powerpoint/2010/main" val="44529760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EC445B-1AE7-7778-9660-DD59023A3308}"/>
              </a:ext>
            </a:extLst>
          </p:cNvPr>
          <p:cNvSpPr>
            <a:spLocks noGrp="1"/>
          </p:cNvSpPr>
          <p:nvPr>
            <p:ph type="ctrTitle"/>
          </p:nvPr>
        </p:nvSpPr>
        <p:spPr>
          <a:xfrm>
            <a:off x="335360" y="332656"/>
            <a:ext cx="9217024" cy="936104"/>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IN" dirty="0">
                <a:solidFill>
                  <a:schemeClr val="bg1"/>
                </a:solidFill>
                <a:effectLst/>
                <a:latin typeface="Nunito" pitchFamily="2" charset="0"/>
              </a:rPr>
              <a:t>Truth Table</a:t>
            </a:r>
            <a:endParaRPr lang="en-IN" dirty="0">
              <a:solidFill>
                <a:schemeClr val="bg1"/>
              </a:solidFill>
            </a:endParaRPr>
          </a:p>
        </p:txBody>
      </p:sp>
      <p:sp>
        <p:nvSpPr>
          <p:cNvPr id="3" name="Subtitle 2">
            <a:extLst>
              <a:ext uri="{FF2B5EF4-FFF2-40B4-BE49-F238E27FC236}">
                <a16:creationId xmlns:a16="http://schemas.microsoft.com/office/drawing/2014/main" xmlns="" id="{D6B27120-4D66-E49D-DD4A-3DDF07E0B676}"/>
              </a:ext>
            </a:extLst>
          </p:cNvPr>
          <p:cNvSpPr>
            <a:spLocks noGrp="1"/>
          </p:cNvSpPr>
          <p:nvPr>
            <p:ph type="subTitle" idx="1"/>
          </p:nvPr>
        </p:nvSpPr>
        <p:spPr>
          <a:xfrm>
            <a:off x="335360" y="1412776"/>
            <a:ext cx="11305256" cy="4226025"/>
          </a:xfrm>
        </p:spPr>
        <p:txBody>
          <a:bodyPr>
            <a:normAutofit/>
          </a:bodyPr>
          <a:lstStyle/>
          <a:p>
            <a:pPr marL="482600" indent="-457200" algn="l">
              <a:lnSpc>
                <a:spcPct val="200000"/>
              </a:lnSpc>
              <a:buFont typeface="Arial" panose="020B0604020202020204" pitchFamily="34" charset="0"/>
              <a:buChar char="•"/>
            </a:pPr>
            <a:r>
              <a:rPr lang="en-US" sz="2000" dirty="0">
                <a:solidFill>
                  <a:schemeClr val="dk1"/>
                </a:solidFill>
              </a:rPr>
              <a:t>The outputs for all conceivable combinations of inputs that may be applied to a logic gate or circuit are listed in a truth table. </a:t>
            </a:r>
          </a:p>
          <a:p>
            <a:pPr marL="482600" indent="-457200" algn="l">
              <a:lnSpc>
                <a:spcPct val="200000"/>
              </a:lnSpc>
              <a:buFont typeface="Arial" panose="020B0604020202020204" pitchFamily="34" charset="0"/>
              <a:buChar char="•"/>
            </a:pPr>
            <a:r>
              <a:rPr lang="en-US" sz="2000" dirty="0">
                <a:solidFill>
                  <a:schemeClr val="dk1"/>
                </a:solidFill>
              </a:rPr>
              <a:t>When we enter values into a truth table, we usually express them as 1 or 0, with 1 denoting True logic and 0 denoting False logic.</a:t>
            </a:r>
            <a:endParaRPr lang="en-IN" sz="2000" dirty="0">
              <a:solidFill>
                <a:schemeClr val="dk1"/>
              </a:solidFill>
            </a:endParaRPr>
          </a:p>
        </p:txBody>
      </p:sp>
      <p:sp>
        <p:nvSpPr>
          <p:cNvPr id="4" name="Slide Number Placeholder 3">
            <a:extLst>
              <a:ext uri="{FF2B5EF4-FFF2-40B4-BE49-F238E27FC236}">
                <a16:creationId xmlns:a16="http://schemas.microsoft.com/office/drawing/2014/main" xmlns="" id="{B762BA0B-EB1E-27DC-8A9E-4C96196EE54A}"/>
              </a:ext>
            </a:extLst>
          </p:cNvPr>
          <p:cNvSpPr>
            <a:spLocks noGrp="1"/>
          </p:cNvSpPr>
          <p:nvPr>
            <p:ph type="sldNum" idx="12"/>
          </p:nvPr>
        </p:nvSpPr>
        <p:spPr/>
        <p:txBody>
          <a:bodyPr/>
          <a:lstStyle/>
          <a:p>
            <a:fld id="{00000000-1234-1234-1234-123412341234}" type="slidenum">
              <a:rPr lang="en-US" smtClean="0"/>
              <a:pPr/>
              <a:t>89</a:t>
            </a:fld>
            <a:endParaRPr lang="en-US"/>
          </a:p>
        </p:txBody>
      </p:sp>
    </p:spTree>
    <p:extLst>
      <p:ext uri="{BB962C8B-B14F-4D97-AF65-F5344CB8AC3E}">
        <p14:creationId xmlns:p14="http://schemas.microsoft.com/office/powerpoint/2010/main" val="22336275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DC16FB-50C9-3047-B339-495BF9841B2C}"/>
              </a:ext>
            </a:extLst>
          </p:cNvPr>
          <p:cNvSpPr>
            <a:spLocks noGrp="1"/>
          </p:cNvSpPr>
          <p:nvPr>
            <p:ph type="title"/>
          </p:nvPr>
        </p:nvSpPr>
        <p:spPr>
          <a:xfrm>
            <a:off x="1127448" y="620688"/>
            <a:ext cx="8229600" cy="590743"/>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pPr algn="ctr"/>
            <a:r>
              <a:rPr lang="en-US" dirty="0"/>
              <a:t>Classification</a:t>
            </a:r>
            <a:endParaRPr lang="en-IN" dirty="0"/>
          </a:p>
        </p:txBody>
      </p:sp>
      <p:sp>
        <p:nvSpPr>
          <p:cNvPr id="4" name="Slide Number Placeholder 3">
            <a:extLst>
              <a:ext uri="{FF2B5EF4-FFF2-40B4-BE49-F238E27FC236}">
                <a16:creationId xmlns:a16="http://schemas.microsoft.com/office/drawing/2014/main" xmlns="" id="{9F8F5DD1-CDD0-2045-96AC-8C25051B4579}"/>
              </a:ext>
            </a:extLst>
          </p:cNvPr>
          <p:cNvSpPr>
            <a:spLocks noGrp="1"/>
          </p:cNvSpPr>
          <p:nvPr>
            <p:ph type="sldNum" idx="12"/>
          </p:nvPr>
        </p:nvSpPr>
        <p:spPr/>
        <p:txBody>
          <a:bodyPr/>
          <a:lstStyle/>
          <a:p>
            <a:fld id="{00000000-1234-1234-1234-123412341234}" type="slidenum">
              <a:rPr lang="en-US" smtClean="0"/>
              <a:pPr/>
              <a:t>90</a:t>
            </a:fld>
            <a:endParaRPr lang="en-US"/>
          </a:p>
        </p:txBody>
      </p:sp>
      <p:pic>
        <p:nvPicPr>
          <p:cNvPr id="6" name="Picture 5">
            <a:extLst>
              <a:ext uri="{FF2B5EF4-FFF2-40B4-BE49-F238E27FC236}">
                <a16:creationId xmlns:a16="http://schemas.microsoft.com/office/drawing/2014/main" xmlns="" id="{E13A5BA7-9E2B-3A25-A382-25609D45A792}"/>
              </a:ext>
            </a:extLst>
          </p:cNvPr>
          <p:cNvPicPr>
            <a:picLocks noChangeAspect="1"/>
          </p:cNvPicPr>
          <p:nvPr/>
        </p:nvPicPr>
        <p:blipFill>
          <a:blip r:embed="rId2" cstate="print"/>
          <a:stretch>
            <a:fillRect/>
          </a:stretch>
        </p:blipFill>
        <p:spPr>
          <a:xfrm>
            <a:off x="911424" y="2096308"/>
            <a:ext cx="10081119" cy="3914808"/>
          </a:xfrm>
          <a:prstGeom prst="rect">
            <a:avLst/>
          </a:prstGeom>
        </p:spPr>
      </p:pic>
    </p:spTree>
    <p:extLst>
      <p:ext uri="{BB962C8B-B14F-4D97-AF65-F5344CB8AC3E}">
        <p14:creationId xmlns:p14="http://schemas.microsoft.com/office/powerpoint/2010/main" val="49591836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0BC9A7A1-D45A-E2F2-905D-B16CA610B76C}"/>
              </a:ext>
            </a:extLst>
          </p:cNvPr>
          <p:cNvSpPr>
            <a:spLocks noGrp="1"/>
          </p:cNvSpPr>
          <p:nvPr>
            <p:ph type="body" idx="1"/>
          </p:nvPr>
        </p:nvSpPr>
        <p:spPr>
          <a:xfrm>
            <a:off x="838200" y="548680"/>
            <a:ext cx="10515600" cy="5628283"/>
          </a:xfrm>
        </p:spPr>
        <p:txBody>
          <a:bodyPr>
            <a:normAutofit fontScale="92500" lnSpcReduction="20000"/>
          </a:bodyPr>
          <a:lstStyle/>
          <a:p>
            <a:pPr marL="114300" indent="0" fontAlgn="base">
              <a:buNone/>
            </a:pPr>
            <a:r>
              <a:rPr lang="en-US" b="1" i="0" u="sng" dirty="0">
                <a:solidFill>
                  <a:srgbClr val="303030"/>
                </a:solidFill>
                <a:effectLst/>
                <a:latin typeface="Roboto Condensed" panose="020F0502020204030204" pitchFamily="2" charset="0"/>
              </a:rPr>
              <a:t>Basic Logic Gates-</a:t>
            </a:r>
            <a:endParaRPr lang="en-US" b="1" i="0" dirty="0">
              <a:solidFill>
                <a:srgbClr val="303030"/>
              </a:solidFill>
              <a:effectLst/>
              <a:latin typeface="Roboto Condensed" panose="020F0502020204030204" pitchFamily="2" charset="0"/>
            </a:endParaRPr>
          </a:p>
          <a:p>
            <a:pPr marL="114300" indent="0" fontAlgn="base">
              <a:buNone/>
            </a:pPr>
            <a:r>
              <a:rPr lang="en-US" b="0" i="0" dirty="0">
                <a:solidFill>
                  <a:srgbClr val="303030"/>
                </a:solidFill>
                <a:effectLst/>
                <a:latin typeface="Arimo"/>
              </a:rPr>
              <a:t> </a:t>
            </a:r>
          </a:p>
          <a:p>
            <a:pPr algn="l" fontAlgn="base"/>
            <a:r>
              <a:rPr lang="en-US" b="0" i="0" dirty="0">
                <a:solidFill>
                  <a:srgbClr val="303030"/>
                </a:solidFill>
                <a:effectLst/>
                <a:latin typeface="Arimo"/>
              </a:rPr>
              <a:t>Basic Logic Gates are the fundamental logic gates using which </a:t>
            </a:r>
          </a:p>
          <a:p>
            <a:pPr marL="114300" indent="0" algn="l" fontAlgn="base">
              <a:buNone/>
            </a:pPr>
            <a:r>
              <a:rPr lang="en-US" b="0" i="0" dirty="0">
                <a:solidFill>
                  <a:srgbClr val="303030"/>
                </a:solidFill>
                <a:effectLst/>
                <a:latin typeface="Arimo"/>
              </a:rPr>
              <a:t>universal logic gates and other logic gates are constructed.</a:t>
            </a:r>
          </a:p>
          <a:p>
            <a:pPr marL="114300" indent="0" fontAlgn="base">
              <a:buNone/>
            </a:pPr>
            <a:endParaRPr lang="en-US" b="0" i="0" dirty="0">
              <a:solidFill>
                <a:srgbClr val="303030"/>
              </a:solidFill>
              <a:effectLst/>
              <a:latin typeface="Arimo"/>
            </a:endParaRPr>
          </a:p>
          <a:p>
            <a:pPr marL="114300" indent="0" fontAlgn="base">
              <a:buNone/>
            </a:pPr>
            <a:r>
              <a:rPr lang="en-US" b="0" i="0" dirty="0">
                <a:solidFill>
                  <a:srgbClr val="303030"/>
                </a:solidFill>
                <a:effectLst/>
                <a:latin typeface="Arimo"/>
              </a:rPr>
              <a:t>They have the following properties-</a:t>
            </a:r>
          </a:p>
          <a:p>
            <a:pPr algn="l" fontAlgn="base">
              <a:buFont typeface="Arial" panose="020B0604020202020204" pitchFamily="34" charset="0"/>
              <a:buChar char="•"/>
            </a:pPr>
            <a:r>
              <a:rPr lang="en-US" b="0" i="0" dirty="0">
                <a:solidFill>
                  <a:srgbClr val="303030"/>
                </a:solidFill>
                <a:effectLst/>
                <a:latin typeface="Arimo"/>
              </a:rPr>
              <a:t>Basic logic gates are associative in nature.</a:t>
            </a:r>
          </a:p>
          <a:p>
            <a:pPr algn="l" fontAlgn="base">
              <a:buFont typeface="Arial" panose="020B0604020202020204" pitchFamily="34" charset="0"/>
              <a:buChar char="•"/>
            </a:pPr>
            <a:r>
              <a:rPr lang="en-US" b="0" i="0" dirty="0">
                <a:solidFill>
                  <a:srgbClr val="303030"/>
                </a:solidFill>
                <a:effectLst/>
                <a:latin typeface="Arimo"/>
              </a:rPr>
              <a:t>Basic logic gates are commutative in nature.</a:t>
            </a:r>
          </a:p>
          <a:p>
            <a:pPr marL="114300" indent="0" fontAlgn="base">
              <a:buNone/>
            </a:pPr>
            <a:r>
              <a:rPr lang="en-US" b="0" i="0" dirty="0">
                <a:solidFill>
                  <a:srgbClr val="303030"/>
                </a:solidFill>
                <a:effectLst/>
                <a:latin typeface="Arimo"/>
              </a:rPr>
              <a:t> </a:t>
            </a:r>
          </a:p>
          <a:p>
            <a:pPr marL="114300" indent="0" fontAlgn="base">
              <a:buNone/>
            </a:pPr>
            <a:r>
              <a:rPr lang="en-US" b="0" i="0" dirty="0">
                <a:solidFill>
                  <a:srgbClr val="303030"/>
                </a:solidFill>
                <a:effectLst/>
                <a:latin typeface="Arimo"/>
              </a:rPr>
              <a:t>There are following three basic logic gates-</a:t>
            </a:r>
          </a:p>
          <a:p>
            <a:pPr algn="l" fontAlgn="base">
              <a:buFont typeface="+mj-lt"/>
              <a:buAutoNum type="arabicPeriod"/>
            </a:pPr>
            <a:r>
              <a:rPr lang="en-US" b="0" i="0" dirty="0">
                <a:solidFill>
                  <a:srgbClr val="303030"/>
                </a:solidFill>
                <a:effectLst/>
                <a:latin typeface="Arimo"/>
              </a:rPr>
              <a:t>AND Gate</a:t>
            </a:r>
          </a:p>
          <a:p>
            <a:pPr algn="l" fontAlgn="base">
              <a:buFont typeface="+mj-lt"/>
              <a:buAutoNum type="arabicPeriod"/>
            </a:pPr>
            <a:r>
              <a:rPr lang="en-US" b="0" i="0" dirty="0">
                <a:solidFill>
                  <a:srgbClr val="303030"/>
                </a:solidFill>
                <a:effectLst/>
                <a:latin typeface="Arimo"/>
              </a:rPr>
              <a:t>OR Gate</a:t>
            </a:r>
          </a:p>
          <a:p>
            <a:pPr algn="l" fontAlgn="base">
              <a:buFont typeface="+mj-lt"/>
              <a:buAutoNum type="arabicPeriod"/>
            </a:pPr>
            <a:r>
              <a:rPr lang="en-US" b="0" i="0" dirty="0">
                <a:solidFill>
                  <a:srgbClr val="303030"/>
                </a:solidFill>
                <a:effectLst/>
                <a:latin typeface="Arimo"/>
              </a:rPr>
              <a:t>NOT Gate</a:t>
            </a:r>
          </a:p>
          <a:p>
            <a:endParaRPr lang="en-IN" dirty="0"/>
          </a:p>
        </p:txBody>
      </p:sp>
      <p:sp>
        <p:nvSpPr>
          <p:cNvPr id="4" name="Slide Number Placeholder 3">
            <a:extLst>
              <a:ext uri="{FF2B5EF4-FFF2-40B4-BE49-F238E27FC236}">
                <a16:creationId xmlns:a16="http://schemas.microsoft.com/office/drawing/2014/main" xmlns="" id="{4D102149-7008-B7A2-9AFB-7A172E48784A}"/>
              </a:ext>
            </a:extLst>
          </p:cNvPr>
          <p:cNvSpPr>
            <a:spLocks noGrp="1"/>
          </p:cNvSpPr>
          <p:nvPr>
            <p:ph type="sldNum" idx="12"/>
          </p:nvPr>
        </p:nvSpPr>
        <p:spPr/>
        <p:txBody>
          <a:bodyPr/>
          <a:lstStyle/>
          <a:p>
            <a:fld id="{00000000-1234-1234-1234-123412341234}" type="slidenum">
              <a:rPr lang="en-US" smtClean="0"/>
              <a:pPr/>
              <a:t>91</a:t>
            </a:fld>
            <a:endParaRPr lang="en-US"/>
          </a:p>
        </p:txBody>
      </p:sp>
    </p:spTree>
    <p:extLst>
      <p:ext uri="{BB962C8B-B14F-4D97-AF65-F5344CB8AC3E}">
        <p14:creationId xmlns:p14="http://schemas.microsoft.com/office/powerpoint/2010/main" val="4147299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1B0997-73B9-994E-FD8C-41398936778D}"/>
              </a:ext>
            </a:extLst>
          </p:cNvPr>
          <p:cNvSpPr>
            <a:spLocks noGrp="1"/>
          </p:cNvSpPr>
          <p:nvPr>
            <p:ph type="title"/>
          </p:nvPr>
        </p:nvSpPr>
        <p:spPr>
          <a:xfrm>
            <a:off x="335360" y="292847"/>
            <a:ext cx="8229600" cy="737120"/>
          </a:xfrm>
        </p:spPr>
        <p:txBody>
          <a:bodyPr>
            <a:normAutofit/>
          </a:bodyPr>
          <a:lstStyle/>
          <a:p>
            <a:r>
              <a:rPr lang="en-US" dirty="0"/>
              <a:t>AND gate</a:t>
            </a:r>
            <a:endParaRPr lang="en-IN" dirty="0"/>
          </a:p>
        </p:txBody>
      </p:sp>
      <p:sp>
        <p:nvSpPr>
          <p:cNvPr id="3" name="Text Placeholder 2">
            <a:extLst>
              <a:ext uri="{FF2B5EF4-FFF2-40B4-BE49-F238E27FC236}">
                <a16:creationId xmlns:a16="http://schemas.microsoft.com/office/drawing/2014/main" xmlns="" id="{0BC9A7A1-D45A-E2F2-905D-B16CA610B76C}"/>
              </a:ext>
            </a:extLst>
          </p:cNvPr>
          <p:cNvSpPr>
            <a:spLocks noGrp="1"/>
          </p:cNvSpPr>
          <p:nvPr>
            <p:ph type="body" idx="1"/>
          </p:nvPr>
        </p:nvSpPr>
        <p:spPr>
          <a:xfrm>
            <a:off x="341384" y="1043160"/>
            <a:ext cx="11012415" cy="5194152"/>
          </a:xfrm>
        </p:spPr>
        <p:txBody>
          <a:bodyPr>
            <a:normAutofit/>
          </a:bodyPr>
          <a:lstStyle/>
          <a:p>
            <a:pPr algn="l" fontAlgn="base">
              <a:buFont typeface="Arial" panose="020B0604020202020204" pitchFamily="34" charset="0"/>
              <a:buChar char="•"/>
            </a:pPr>
            <a:r>
              <a:rPr lang="en-US" b="0" i="0" dirty="0">
                <a:solidFill>
                  <a:srgbClr val="303030"/>
                </a:solidFill>
                <a:effectLst/>
                <a:latin typeface="Arimo"/>
              </a:rPr>
              <a:t>The output of AND gate is high (‘1’) if all of its inputs are high (‘1’).</a:t>
            </a:r>
          </a:p>
          <a:p>
            <a:pPr algn="l" fontAlgn="base">
              <a:buFont typeface="Arial" panose="020B0604020202020204" pitchFamily="34" charset="0"/>
              <a:buChar char="•"/>
            </a:pPr>
            <a:r>
              <a:rPr lang="en-US" b="0" i="0" dirty="0">
                <a:solidFill>
                  <a:srgbClr val="303030"/>
                </a:solidFill>
                <a:effectLst/>
                <a:latin typeface="Arimo"/>
              </a:rPr>
              <a:t>The output of AND gate is low (‘0’) if any one of its inputs is low (‘0’).</a:t>
            </a:r>
          </a:p>
          <a:p>
            <a:endParaRPr lang="en-IN" dirty="0"/>
          </a:p>
        </p:txBody>
      </p:sp>
      <p:sp>
        <p:nvSpPr>
          <p:cNvPr id="4" name="Slide Number Placeholder 3">
            <a:extLst>
              <a:ext uri="{FF2B5EF4-FFF2-40B4-BE49-F238E27FC236}">
                <a16:creationId xmlns:a16="http://schemas.microsoft.com/office/drawing/2014/main" xmlns="" id="{4D102149-7008-B7A2-9AFB-7A172E48784A}"/>
              </a:ext>
            </a:extLst>
          </p:cNvPr>
          <p:cNvSpPr>
            <a:spLocks noGrp="1"/>
          </p:cNvSpPr>
          <p:nvPr>
            <p:ph type="sldNum" idx="12"/>
          </p:nvPr>
        </p:nvSpPr>
        <p:spPr/>
        <p:txBody>
          <a:bodyPr/>
          <a:lstStyle/>
          <a:p>
            <a:fld id="{00000000-1234-1234-1234-123412341234}" type="slidenum">
              <a:rPr lang="en-US" smtClean="0"/>
              <a:pPr/>
              <a:t>92</a:t>
            </a:fld>
            <a:endParaRPr lang="en-US"/>
          </a:p>
        </p:txBody>
      </p:sp>
      <p:pic>
        <p:nvPicPr>
          <p:cNvPr id="7" name="Picture 6">
            <a:extLst>
              <a:ext uri="{FF2B5EF4-FFF2-40B4-BE49-F238E27FC236}">
                <a16:creationId xmlns:a16="http://schemas.microsoft.com/office/drawing/2014/main" xmlns="" id="{08186880-5AAE-A032-5A9C-590D068DA5BF}"/>
              </a:ext>
            </a:extLst>
          </p:cNvPr>
          <p:cNvPicPr>
            <a:picLocks noChangeAspect="1"/>
          </p:cNvPicPr>
          <p:nvPr/>
        </p:nvPicPr>
        <p:blipFill>
          <a:blip r:embed="rId2" cstate="print"/>
          <a:stretch>
            <a:fillRect/>
          </a:stretch>
        </p:blipFill>
        <p:spPr>
          <a:xfrm>
            <a:off x="754837" y="3262846"/>
            <a:ext cx="5299788" cy="2585617"/>
          </a:xfrm>
          <a:prstGeom prst="rect">
            <a:avLst/>
          </a:prstGeom>
        </p:spPr>
      </p:pic>
      <p:pic>
        <p:nvPicPr>
          <p:cNvPr id="8" name="Picture 7">
            <a:extLst>
              <a:ext uri="{FF2B5EF4-FFF2-40B4-BE49-F238E27FC236}">
                <a16:creationId xmlns:a16="http://schemas.microsoft.com/office/drawing/2014/main" xmlns="" id="{C6E4A373-E745-D6CD-4D0D-B34A2C49B430}"/>
              </a:ext>
            </a:extLst>
          </p:cNvPr>
          <p:cNvPicPr>
            <a:picLocks noChangeAspect="1"/>
          </p:cNvPicPr>
          <p:nvPr/>
        </p:nvPicPr>
        <p:blipFill>
          <a:blip r:embed="rId3" cstate="print"/>
          <a:stretch>
            <a:fillRect/>
          </a:stretch>
        </p:blipFill>
        <p:spPr>
          <a:xfrm>
            <a:off x="6257926" y="3005138"/>
            <a:ext cx="5318724" cy="3167330"/>
          </a:xfrm>
          <a:prstGeom prst="rect">
            <a:avLst/>
          </a:prstGeom>
        </p:spPr>
      </p:pic>
    </p:spTree>
    <p:extLst>
      <p:ext uri="{BB962C8B-B14F-4D97-AF65-F5344CB8AC3E}">
        <p14:creationId xmlns:p14="http://schemas.microsoft.com/office/powerpoint/2010/main" val="288367625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38F0DC-6859-33B3-350A-67EEA84CE1E2}"/>
              </a:ext>
            </a:extLst>
          </p:cNvPr>
          <p:cNvSpPr>
            <a:spLocks noGrp="1"/>
          </p:cNvSpPr>
          <p:nvPr>
            <p:ph type="ctrTitle"/>
          </p:nvPr>
        </p:nvSpPr>
        <p:spPr>
          <a:xfrm>
            <a:off x="2209800" y="1374646"/>
            <a:ext cx="7772400" cy="724742"/>
          </a:xfrm>
        </p:spPr>
        <p:txBody>
          <a:bodyPr>
            <a:normAutofit fontScale="90000"/>
          </a:bodyPr>
          <a:lstStyle/>
          <a:p>
            <a:r>
              <a:rPr lang="en-IN" b="1" i="0" u="sng" dirty="0">
                <a:solidFill>
                  <a:srgbClr val="303030"/>
                </a:solidFill>
                <a:effectLst/>
                <a:latin typeface="Roboto Condensed" panose="02000000000000000000" pitchFamily="2" charset="0"/>
              </a:rPr>
              <a:t/>
            </a:r>
            <a:br>
              <a:rPr lang="en-IN" b="1" i="0" u="sng" dirty="0">
                <a:solidFill>
                  <a:srgbClr val="303030"/>
                </a:solidFill>
                <a:effectLst/>
                <a:latin typeface="Roboto Condensed" panose="02000000000000000000" pitchFamily="2" charset="0"/>
              </a:rPr>
            </a:br>
            <a:r>
              <a:rPr lang="en-IN" i="0" dirty="0">
                <a:solidFill>
                  <a:srgbClr val="303030"/>
                </a:solidFill>
                <a:effectLst/>
                <a:latin typeface="Roboto Condensed" panose="02000000000000000000" pitchFamily="2" charset="0"/>
              </a:rPr>
              <a:t>OR Gate</a:t>
            </a:r>
            <a:r>
              <a:rPr lang="en-IN" b="1" i="0" dirty="0">
                <a:solidFill>
                  <a:srgbClr val="303030"/>
                </a:solidFill>
                <a:effectLst/>
                <a:latin typeface="Roboto Condensed" panose="02000000000000000000" pitchFamily="2" charset="0"/>
              </a:rPr>
              <a:t/>
            </a:r>
            <a:br>
              <a:rPr lang="en-IN" b="1" i="0" dirty="0">
                <a:solidFill>
                  <a:srgbClr val="303030"/>
                </a:solidFill>
                <a:effectLst/>
                <a:latin typeface="Roboto Condensed" panose="02000000000000000000" pitchFamily="2" charset="0"/>
              </a:rPr>
            </a:br>
            <a:endParaRPr lang="en-IN" dirty="0"/>
          </a:p>
        </p:txBody>
      </p:sp>
      <p:sp>
        <p:nvSpPr>
          <p:cNvPr id="3" name="Subtitle 2">
            <a:extLst>
              <a:ext uri="{FF2B5EF4-FFF2-40B4-BE49-F238E27FC236}">
                <a16:creationId xmlns:a16="http://schemas.microsoft.com/office/drawing/2014/main" xmlns="" id="{63EA24F0-EFA5-25B8-C438-A5595E3E0DF0}"/>
              </a:ext>
            </a:extLst>
          </p:cNvPr>
          <p:cNvSpPr>
            <a:spLocks noGrp="1"/>
          </p:cNvSpPr>
          <p:nvPr>
            <p:ph type="subTitle" idx="1"/>
          </p:nvPr>
        </p:nvSpPr>
        <p:spPr>
          <a:xfrm>
            <a:off x="839416" y="1375644"/>
            <a:ext cx="10945216" cy="4980706"/>
          </a:xfrm>
        </p:spPr>
        <p:txBody>
          <a:bodyPr/>
          <a:lstStyle/>
          <a:p>
            <a:pPr algn="l"/>
            <a:r>
              <a:rPr lang="en-US" b="0" i="0" dirty="0">
                <a:solidFill>
                  <a:srgbClr val="303030"/>
                </a:solidFill>
                <a:effectLst/>
                <a:latin typeface="Arimo"/>
              </a:rPr>
              <a:t>The output of OR gate is high (‘1’) if any one of its inputs is high (‘1’).</a:t>
            </a:r>
          </a:p>
          <a:p>
            <a:pPr algn="l"/>
            <a:r>
              <a:rPr lang="en-US" b="0" i="0" dirty="0">
                <a:solidFill>
                  <a:srgbClr val="303030"/>
                </a:solidFill>
                <a:effectLst/>
                <a:latin typeface="Arimo"/>
              </a:rPr>
              <a:t>The output of OR gate is low (‘0’) if all of its inputs are low (‘0’).</a:t>
            </a:r>
          </a:p>
          <a:p>
            <a:endParaRPr lang="en-IN" dirty="0"/>
          </a:p>
        </p:txBody>
      </p:sp>
      <p:sp>
        <p:nvSpPr>
          <p:cNvPr id="4" name="Slide Number Placeholder 3">
            <a:extLst>
              <a:ext uri="{FF2B5EF4-FFF2-40B4-BE49-F238E27FC236}">
                <a16:creationId xmlns:a16="http://schemas.microsoft.com/office/drawing/2014/main" xmlns="" id="{26BDBCC4-F01C-DFF0-0EB5-70F3899DD853}"/>
              </a:ext>
            </a:extLst>
          </p:cNvPr>
          <p:cNvSpPr>
            <a:spLocks noGrp="1"/>
          </p:cNvSpPr>
          <p:nvPr>
            <p:ph type="sldNum" idx="12"/>
          </p:nvPr>
        </p:nvSpPr>
        <p:spPr/>
        <p:txBody>
          <a:bodyPr/>
          <a:lstStyle/>
          <a:p>
            <a:fld id="{00000000-1234-1234-1234-123412341234}" type="slidenum">
              <a:rPr lang="en-US" smtClean="0"/>
              <a:pPr/>
              <a:t>93</a:t>
            </a:fld>
            <a:endParaRPr lang="en-US"/>
          </a:p>
        </p:txBody>
      </p:sp>
      <p:sp>
        <p:nvSpPr>
          <p:cNvPr id="6" name="Subtitle 2">
            <a:extLst>
              <a:ext uri="{FF2B5EF4-FFF2-40B4-BE49-F238E27FC236}">
                <a16:creationId xmlns:a16="http://schemas.microsoft.com/office/drawing/2014/main" xmlns="" id="{63EA24F0-EFA5-25B8-C438-A5595E3E0DF0}"/>
              </a:ext>
            </a:extLst>
          </p:cNvPr>
          <p:cNvSpPr txBox="1">
            <a:spLocks/>
          </p:cNvSpPr>
          <p:nvPr/>
        </p:nvSpPr>
        <p:spPr>
          <a:xfrm>
            <a:off x="610208" y="2346033"/>
            <a:ext cx="8229600" cy="4192879"/>
          </a:xfrm>
          <a:prstGeom prst="rect">
            <a:avLst/>
          </a:prstGeom>
        </p:spPr>
        <p:txBody>
          <a:bodyPr vert="horz" lIns="91440" tIns="45720" rIns="91440" bIns="45720" rtlCol="0">
            <a:normAutofit/>
          </a:bodyPr>
          <a:lstStyle>
            <a:defPPr>
              <a:defRPr/>
            </a:defPPr>
            <a:lvl1pPr marL="0" indent="0" algn="ctr" defTabSz="914400" rtl="0" eaLnBrk="1" latinLnBrk="0" hangingPunct="1">
              <a:lnSpc>
                <a:spcPct val="90000"/>
              </a:lnSpc>
              <a:spcBef>
                <a:spcPts val="1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9pPr>
          </a:lstStyle>
          <a:p>
            <a:pPr algn="l" fontAlgn="base"/>
            <a:r>
              <a:rPr lang="en-US" sz="2800" b="1" u="sng" dirty="0">
                <a:solidFill>
                  <a:srgbClr val="303030"/>
                </a:solidFill>
                <a:latin typeface="Calibri" panose="020F0502020204030204" pitchFamily="34" charset="0"/>
                <a:cs typeface="Calibri" panose="020F0502020204030204" pitchFamily="34" charset="0"/>
              </a:rPr>
              <a:t>Logic Symbol-</a:t>
            </a:r>
            <a:endParaRPr lang="en-US" sz="2800" b="1" dirty="0">
              <a:solidFill>
                <a:srgbClr val="303030"/>
              </a:solidFill>
              <a:latin typeface="Calibri" panose="020F0502020204030204" pitchFamily="34" charset="0"/>
              <a:cs typeface="Calibri" panose="020F0502020204030204" pitchFamily="34" charset="0"/>
            </a:endParaRPr>
          </a:p>
          <a:p>
            <a:pPr algn="l" fontAlgn="base"/>
            <a:r>
              <a:rPr lang="en-US" sz="2800" dirty="0">
                <a:solidFill>
                  <a:srgbClr val="303030"/>
                </a:solidFill>
                <a:latin typeface="Calibri" panose="020F0502020204030204" pitchFamily="34" charset="0"/>
                <a:cs typeface="Calibri" panose="020F0502020204030204" pitchFamily="34" charset="0"/>
              </a:rPr>
              <a:t> </a:t>
            </a:r>
          </a:p>
          <a:p>
            <a:pPr algn="l" fontAlgn="base"/>
            <a:r>
              <a:rPr lang="en-US" sz="2800" dirty="0">
                <a:solidFill>
                  <a:srgbClr val="303030"/>
                </a:solidFill>
                <a:latin typeface="Calibri" panose="020F0502020204030204" pitchFamily="34" charset="0"/>
                <a:cs typeface="Calibri" panose="020F0502020204030204" pitchFamily="34" charset="0"/>
              </a:rPr>
              <a:t>The logic symbol for OR Gate is as shown below-</a:t>
            </a:r>
          </a:p>
          <a:p>
            <a:endParaRPr lang="en-IN" dirty="0"/>
          </a:p>
        </p:txBody>
      </p:sp>
      <p:pic>
        <p:nvPicPr>
          <p:cNvPr id="7" name="Picture 6">
            <a:extLst>
              <a:ext uri="{FF2B5EF4-FFF2-40B4-BE49-F238E27FC236}">
                <a16:creationId xmlns:a16="http://schemas.microsoft.com/office/drawing/2014/main" xmlns="" id="{6403645F-26E3-F49C-A338-B4E4C9DFE6C0}"/>
              </a:ext>
            </a:extLst>
          </p:cNvPr>
          <p:cNvPicPr>
            <a:picLocks noChangeAspect="1"/>
          </p:cNvPicPr>
          <p:nvPr/>
        </p:nvPicPr>
        <p:blipFill>
          <a:blip r:embed="rId3" cstate="print"/>
          <a:stretch>
            <a:fillRect/>
          </a:stretch>
        </p:blipFill>
        <p:spPr>
          <a:xfrm>
            <a:off x="610208" y="3865997"/>
            <a:ext cx="5962261" cy="2295525"/>
          </a:xfrm>
          <a:prstGeom prst="rect">
            <a:avLst/>
          </a:prstGeom>
        </p:spPr>
      </p:pic>
      <p:pic>
        <p:nvPicPr>
          <p:cNvPr id="8" name="Picture 7">
            <a:extLst>
              <a:ext uri="{FF2B5EF4-FFF2-40B4-BE49-F238E27FC236}">
                <a16:creationId xmlns:a16="http://schemas.microsoft.com/office/drawing/2014/main" xmlns="" id="{73AA8C21-6634-836A-2E50-184C3488F466}"/>
              </a:ext>
            </a:extLst>
          </p:cNvPr>
          <p:cNvPicPr>
            <a:picLocks noChangeAspect="1"/>
          </p:cNvPicPr>
          <p:nvPr/>
        </p:nvPicPr>
        <p:blipFill>
          <a:blip r:embed="rId4" cstate="print"/>
          <a:stretch>
            <a:fillRect/>
          </a:stretch>
        </p:blipFill>
        <p:spPr>
          <a:xfrm>
            <a:off x="6147529" y="3855716"/>
            <a:ext cx="4928788" cy="2532550"/>
          </a:xfrm>
          <a:prstGeom prst="rect">
            <a:avLst/>
          </a:prstGeom>
        </p:spPr>
      </p:pic>
    </p:spTree>
    <p:extLst>
      <p:ext uri="{BB962C8B-B14F-4D97-AF65-F5344CB8AC3E}">
        <p14:creationId xmlns:p14="http://schemas.microsoft.com/office/powerpoint/2010/main" val="1529441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38F0DC-6859-33B3-350A-67EEA84CE1E2}"/>
              </a:ext>
            </a:extLst>
          </p:cNvPr>
          <p:cNvSpPr>
            <a:spLocks noGrp="1"/>
          </p:cNvSpPr>
          <p:nvPr>
            <p:ph type="ctrTitle"/>
          </p:nvPr>
        </p:nvSpPr>
        <p:spPr>
          <a:xfrm>
            <a:off x="2209800" y="1374646"/>
            <a:ext cx="7772400" cy="724742"/>
          </a:xfrm>
        </p:spPr>
        <p:txBody>
          <a:bodyPr>
            <a:normAutofit fontScale="90000"/>
          </a:bodyPr>
          <a:lstStyle/>
          <a:p>
            <a:r>
              <a:rPr lang="en-IN" b="1" i="0" u="sng" dirty="0">
                <a:solidFill>
                  <a:srgbClr val="303030"/>
                </a:solidFill>
                <a:effectLst/>
                <a:latin typeface="Roboto Condensed" panose="02000000000000000000" pitchFamily="2" charset="0"/>
              </a:rPr>
              <a:t/>
            </a:r>
            <a:br>
              <a:rPr lang="en-IN" b="1" i="0" u="sng" dirty="0">
                <a:solidFill>
                  <a:srgbClr val="303030"/>
                </a:solidFill>
                <a:effectLst/>
                <a:latin typeface="Roboto Condensed" panose="02000000000000000000" pitchFamily="2" charset="0"/>
              </a:rPr>
            </a:br>
            <a:r>
              <a:rPr lang="en-IN" i="0" dirty="0">
                <a:solidFill>
                  <a:srgbClr val="303030"/>
                </a:solidFill>
                <a:effectLst/>
                <a:latin typeface="Calibri" panose="020F0502020204030204" pitchFamily="34" charset="0"/>
                <a:cs typeface="Calibri" panose="020F0502020204030204" pitchFamily="34" charset="0"/>
              </a:rPr>
              <a:t>NOT Gate</a:t>
            </a:r>
            <a:r>
              <a:rPr lang="en-IN" b="1" i="0" dirty="0">
                <a:solidFill>
                  <a:srgbClr val="303030"/>
                </a:solidFill>
                <a:effectLst/>
                <a:latin typeface="Roboto Condensed" panose="02000000000000000000" pitchFamily="2" charset="0"/>
              </a:rPr>
              <a:t/>
            </a:r>
            <a:br>
              <a:rPr lang="en-IN" b="1" i="0" dirty="0">
                <a:solidFill>
                  <a:srgbClr val="303030"/>
                </a:solidFill>
                <a:effectLst/>
                <a:latin typeface="Roboto Condensed" panose="02000000000000000000" pitchFamily="2" charset="0"/>
              </a:rPr>
            </a:br>
            <a:endParaRPr lang="en-IN" dirty="0"/>
          </a:p>
        </p:txBody>
      </p:sp>
      <p:sp>
        <p:nvSpPr>
          <p:cNvPr id="3" name="Subtitle 2">
            <a:extLst>
              <a:ext uri="{FF2B5EF4-FFF2-40B4-BE49-F238E27FC236}">
                <a16:creationId xmlns:a16="http://schemas.microsoft.com/office/drawing/2014/main" xmlns="" id="{63EA24F0-EFA5-25B8-C438-A5595E3E0DF0}"/>
              </a:ext>
            </a:extLst>
          </p:cNvPr>
          <p:cNvSpPr>
            <a:spLocks noGrp="1"/>
          </p:cNvSpPr>
          <p:nvPr>
            <p:ph type="subTitle" idx="1"/>
          </p:nvPr>
        </p:nvSpPr>
        <p:spPr>
          <a:xfrm>
            <a:off x="623392" y="1124745"/>
            <a:ext cx="11017224" cy="5231606"/>
          </a:xfrm>
        </p:spPr>
        <p:txBody>
          <a:bodyPr>
            <a:normAutofit/>
          </a:bodyPr>
          <a:lstStyle/>
          <a:p>
            <a:pPr algn="l" fontAlgn="base">
              <a:buFont typeface="Arial" panose="020B0604020202020204" pitchFamily="34" charset="0"/>
              <a:buChar char="•"/>
            </a:pPr>
            <a:r>
              <a:rPr lang="en-US" sz="3300" dirty="0">
                <a:solidFill>
                  <a:srgbClr val="303030"/>
                </a:solidFill>
                <a:latin typeface="Calibri" panose="020F0502020204030204" pitchFamily="34" charset="0"/>
                <a:cs typeface="Calibri" panose="020F0502020204030204" pitchFamily="34" charset="0"/>
              </a:rPr>
              <a:t>The output of NOT gate is high (‘1’) if its input is low (‘0’).</a:t>
            </a:r>
          </a:p>
          <a:p>
            <a:pPr algn="l" fontAlgn="base">
              <a:buFont typeface="Arial" panose="020B0604020202020204" pitchFamily="34" charset="0"/>
              <a:buChar char="•"/>
            </a:pPr>
            <a:r>
              <a:rPr lang="en-US" sz="3300" dirty="0">
                <a:solidFill>
                  <a:srgbClr val="303030"/>
                </a:solidFill>
                <a:latin typeface="Calibri" panose="020F0502020204030204" pitchFamily="34" charset="0"/>
                <a:cs typeface="Calibri" panose="020F0502020204030204" pitchFamily="34" charset="0"/>
              </a:rPr>
              <a:t>The output of NOT gate is low (‘0’) if its input is high (‘1’).</a:t>
            </a:r>
          </a:p>
          <a:p>
            <a:pPr algn="l" fontAlgn="base"/>
            <a:r>
              <a:rPr lang="en-US" sz="3300" dirty="0">
                <a:solidFill>
                  <a:srgbClr val="303030"/>
                </a:solidFill>
                <a:latin typeface="Calibri" panose="020F0502020204030204" pitchFamily="34" charset="0"/>
                <a:cs typeface="Calibri" panose="020F0502020204030204" pitchFamily="34" charset="0"/>
              </a:rPr>
              <a:t> From here-</a:t>
            </a:r>
          </a:p>
          <a:p>
            <a:pPr algn="l" fontAlgn="base">
              <a:buFont typeface="Arial" panose="020B0604020202020204" pitchFamily="34" charset="0"/>
              <a:buChar char="•"/>
            </a:pPr>
            <a:r>
              <a:rPr lang="en-US" sz="3300" dirty="0">
                <a:solidFill>
                  <a:srgbClr val="303030"/>
                </a:solidFill>
                <a:latin typeface="Calibri" panose="020F0502020204030204" pitchFamily="34" charset="0"/>
                <a:cs typeface="Calibri" panose="020F0502020204030204" pitchFamily="34" charset="0"/>
              </a:rPr>
              <a:t>It is clear that NOT gate simply inverts the given input.</a:t>
            </a:r>
          </a:p>
          <a:p>
            <a:pPr algn="l" fontAlgn="base">
              <a:buFont typeface="Arial" panose="020B0604020202020204" pitchFamily="34" charset="0"/>
              <a:buChar char="•"/>
            </a:pPr>
            <a:r>
              <a:rPr lang="en-US" sz="3300" dirty="0">
                <a:solidFill>
                  <a:srgbClr val="303030"/>
                </a:solidFill>
                <a:latin typeface="Calibri" panose="020F0502020204030204" pitchFamily="34" charset="0"/>
                <a:cs typeface="Calibri" panose="020F0502020204030204" pitchFamily="34" charset="0"/>
              </a:rPr>
              <a:t>Since NOT gate simply inverts the given input, therefore it is also known as </a:t>
            </a:r>
            <a:r>
              <a:rPr lang="en-US" sz="3300" b="1" dirty="0">
                <a:solidFill>
                  <a:srgbClr val="303030"/>
                </a:solidFill>
                <a:latin typeface="Calibri" panose="020F0502020204030204" pitchFamily="34" charset="0"/>
                <a:cs typeface="Calibri" panose="020F0502020204030204" pitchFamily="34" charset="0"/>
              </a:rPr>
              <a:t>Inverter Gate</a:t>
            </a:r>
            <a:r>
              <a:rPr lang="en-US" sz="3300" dirty="0">
                <a:solidFill>
                  <a:srgbClr val="303030"/>
                </a:solidFill>
                <a:latin typeface="Calibri" panose="020F0502020204030204" pitchFamily="34" charset="0"/>
                <a:cs typeface="Calibri" panose="020F0502020204030204" pitchFamily="34" charset="0"/>
              </a:rPr>
              <a:t>.</a:t>
            </a:r>
          </a:p>
          <a:p>
            <a:endParaRPr lang="en-IN" dirty="0"/>
          </a:p>
        </p:txBody>
      </p:sp>
      <p:sp>
        <p:nvSpPr>
          <p:cNvPr id="4" name="Slide Number Placeholder 3">
            <a:extLst>
              <a:ext uri="{FF2B5EF4-FFF2-40B4-BE49-F238E27FC236}">
                <a16:creationId xmlns:a16="http://schemas.microsoft.com/office/drawing/2014/main" xmlns="" id="{26BDBCC4-F01C-DFF0-0EB5-70F3899DD853}"/>
              </a:ext>
            </a:extLst>
          </p:cNvPr>
          <p:cNvSpPr>
            <a:spLocks noGrp="1"/>
          </p:cNvSpPr>
          <p:nvPr>
            <p:ph type="sldNum" idx="12"/>
          </p:nvPr>
        </p:nvSpPr>
        <p:spPr/>
        <p:txBody>
          <a:bodyPr/>
          <a:lstStyle/>
          <a:p>
            <a:fld id="{00000000-1234-1234-1234-123412341234}" type="slidenum">
              <a:rPr lang="en-US" smtClean="0"/>
              <a:pPr/>
              <a:t>94</a:t>
            </a:fld>
            <a:endParaRPr lang="en-US"/>
          </a:p>
        </p:txBody>
      </p:sp>
      <p:pic>
        <p:nvPicPr>
          <p:cNvPr id="6" name="Picture 5">
            <a:extLst>
              <a:ext uri="{FF2B5EF4-FFF2-40B4-BE49-F238E27FC236}">
                <a16:creationId xmlns:a16="http://schemas.microsoft.com/office/drawing/2014/main" xmlns="" id="{426E805D-71E3-B8E3-4F80-2447C027F8F3}"/>
              </a:ext>
            </a:extLst>
          </p:cNvPr>
          <p:cNvPicPr>
            <a:picLocks noChangeAspect="1"/>
          </p:cNvPicPr>
          <p:nvPr/>
        </p:nvPicPr>
        <p:blipFill>
          <a:blip r:embed="rId2" cstate="print"/>
          <a:stretch>
            <a:fillRect/>
          </a:stretch>
        </p:blipFill>
        <p:spPr>
          <a:xfrm>
            <a:off x="414677" y="4509120"/>
            <a:ext cx="3590246" cy="1535339"/>
          </a:xfrm>
          <a:prstGeom prst="rect">
            <a:avLst/>
          </a:prstGeom>
        </p:spPr>
      </p:pic>
      <p:pic>
        <p:nvPicPr>
          <p:cNvPr id="5" name="Picture 4">
            <a:extLst>
              <a:ext uri="{FF2B5EF4-FFF2-40B4-BE49-F238E27FC236}">
                <a16:creationId xmlns:a16="http://schemas.microsoft.com/office/drawing/2014/main" xmlns="" id="{0A801C2C-2F42-1A39-6B2A-F2B7994961CC}"/>
              </a:ext>
            </a:extLst>
          </p:cNvPr>
          <p:cNvPicPr>
            <a:picLocks noChangeAspect="1"/>
          </p:cNvPicPr>
          <p:nvPr/>
        </p:nvPicPr>
        <p:blipFill>
          <a:blip r:embed="rId3" cstate="print"/>
          <a:stretch>
            <a:fillRect/>
          </a:stretch>
        </p:blipFill>
        <p:spPr>
          <a:xfrm>
            <a:off x="6838950" y="4190540"/>
            <a:ext cx="4514850" cy="1800686"/>
          </a:xfrm>
          <a:prstGeom prst="rect">
            <a:avLst/>
          </a:prstGeom>
        </p:spPr>
      </p:pic>
    </p:spTree>
    <p:extLst>
      <p:ext uri="{BB962C8B-B14F-4D97-AF65-F5344CB8AC3E}">
        <p14:creationId xmlns:p14="http://schemas.microsoft.com/office/powerpoint/2010/main" val="65940067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38F0DC-6859-33B3-350A-67EEA84CE1E2}"/>
              </a:ext>
            </a:extLst>
          </p:cNvPr>
          <p:cNvSpPr>
            <a:spLocks noGrp="1"/>
          </p:cNvSpPr>
          <p:nvPr>
            <p:ph type="ctrTitle"/>
          </p:nvPr>
        </p:nvSpPr>
        <p:spPr>
          <a:xfrm>
            <a:off x="1996976" y="836712"/>
            <a:ext cx="7772400" cy="724742"/>
          </a:xfrm>
        </p:spPr>
        <p:txBody>
          <a:bodyPr>
            <a:normAutofit fontScale="90000"/>
          </a:bodyPr>
          <a:lstStyle/>
          <a:p>
            <a:r>
              <a:rPr lang="en-IN" b="1" i="0" u="sng" dirty="0">
                <a:solidFill>
                  <a:srgbClr val="303030"/>
                </a:solidFill>
                <a:effectLst/>
                <a:latin typeface="Roboto Condensed" panose="02000000000000000000" pitchFamily="2" charset="0"/>
              </a:rPr>
              <a:t/>
            </a:r>
            <a:br>
              <a:rPr lang="en-IN" b="1" i="0" u="sng" dirty="0">
                <a:solidFill>
                  <a:srgbClr val="303030"/>
                </a:solidFill>
                <a:effectLst/>
                <a:latin typeface="Roboto Condensed" panose="02000000000000000000" pitchFamily="2" charset="0"/>
              </a:rPr>
            </a:br>
            <a:r>
              <a:rPr lang="en-IN" b="1" i="0" u="sng" dirty="0">
                <a:solidFill>
                  <a:srgbClr val="303030"/>
                </a:solidFill>
                <a:effectLst/>
                <a:latin typeface="Roboto Condensed" panose="02000000000000000000" pitchFamily="2" charset="0"/>
              </a:rPr>
              <a:t/>
            </a:r>
            <a:br>
              <a:rPr lang="en-IN" b="1" i="0" u="sng" dirty="0">
                <a:solidFill>
                  <a:srgbClr val="303030"/>
                </a:solidFill>
                <a:effectLst/>
                <a:latin typeface="Roboto Condensed" panose="02000000000000000000" pitchFamily="2" charset="0"/>
              </a:rPr>
            </a:br>
            <a:r>
              <a:rPr lang="en-IN" i="0" dirty="0">
                <a:solidFill>
                  <a:srgbClr val="303030"/>
                </a:solidFill>
                <a:effectLst/>
                <a:latin typeface="Roboto Condensed" panose="02000000000000000000" pitchFamily="2" charset="0"/>
              </a:rPr>
              <a:t/>
            </a:r>
            <a:br>
              <a:rPr lang="en-IN" i="0" dirty="0">
                <a:solidFill>
                  <a:srgbClr val="303030"/>
                </a:solidFill>
                <a:effectLst/>
                <a:latin typeface="Roboto Condensed" panose="02000000000000000000" pitchFamily="2" charset="0"/>
              </a:rPr>
            </a:br>
            <a:r>
              <a:rPr lang="en-IN" i="0" dirty="0">
                <a:solidFill>
                  <a:srgbClr val="303030"/>
                </a:solidFill>
                <a:effectLst/>
                <a:latin typeface="Roboto Condensed" panose="02000000000000000000" pitchFamily="2" charset="0"/>
              </a:rPr>
              <a:t/>
            </a:r>
            <a:br>
              <a:rPr lang="en-IN" i="0" dirty="0">
                <a:solidFill>
                  <a:srgbClr val="303030"/>
                </a:solidFill>
                <a:effectLst/>
                <a:latin typeface="Roboto Condensed" panose="02000000000000000000" pitchFamily="2" charset="0"/>
              </a:rPr>
            </a:br>
            <a:r>
              <a:rPr lang="en-IN" sz="4400" i="0" dirty="0">
                <a:solidFill>
                  <a:srgbClr val="303030"/>
                </a:solidFill>
                <a:effectLst/>
                <a:latin typeface="+mn-lt"/>
              </a:rPr>
              <a:t>Universal Logic Gates</a:t>
            </a:r>
            <a:endParaRPr lang="en-IN" sz="4400" dirty="0">
              <a:latin typeface="+mn-lt"/>
            </a:endParaRPr>
          </a:p>
        </p:txBody>
      </p:sp>
      <p:sp>
        <p:nvSpPr>
          <p:cNvPr id="3" name="Subtitle 2">
            <a:extLst>
              <a:ext uri="{FF2B5EF4-FFF2-40B4-BE49-F238E27FC236}">
                <a16:creationId xmlns:a16="http://schemas.microsoft.com/office/drawing/2014/main" xmlns="" id="{63EA24F0-EFA5-25B8-C438-A5595E3E0DF0}"/>
              </a:ext>
            </a:extLst>
          </p:cNvPr>
          <p:cNvSpPr>
            <a:spLocks noGrp="1"/>
          </p:cNvSpPr>
          <p:nvPr>
            <p:ph type="subTitle" idx="1"/>
          </p:nvPr>
        </p:nvSpPr>
        <p:spPr>
          <a:xfrm>
            <a:off x="911424" y="1561454"/>
            <a:ext cx="10442376" cy="4620265"/>
          </a:xfrm>
        </p:spPr>
        <p:txBody>
          <a:bodyPr>
            <a:normAutofit/>
          </a:bodyPr>
          <a:lstStyle/>
          <a:p>
            <a:pPr marL="25400" algn="l" fontAlgn="base"/>
            <a:endParaRPr lang="en-US" b="0" i="0" dirty="0">
              <a:solidFill>
                <a:srgbClr val="303030"/>
              </a:solidFill>
              <a:effectLst/>
              <a:latin typeface="Arimo"/>
            </a:endParaRPr>
          </a:p>
          <a:p>
            <a:pPr algn="l" fontAlgn="base"/>
            <a:r>
              <a:rPr lang="en-US" dirty="0">
                <a:solidFill>
                  <a:srgbClr val="303030"/>
                </a:solidFill>
                <a:latin typeface="Arimo"/>
              </a:rPr>
              <a:t>Universal logic gates are the logic gates that are capable of implementing any Boolean function without requiring any other type of gate.</a:t>
            </a:r>
          </a:p>
          <a:p>
            <a:pPr algn="l" fontAlgn="base"/>
            <a:r>
              <a:rPr lang="en-US" b="0" i="0" dirty="0">
                <a:solidFill>
                  <a:srgbClr val="303030"/>
                </a:solidFill>
                <a:effectLst/>
                <a:latin typeface="Arimo"/>
              </a:rPr>
              <a:t>They are called as “</a:t>
            </a:r>
            <a:r>
              <a:rPr lang="en-US" b="1" i="0" dirty="0">
                <a:solidFill>
                  <a:srgbClr val="303030"/>
                </a:solidFill>
                <a:effectLst/>
                <a:latin typeface="Arimo"/>
              </a:rPr>
              <a:t>Universal Gates</a:t>
            </a:r>
            <a:r>
              <a:rPr lang="en-US" b="0" i="0" dirty="0">
                <a:solidFill>
                  <a:srgbClr val="303030"/>
                </a:solidFill>
                <a:effectLst/>
                <a:latin typeface="Arimo"/>
              </a:rPr>
              <a:t>” because-</a:t>
            </a:r>
          </a:p>
          <a:p>
            <a:pPr algn="l" fontAlgn="base">
              <a:buFont typeface="Arial" panose="020B0604020202020204" pitchFamily="34" charset="0"/>
              <a:buChar char="•"/>
            </a:pPr>
            <a:r>
              <a:rPr lang="en-US" b="0" i="0" dirty="0">
                <a:solidFill>
                  <a:srgbClr val="303030"/>
                </a:solidFill>
                <a:effectLst/>
                <a:latin typeface="Arimo"/>
              </a:rPr>
              <a:t>They can realize all the binary operations.</a:t>
            </a:r>
          </a:p>
          <a:p>
            <a:pPr algn="l" fontAlgn="base">
              <a:buFont typeface="Arial" panose="020B0604020202020204" pitchFamily="34" charset="0"/>
              <a:buChar char="•"/>
            </a:pPr>
            <a:r>
              <a:rPr lang="en-US" b="0" i="0" dirty="0">
                <a:solidFill>
                  <a:srgbClr val="303030"/>
                </a:solidFill>
                <a:effectLst/>
                <a:latin typeface="Arimo"/>
              </a:rPr>
              <a:t>All the basic logic gates can be derived from them.</a:t>
            </a:r>
          </a:p>
          <a:p>
            <a:pPr algn="l" fontAlgn="base"/>
            <a:r>
              <a:rPr lang="en-US" b="0" i="0" dirty="0">
                <a:solidFill>
                  <a:srgbClr val="303030"/>
                </a:solidFill>
                <a:effectLst/>
                <a:latin typeface="Arimo"/>
              </a:rPr>
              <a:t> </a:t>
            </a:r>
          </a:p>
          <a:p>
            <a:pPr algn="l" fontAlgn="base"/>
            <a:r>
              <a:rPr lang="en-US" b="0" i="0" dirty="0">
                <a:solidFill>
                  <a:srgbClr val="303030"/>
                </a:solidFill>
                <a:effectLst/>
                <a:latin typeface="Arimo"/>
              </a:rPr>
              <a:t>They have the following properties-</a:t>
            </a:r>
          </a:p>
          <a:p>
            <a:pPr algn="l" fontAlgn="base">
              <a:buFont typeface="Arial" panose="020B0604020202020204" pitchFamily="34" charset="0"/>
              <a:buChar char="•"/>
            </a:pPr>
            <a:r>
              <a:rPr lang="en-US" b="0" i="0" dirty="0">
                <a:solidFill>
                  <a:srgbClr val="303030"/>
                </a:solidFill>
                <a:effectLst/>
                <a:latin typeface="Arimo"/>
              </a:rPr>
              <a:t>Universal gates are not associative in nature.</a:t>
            </a:r>
          </a:p>
          <a:p>
            <a:pPr algn="l" fontAlgn="base">
              <a:buFont typeface="Arial" panose="020B0604020202020204" pitchFamily="34" charset="0"/>
              <a:buChar char="•"/>
            </a:pPr>
            <a:r>
              <a:rPr lang="en-US" b="0" i="0" dirty="0">
                <a:solidFill>
                  <a:srgbClr val="303030"/>
                </a:solidFill>
                <a:effectLst/>
                <a:latin typeface="Arimo"/>
              </a:rPr>
              <a:t>Universal gates are commutative in nature.</a:t>
            </a:r>
          </a:p>
          <a:p>
            <a:pPr algn="l"/>
            <a:endParaRPr lang="en-IN" dirty="0"/>
          </a:p>
        </p:txBody>
      </p:sp>
      <p:sp>
        <p:nvSpPr>
          <p:cNvPr id="4" name="Slide Number Placeholder 3">
            <a:extLst>
              <a:ext uri="{FF2B5EF4-FFF2-40B4-BE49-F238E27FC236}">
                <a16:creationId xmlns:a16="http://schemas.microsoft.com/office/drawing/2014/main" xmlns="" id="{26BDBCC4-F01C-DFF0-0EB5-70F3899DD853}"/>
              </a:ext>
            </a:extLst>
          </p:cNvPr>
          <p:cNvSpPr>
            <a:spLocks noGrp="1"/>
          </p:cNvSpPr>
          <p:nvPr>
            <p:ph type="sldNum" idx="12"/>
          </p:nvPr>
        </p:nvSpPr>
        <p:spPr/>
        <p:txBody>
          <a:bodyPr/>
          <a:lstStyle/>
          <a:p>
            <a:fld id="{00000000-1234-1234-1234-123412341234}" type="slidenum">
              <a:rPr lang="en-US" smtClean="0"/>
              <a:pPr/>
              <a:t>95</a:t>
            </a:fld>
            <a:endParaRPr lang="en-US"/>
          </a:p>
        </p:txBody>
      </p:sp>
    </p:spTree>
    <p:extLst>
      <p:ext uri="{BB962C8B-B14F-4D97-AF65-F5344CB8AC3E}">
        <p14:creationId xmlns:p14="http://schemas.microsoft.com/office/powerpoint/2010/main" val="128185185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38F0DC-6859-33B3-350A-67EEA84CE1E2}"/>
              </a:ext>
            </a:extLst>
          </p:cNvPr>
          <p:cNvSpPr>
            <a:spLocks noGrp="1"/>
          </p:cNvSpPr>
          <p:nvPr>
            <p:ph type="ctrTitle"/>
          </p:nvPr>
        </p:nvSpPr>
        <p:spPr>
          <a:xfrm>
            <a:off x="2209800" y="1374646"/>
            <a:ext cx="7772400" cy="724742"/>
          </a:xfrm>
        </p:spPr>
        <p:txBody>
          <a:bodyPr>
            <a:normAutofit fontScale="90000"/>
          </a:bodyPr>
          <a:lstStyle/>
          <a:p>
            <a:r>
              <a:rPr lang="en-IN" b="1" i="0" u="sng" dirty="0">
                <a:solidFill>
                  <a:srgbClr val="303030"/>
                </a:solidFill>
                <a:effectLst/>
                <a:latin typeface="Roboto Condensed" panose="02000000000000000000" pitchFamily="2" charset="0"/>
              </a:rPr>
              <a:t/>
            </a:r>
            <a:br>
              <a:rPr lang="en-IN" b="1" i="0" u="sng" dirty="0">
                <a:solidFill>
                  <a:srgbClr val="303030"/>
                </a:solidFill>
                <a:effectLst/>
                <a:latin typeface="Roboto Condensed" panose="02000000000000000000" pitchFamily="2" charset="0"/>
              </a:rPr>
            </a:br>
            <a:r>
              <a:rPr lang="en-IN" b="1" i="0" dirty="0">
                <a:solidFill>
                  <a:srgbClr val="303030"/>
                </a:solidFill>
                <a:effectLst/>
                <a:latin typeface="Roboto Condensed" panose="02000000000000000000" pitchFamily="2" charset="0"/>
              </a:rPr>
              <a:t/>
            </a:r>
            <a:br>
              <a:rPr lang="en-IN" b="1" i="0" dirty="0">
                <a:solidFill>
                  <a:srgbClr val="303030"/>
                </a:solidFill>
                <a:effectLst/>
                <a:latin typeface="Roboto Condensed" panose="02000000000000000000" pitchFamily="2" charset="0"/>
              </a:rPr>
            </a:br>
            <a:endParaRPr lang="en-IN" dirty="0"/>
          </a:p>
        </p:txBody>
      </p:sp>
      <p:sp>
        <p:nvSpPr>
          <p:cNvPr id="3" name="Subtitle 2">
            <a:extLst>
              <a:ext uri="{FF2B5EF4-FFF2-40B4-BE49-F238E27FC236}">
                <a16:creationId xmlns:a16="http://schemas.microsoft.com/office/drawing/2014/main" xmlns="" id="{63EA24F0-EFA5-25B8-C438-A5595E3E0DF0}"/>
              </a:ext>
            </a:extLst>
          </p:cNvPr>
          <p:cNvSpPr>
            <a:spLocks noGrp="1"/>
          </p:cNvSpPr>
          <p:nvPr>
            <p:ph type="subTitle" idx="1"/>
          </p:nvPr>
        </p:nvSpPr>
        <p:spPr>
          <a:xfrm>
            <a:off x="623392" y="1651519"/>
            <a:ext cx="10657184" cy="3831835"/>
          </a:xfrm>
        </p:spPr>
        <p:txBody>
          <a:bodyPr>
            <a:normAutofit/>
          </a:bodyPr>
          <a:lstStyle/>
          <a:p>
            <a:pPr algn="l" fontAlgn="base">
              <a:buFont typeface="Arial" panose="020B0604020202020204" pitchFamily="34" charset="0"/>
              <a:buChar char="•"/>
            </a:pPr>
            <a:r>
              <a:rPr lang="en-US" b="0" i="0" dirty="0">
                <a:solidFill>
                  <a:srgbClr val="303030"/>
                </a:solidFill>
                <a:effectLst/>
                <a:latin typeface="Arimo"/>
              </a:rPr>
              <a:t>A NAND Gate is constructed by connecting a NOT Gate at the output terminal of the AND Gate.</a:t>
            </a:r>
          </a:p>
          <a:p>
            <a:pPr algn="l" fontAlgn="base">
              <a:buFont typeface="Arial" panose="020B0604020202020204" pitchFamily="34" charset="0"/>
              <a:buChar char="•"/>
            </a:pPr>
            <a:r>
              <a:rPr lang="en-US" b="0" i="0" dirty="0">
                <a:solidFill>
                  <a:srgbClr val="303030"/>
                </a:solidFill>
                <a:effectLst/>
                <a:latin typeface="Arimo"/>
              </a:rPr>
              <a:t>The output of NAND gate is high (‘1’) if at least one of its inputs is low (‘0’).</a:t>
            </a:r>
          </a:p>
          <a:p>
            <a:pPr algn="l" fontAlgn="base">
              <a:buFont typeface="Arial" panose="020B0604020202020204" pitchFamily="34" charset="0"/>
              <a:buChar char="•"/>
            </a:pPr>
            <a:r>
              <a:rPr lang="en-US" b="0" i="0" dirty="0">
                <a:solidFill>
                  <a:srgbClr val="303030"/>
                </a:solidFill>
                <a:effectLst/>
                <a:latin typeface="Arimo"/>
              </a:rPr>
              <a:t>The output of NAND gate is low (‘0’) if all of its inputs are high (‘1’).</a:t>
            </a:r>
          </a:p>
          <a:p>
            <a:pPr marL="25400" algn="l" fontAlgn="base"/>
            <a:endParaRPr lang="en-US" b="0" i="0" dirty="0">
              <a:solidFill>
                <a:srgbClr val="303030"/>
              </a:solidFill>
              <a:effectLst/>
              <a:latin typeface="Arimo"/>
            </a:endParaRPr>
          </a:p>
          <a:p>
            <a:endParaRPr lang="en-IN" dirty="0"/>
          </a:p>
        </p:txBody>
      </p:sp>
      <p:sp>
        <p:nvSpPr>
          <p:cNvPr id="4" name="Slide Number Placeholder 3">
            <a:extLst>
              <a:ext uri="{FF2B5EF4-FFF2-40B4-BE49-F238E27FC236}">
                <a16:creationId xmlns:a16="http://schemas.microsoft.com/office/drawing/2014/main" xmlns="" id="{26BDBCC4-F01C-DFF0-0EB5-70F3899DD853}"/>
              </a:ext>
            </a:extLst>
          </p:cNvPr>
          <p:cNvSpPr>
            <a:spLocks noGrp="1"/>
          </p:cNvSpPr>
          <p:nvPr>
            <p:ph type="sldNum" idx="12"/>
          </p:nvPr>
        </p:nvSpPr>
        <p:spPr/>
        <p:txBody>
          <a:bodyPr/>
          <a:lstStyle/>
          <a:p>
            <a:fld id="{00000000-1234-1234-1234-123412341234}" type="slidenum">
              <a:rPr lang="en-US" smtClean="0"/>
              <a:pPr/>
              <a:t>96</a:t>
            </a:fld>
            <a:endParaRPr lang="en-US"/>
          </a:p>
        </p:txBody>
      </p:sp>
      <p:sp>
        <p:nvSpPr>
          <p:cNvPr id="5" name="TextBox 4">
            <a:extLst>
              <a:ext uri="{FF2B5EF4-FFF2-40B4-BE49-F238E27FC236}">
                <a16:creationId xmlns:a16="http://schemas.microsoft.com/office/drawing/2014/main" xmlns="" id="{2BC41D3E-478C-7989-0E07-53985B4F6025}"/>
              </a:ext>
            </a:extLst>
          </p:cNvPr>
          <p:cNvSpPr txBox="1"/>
          <p:nvPr/>
        </p:nvSpPr>
        <p:spPr>
          <a:xfrm>
            <a:off x="695400" y="476672"/>
            <a:ext cx="10153128" cy="769441"/>
          </a:xfrm>
          <a:prstGeom prst="rect">
            <a:avLst/>
          </a:prstGeom>
          <a:noFill/>
        </p:spPr>
        <p:txBody>
          <a:bodyPr wrap="square" rtlCol="0">
            <a:spAutoFit/>
          </a:bodyPr>
          <a:lstStyle/>
          <a:p>
            <a:pPr algn="ctr"/>
            <a:r>
              <a:rPr lang="en-IN" sz="4400" dirty="0"/>
              <a:t>NAND GATE</a:t>
            </a:r>
          </a:p>
        </p:txBody>
      </p:sp>
      <p:pic>
        <p:nvPicPr>
          <p:cNvPr id="6" name="Picture 5">
            <a:extLst>
              <a:ext uri="{FF2B5EF4-FFF2-40B4-BE49-F238E27FC236}">
                <a16:creationId xmlns:a16="http://schemas.microsoft.com/office/drawing/2014/main" xmlns="" id="{5D0A5AED-09A9-4971-585D-FF9BEB2FF98B}"/>
              </a:ext>
            </a:extLst>
          </p:cNvPr>
          <p:cNvPicPr>
            <a:picLocks noChangeAspect="1"/>
          </p:cNvPicPr>
          <p:nvPr/>
        </p:nvPicPr>
        <p:blipFill>
          <a:blip r:embed="rId2" cstate="print"/>
          <a:stretch>
            <a:fillRect/>
          </a:stretch>
        </p:blipFill>
        <p:spPr>
          <a:xfrm>
            <a:off x="1199457" y="3830128"/>
            <a:ext cx="6768752" cy="2522320"/>
          </a:xfrm>
          <a:prstGeom prst="rect">
            <a:avLst/>
          </a:prstGeom>
        </p:spPr>
      </p:pic>
      <p:pic>
        <p:nvPicPr>
          <p:cNvPr id="7" name="Picture 6">
            <a:extLst>
              <a:ext uri="{FF2B5EF4-FFF2-40B4-BE49-F238E27FC236}">
                <a16:creationId xmlns:a16="http://schemas.microsoft.com/office/drawing/2014/main" xmlns="" id="{1C99FD35-8F70-DC1C-FE2F-5D727963E63B}"/>
              </a:ext>
            </a:extLst>
          </p:cNvPr>
          <p:cNvPicPr>
            <a:picLocks noChangeAspect="1"/>
          </p:cNvPicPr>
          <p:nvPr/>
        </p:nvPicPr>
        <p:blipFill>
          <a:blip r:embed="rId3" cstate="print"/>
          <a:stretch>
            <a:fillRect/>
          </a:stretch>
        </p:blipFill>
        <p:spPr>
          <a:xfrm>
            <a:off x="8313266" y="3830128"/>
            <a:ext cx="3543376" cy="2100746"/>
          </a:xfrm>
          <a:prstGeom prst="rect">
            <a:avLst/>
          </a:prstGeom>
        </p:spPr>
      </p:pic>
    </p:spTree>
    <p:extLst>
      <p:ext uri="{BB962C8B-B14F-4D97-AF65-F5344CB8AC3E}">
        <p14:creationId xmlns:p14="http://schemas.microsoft.com/office/powerpoint/2010/main" val="86063416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38F0DC-6859-33B3-350A-67EEA84CE1E2}"/>
              </a:ext>
            </a:extLst>
          </p:cNvPr>
          <p:cNvSpPr>
            <a:spLocks noGrp="1"/>
          </p:cNvSpPr>
          <p:nvPr>
            <p:ph type="ctrTitle"/>
          </p:nvPr>
        </p:nvSpPr>
        <p:spPr>
          <a:xfrm>
            <a:off x="1703512" y="404664"/>
            <a:ext cx="7772400" cy="724742"/>
          </a:xfrm>
        </p:spPr>
        <p:txBody>
          <a:bodyPr>
            <a:normAutofit fontScale="90000"/>
          </a:bodyPr>
          <a:lstStyle/>
          <a:p>
            <a:r>
              <a:rPr lang="en-IN" b="1" i="0" u="sng" dirty="0">
                <a:solidFill>
                  <a:srgbClr val="303030"/>
                </a:solidFill>
                <a:effectLst/>
                <a:latin typeface="Roboto Condensed" panose="02000000000000000000" pitchFamily="2" charset="0"/>
              </a:rPr>
              <a:t/>
            </a:r>
            <a:br>
              <a:rPr lang="en-IN" b="1" i="0" u="sng" dirty="0">
                <a:solidFill>
                  <a:srgbClr val="303030"/>
                </a:solidFill>
                <a:effectLst/>
                <a:latin typeface="Roboto Condensed" panose="02000000000000000000" pitchFamily="2" charset="0"/>
              </a:rPr>
            </a:br>
            <a:r>
              <a:rPr lang="en-IN" b="1" i="0" dirty="0">
                <a:solidFill>
                  <a:srgbClr val="303030"/>
                </a:solidFill>
                <a:effectLst/>
                <a:latin typeface="Roboto Condensed" panose="02000000000000000000" pitchFamily="2" charset="0"/>
              </a:rPr>
              <a:t/>
            </a:r>
            <a:br>
              <a:rPr lang="en-IN" b="1" i="0" dirty="0">
                <a:solidFill>
                  <a:srgbClr val="303030"/>
                </a:solidFill>
                <a:effectLst/>
                <a:latin typeface="Roboto Condensed" panose="02000000000000000000" pitchFamily="2" charset="0"/>
              </a:rPr>
            </a:br>
            <a:r>
              <a:rPr lang="en-US" sz="4400" b="0" i="0" dirty="0">
                <a:solidFill>
                  <a:srgbClr val="303030"/>
                </a:solidFill>
                <a:effectLst/>
                <a:latin typeface="+mn-lt"/>
              </a:rPr>
              <a:t>NOR Gate</a:t>
            </a:r>
            <a:endParaRPr lang="en-IN" sz="4400" dirty="0">
              <a:latin typeface="+mn-lt"/>
            </a:endParaRPr>
          </a:p>
        </p:txBody>
      </p:sp>
      <p:sp>
        <p:nvSpPr>
          <p:cNvPr id="3" name="Subtitle 2">
            <a:extLst>
              <a:ext uri="{FF2B5EF4-FFF2-40B4-BE49-F238E27FC236}">
                <a16:creationId xmlns:a16="http://schemas.microsoft.com/office/drawing/2014/main" xmlns="" id="{63EA24F0-EFA5-25B8-C438-A5595E3E0DF0}"/>
              </a:ext>
            </a:extLst>
          </p:cNvPr>
          <p:cNvSpPr>
            <a:spLocks noGrp="1"/>
          </p:cNvSpPr>
          <p:nvPr>
            <p:ph type="subTitle" idx="1"/>
          </p:nvPr>
        </p:nvSpPr>
        <p:spPr>
          <a:xfrm>
            <a:off x="1474912" y="1340768"/>
            <a:ext cx="9373616" cy="1872208"/>
          </a:xfrm>
        </p:spPr>
        <p:txBody>
          <a:bodyPr>
            <a:normAutofit/>
          </a:bodyPr>
          <a:lstStyle/>
          <a:p>
            <a:pPr algn="l" fontAlgn="base">
              <a:buFont typeface="Arial" panose="020B0604020202020204" pitchFamily="34" charset="0"/>
              <a:buChar char="•"/>
            </a:pPr>
            <a:r>
              <a:rPr lang="en-US" b="0" i="0" dirty="0">
                <a:solidFill>
                  <a:srgbClr val="303030"/>
                </a:solidFill>
                <a:effectLst/>
                <a:latin typeface="Arimo"/>
              </a:rPr>
              <a:t>A NOR Gate is constructed by connecting a NOT Gate at the output terminal of the OR Gate.</a:t>
            </a:r>
          </a:p>
          <a:p>
            <a:pPr algn="l" fontAlgn="base">
              <a:buFont typeface="Arial" panose="020B0604020202020204" pitchFamily="34" charset="0"/>
              <a:buChar char="•"/>
            </a:pPr>
            <a:r>
              <a:rPr lang="en-US" b="0" i="0" dirty="0">
                <a:solidFill>
                  <a:srgbClr val="303030"/>
                </a:solidFill>
                <a:effectLst/>
                <a:latin typeface="Arimo"/>
              </a:rPr>
              <a:t>The output of OR gate is high (‘1’) if all of its inputs are low (‘0’).</a:t>
            </a:r>
          </a:p>
          <a:p>
            <a:pPr algn="l" fontAlgn="base">
              <a:buFont typeface="Arial" panose="020B0604020202020204" pitchFamily="34" charset="0"/>
              <a:buChar char="•"/>
            </a:pPr>
            <a:r>
              <a:rPr lang="en-US" b="0" i="0" dirty="0">
                <a:solidFill>
                  <a:srgbClr val="303030"/>
                </a:solidFill>
                <a:effectLst/>
                <a:latin typeface="Arimo"/>
              </a:rPr>
              <a:t>The output of OR gate is low (‘0’) if any of its inputs is high (‘1’).</a:t>
            </a:r>
          </a:p>
          <a:p>
            <a:pPr marL="25400" algn="l" fontAlgn="base"/>
            <a:endParaRPr lang="en-US" b="0" i="0" dirty="0">
              <a:solidFill>
                <a:srgbClr val="303030"/>
              </a:solidFill>
              <a:effectLst/>
              <a:latin typeface="Arimo"/>
            </a:endParaRPr>
          </a:p>
          <a:p>
            <a:endParaRPr lang="en-IN" dirty="0"/>
          </a:p>
        </p:txBody>
      </p:sp>
      <p:sp>
        <p:nvSpPr>
          <p:cNvPr id="4" name="Slide Number Placeholder 3">
            <a:extLst>
              <a:ext uri="{FF2B5EF4-FFF2-40B4-BE49-F238E27FC236}">
                <a16:creationId xmlns:a16="http://schemas.microsoft.com/office/drawing/2014/main" xmlns="" id="{26BDBCC4-F01C-DFF0-0EB5-70F3899DD853}"/>
              </a:ext>
            </a:extLst>
          </p:cNvPr>
          <p:cNvSpPr>
            <a:spLocks noGrp="1"/>
          </p:cNvSpPr>
          <p:nvPr>
            <p:ph type="sldNum" idx="12"/>
          </p:nvPr>
        </p:nvSpPr>
        <p:spPr/>
        <p:txBody>
          <a:bodyPr/>
          <a:lstStyle/>
          <a:p>
            <a:fld id="{00000000-1234-1234-1234-123412341234}" type="slidenum">
              <a:rPr lang="en-US" smtClean="0"/>
              <a:pPr/>
              <a:t>97</a:t>
            </a:fld>
            <a:endParaRPr lang="en-US"/>
          </a:p>
        </p:txBody>
      </p:sp>
      <p:pic>
        <p:nvPicPr>
          <p:cNvPr id="6" name="Picture 5">
            <a:extLst>
              <a:ext uri="{FF2B5EF4-FFF2-40B4-BE49-F238E27FC236}">
                <a16:creationId xmlns:a16="http://schemas.microsoft.com/office/drawing/2014/main" xmlns="" id="{0D8B70EF-1DF6-862A-42D7-C4248045874B}"/>
              </a:ext>
            </a:extLst>
          </p:cNvPr>
          <p:cNvPicPr>
            <a:picLocks noChangeAspect="1"/>
          </p:cNvPicPr>
          <p:nvPr/>
        </p:nvPicPr>
        <p:blipFill>
          <a:blip r:embed="rId2" cstate="print"/>
          <a:stretch>
            <a:fillRect/>
          </a:stretch>
        </p:blipFill>
        <p:spPr>
          <a:xfrm>
            <a:off x="1474912" y="3007270"/>
            <a:ext cx="9368716" cy="3724275"/>
          </a:xfrm>
          <a:prstGeom prst="rect">
            <a:avLst/>
          </a:prstGeom>
        </p:spPr>
      </p:pic>
      <p:pic>
        <p:nvPicPr>
          <p:cNvPr id="5" name="Picture 4">
            <a:extLst>
              <a:ext uri="{FF2B5EF4-FFF2-40B4-BE49-F238E27FC236}">
                <a16:creationId xmlns:a16="http://schemas.microsoft.com/office/drawing/2014/main" xmlns="" id="{B03CF7A0-43EF-5101-52D7-19C044C06F3B}"/>
              </a:ext>
            </a:extLst>
          </p:cNvPr>
          <p:cNvPicPr>
            <a:picLocks noChangeAspect="1"/>
          </p:cNvPicPr>
          <p:nvPr/>
        </p:nvPicPr>
        <p:blipFill>
          <a:blip r:embed="rId3" cstate="print"/>
          <a:stretch>
            <a:fillRect/>
          </a:stretch>
        </p:blipFill>
        <p:spPr>
          <a:xfrm>
            <a:off x="7950839" y="3100052"/>
            <a:ext cx="3782075" cy="1872208"/>
          </a:xfrm>
          <a:prstGeom prst="rect">
            <a:avLst/>
          </a:prstGeom>
        </p:spPr>
      </p:pic>
    </p:spTree>
    <p:extLst>
      <p:ext uri="{BB962C8B-B14F-4D97-AF65-F5344CB8AC3E}">
        <p14:creationId xmlns:p14="http://schemas.microsoft.com/office/powerpoint/2010/main" val="168165539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671F4D-214A-E022-99EC-E511F651C8CE}"/>
              </a:ext>
            </a:extLst>
          </p:cNvPr>
          <p:cNvSpPr>
            <a:spLocks noGrp="1"/>
          </p:cNvSpPr>
          <p:nvPr>
            <p:ph type="title"/>
          </p:nvPr>
        </p:nvSpPr>
        <p:spPr/>
        <p:txBody>
          <a:bodyPr/>
          <a:lstStyle/>
          <a:p>
            <a:pPr algn="ctr"/>
            <a:r>
              <a:rPr lang="en-IN" sz="5400" dirty="0">
                <a:solidFill>
                  <a:srgbClr val="303030"/>
                </a:solidFill>
                <a:latin typeface="Roboto Condensed" panose="02000000000000000000" pitchFamily="2" charset="0"/>
              </a:rPr>
              <a:t>EX-OR</a:t>
            </a:r>
          </a:p>
        </p:txBody>
      </p:sp>
      <p:sp>
        <p:nvSpPr>
          <p:cNvPr id="3" name="Content Placeholder 2">
            <a:extLst>
              <a:ext uri="{FF2B5EF4-FFF2-40B4-BE49-F238E27FC236}">
                <a16:creationId xmlns:a16="http://schemas.microsoft.com/office/drawing/2014/main" xmlns="" id="{1793F3DA-5885-B79B-B36F-2C7E913A4B0A}"/>
              </a:ext>
            </a:extLst>
          </p:cNvPr>
          <p:cNvSpPr>
            <a:spLocks noGrp="1"/>
          </p:cNvSpPr>
          <p:nvPr>
            <p:ph idx="1"/>
          </p:nvPr>
        </p:nvSpPr>
        <p:spPr/>
        <p:txBody>
          <a:bodyPr>
            <a:normAutofit/>
          </a:bodyPr>
          <a:lstStyle/>
          <a:p>
            <a:pPr algn="just"/>
            <a:r>
              <a:rPr lang="en-US" sz="2000" b="0" i="0" dirty="0">
                <a:effectLst/>
                <a:highlight>
                  <a:srgbClr val="FFFFFF"/>
                </a:highlight>
                <a:latin typeface="palatino linotype" panose="02040502050505030304" pitchFamily="18" charset="0"/>
              </a:rPr>
              <a:t>An XOR gate (also known as an EOR, or EXOR gate) – pronounced as “Exclusive OR gate” – is a digital logic gate that gives a true (i.e. a HIGH or 1) output when the number of true inputs is odd. </a:t>
            </a:r>
          </a:p>
          <a:p>
            <a:pPr algn="just"/>
            <a:r>
              <a:rPr lang="en-US" sz="2000" b="0" i="0" dirty="0">
                <a:effectLst/>
                <a:highlight>
                  <a:srgbClr val="FFFFFF"/>
                </a:highlight>
                <a:latin typeface="palatino linotype" panose="02040502050505030304" pitchFamily="18" charset="0"/>
              </a:rPr>
              <a:t>An XOR gate implements an exclusive OR, i.e., a true output result occurs if one – and only one – of the gate’s inputs is true. If both inputs are false (i.e. LOW or 0) or both inputs are true, the output is false.</a:t>
            </a:r>
            <a:endParaRPr lang="en-IN" sz="2000" dirty="0"/>
          </a:p>
        </p:txBody>
      </p:sp>
      <p:pic>
        <p:nvPicPr>
          <p:cNvPr id="5" name="Picture 4">
            <a:extLst>
              <a:ext uri="{FF2B5EF4-FFF2-40B4-BE49-F238E27FC236}">
                <a16:creationId xmlns:a16="http://schemas.microsoft.com/office/drawing/2014/main" xmlns="" id="{3CB36A8A-5005-32D3-68F1-FCAA9F45C3BF}"/>
              </a:ext>
            </a:extLst>
          </p:cNvPr>
          <p:cNvPicPr>
            <a:picLocks noChangeAspect="1"/>
          </p:cNvPicPr>
          <p:nvPr/>
        </p:nvPicPr>
        <p:blipFill>
          <a:blip r:embed="rId2"/>
          <a:stretch>
            <a:fillRect/>
          </a:stretch>
        </p:blipFill>
        <p:spPr>
          <a:xfrm>
            <a:off x="5087888" y="3429000"/>
            <a:ext cx="6984776" cy="2657846"/>
          </a:xfrm>
          <a:prstGeom prst="rect">
            <a:avLst/>
          </a:prstGeom>
        </p:spPr>
      </p:pic>
      <p:pic>
        <p:nvPicPr>
          <p:cNvPr id="7" name="Picture 6">
            <a:extLst>
              <a:ext uri="{FF2B5EF4-FFF2-40B4-BE49-F238E27FC236}">
                <a16:creationId xmlns:a16="http://schemas.microsoft.com/office/drawing/2014/main" xmlns="" id="{E91975CE-CC5B-8AB6-1569-3272DF1E8DCD}"/>
              </a:ext>
            </a:extLst>
          </p:cNvPr>
          <p:cNvPicPr>
            <a:picLocks noChangeAspect="1"/>
          </p:cNvPicPr>
          <p:nvPr/>
        </p:nvPicPr>
        <p:blipFill>
          <a:blip r:embed="rId3"/>
          <a:stretch>
            <a:fillRect/>
          </a:stretch>
        </p:blipFill>
        <p:spPr>
          <a:xfrm>
            <a:off x="767408" y="3997683"/>
            <a:ext cx="6801799" cy="2467319"/>
          </a:xfrm>
          <a:prstGeom prst="rect">
            <a:avLst/>
          </a:prstGeom>
        </p:spPr>
      </p:pic>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98</a:t>
            </a:fld>
            <a:endParaRPr lang="en-US"/>
          </a:p>
        </p:txBody>
      </p:sp>
    </p:spTree>
    <p:extLst>
      <p:ext uri="{BB962C8B-B14F-4D97-AF65-F5344CB8AC3E}">
        <p14:creationId xmlns:p14="http://schemas.microsoft.com/office/powerpoint/2010/main" val="50991693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0ED2EC-902C-28B8-90D6-7E66F6CDEDEA}"/>
              </a:ext>
            </a:extLst>
          </p:cNvPr>
          <p:cNvSpPr>
            <a:spLocks noGrp="1"/>
          </p:cNvSpPr>
          <p:nvPr>
            <p:ph type="title"/>
          </p:nvPr>
        </p:nvSpPr>
        <p:spPr/>
        <p:txBody>
          <a:bodyPr/>
          <a:lstStyle/>
          <a:p>
            <a:pPr algn="ctr"/>
            <a:r>
              <a:rPr lang="en-IN" sz="5400" dirty="0">
                <a:solidFill>
                  <a:srgbClr val="303030"/>
                </a:solidFill>
                <a:latin typeface="Roboto Condensed" panose="02000000000000000000" pitchFamily="2" charset="0"/>
              </a:rPr>
              <a:t>EX-NOR</a:t>
            </a:r>
          </a:p>
        </p:txBody>
      </p:sp>
      <p:sp>
        <p:nvSpPr>
          <p:cNvPr id="3" name="Content Placeholder 2">
            <a:extLst>
              <a:ext uri="{FF2B5EF4-FFF2-40B4-BE49-F238E27FC236}">
                <a16:creationId xmlns:a16="http://schemas.microsoft.com/office/drawing/2014/main" xmlns="" id="{D08360B9-402B-ED49-DB80-E73719F93543}"/>
              </a:ext>
            </a:extLst>
          </p:cNvPr>
          <p:cNvSpPr>
            <a:spLocks noGrp="1"/>
          </p:cNvSpPr>
          <p:nvPr>
            <p:ph idx="1"/>
          </p:nvPr>
        </p:nvSpPr>
        <p:spPr/>
        <p:txBody>
          <a:bodyPr/>
          <a:lstStyle/>
          <a:p>
            <a:pPr algn="just"/>
            <a:r>
              <a:rPr lang="en-US" sz="2000" b="0" i="0" dirty="0">
                <a:effectLst/>
                <a:highlight>
                  <a:srgbClr val="FFFFFF"/>
                </a:highlight>
                <a:latin typeface="palatino linotype" panose="02040502050505030304" pitchFamily="18" charset="0"/>
              </a:rPr>
              <a:t>The XNOR gate (also known as an XORN’T, ENOR, EXNOR or NXOR) – and pronounced as Exclusive NOR – is a digital logic gate whose function is the logical complement of the exclusive OR gate (XOR gate). Logically, an XNOR</a:t>
            </a:r>
            <a:r>
              <a:rPr lang="en-US" sz="2000" b="1" i="0" dirty="0">
                <a:effectLst/>
                <a:highlight>
                  <a:srgbClr val="FFFFFF"/>
                </a:highlight>
                <a:latin typeface="palatino linotype" panose="02040502050505030304" pitchFamily="18" charset="0"/>
              </a:rPr>
              <a:t> gate</a:t>
            </a:r>
            <a:r>
              <a:rPr lang="en-US" sz="2000" b="0" i="0" dirty="0">
                <a:effectLst/>
                <a:highlight>
                  <a:srgbClr val="FFFFFF"/>
                </a:highlight>
                <a:latin typeface="palatino linotype" panose="02040502050505030304" pitchFamily="18" charset="0"/>
              </a:rPr>
              <a:t> is a </a:t>
            </a:r>
            <a:r>
              <a:rPr lang="en-US" sz="2000" b="0" i="0" u="none" strike="noStrike" dirty="0">
                <a:solidFill>
                  <a:srgbClr val="BE9E5F"/>
                </a:solidFill>
                <a:effectLst/>
                <a:highlight>
                  <a:srgbClr val="FFFFFF"/>
                </a:highlight>
                <a:latin typeface="palatino linotype" panose="02040502050505030304" pitchFamily="18" charset="0"/>
                <a:hlinkClick r:id="rId2"/>
              </a:rPr>
              <a:t>NOT gate</a:t>
            </a:r>
            <a:r>
              <a:rPr lang="en-US" sz="2000" b="0" i="0" dirty="0">
                <a:effectLst/>
                <a:highlight>
                  <a:srgbClr val="FFFFFF"/>
                </a:highlight>
                <a:latin typeface="palatino linotype" panose="02040502050505030304" pitchFamily="18" charset="0"/>
              </a:rPr>
              <a:t> followed by an XOR gate.</a:t>
            </a:r>
          </a:p>
          <a:p>
            <a:pPr algn="just"/>
            <a:r>
              <a:rPr lang="en-US" sz="2000" b="0" i="0" dirty="0">
                <a:effectLst/>
                <a:highlight>
                  <a:srgbClr val="FFFFFF"/>
                </a:highlight>
                <a:latin typeface="palatino linotype" panose="02040502050505030304" pitchFamily="18" charset="0"/>
              </a:rPr>
              <a:t>The XOR operation of inputs A and B is A ⊕ B; therefore, the XNOR operation of those inputs will be (A + B) ̅. That means the output of the XOR gate is inverted in the XNOR gate.</a:t>
            </a:r>
          </a:p>
          <a:p>
            <a:endParaRPr lang="en-IN" dirty="0"/>
          </a:p>
        </p:txBody>
      </p:sp>
      <p:pic>
        <p:nvPicPr>
          <p:cNvPr id="5" name="Picture 4">
            <a:extLst>
              <a:ext uri="{FF2B5EF4-FFF2-40B4-BE49-F238E27FC236}">
                <a16:creationId xmlns:a16="http://schemas.microsoft.com/office/drawing/2014/main" xmlns="" id="{3A74FD23-06D6-F338-0816-FF150473B9F6}"/>
              </a:ext>
            </a:extLst>
          </p:cNvPr>
          <p:cNvPicPr>
            <a:picLocks noChangeAspect="1"/>
          </p:cNvPicPr>
          <p:nvPr/>
        </p:nvPicPr>
        <p:blipFill>
          <a:blip r:embed="rId3"/>
          <a:stretch>
            <a:fillRect/>
          </a:stretch>
        </p:blipFill>
        <p:spPr>
          <a:xfrm>
            <a:off x="5375920" y="3803154"/>
            <a:ext cx="6639852" cy="2505425"/>
          </a:xfrm>
          <a:prstGeom prst="rect">
            <a:avLst/>
          </a:prstGeom>
        </p:spPr>
      </p:pic>
      <p:pic>
        <p:nvPicPr>
          <p:cNvPr id="7" name="Picture 6">
            <a:extLst>
              <a:ext uri="{FF2B5EF4-FFF2-40B4-BE49-F238E27FC236}">
                <a16:creationId xmlns:a16="http://schemas.microsoft.com/office/drawing/2014/main" xmlns="" id="{226D2CE7-BD52-944E-1D7E-D7B71D4F07B8}"/>
              </a:ext>
            </a:extLst>
          </p:cNvPr>
          <p:cNvPicPr>
            <a:picLocks noChangeAspect="1"/>
          </p:cNvPicPr>
          <p:nvPr/>
        </p:nvPicPr>
        <p:blipFill>
          <a:blip r:embed="rId4"/>
          <a:stretch>
            <a:fillRect/>
          </a:stretch>
        </p:blipFill>
        <p:spPr>
          <a:xfrm>
            <a:off x="860485" y="3976559"/>
            <a:ext cx="4515435" cy="2677815"/>
          </a:xfrm>
          <a:prstGeom prst="rect">
            <a:avLst/>
          </a:prstGeom>
        </p:spPr>
      </p:pic>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99</a:t>
            </a:fld>
            <a:endParaRPr lang="en-US"/>
          </a:p>
        </p:txBody>
      </p:sp>
    </p:spTree>
    <p:extLst>
      <p:ext uri="{BB962C8B-B14F-4D97-AF65-F5344CB8AC3E}">
        <p14:creationId xmlns:p14="http://schemas.microsoft.com/office/powerpoint/2010/main" val="145825846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13E532-BD61-C1A0-B3A1-7D2802CF663C}"/>
              </a:ext>
            </a:extLst>
          </p:cNvPr>
          <p:cNvSpPr>
            <a:spLocks noGrp="1"/>
          </p:cNvSpPr>
          <p:nvPr>
            <p:ph type="ctrTitle"/>
          </p:nvPr>
        </p:nvSpPr>
        <p:spPr>
          <a:xfrm>
            <a:off x="2284446" y="1293811"/>
            <a:ext cx="7772400" cy="547461"/>
          </a:xfrm>
        </p:spPr>
        <p:txBody>
          <a:bodyPr>
            <a:normAutofit fontScale="90000"/>
          </a:bodyPr>
          <a:lstStyle/>
          <a:p>
            <a:r>
              <a:rPr lang="en-US" dirty="0"/>
              <a:t>Example</a:t>
            </a:r>
            <a:endParaRPr lang="en-IN" dirty="0"/>
          </a:p>
        </p:txBody>
      </p:sp>
      <p:sp>
        <p:nvSpPr>
          <p:cNvPr id="4" name="Slide Number Placeholder 3">
            <a:extLst>
              <a:ext uri="{FF2B5EF4-FFF2-40B4-BE49-F238E27FC236}">
                <a16:creationId xmlns:a16="http://schemas.microsoft.com/office/drawing/2014/main" xmlns="" id="{E773B910-87A3-1732-A3DE-48FABA7C7525}"/>
              </a:ext>
            </a:extLst>
          </p:cNvPr>
          <p:cNvSpPr>
            <a:spLocks noGrp="1"/>
          </p:cNvSpPr>
          <p:nvPr>
            <p:ph type="sldNum" idx="12"/>
          </p:nvPr>
        </p:nvSpPr>
        <p:spPr/>
        <p:txBody>
          <a:bodyPr/>
          <a:lstStyle/>
          <a:p>
            <a:fld id="{00000000-1234-1234-1234-123412341234}" type="slidenum">
              <a:rPr lang="en-US" smtClean="0"/>
              <a:pPr/>
              <a:t>100</a:t>
            </a:fld>
            <a:endParaRPr lang="en-US"/>
          </a:p>
        </p:txBody>
      </p:sp>
      <p:sp>
        <p:nvSpPr>
          <p:cNvPr id="7" name="Subtitle 6">
            <a:extLst>
              <a:ext uri="{FF2B5EF4-FFF2-40B4-BE49-F238E27FC236}">
                <a16:creationId xmlns:a16="http://schemas.microsoft.com/office/drawing/2014/main" xmlns="" id="{5959AF58-F8CE-AE3A-FF1C-70878CEB9934}"/>
              </a:ext>
            </a:extLst>
          </p:cNvPr>
          <p:cNvSpPr>
            <a:spLocks noGrp="1"/>
          </p:cNvSpPr>
          <p:nvPr>
            <p:ph type="subTitle" idx="1"/>
          </p:nvPr>
        </p:nvSpPr>
        <p:spPr>
          <a:xfrm>
            <a:off x="1259089" y="1998321"/>
            <a:ext cx="10094711" cy="4200979"/>
          </a:xfrm>
        </p:spPr>
        <p:txBody>
          <a:bodyPr/>
          <a:lstStyle/>
          <a:p>
            <a:pPr algn="l" fontAlgn="base"/>
            <a:r>
              <a:rPr lang="en-US" sz="2000" dirty="0">
                <a:solidFill>
                  <a:srgbClr val="404040"/>
                </a:solidFill>
                <a:latin typeface="Calibri" panose="020F0502020204030204" pitchFamily="34" charset="0"/>
                <a:cs typeface="Calibri" panose="020F0502020204030204" pitchFamily="34" charset="0"/>
              </a:rPr>
              <a:t>Example 1</a:t>
            </a:r>
          </a:p>
          <a:p>
            <a:pPr algn="l" fontAlgn="base"/>
            <a:r>
              <a:rPr lang="en-US" sz="2000" dirty="0">
                <a:solidFill>
                  <a:srgbClr val="404040"/>
                </a:solidFill>
                <a:latin typeface="Calibri" panose="020F0502020204030204" pitchFamily="34" charset="0"/>
                <a:cs typeface="Calibri" panose="020F0502020204030204" pitchFamily="34" charset="0"/>
              </a:rPr>
              <a:t>Q = A AND (B AND C)</a:t>
            </a:r>
          </a:p>
          <a:p>
            <a:pPr algn="l" fontAlgn="base"/>
            <a:r>
              <a:rPr lang="en-US" sz="2000" dirty="0">
                <a:solidFill>
                  <a:srgbClr val="404040"/>
                </a:solidFill>
                <a:latin typeface="Calibri" panose="020F0502020204030204" pitchFamily="34" charset="0"/>
                <a:cs typeface="Calibri" panose="020F0502020204030204" pitchFamily="34" charset="0"/>
              </a:rPr>
              <a:t>Step 1 – Start with the brackets, this is the “B AND C” part.</a:t>
            </a:r>
          </a:p>
          <a:p>
            <a:pPr algn="l" fontAlgn="base"/>
            <a:endParaRPr lang="en-US" sz="2000" dirty="0">
              <a:solidFill>
                <a:srgbClr val="404040"/>
              </a:solidFill>
              <a:latin typeface="Calibri" panose="020F0502020204030204" pitchFamily="34" charset="0"/>
              <a:cs typeface="Calibri" panose="020F0502020204030204" pitchFamily="34" charset="0"/>
            </a:endParaRPr>
          </a:p>
          <a:p>
            <a:endParaRPr lang="en-IN" dirty="0"/>
          </a:p>
          <a:p>
            <a:pPr algn="l"/>
            <a:r>
              <a:rPr lang="en-US" sz="2000" dirty="0">
                <a:solidFill>
                  <a:srgbClr val="404040"/>
                </a:solidFill>
                <a:latin typeface="Calibri" panose="020F0502020204030204" pitchFamily="34" charset="0"/>
                <a:cs typeface="Calibri" panose="020F0502020204030204" pitchFamily="34" charset="0"/>
              </a:rPr>
              <a:t>Step 2 – Add the outer expression, this is the “A AND” part.</a:t>
            </a:r>
          </a:p>
          <a:p>
            <a:pPr algn="l"/>
            <a:endParaRPr lang="en-IN" sz="2000" dirty="0">
              <a:solidFill>
                <a:srgbClr val="404040"/>
              </a:solidFill>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xmlns="" id="{E361E110-3B33-2B2C-F138-6A6B7A61CFDD}"/>
              </a:ext>
            </a:extLst>
          </p:cNvPr>
          <p:cNvPicPr>
            <a:picLocks noChangeAspect="1"/>
          </p:cNvPicPr>
          <p:nvPr/>
        </p:nvPicPr>
        <p:blipFill>
          <a:blip r:embed="rId2" cstate="print"/>
          <a:stretch>
            <a:fillRect/>
          </a:stretch>
        </p:blipFill>
        <p:spPr>
          <a:xfrm>
            <a:off x="4721936" y="3248536"/>
            <a:ext cx="1707503" cy="742659"/>
          </a:xfrm>
          <a:prstGeom prst="rect">
            <a:avLst/>
          </a:prstGeom>
        </p:spPr>
      </p:pic>
      <p:pic>
        <p:nvPicPr>
          <p:cNvPr id="13" name="Picture 12">
            <a:extLst>
              <a:ext uri="{FF2B5EF4-FFF2-40B4-BE49-F238E27FC236}">
                <a16:creationId xmlns:a16="http://schemas.microsoft.com/office/drawing/2014/main" xmlns="" id="{A3BCCE4E-DB0E-70CF-7B14-08F2BB543F80}"/>
              </a:ext>
            </a:extLst>
          </p:cNvPr>
          <p:cNvPicPr>
            <a:picLocks noChangeAspect="1"/>
          </p:cNvPicPr>
          <p:nvPr/>
        </p:nvPicPr>
        <p:blipFill>
          <a:blip r:embed="rId3" cstate="print"/>
          <a:stretch>
            <a:fillRect/>
          </a:stretch>
        </p:blipFill>
        <p:spPr>
          <a:xfrm>
            <a:off x="4379167" y="4441049"/>
            <a:ext cx="3606282" cy="849409"/>
          </a:xfrm>
          <a:prstGeom prst="rect">
            <a:avLst/>
          </a:prstGeom>
        </p:spPr>
      </p:pic>
    </p:spTree>
    <p:extLst>
      <p:ext uri="{BB962C8B-B14F-4D97-AF65-F5344CB8AC3E}">
        <p14:creationId xmlns:p14="http://schemas.microsoft.com/office/powerpoint/2010/main" val="249790036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13E532-BD61-C1A0-B3A1-7D2802CF663C}"/>
              </a:ext>
            </a:extLst>
          </p:cNvPr>
          <p:cNvSpPr>
            <a:spLocks noGrp="1"/>
          </p:cNvSpPr>
          <p:nvPr>
            <p:ph type="ctrTitle"/>
          </p:nvPr>
        </p:nvSpPr>
        <p:spPr>
          <a:xfrm>
            <a:off x="2284445" y="1219201"/>
            <a:ext cx="7772400" cy="547461"/>
          </a:xfrm>
        </p:spPr>
        <p:txBody>
          <a:bodyPr>
            <a:normAutofit fontScale="90000"/>
          </a:bodyPr>
          <a:lstStyle/>
          <a:p>
            <a:r>
              <a:rPr lang="en-US" dirty="0"/>
              <a:t>Example</a:t>
            </a:r>
            <a:endParaRPr lang="en-IN" dirty="0"/>
          </a:p>
        </p:txBody>
      </p:sp>
      <p:sp>
        <p:nvSpPr>
          <p:cNvPr id="4" name="Slide Number Placeholder 3">
            <a:extLst>
              <a:ext uri="{FF2B5EF4-FFF2-40B4-BE49-F238E27FC236}">
                <a16:creationId xmlns:a16="http://schemas.microsoft.com/office/drawing/2014/main" xmlns="" id="{E773B910-87A3-1732-A3DE-48FABA7C7525}"/>
              </a:ext>
            </a:extLst>
          </p:cNvPr>
          <p:cNvSpPr>
            <a:spLocks noGrp="1"/>
          </p:cNvSpPr>
          <p:nvPr>
            <p:ph type="sldNum" idx="12"/>
          </p:nvPr>
        </p:nvSpPr>
        <p:spPr/>
        <p:txBody>
          <a:bodyPr/>
          <a:lstStyle/>
          <a:p>
            <a:fld id="{00000000-1234-1234-1234-123412341234}" type="slidenum">
              <a:rPr lang="en-US" smtClean="0"/>
              <a:pPr/>
              <a:t>101</a:t>
            </a:fld>
            <a:endParaRPr lang="en-US"/>
          </a:p>
        </p:txBody>
      </p:sp>
      <p:sp>
        <p:nvSpPr>
          <p:cNvPr id="7" name="Subtitle 6">
            <a:extLst>
              <a:ext uri="{FF2B5EF4-FFF2-40B4-BE49-F238E27FC236}">
                <a16:creationId xmlns:a16="http://schemas.microsoft.com/office/drawing/2014/main" xmlns="" id="{5959AF58-F8CE-AE3A-FF1C-70878CEB9934}"/>
              </a:ext>
            </a:extLst>
          </p:cNvPr>
          <p:cNvSpPr>
            <a:spLocks noGrp="1"/>
          </p:cNvSpPr>
          <p:nvPr>
            <p:ph type="subTitle" idx="1"/>
          </p:nvPr>
        </p:nvSpPr>
        <p:spPr>
          <a:xfrm>
            <a:off x="335360" y="1766662"/>
            <a:ext cx="11161240" cy="4432299"/>
          </a:xfrm>
        </p:spPr>
        <p:txBody>
          <a:bodyPr/>
          <a:lstStyle/>
          <a:p>
            <a:pPr algn="l" fontAlgn="base"/>
            <a:r>
              <a:rPr lang="en-US" sz="2000" dirty="0">
                <a:solidFill>
                  <a:srgbClr val="404040"/>
                </a:solidFill>
                <a:latin typeface="Calibri" panose="020F0502020204030204" pitchFamily="34" charset="0"/>
                <a:cs typeface="Calibri" panose="020F0502020204030204" pitchFamily="34" charset="0"/>
              </a:rPr>
              <a:t>Example 2.</a:t>
            </a:r>
          </a:p>
          <a:p>
            <a:pPr algn="l" fontAlgn="base"/>
            <a:r>
              <a:rPr lang="en-US" sz="2000" dirty="0">
                <a:solidFill>
                  <a:srgbClr val="404040"/>
                </a:solidFill>
                <a:latin typeface="Calibri" panose="020F0502020204030204" pitchFamily="34" charset="0"/>
                <a:cs typeface="Calibri" panose="020F0502020204030204" pitchFamily="34" charset="0"/>
              </a:rPr>
              <a:t> Q = NOT (A OR B)</a:t>
            </a:r>
          </a:p>
          <a:p>
            <a:pPr algn="l" fontAlgn="base"/>
            <a:r>
              <a:rPr lang="en-US" sz="2000" dirty="0">
                <a:solidFill>
                  <a:srgbClr val="404040"/>
                </a:solidFill>
                <a:latin typeface="Calibri" panose="020F0502020204030204" pitchFamily="34" charset="0"/>
                <a:cs typeface="Calibri" panose="020F0502020204030204" pitchFamily="34" charset="0"/>
              </a:rPr>
              <a:t>Step 1 – Start with the brackets, this is the “A OR B” part</a:t>
            </a:r>
          </a:p>
          <a:p>
            <a:endParaRPr lang="en-IN" dirty="0"/>
          </a:p>
          <a:p>
            <a:pPr algn="l"/>
            <a:endParaRPr lang="en-US" sz="2000" dirty="0">
              <a:solidFill>
                <a:srgbClr val="404040"/>
              </a:solidFill>
              <a:latin typeface="Calibri" panose="020F0502020204030204" pitchFamily="34" charset="0"/>
              <a:cs typeface="Calibri" panose="020F0502020204030204" pitchFamily="34" charset="0"/>
            </a:endParaRPr>
          </a:p>
          <a:p>
            <a:pPr algn="l"/>
            <a:r>
              <a:rPr lang="en-US" sz="2000" dirty="0">
                <a:solidFill>
                  <a:srgbClr val="404040"/>
                </a:solidFill>
                <a:latin typeface="Calibri" panose="020F0502020204030204" pitchFamily="34" charset="0"/>
                <a:cs typeface="Calibri" panose="020F0502020204030204" pitchFamily="34" charset="0"/>
              </a:rPr>
              <a:t>Step 2 – Add the outer expression, this is the “NOT” part.</a:t>
            </a:r>
          </a:p>
          <a:p>
            <a:pPr algn="l"/>
            <a:endParaRPr lang="en-IN" sz="2000" dirty="0">
              <a:solidFill>
                <a:srgbClr val="404040"/>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xmlns="" id="{91FE65FA-3B50-0FFB-E840-83C82C30350D}"/>
              </a:ext>
            </a:extLst>
          </p:cNvPr>
          <p:cNvPicPr>
            <a:picLocks noChangeAspect="1"/>
          </p:cNvPicPr>
          <p:nvPr/>
        </p:nvPicPr>
        <p:blipFill>
          <a:blip r:embed="rId2" cstate="print"/>
          <a:stretch>
            <a:fillRect/>
          </a:stretch>
        </p:blipFill>
        <p:spPr>
          <a:xfrm>
            <a:off x="4537788" y="2948473"/>
            <a:ext cx="2444620" cy="849409"/>
          </a:xfrm>
          <a:prstGeom prst="rect">
            <a:avLst/>
          </a:prstGeom>
        </p:spPr>
      </p:pic>
      <p:pic>
        <p:nvPicPr>
          <p:cNvPr id="8" name="Picture 7">
            <a:extLst>
              <a:ext uri="{FF2B5EF4-FFF2-40B4-BE49-F238E27FC236}">
                <a16:creationId xmlns:a16="http://schemas.microsoft.com/office/drawing/2014/main" xmlns="" id="{FD189836-F558-EDC1-6103-D2B7ED173AC6}"/>
              </a:ext>
            </a:extLst>
          </p:cNvPr>
          <p:cNvPicPr>
            <a:picLocks noChangeAspect="1"/>
          </p:cNvPicPr>
          <p:nvPr/>
        </p:nvPicPr>
        <p:blipFill>
          <a:blip r:embed="rId3" cstate="print"/>
          <a:stretch>
            <a:fillRect/>
          </a:stretch>
        </p:blipFill>
        <p:spPr>
          <a:xfrm>
            <a:off x="4775719" y="4748373"/>
            <a:ext cx="2789853" cy="1055269"/>
          </a:xfrm>
          <a:prstGeom prst="rect">
            <a:avLst/>
          </a:prstGeom>
        </p:spPr>
      </p:pic>
    </p:spTree>
    <p:extLst>
      <p:ext uri="{BB962C8B-B14F-4D97-AF65-F5344CB8AC3E}">
        <p14:creationId xmlns:p14="http://schemas.microsoft.com/office/powerpoint/2010/main" val="338703427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59457" y="500332"/>
            <a:ext cx="8954218" cy="5405513"/>
          </a:xfrm>
          <a:prstGeom prst="rect">
            <a:avLst/>
          </a:prstGeom>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102</a:t>
            </a:fld>
            <a:endParaRPr lang="en-US"/>
          </a:p>
        </p:txBody>
      </p:sp>
    </p:spTree>
    <p:extLst>
      <p:ext uri="{BB962C8B-B14F-4D97-AF65-F5344CB8AC3E}">
        <p14:creationId xmlns:p14="http://schemas.microsoft.com/office/powerpoint/2010/main" val="36611868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66490" y="1414732"/>
            <a:ext cx="9299275" cy="4313208"/>
          </a:xfrm>
          <a:prstGeom prst="rect">
            <a:avLst/>
          </a:prstGeom>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103</a:t>
            </a:fld>
            <a:endParaRPr lang="en-US"/>
          </a:p>
        </p:txBody>
      </p:sp>
    </p:spTree>
    <p:extLst>
      <p:ext uri="{BB962C8B-B14F-4D97-AF65-F5344CB8AC3E}">
        <p14:creationId xmlns:p14="http://schemas.microsoft.com/office/powerpoint/2010/main" val="91131975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07698" y="621102"/>
            <a:ext cx="9299276" cy="5693434"/>
          </a:xfrm>
          <a:prstGeom prst="rect">
            <a:avLst/>
          </a:prstGeom>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104</a:t>
            </a:fld>
            <a:endParaRPr lang="en-US"/>
          </a:p>
        </p:txBody>
      </p:sp>
    </p:spTree>
    <p:extLst>
      <p:ext uri="{BB962C8B-B14F-4D97-AF65-F5344CB8AC3E}">
        <p14:creationId xmlns:p14="http://schemas.microsoft.com/office/powerpoint/2010/main" val="340338876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21434" y="1173192"/>
            <a:ext cx="9678838" cy="4779034"/>
          </a:xfrm>
          <a:prstGeom prst="rect">
            <a:avLst/>
          </a:prstGeom>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105</a:t>
            </a:fld>
            <a:endParaRPr lang="en-US"/>
          </a:p>
        </p:txBody>
      </p:sp>
    </p:spTree>
    <p:extLst>
      <p:ext uri="{BB962C8B-B14F-4D97-AF65-F5344CB8AC3E}">
        <p14:creationId xmlns:p14="http://schemas.microsoft.com/office/powerpoint/2010/main" val="259803718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499</TotalTime>
  <Words>3730</Words>
  <Application>Microsoft Office PowerPoint</Application>
  <PresentationFormat>Custom</PresentationFormat>
  <Paragraphs>825</Paragraphs>
  <Slides>105</Slides>
  <Notes>60</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105</vt:i4>
      </vt:variant>
    </vt:vector>
  </HeadingPairs>
  <TitlesOfParts>
    <vt:vector size="121" baseType="lpstr">
      <vt:lpstr>Arial</vt:lpstr>
      <vt:lpstr>Roboto Condensed</vt:lpstr>
      <vt:lpstr>Lato</vt:lpstr>
      <vt:lpstr>Work Sans</vt:lpstr>
      <vt:lpstr>Arimo</vt:lpstr>
      <vt:lpstr>Calibri</vt:lpstr>
      <vt:lpstr>Georgia</vt:lpstr>
      <vt:lpstr>Inter</vt:lpstr>
      <vt:lpstr>palatino linotype</vt:lpstr>
      <vt:lpstr>Arial Black</vt:lpstr>
      <vt:lpstr>Nunito</vt:lpstr>
      <vt:lpstr>Times New Roman</vt:lpstr>
      <vt:lpstr>Quattrocento Sans</vt:lpstr>
      <vt:lpstr>Noto Sans Symbols</vt:lpstr>
      <vt:lpstr>Office Theme</vt:lpstr>
      <vt:lpstr>1_Office Theme</vt:lpstr>
      <vt:lpstr>   21CSS201T COMPUTER ORGANIZATION AND ARCHITECTURE  UNIT-1 </vt:lpstr>
      <vt:lpstr>Computer Architecture Objectives</vt:lpstr>
      <vt:lpstr>COMPUTER ARCHITECTURE AND ORGANIZATION OVERVIEW</vt:lpstr>
      <vt:lpstr>PowerPoint Presentation</vt:lpstr>
      <vt:lpstr>PowerPoint Presentation</vt:lpstr>
      <vt:lpstr>COMPUTER COMPONENTS</vt:lpstr>
      <vt:lpstr>Contd..</vt:lpstr>
      <vt:lpstr>Digital System</vt:lpstr>
      <vt:lpstr>Signal</vt:lpstr>
      <vt:lpstr>Introduction to Number System and Logic Gates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BINARY ARITHMETIC</vt:lpstr>
      <vt:lpstr>PowerPoint Presentation</vt:lpstr>
      <vt:lpstr>PowerPoint Presentation</vt:lpstr>
      <vt:lpstr>PowerPoint Presentation</vt:lpstr>
      <vt:lpstr>Signed Binary Numbers</vt:lpstr>
      <vt:lpstr>1’s Complement</vt:lpstr>
      <vt:lpstr>2’s Complement</vt:lpstr>
      <vt:lpstr>Subtraction using 1’s complement</vt:lpstr>
      <vt:lpstr>Subtraction using 2’s complement</vt:lpstr>
      <vt:lpstr>Subtraction using 1’s complement  (Examples)</vt:lpstr>
      <vt:lpstr>Subtraction using 1’s complement  (Examples)</vt:lpstr>
      <vt:lpstr>Subtraction using 2’s complement  (Examples)</vt:lpstr>
      <vt:lpstr>Subtraction using 2’s complement  (Examples)</vt:lpstr>
      <vt:lpstr>BCD ARITHMETIC</vt:lpstr>
      <vt:lpstr>BCD Addition</vt:lpstr>
      <vt:lpstr>BCD Addition</vt:lpstr>
      <vt:lpstr>BCD Subtraction</vt:lpstr>
      <vt:lpstr>BCD Subtraction</vt:lpstr>
      <vt:lpstr>PowerPoint Presentation</vt:lpstr>
      <vt:lpstr>PowerPoint Presentation</vt:lpstr>
      <vt:lpstr> GRAY CODE </vt:lpstr>
      <vt:lpstr>Binary- Gray code conversion</vt:lpstr>
      <vt:lpstr>Explanation</vt:lpstr>
      <vt:lpstr>Example</vt:lpstr>
      <vt:lpstr>PowerPoint Presentation</vt:lpstr>
      <vt:lpstr>GRAY CODE TABLE  The conversion in between decimal to gray and binary to gray code is given below</vt:lpstr>
      <vt:lpstr>Gray-Binary code conversion</vt:lpstr>
      <vt:lpstr>Explanation</vt:lpstr>
      <vt:lpstr>Merits &amp; Demerits of Gray Code</vt:lpstr>
      <vt:lpstr>Binary Codes for Decimal Digits</vt:lpstr>
      <vt:lpstr>Binary Coded Decimal (BCD)</vt:lpstr>
      <vt:lpstr>Excess 3 Code and 8, 4, –2, –1 Code</vt:lpstr>
      <vt:lpstr>Decimal to BCD</vt:lpstr>
      <vt:lpstr>Binary to BCD conversion</vt:lpstr>
      <vt:lpstr>Advantages of BCD</vt:lpstr>
      <vt:lpstr>Disadvantages of BCD Code </vt:lpstr>
      <vt:lpstr>Excess-3 code </vt:lpstr>
      <vt:lpstr>Decimal to Excess-3 code conversion</vt:lpstr>
      <vt:lpstr>Ex-1</vt:lpstr>
      <vt:lpstr>Ex-2</vt:lpstr>
      <vt:lpstr>Ex-3</vt:lpstr>
      <vt:lpstr>Excess-3 code</vt:lpstr>
      <vt:lpstr>Ex-4</vt:lpstr>
      <vt:lpstr>Ex 5</vt:lpstr>
      <vt:lpstr>Ex 6</vt:lpstr>
      <vt:lpstr>Advantages</vt:lpstr>
      <vt:lpstr>ASCII</vt:lpstr>
      <vt:lpstr>ASCII Characters</vt:lpstr>
      <vt:lpstr>Ex 1</vt:lpstr>
      <vt:lpstr>PowerPoint Presentation</vt:lpstr>
      <vt:lpstr>Cont’d</vt:lpstr>
      <vt:lpstr>Parity Code</vt:lpstr>
      <vt:lpstr>PowerPoint Presentation</vt:lpstr>
      <vt:lpstr>Explanation</vt:lpstr>
      <vt:lpstr>PowerPoint Presentation</vt:lpstr>
      <vt:lpstr>Logic Gates</vt:lpstr>
      <vt:lpstr>Logic Gates</vt:lpstr>
      <vt:lpstr>Logic Gates</vt:lpstr>
      <vt:lpstr>PowerPoint Presentation</vt:lpstr>
      <vt:lpstr>Truth Table</vt:lpstr>
      <vt:lpstr>Classification</vt:lpstr>
      <vt:lpstr>PowerPoint Presentation</vt:lpstr>
      <vt:lpstr>AND gate</vt:lpstr>
      <vt:lpstr> OR Gate </vt:lpstr>
      <vt:lpstr> NOT Gate </vt:lpstr>
      <vt:lpstr>    Universal Logic Gates</vt:lpstr>
      <vt:lpstr>  </vt:lpstr>
      <vt:lpstr>  NOR Gate</vt:lpstr>
      <vt:lpstr>EX-OR</vt:lpstr>
      <vt:lpstr>EX-NOR</vt:lpstr>
      <vt:lpstr>Example</vt:lpstr>
      <vt:lpstr>Example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21CSS201T COMPUTER ORGANIZATION AND ARCHITECTURE  UNIT-1</dc:title>
  <dc:creator>Priya Milton</dc:creator>
  <cp:lastModifiedBy>DELL</cp:lastModifiedBy>
  <cp:revision>20</cp:revision>
  <dcterms:created xsi:type="dcterms:W3CDTF">2021-09-01T14:59:53Z</dcterms:created>
  <dcterms:modified xsi:type="dcterms:W3CDTF">2024-08-05T08:24:33Z</dcterms:modified>
</cp:coreProperties>
</file>