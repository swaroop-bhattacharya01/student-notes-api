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5.xml" ContentType="application/vnd.openxmlformats-officedocument.presentationml.notesSlide+xml"/>
  <Override PartName="/ppt/ink/ink28.xml" ContentType="application/inkml+xml"/>
  <Override PartName="/ppt/notesSlides/notesSlide6.xml" ContentType="application/vnd.openxmlformats-officedocument.presentationml.notesSlide+xml"/>
  <Override PartName="/ppt/ink/ink29.xml" ContentType="application/inkml+xml"/>
  <Override PartName="/ppt/ink/ink30.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ink/ink13.xml" ContentType="application/inkml+xml"/>
  <Override PartName="/ppt/ink/ink27.xml" ContentType="application/inkml+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30"/>
  </p:notesMasterIdLst>
  <p:sldIdLst>
    <p:sldId id="259" r:id="rId2"/>
    <p:sldId id="615" r:id="rId3"/>
    <p:sldId id="269" r:id="rId4"/>
    <p:sldId id="616" r:id="rId5"/>
    <p:sldId id="617"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618" r:id="rId20"/>
    <p:sldId id="619" r:id="rId21"/>
    <p:sldId id="620" r:id="rId22"/>
    <p:sldId id="621" r:id="rId23"/>
    <p:sldId id="622" r:id="rId24"/>
    <p:sldId id="623" r:id="rId25"/>
    <p:sldId id="624" r:id="rId26"/>
    <p:sldId id="625" r:id="rId27"/>
    <p:sldId id="626" r:id="rId28"/>
    <p:sldId id="627" r:id="rId29"/>
    <p:sldId id="628" r:id="rId30"/>
    <p:sldId id="629"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Lst>
  <p:sldSz cx="12192000" cy="6858000"/>
  <p:notesSz cx="6858000" cy="9144000"/>
  <p:embeddedFontLst>
    <p:embeddedFont>
      <p:font typeface="Helvetica Neue" charset="0"/>
      <p:regular r:id="rId131"/>
      <p:bold r:id="rId132"/>
      <p:italic r:id="rId133"/>
      <p:boldItalic r:id="rId134"/>
    </p:embeddedFont>
    <p:embeddedFont>
      <p:font typeface="Palatino Linotype" pitchFamily="18" charset="0"/>
      <p:regular r:id="rId135"/>
      <p:bold r:id="rId136"/>
      <p:italic r:id="rId137"/>
      <p:boldItalic r:id="rId138"/>
    </p:embeddedFont>
    <p:embeddedFont>
      <p:font typeface="Calibri" pitchFamily="34" charset="0"/>
      <p:regular r:id="rId139"/>
      <p:bold r:id="rId140"/>
      <p:italic r:id="rId141"/>
      <p:boldItalic r:id="rId142"/>
    </p:embeddedFont>
    <p:embeddedFont>
      <p:font typeface="Posterama" charset="0"/>
      <p:regular r:id="rId143"/>
      <p:bold r:id="rId1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F0D5522F-2F3A-486E-AB3A-618C38F1D610}">
  <a:tblStyle styleId="{F0D5522F-2F3A-486E-AB3A-618C38F1D61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29"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3.fntdata"/><Relationship Id="rId138" Type="http://schemas.openxmlformats.org/officeDocument/2006/relationships/font" Target="fonts/font8.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font" Target="fonts/font14.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4.fntdata"/><Relationship Id="rId139" Type="http://schemas.openxmlformats.org/officeDocument/2006/relationships/font" Target="fonts/font9.fntdata"/><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font" Target="fonts/font2.fntdata"/><Relationship Id="rId140" Type="http://schemas.openxmlformats.org/officeDocument/2006/relationships/font" Target="fonts/font10.fntdata"/><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notesMaster" Target="notesMasters/notesMaster1.xml"/><Relationship Id="rId135" Type="http://schemas.openxmlformats.org/officeDocument/2006/relationships/font" Target="fonts/font5.fntdata"/><Relationship Id="rId143" Type="http://schemas.openxmlformats.org/officeDocument/2006/relationships/font" Target="fonts/font13.fntdata"/><Relationship Id="rId14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11.fntdata"/><Relationship Id="rId14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1.fntdata"/><Relationship Id="rId136" Type="http://schemas.openxmlformats.org/officeDocument/2006/relationships/font" Target="fonts/font6.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2.fntdata"/></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154C95-869E-4E53-86DA-F430D73A5203}" type="doc">
      <dgm:prSet loTypeId="urn:microsoft.com/office/officeart/2009/3/layout/HorizontalOrganizationChart" loCatId="hierarchy" qsTypeId="urn:microsoft.com/office/officeart/2005/8/quickstyle/3d1" qsCatId="3D" csTypeId="urn:microsoft.com/office/officeart/2005/8/colors/colorful5" csCatId="colorful" phldr="1"/>
      <dgm:spPr/>
      <dgm:t>
        <a:bodyPr/>
        <a:lstStyle/>
        <a:p>
          <a:endParaRPr lang="en-US"/>
        </a:p>
      </dgm:t>
    </dgm:pt>
    <dgm:pt modelId="{9496F357-5658-4300-B9F3-9CFBBCC477E5}">
      <dgm:prSet phldrT="[Text]"/>
      <dgm:spPr/>
      <dgm:t>
        <a:bodyPr/>
        <a:lstStyle/>
        <a:p>
          <a:r>
            <a:rPr lang="en-GB" b="1" dirty="0">
              <a:solidFill>
                <a:schemeClr val="tx1"/>
              </a:solidFill>
              <a:latin typeface="Palatino Linotype" panose="02040502050505030304" pitchFamily="18" charset="0"/>
            </a:rPr>
            <a:t>Computer Architecture </a:t>
          </a:r>
          <a:endParaRPr lang="en-US" b="1" dirty="0">
            <a:solidFill>
              <a:schemeClr val="tx1"/>
            </a:solidFill>
          </a:endParaRPr>
        </a:p>
      </dgm:t>
    </dgm:pt>
    <dgm:pt modelId="{AA5501DF-E1B3-4225-820B-B63E46A658C2}" type="parTrans" cxnId="{21F75E9B-7FE0-4B83-BC45-F84938FF7099}">
      <dgm:prSet/>
      <dgm:spPr/>
      <dgm:t>
        <a:bodyPr/>
        <a:lstStyle/>
        <a:p>
          <a:endParaRPr lang="en-US" b="1" dirty="0">
            <a:solidFill>
              <a:schemeClr val="tx1"/>
            </a:solidFill>
          </a:endParaRPr>
        </a:p>
      </dgm:t>
    </dgm:pt>
    <dgm:pt modelId="{0624F6ED-3864-4D38-ADEF-4C7ADFF334E0}" type="sibTrans" cxnId="{21F75E9B-7FE0-4B83-BC45-F84938FF7099}">
      <dgm:prSet/>
      <dgm:spPr/>
      <dgm:t>
        <a:bodyPr/>
        <a:lstStyle/>
        <a:p>
          <a:endParaRPr lang="en-US" b="1" dirty="0">
            <a:solidFill>
              <a:schemeClr val="tx1"/>
            </a:solidFill>
          </a:endParaRPr>
        </a:p>
      </dgm:t>
    </dgm:pt>
    <dgm:pt modelId="{0E69DD72-15C2-43D0-880D-97989CC2320B}">
      <dgm:prSet phldrT="[Text]"/>
      <dgm:spPr/>
      <dgm:t>
        <a:bodyPr/>
        <a:lstStyle/>
        <a:p>
          <a:r>
            <a:rPr lang="en-GB" b="1" dirty="0">
              <a:solidFill>
                <a:schemeClr val="tx1"/>
              </a:solidFill>
              <a:latin typeface="Palatino Linotype" panose="02040502050505030304" pitchFamily="18" charset="0"/>
            </a:rPr>
            <a:t>Computer Hardware</a:t>
          </a:r>
          <a:endParaRPr lang="en-US" b="1" dirty="0">
            <a:solidFill>
              <a:schemeClr val="tx1"/>
            </a:solidFill>
          </a:endParaRPr>
        </a:p>
      </dgm:t>
    </dgm:pt>
    <dgm:pt modelId="{B085E63B-65A5-4E61-BE95-A16E93D7FAB5}" type="parTrans" cxnId="{ABBBA676-E39B-4208-BDE5-55BA5ABE9558}">
      <dgm:prSet/>
      <dgm:spPr/>
      <dgm:t>
        <a:bodyPr/>
        <a:lstStyle/>
        <a:p>
          <a:endParaRPr lang="en-US" b="1" dirty="0">
            <a:solidFill>
              <a:schemeClr val="tx1"/>
            </a:solidFill>
          </a:endParaRPr>
        </a:p>
      </dgm:t>
    </dgm:pt>
    <dgm:pt modelId="{544F2317-94CD-42D1-BAE3-3E1DC2C3FC5A}" type="sibTrans" cxnId="{ABBBA676-E39B-4208-BDE5-55BA5ABE9558}">
      <dgm:prSet/>
      <dgm:spPr/>
      <dgm:t>
        <a:bodyPr/>
        <a:lstStyle/>
        <a:p>
          <a:endParaRPr lang="en-US" b="1" dirty="0">
            <a:solidFill>
              <a:schemeClr val="tx1"/>
            </a:solidFill>
          </a:endParaRPr>
        </a:p>
      </dgm:t>
    </dgm:pt>
    <dgm:pt modelId="{113B4302-741F-43AC-A6F0-3679124804C8}">
      <dgm:prSet phldrT="[Text]"/>
      <dgm:spPr/>
      <dgm:t>
        <a:bodyPr/>
        <a:lstStyle/>
        <a:p>
          <a:r>
            <a:rPr lang="en-GB" b="1" dirty="0">
              <a:solidFill>
                <a:schemeClr val="tx1"/>
              </a:solidFill>
              <a:latin typeface="Palatino Linotype" panose="02040502050505030304" pitchFamily="18" charset="0"/>
            </a:rPr>
            <a:t>Instruction Set Architecture </a:t>
          </a:r>
          <a:endParaRPr lang="en-US" b="1" dirty="0">
            <a:solidFill>
              <a:schemeClr val="tx1"/>
            </a:solidFill>
          </a:endParaRPr>
        </a:p>
      </dgm:t>
    </dgm:pt>
    <dgm:pt modelId="{6853392E-FB2D-4561-82DB-971331E3A6E2}" type="parTrans" cxnId="{9A064AA9-49B7-4822-AD39-99D96F4466F6}">
      <dgm:prSet/>
      <dgm:spPr/>
      <dgm:t>
        <a:bodyPr/>
        <a:lstStyle/>
        <a:p>
          <a:endParaRPr lang="en-US" b="1" dirty="0">
            <a:solidFill>
              <a:schemeClr val="tx1"/>
            </a:solidFill>
          </a:endParaRPr>
        </a:p>
      </dgm:t>
    </dgm:pt>
    <dgm:pt modelId="{90FFBB6B-27F1-43E6-980A-FEA9A2C220B1}" type="sibTrans" cxnId="{9A064AA9-49B7-4822-AD39-99D96F4466F6}">
      <dgm:prSet/>
      <dgm:spPr/>
      <dgm:t>
        <a:bodyPr/>
        <a:lstStyle/>
        <a:p>
          <a:endParaRPr lang="en-US" b="1" dirty="0">
            <a:solidFill>
              <a:schemeClr val="tx1"/>
            </a:solidFill>
          </a:endParaRPr>
        </a:p>
      </dgm:t>
    </dgm:pt>
    <dgm:pt modelId="{58977B38-A04E-47FA-92AA-6D4C2B544C74}">
      <dgm:prSet phldrT="[Text]"/>
      <dgm:spPr/>
      <dgm:t>
        <a:bodyPr/>
        <a:lstStyle/>
        <a:p>
          <a:r>
            <a:rPr lang="en-GB" b="1" dirty="0">
              <a:solidFill>
                <a:schemeClr val="tx1"/>
              </a:solidFill>
              <a:latin typeface="Palatino Linotype" panose="02040502050505030304" pitchFamily="18" charset="0"/>
            </a:rPr>
            <a:t>Computer Organization</a:t>
          </a:r>
          <a:endParaRPr lang="en-US" b="1" dirty="0">
            <a:solidFill>
              <a:schemeClr val="tx1"/>
            </a:solidFill>
          </a:endParaRPr>
        </a:p>
      </dgm:t>
    </dgm:pt>
    <dgm:pt modelId="{C5D9BA20-3E10-4B0B-85D7-6515A86F4533}" type="parTrans" cxnId="{EB258ACA-8FDE-42F1-94ED-C4D22BCC7592}">
      <dgm:prSet/>
      <dgm:spPr/>
      <dgm:t>
        <a:bodyPr/>
        <a:lstStyle/>
        <a:p>
          <a:endParaRPr lang="en-US" b="1" dirty="0">
            <a:solidFill>
              <a:schemeClr val="tx1"/>
            </a:solidFill>
          </a:endParaRPr>
        </a:p>
      </dgm:t>
    </dgm:pt>
    <dgm:pt modelId="{123D2A55-3DA2-4CBD-92EE-FF5AB7F1791C}" type="sibTrans" cxnId="{EB258ACA-8FDE-42F1-94ED-C4D22BCC7592}">
      <dgm:prSet/>
      <dgm:spPr/>
      <dgm:t>
        <a:bodyPr/>
        <a:lstStyle/>
        <a:p>
          <a:endParaRPr lang="en-US" b="1" dirty="0">
            <a:solidFill>
              <a:schemeClr val="tx1"/>
            </a:solidFill>
          </a:endParaRPr>
        </a:p>
      </dgm:t>
    </dgm:pt>
    <dgm:pt modelId="{832F3FDA-E6BF-4AE4-A721-5E4E79C3E9B4}">
      <dgm:prSet/>
      <dgm:spPr/>
      <dgm:t>
        <a:bodyPr/>
        <a:lstStyle/>
        <a:p>
          <a:r>
            <a:rPr lang="en-GB" b="1" dirty="0">
              <a:solidFill>
                <a:schemeClr val="tx1"/>
              </a:solidFill>
              <a:latin typeface="Palatino Linotype" panose="02040502050505030304" pitchFamily="18" charset="0"/>
            </a:rPr>
            <a:t>Electronic Circuits, Displays, Magnetic And Optical Storage Media And Communication Facilities</a:t>
          </a:r>
          <a:endParaRPr lang="en-US" b="1" dirty="0">
            <a:solidFill>
              <a:schemeClr val="tx1"/>
            </a:solidFill>
          </a:endParaRPr>
        </a:p>
      </dgm:t>
    </dgm:pt>
    <dgm:pt modelId="{257EA1EC-30AD-440F-ACD3-9883B97C34DD}" type="parTrans" cxnId="{41B04877-BDAC-4EEF-B37E-C713696C0794}">
      <dgm:prSet/>
      <dgm:spPr/>
      <dgm:t>
        <a:bodyPr/>
        <a:lstStyle/>
        <a:p>
          <a:endParaRPr lang="en-US" b="1" dirty="0">
            <a:solidFill>
              <a:schemeClr val="tx1"/>
            </a:solidFill>
          </a:endParaRPr>
        </a:p>
      </dgm:t>
    </dgm:pt>
    <dgm:pt modelId="{66EFD99F-BC12-4803-8168-0C1CC0376339}" type="sibTrans" cxnId="{41B04877-BDAC-4EEF-B37E-C713696C0794}">
      <dgm:prSet/>
      <dgm:spPr/>
      <dgm:t>
        <a:bodyPr/>
        <a:lstStyle/>
        <a:p>
          <a:endParaRPr lang="en-US" b="1" dirty="0">
            <a:solidFill>
              <a:schemeClr val="tx1"/>
            </a:solidFill>
          </a:endParaRPr>
        </a:p>
      </dgm:t>
    </dgm:pt>
    <dgm:pt modelId="{4EEEF758-E809-48DA-8660-B0577EE0CC60}">
      <dgm:prSet/>
      <dgm:spPr/>
      <dgm:t>
        <a:bodyPr/>
        <a:lstStyle/>
        <a:p>
          <a:r>
            <a:rPr lang="en-US" b="1" dirty="0">
              <a:solidFill>
                <a:schemeClr val="tx1"/>
              </a:solidFill>
            </a:rPr>
            <a:t>Instruction Set, Registers, Memory Organization And Exception Handling. Two Main Approaches Are Mainly CISC (Complex Instruction Set Computer) And RISC (Reduced Instruction Set Computer) </a:t>
          </a:r>
        </a:p>
      </dgm:t>
    </dgm:pt>
    <dgm:pt modelId="{D5DC4A32-F339-411F-B6BD-A9D2C40D55C1}" type="parTrans" cxnId="{A643AF0F-A9D2-44CB-BB5D-795494E7E86F}">
      <dgm:prSet/>
      <dgm:spPr/>
      <dgm:t>
        <a:bodyPr/>
        <a:lstStyle/>
        <a:p>
          <a:endParaRPr lang="en-US" b="1" dirty="0">
            <a:solidFill>
              <a:schemeClr val="tx1"/>
            </a:solidFill>
          </a:endParaRPr>
        </a:p>
      </dgm:t>
    </dgm:pt>
    <dgm:pt modelId="{1EC2EDA8-153F-4745-B17C-8C51DD9A4790}" type="sibTrans" cxnId="{A643AF0F-A9D2-44CB-BB5D-795494E7E86F}">
      <dgm:prSet/>
      <dgm:spPr/>
      <dgm:t>
        <a:bodyPr/>
        <a:lstStyle/>
        <a:p>
          <a:endParaRPr lang="en-US" b="1" dirty="0">
            <a:solidFill>
              <a:schemeClr val="tx1"/>
            </a:solidFill>
          </a:endParaRPr>
        </a:p>
      </dgm:t>
    </dgm:pt>
    <dgm:pt modelId="{E785546B-5AD5-4DC3-8677-743F093BCE6A}">
      <dgm:prSet/>
      <dgm:spPr/>
      <dgm:t>
        <a:bodyPr/>
        <a:lstStyle/>
        <a:p>
          <a:r>
            <a:rPr lang="en-US" b="1" dirty="0">
              <a:solidFill>
                <a:schemeClr val="tx1"/>
              </a:solidFill>
            </a:rPr>
            <a:t>High Level Aspects Of A Design, Such As Memory System, The Bus Structure And The Design Of The Internal CPU</a:t>
          </a:r>
        </a:p>
      </dgm:t>
    </dgm:pt>
    <dgm:pt modelId="{F757C485-668D-4A80-B536-8A88E1350817}" type="parTrans" cxnId="{40D551CD-3D84-4B61-B0D0-000F73C9DA75}">
      <dgm:prSet/>
      <dgm:spPr/>
      <dgm:t>
        <a:bodyPr/>
        <a:lstStyle/>
        <a:p>
          <a:endParaRPr lang="en-US" b="1" dirty="0">
            <a:solidFill>
              <a:schemeClr val="tx1"/>
            </a:solidFill>
          </a:endParaRPr>
        </a:p>
      </dgm:t>
    </dgm:pt>
    <dgm:pt modelId="{4FB68F23-C5C9-489C-8304-EB92FFDA909E}" type="sibTrans" cxnId="{40D551CD-3D84-4B61-B0D0-000F73C9DA75}">
      <dgm:prSet/>
      <dgm:spPr/>
      <dgm:t>
        <a:bodyPr/>
        <a:lstStyle/>
        <a:p>
          <a:endParaRPr lang="en-US" b="1" dirty="0">
            <a:solidFill>
              <a:schemeClr val="tx1"/>
            </a:solidFill>
          </a:endParaRPr>
        </a:p>
      </dgm:t>
    </dgm:pt>
    <dgm:pt modelId="{31332DF5-5068-44C5-A3DC-638A5574FBCD}" type="pres">
      <dgm:prSet presAssocID="{93154C95-869E-4E53-86DA-F430D73A5203}" presName="hierChild1" presStyleCnt="0">
        <dgm:presLayoutVars>
          <dgm:orgChart val="1"/>
          <dgm:chPref val="1"/>
          <dgm:dir/>
          <dgm:animOne val="branch"/>
          <dgm:animLvl val="lvl"/>
          <dgm:resizeHandles/>
        </dgm:presLayoutVars>
      </dgm:prSet>
      <dgm:spPr/>
      <dgm:t>
        <a:bodyPr/>
        <a:lstStyle/>
        <a:p>
          <a:endParaRPr lang="en-US"/>
        </a:p>
      </dgm:t>
    </dgm:pt>
    <dgm:pt modelId="{A2AE1D4F-9C9C-4E5C-9CE0-15FB765FE8E2}" type="pres">
      <dgm:prSet presAssocID="{9496F357-5658-4300-B9F3-9CFBBCC477E5}" presName="hierRoot1" presStyleCnt="0">
        <dgm:presLayoutVars>
          <dgm:hierBranch val="init"/>
        </dgm:presLayoutVars>
      </dgm:prSet>
      <dgm:spPr/>
    </dgm:pt>
    <dgm:pt modelId="{C88CDA62-DA7F-4EAB-8707-3D1D03E10090}" type="pres">
      <dgm:prSet presAssocID="{9496F357-5658-4300-B9F3-9CFBBCC477E5}" presName="rootComposite1" presStyleCnt="0"/>
      <dgm:spPr/>
    </dgm:pt>
    <dgm:pt modelId="{E2BEA9D9-6D65-4874-9D8B-8E02DD67FB27}" type="pres">
      <dgm:prSet presAssocID="{9496F357-5658-4300-B9F3-9CFBBCC477E5}" presName="rootText1" presStyleLbl="node0" presStyleIdx="0" presStyleCnt="1">
        <dgm:presLayoutVars>
          <dgm:chPref val="3"/>
        </dgm:presLayoutVars>
      </dgm:prSet>
      <dgm:spPr/>
      <dgm:t>
        <a:bodyPr/>
        <a:lstStyle/>
        <a:p>
          <a:endParaRPr lang="en-US"/>
        </a:p>
      </dgm:t>
    </dgm:pt>
    <dgm:pt modelId="{DDF43EE5-8347-4F9C-9459-68E47087A9AA}" type="pres">
      <dgm:prSet presAssocID="{9496F357-5658-4300-B9F3-9CFBBCC477E5}" presName="rootConnector1" presStyleLbl="node1" presStyleIdx="0" presStyleCnt="0"/>
      <dgm:spPr/>
      <dgm:t>
        <a:bodyPr/>
        <a:lstStyle/>
        <a:p>
          <a:endParaRPr lang="en-US"/>
        </a:p>
      </dgm:t>
    </dgm:pt>
    <dgm:pt modelId="{40C4DEFD-56B5-4351-95D7-BCB723764F79}" type="pres">
      <dgm:prSet presAssocID="{9496F357-5658-4300-B9F3-9CFBBCC477E5}" presName="hierChild2" presStyleCnt="0"/>
      <dgm:spPr/>
    </dgm:pt>
    <dgm:pt modelId="{DDD2DFA9-2C99-45F3-B103-3861186D9C2F}" type="pres">
      <dgm:prSet presAssocID="{B085E63B-65A5-4E61-BE95-A16E93D7FAB5}" presName="Name64" presStyleLbl="parChTrans1D2" presStyleIdx="0" presStyleCnt="3"/>
      <dgm:spPr/>
      <dgm:t>
        <a:bodyPr/>
        <a:lstStyle/>
        <a:p>
          <a:endParaRPr lang="en-US"/>
        </a:p>
      </dgm:t>
    </dgm:pt>
    <dgm:pt modelId="{AA396EA6-F4DC-44D7-9EC3-FDEAE7F1C87D}" type="pres">
      <dgm:prSet presAssocID="{0E69DD72-15C2-43D0-880D-97989CC2320B}" presName="hierRoot2" presStyleCnt="0">
        <dgm:presLayoutVars>
          <dgm:hierBranch val="init"/>
        </dgm:presLayoutVars>
      </dgm:prSet>
      <dgm:spPr/>
    </dgm:pt>
    <dgm:pt modelId="{82F46566-8884-4028-B63E-7E0B87D5FC4D}" type="pres">
      <dgm:prSet presAssocID="{0E69DD72-15C2-43D0-880D-97989CC2320B}" presName="rootComposite" presStyleCnt="0"/>
      <dgm:spPr/>
    </dgm:pt>
    <dgm:pt modelId="{A54F70D0-2464-4D05-9A1E-1F52F76A3FD1}" type="pres">
      <dgm:prSet presAssocID="{0E69DD72-15C2-43D0-880D-97989CC2320B}" presName="rootText" presStyleLbl="node2" presStyleIdx="0" presStyleCnt="3">
        <dgm:presLayoutVars>
          <dgm:chPref val="3"/>
        </dgm:presLayoutVars>
      </dgm:prSet>
      <dgm:spPr/>
      <dgm:t>
        <a:bodyPr/>
        <a:lstStyle/>
        <a:p>
          <a:endParaRPr lang="en-US"/>
        </a:p>
      </dgm:t>
    </dgm:pt>
    <dgm:pt modelId="{40DC05A7-138E-4307-84D2-5B1830DD1CD8}" type="pres">
      <dgm:prSet presAssocID="{0E69DD72-15C2-43D0-880D-97989CC2320B}" presName="rootConnector" presStyleLbl="node2" presStyleIdx="0" presStyleCnt="3"/>
      <dgm:spPr/>
      <dgm:t>
        <a:bodyPr/>
        <a:lstStyle/>
        <a:p>
          <a:endParaRPr lang="en-US"/>
        </a:p>
      </dgm:t>
    </dgm:pt>
    <dgm:pt modelId="{7A901FD3-5081-4FAD-A7BF-912888ABD88D}" type="pres">
      <dgm:prSet presAssocID="{0E69DD72-15C2-43D0-880D-97989CC2320B}" presName="hierChild4" presStyleCnt="0"/>
      <dgm:spPr/>
    </dgm:pt>
    <dgm:pt modelId="{07DAD1F1-4C0A-45F4-9CD0-1CB78814019A}" type="pres">
      <dgm:prSet presAssocID="{257EA1EC-30AD-440F-ACD3-9883B97C34DD}" presName="Name64" presStyleLbl="parChTrans1D3" presStyleIdx="0" presStyleCnt="3"/>
      <dgm:spPr/>
      <dgm:t>
        <a:bodyPr/>
        <a:lstStyle/>
        <a:p>
          <a:endParaRPr lang="en-US"/>
        </a:p>
      </dgm:t>
    </dgm:pt>
    <dgm:pt modelId="{C9C69191-90FA-4E3F-8AA1-9A3A49612B04}" type="pres">
      <dgm:prSet presAssocID="{832F3FDA-E6BF-4AE4-A721-5E4E79C3E9B4}" presName="hierRoot2" presStyleCnt="0">
        <dgm:presLayoutVars>
          <dgm:hierBranch val="init"/>
        </dgm:presLayoutVars>
      </dgm:prSet>
      <dgm:spPr/>
    </dgm:pt>
    <dgm:pt modelId="{0ABE4FFB-D93E-4045-A84E-0C2BC6A98346}" type="pres">
      <dgm:prSet presAssocID="{832F3FDA-E6BF-4AE4-A721-5E4E79C3E9B4}" presName="rootComposite" presStyleCnt="0"/>
      <dgm:spPr/>
    </dgm:pt>
    <dgm:pt modelId="{09648BEC-29D8-4CA5-961D-E8F05F5AB2FB}" type="pres">
      <dgm:prSet presAssocID="{832F3FDA-E6BF-4AE4-A721-5E4E79C3E9B4}" presName="rootText" presStyleLbl="node3" presStyleIdx="0" presStyleCnt="3">
        <dgm:presLayoutVars>
          <dgm:chPref val="3"/>
        </dgm:presLayoutVars>
      </dgm:prSet>
      <dgm:spPr/>
      <dgm:t>
        <a:bodyPr/>
        <a:lstStyle/>
        <a:p>
          <a:endParaRPr lang="en-US"/>
        </a:p>
      </dgm:t>
    </dgm:pt>
    <dgm:pt modelId="{46D5B122-CD70-4426-9F21-5ED1E79B169B}" type="pres">
      <dgm:prSet presAssocID="{832F3FDA-E6BF-4AE4-A721-5E4E79C3E9B4}" presName="rootConnector" presStyleLbl="node3" presStyleIdx="0" presStyleCnt="3"/>
      <dgm:spPr/>
      <dgm:t>
        <a:bodyPr/>
        <a:lstStyle/>
        <a:p>
          <a:endParaRPr lang="en-US"/>
        </a:p>
      </dgm:t>
    </dgm:pt>
    <dgm:pt modelId="{F5363ED4-B500-46DB-9865-83CEAAE1DC43}" type="pres">
      <dgm:prSet presAssocID="{832F3FDA-E6BF-4AE4-A721-5E4E79C3E9B4}" presName="hierChild4" presStyleCnt="0"/>
      <dgm:spPr/>
    </dgm:pt>
    <dgm:pt modelId="{F04C0791-218A-4AEE-AAC7-00C4A1689B56}" type="pres">
      <dgm:prSet presAssocID="{832F3FDA-E6BF-4AE4-A721-5E4E79C3E9B4}" presName="hierChild5" presStyleCnt="0"/>
      <dgm:spPr/>
    </dgm:pt>
    <dgm:pt modelId="{933427BF-01DF-4721-ACEF-2F733D349073}" type="pres">
      <dgm:prSet presAssocID="{0E69DD72-15C2-43D0-880D-97989CC2320B}" presName="hierChild5" presStyleCnt="0"/>
      <dgm:spPr/>
    </dgm:pt>
    <dgm:pt modelId="{7BDAA8FB-75E0-4483-864E-5DF0FA5715E5}" type="pres">
      <dgm:prSet presAssocID="{6853392E-FB2D-4561-82DB-971331E3A6E2}" presName="Name64" presStyleLbl="parChTrans1D2" presStyleIdx="1" presStyleCnt="3"/>
      <dgm:spPr/>
      <dgm:t>
        <a:bodyPr/>
        <a:lstStyle/>
        <a:p>
          <a:endParaRPr lang="en-US"/>
        </a:p>
      </dgm:t>
    </dgm:pt>
    <dgm:pt modelId="{1C952D17-BD29-4A2A-B749-C80F915CB7C1}" type="pres">
      <dgm:prSet presAssocID="{113B4302-741F-43AC-A6F0-3679124804C8}" presName="hierRoot2" presStyleCnt="0">
        <dgm:presLayoutVars>
          <dgm:hierBranch val="init"/>
        </dgm:presLayoutVars>
      </dgm:prSet>
      <dgm:spPr/>
    </dgm:pt>
    <dgm:pt modelId="{43559506-A740-44B0-8E0A-4408CFBEEDA6}" type="pres">
      <dgm:prSet presAssocID="{113B4302-741F-43AC-A6F0-3679124804C8}" presName="rootComposite" presStyleCnt="0"/>
      <dgm:spPr/>
    </dgm:pt>
    <dgm:pt modelId="{0880BBD6-E0ED-4FE2-99C2-D6E28315AD5D}" type="pres">
      <dgm:prSet presAssocID="{113B4302-741F-43AC-A6F0-3679124804C8}" presName="rootText" presStyleLbl="node2" presStyleIdx="1" presStyleCnt="3">
        <dgm:presLayoutVars>
          <dgm:chPref val="3"/>
        </dgm:presLayoutVars>
      </dgm:prSet>
      <dgm:spPr/>
      <dgm:t>
        <a:bodyPr/>
        <a:lstStyle/>
        <a:p>
          <a:endParaRPr lang="en-US"/>
        </a:p>
      </dgm:t>
    </dgm:pt>
    <dgm:pt modelId="{D2123B0A-9F14-4EE5-BB0C-70994E9331FB}" type="pres">
      <dgm:prSet presAssocID="{113B4302-741F-43AC-A6F0-3679124804C8}" presName="rootConnector" presStyleLbl="node2" presStyleIdx="1" presStyleCnt="3"/>
      <dgm:spPr/>
      <dgm:t>
        <a:bodyPr/>
        <a:lstStyle/>
        <a:p>
          <a:endParaRPr lang="en-US"/>
        </a:p>
      </dgm:t>
    </dgm:pt>
    <dgm:pt modelId="{F51B9A49-B376-4741-9F7B-1D2851546EFD}" type="pres">
      <dgm:prSet presAssocID="{113B4302-741F-43AC-A6F0-3679124804C8}" presName="hierChild4" presStyleCnt="0"/>
      <dgm:spPr/>
    </dgm:pt>
    <dgm:pt modelId="{9FE0D9AC-34CE-4298-A356-D0C251A2249C}" type="pres">
      <dgm:prSet presAssocID="{D5DC4A32-F339-411F-B6BD-A9D2C40D55C1}" presName="Name64" presStyleLbl="parChTrans1D3" presStyleIdx="1" presStyleCnt="3"/>
      <dgm:spPr/>
      <dgm:t>
        <a:bodyPr/>
        <a:lstStyle/>
        <a:p>
          <a:endParaRPr lang="en-US"/>
        </a:p>
      </dgm:t>
    </dgm:pt>
    <dgm:pt modelId="{DE33DB7A-EBAF-48C2-B08F-785D9DBCED5C}" type="pres">
      <dgm:prSet presAssocID="{4EEEF758-E809-48DA-8660-B0577EE0CC60}" presName="hierRoot2" presStyleCnt="0">
        <dgm:presLayoutVars>
          <dgm:hierBranch val="init"/>
        </dgm:presLayoutVars>
      </dgm:prSet>
      <dgm:spPr/>
    </dgm:pt>
    <dgm:pt modelId="{0CD80B2E-AC0F-46E2-A289-0F774EA1F29F}" type="pres">
      <dgm:prSet presAssocID="{4EEEF758-E809-48DA-8660-B0577EE0CC60}" presName="rootComposite" presStyleCnt="0"/>
      <dgm:spPr/>
    </dgm:pt>
    <dgm:pt modelId="{E2826750-C6C8-4346-BF4D-372664812A1D}" type="pres">
      <dgm:prSet presAssocID="{4EEEF758-E809-48DA-8660-B0577EE0CC60}" presName="rootText" presStyleLbl="node3" presStyleIdx="1" presStyleCnt="3">
        <dgm:presLayoutVars>
          <dgm:chPref val="3"/>
        </dgm:presLayoutVars>
      </dgm:prSet>
      <dgm:spPr/>
      <dgm:t>
        <a:bodyPr/>
        <a:lstStyle/>
        <a:p>
          <a:endParaRPr lang="en-US"/>
        </a:p>
      </dgm:t>
    </dgm:pt>
    <dgm:pt modelId="{6AB66A8A-8960-480A-9742-346F19192A08}" type="pres">
      <dgm:prSet presAssocID="{4EEEF758-E809-48DA-8660-B0577EE0CC60}" presName="rootConnector" presStyleLbl="node3" presStyleIdx="1" presStyleCnt="3"/>
      <dgm:spPr/>
      <dgm:t>
        <a:bodyPr/>
        <a:lstStyle/>
        <a:p>
          <a:endParaRPr lang="en-US"/>
        </a:p>
      </dgm:t>
    </dgm:pt>
    <dgm:pt modelId="{74E35AA3-65F2-47A9-9BCF-5B51DB285619}" type="pres">
      <dgm:prSet presAssocID="{4EEEF758-E809-48DA-8660-B0577EE0CC60}" presName="hierChild4" presStyleCnt="0"/>
      <dgm:spPr/>
    </dgm:pt>
    <dgm:pt modelId="{CB4B51EF-AB5A-4A6D-9E37-7AD3AFD7606B}" type="pres">
      <dgm:prSet presAssocID="{4EEEF758-E809-48DA-8660-B0577EE0CC60}" presName="hierChild5" presStyleCnt="0"/>
      <dgm:spPr/>
    </dgm:pt>
    <dgm:pt modelId="{EA631A00-60F3-4818-8C1C-3C5CA7F41599}" type="pres">
      <dgm:prSet presAssocID="{113B4302-741F-43AC-A6F0-3679124804C8}" presName="hierChild5" presStyleCnt="0"/>
      <dgm:spPr/>
    </dgm:pt>
    <dgm:pt modelId="{01A6163E-BB11-4298-B52A-1C3B5DF4FE03}" type="pres">
      <dgm:prSet presAssocID="{C5D9BA20-3E10-4B0B-85D7-6515A86F4533}" presName="Name64" presStyleLbl="parChTrans1D2" presStyleIdx="2" presStyleCnt="3"/>
      <dgm:spPr/>
      <dgm:t>
        <a:bodyPr/>
        <a:lstStyle/>
        <a:p>
          <a:endParaRPr lang="en-US"/>
        </a:p>
      </dgm:t>
    </dgm:pt>
    <dgm:pt modelId="{E303A172-362C-4F90-9ADE-756951683633}" type="pres">
      <dgm:prSet presAssocID="{58977B38-A04E-47FA-92AA-6D4C2B544C74}" presName="hierRoot2" presStyleCnt="0">
        <dgm:presLayoutVars>
          <dgm:hierBranch val="init"/>
        </dgm:presLayoutVars>
      </dgm:prSet>
      <dgm:spPr/>
    </dgm:pt>
    <dgm:pt modelId="{6E6BC243-9A7F-477A-88D3-631ACC835608}" type="pres">
      <dgm:prSet presAssocID="{58977B38-A04E-47FA-92AA-6D4C2B544C74}" presName="rootComposite" presStyleCnt="0"/>
      <dgm:spPr/>
    </dgm:pt>
    <dgm:pt modelId="{06D09FC8-D248-441E-9233-B76682187E1A}" type="pres">
      <dgm:prSet presAssocID="{58977B38-A04E-47FA-92AA-6D4C2B544C74}" presName="rootText" presStyleLbl="node2" presStyleIdx="2" presStyleCnt="3">
        <dgm:presLayoutVars>
          <dgm:chPref val="3"/>
        </dgm:presLayoutVars>
      </dgm:prSet>
      <dgm:spPr/>
      <dgm:t>
        <a:bodyPr/>
        <a:lstStyle/>
        <a:p>
          <a:endParaRPr lang="en-US"/>
        </a:p>
      </dgm:t>
    </dgm:pt>
    <dgm:pt modelId="{539092B5-14F1-464C-89F1-78CC619B6E4A}" type="pres">
      <dgm:prSet presAssocID="{58977B38-A04E-47FA-92AA-6D4C2B544C74}" presName="rootConnector" presStyleLbl="node2" presStyleIdx="2" presStyleCnt="3"/>
      <dgm:spPr/>
      <dgm:t>
        <a:bodyPr/>
        <a:lstStyle/>
        <a:p>
          <a:endParaRPr lang="en-US"/>
        </a:p>
      </dgm:t>
    </dgm:pt>
    <dgm:pt modelId="{8B8D5EE8-9B17-411D-8CB3-0B9356FC260A}" type="pres">
      <dgm:prSet presAssocID="{58977B38-A04E-47FA-92AA-6D4C2B544C74}" presName="hierChild4" presStyleCnt="0"/>
      <dgm:spPr/>
    </dgm:pt>
    <dgm:pt modelId="{AF58DB8C-94BC-4BE7-9490-EBD4C51C9399}" type="pres">
      <dgm:prSet presAssocID="{F757C485-668D-4A80-B536-8A88E1350817}" presName="Name64" presStyleLbl="parChTrans1D3" presStyleIdx="2" presStyleCnt="3"/>
      <dgm:spPr/>
      <dgm:t>
        <a:bodyPr/>
        <a:lstStyle/>
        <a:p>
          <a:endParaRPr lang="en-US"/>
        </a:p>
      </dgm:t>
    </dgm:pt>
    <dgm:pt modelId="{4CFABB97-C093-474E-9754-840FE64F4872}" type="pres">
      <dgm:prSet presAssocID="{E785546B-5AD5-4DC3-8677-743F093BCE6A}" presName="hierRoot2" presStyleCnt="0">
        <dgm:presLayoutVars>
          <dgm:hierBranch val="init"/>
        </dgm:presLayoutVars>
      </dgm:prSet>
      <dgm:spPr/>
    </dgm:pt>
    <dgm:pt modelId="{CF38BF80-7A4E-44EA-96E0-C58D8828DC60}" type="pres">
      <dgm:prSet presAssocID="{E785546B-5AD5-4DC3-8677-743F093BCE6A}" presName="rootComposite" presStyleCnt="0"/>
      <dgm:spPr/>
    </dgm:pt>
    <dgm:pt modelId="{65EA440F-FF64-4A5B-A079-FF16BC4E9E31}" type="pres">
      <dgm:prSet presAssocID="{E785546B-5AD5-4DC3-8677-743F093BCE6A}" presName="rootText" presStyleLbl="node3" presStyleIdx="2" presStyleCnt="3">
        <dgm:presLayoutVars>
          <dgm:chPref val="3"/>
        </dgm:presLayoutVars>
      </dgm:prSet>
      <dgm:spPr/>
      <dgm:t>
        <a:bodyPr/>
        <a:lstStyle/>
        <a:p>
          <a:endParaRPr lang="en-US"/>
        </a:p>
      </dgm:t>
    </dgm:pt>
    <dgm:pt modelId="{ED6892DD-FF9C-4DFB-8764-49349CBF8524}" type="pres">
      <dgm:prSet presAssocID="{E785546B-5AD5-4DC3-8677-743F093BCE6A}" presName="rootConnector" presStyleLbl="node3" presStyleIdx="2" presStyleCnt="3"/>
      <dgm:spPr/>
      <dgm:t>
        <a:bodyPr/>
        <a:lstStyle/>
        <a:p>
          <a:endParaRPr lang="en-US"/>
        </a:p>
      </dgm:t>
    </dgm:pt>
    <dgm:pt modelId="{640A03C1-7399-49F3-B81F-D1172E6DC1A3}" type="pres">
      <dgm:prSet presAssocID="{E785546B-5AD5-4DC3-8677-743F093BCE6A}" presName="hierChild4" presStyleCnt="0"/>
      <dgm:spPr/>
    </dgm:pt>
    <dgm:pt modelId="{EB087944-9946-4600-8BA9-02DA4B53B141}" type="pres">
      <dgm:prSet presAssocID="{E785546B-5AD5-4DC3-8677-743F093BCE6A}" presName="hierChild5" presStyleCnt="0"/>
      <dgm:spPr/>
    </dgm:pt>
    <dgm:pt modelId="{FA9DB648-5A09-438E-9ECB-6C36D728D111}" type="pres">
      <dgm:prSet presAssocID="{58977B38-A04E-47FA-92AA-6D4C2B544C74}" presName="hierChild5" presStyleCnt="0"/>
      <dgm:spPr/>
    </dgm:pt>
    <dgm:pt modelId="{1385A3CC-37F9-4799-8196-FB6C25448209}" type="pres">
      <dgm:prSet presAssocID="{9496F357-5658-4300-B9F3-9CFBBCC477E5}" presName="hierChild3" presStyleCnt="0"/>
      <dgm:spPr/>
    </dgm:pt>
  </dgm:ptLst>
  <dgm:cxnLst>
    <dgm:cxn modelId="{94C60A05-2EC1-454C-8F0A-08A7C6C295FD}" type="presOf" srcId="{C5D9BA20-3E10-4B0B-85D7-6515A86F4533}" destId="{01A6163E-BB11-4298-B52A-1C3B5DF4FE03}" srcOrd="0" destOrd="0" presId="urn:microsoft.com/office/officeart/2009/3/layout/HorizontalOrganizationChart"/>
    <dgm:cxn modelId="{3C2DA76C-3C54-4BC5-87CF-39C7BF9C6E31}" type="presOf" srcId="{9496F357-5658-4300-B9F3-9CFBBCC477E5}" destId="{E2BEA9D9-6D65-4874-9D8B-8E02DD67FB27}" srcOrd="0" destOrd="0" presId="urn:microsoft.com/office/officeart/2009/3/layout/HorizontalOrganizationChart"/>
    <dgm:cxn modelId="{8E3C6721-48F6-4487-8351-80F49D206B08}" type="presOf" srcId="{832F3FDA-E6BF-4AE4-A721-5E4E79C3E9B4}" destId="{09648BEC-29D8-4CA5-961D-E8F05F5AB2FB}" srcOrd="0" destOrd="0" presId="urn:microsoft.com/office/officeart/2009/3/layout/HorizontalOrganizationChart"/>
    <dgm:cxn modelId="{F434F756-0835-4827-BEDA-AD65F535610A}" type="presOf" srcId="{4EEEF758-E809-48DA-8660-B0577EE0CC60}" destId="{E2826750-C6C8-4346-BF4D-372664812A1D}" srcOrd="0" destOrd="0" presId="urn:microsoft.com/office/officeart/2009/3/layout/HorizontalOrganizationChart"/>
    <dgm:cxn modelId="{FD48E88B-5757-49CD-B23B-A1D23C7AA520}" type="presOf" srcId="{832F3FDA-E6BF-4AE4-A721-5E4E79C3E9B4}" destId="{46D5B122-CD70-4426-9F21-5ED1E79B169B}" srcOrd="1" destOrd="0" presId="urn:microsoft.com/office/officeart/2009/3/layout/HorizontalOrganizationChart"/>
    <dgm:cxn modelId="{32710853-96BA-486C-834C-2B569989B7BD}" type="presOf" srcId="{0E69DD72-15C2-43D0-880D-97989CC2320B}" destId="{A54F70D0-2464-4D05-9A1E-1F52F76A3FD1}" srcOrd="0" destOrd="0" presId="urn:microsoft.com/office/officeart/2009/3/layout/HorizontalOrganizationChart"/>
    <dgm:cxn modelId="{3541750A-3B67-446D-977C-CB9B3E71CF59}" type="presOf" srcId="{9496F357-5658-4300-B9F3-9CFBBCC477E5}" destId="{DDF43EE5-8347-4F9C-9459-68E47087A9AA}" srcOrd="1" destOrd="0" presId="urn:microsoft.com/office/officeart/2009/3/layout/HorizontalOrganizationChart"/>
    <dgm:cxn modelId="{F1267C7E-3B9B-4868-B1C4-74BE4CC6A49D}" type="presOf" srcId="{E785546B-5AD5-4DC3-8677-743F093BCE6A}" destId="{65EA440F-FF64-4A5B-A079-FF16BC4E9E31}" srcOrd="0" destOrd="0" presId="urn:microsoft.com/office/officeart/2009/3/layout/HorizontalOrganizationChart"/>
    <dgm:cxn modelId="{ABBBA676-E39B-4208-BDE5-55BA5ABE9558}" srcId="{9496F357-5658-4300-B9F3-9CFBBCC477E5}" destId="{0E69DD72-15C2-43D0-880D-97989CC2320B}" srcOrd="0" destOrd="0" parTransId="{B085E63B-65A5-4E61-BE95-A16E93D7FAB5}" sibTransId="{544F2317-94CD-42D1-BAE3-3E1DC2C3FC5A}"/>
    <dgm:cxn modelId="{86BFE834-E6A4-4FA7-906C-0AF8CB193A08}" type="presOf" srcId="{113B4302-741F-43AC-A6F0-3679124804C8}" destId="{0880BBD6-E0ED-4FE2-99C2-D6E28315AD5D}" srcOrd="0" destOrd="0" presId="urn:microsoft.com/office/officeart/2009/3/layout/HorizontalOrganizationChart"/>
    <dgm:cxn modelId="{40D551CD-3D84-4B61-B0D0-000F73C9DA75}" srcId="{58977B38-A04E-47FA-92AA-6D4C2B544C74}" destId="{E785546B-5AD5-4DC3-8677-743F093BCE6A}" srcOrd="0" destOrd="0" parTransId="{F757C485-668D-4A80-B536-8A88E1350817}" sibTransId="{4FB68F23-C5C9-489C-8304-EB92FFDA909E}"/>
    <dgm:cxn modelId="{6EA22AE4-3A39-48DB-857A-DE3CFCB5E6B3}" type="presOf" srcId="{E785546B-5AD5-4DC3-8677-743F093BCE6A}" destId="{ED6892DD-FF9C-4DFB-8764-49349CBF8524}" srcOrd="1" destOrd="0" presId="urn:microsoft.com/office/officeart/2009/3/layout/HorizontalOrganizationChart"/>
    <dgm:cxn modelId="{6B4F526F-4562-4A10-90BB-D704D217641D}" type="presOf" srcId="{58977B38-A04E-47FA-92AA-6D4C2B544C74}" destId="{06D09FC8-D248-441E-9233-B76682187E1A}" srcOrd="0" destOrd="0" presId="urn:microsoft.com/office/officeart/2009/3/layout/HorizontalOrganizationChart"/>
    <dgm:cxn modelId="{41B04877-BDAC-4EEF-B37E-C713696C0794}" srcId="{0E69DD72-15C2-43D0-880D-97989CC2320B}" destId="{832F3FDA-E6BF-4AE4-A721-5E4E79C3E9B4}" srcOrd="0" destOrd="0" parTransId="{257EA1EC-30AD-440F-ACD3-9883B97C34DD}" sibTransId="{66EFD99F-BC12-4803-8168-0C1CC0376339}"/>
    <dgm:cxn modelId="{A643AF0F-A9D2-44CB-BB5D-795494E7E86F}" srcId="{113B4302-741F-43AC-A6F0-3679124804C8}" destId="{4EEEF758-E809-48DA-8660-B0577EE0CC60}" srcOrd="0" destOrd="0" parTransId="{D5DC4A32-F339-411F-B6BD-A9D2C40D55C1}" sibTransId="{1EC2EDA8-153F-4745-B17C-8C51DD9A4790}"/>
    <dgm:cxn modelId="{EB258ACA-8FDE-42F1-94ED-C4D22BCC7592}" srcId="{9496F357-5658-4300-B9F3-9CFBBCC477E5}" destId="{58977B38-A04E-47FA-92AA-6D4C2B544C74}" srcOrd="2" destOrd="0" parTransId="{C5D9BA20-3E10-4B0B-85D7-6515A86F4533}" sibTransId="{123D2A55-3DA2-4CBD-92EE-FF5AB7F1791C}"/>
    <dgm:cxn modelId="{8F98D1D4-2B91-4CEE-9B48-6578A1A64DD5}" type="presOf" srcId="{6853392E-FB2D-4561-82DB-971331E3A6E2}" destId="{7BDAA8FB-75E0-4483-864E-5DF0FA5715E5}" srcOrd="0" destOrd="0" presId="urn:microsoft.com/office/officeart/2009/3/layout/HorizontalOrganizationChart"/>
    <dgm:cxn modelId="{8AB6488A-1512-4696-BB7A-F52C8433C55C}" type="presOf" srcId="{4EEEF758-E809-48DA-8660-B0577EE0CC60}" destId="{6AB66A8A-8960-480A-9742-346F19192A08}" srcOrd="1" destOrd="0" presId="urn:microsoft.com/office/officeart/2009/3/layout/HorizontalOrganizationChart"/>
    <dgm:cxn modelId="{BF796FC9-D0F9-4B55-BD6E-CBCC3C1F4CC0}" type="presOf" srcId="{0E69DD72-15C2-43D0-880D-97989CC2320B}" destId="{40DC05A7-138E-4307-84D2-5B1830DD1CD8}" srcOrd="1" destOrd="0" presId="urn:microsoft.com/office/officeart/2009/3/layout/HorizontalOrganizationChart"/>
    <dgm:cxn modelId="{2D1165FF-4A78-4284-AE95-28C22539D170}" type="presOf" srcId="{D5DC4A32-F339-411F-B6BD-A9D2C40D55C1}" destId="{9FE0D9AC-34CE-4298-A356-D0C251A2249C}" srcOrd="0" destOrd="0" presId="urn:microsoft.com/office/officeart/2009/3/layout/HorizontalOrganizationChart"/>
    <dgm:cxn modelId="{4A410EF5-8959-41BF-8386-670C6615F276}" type="presOf" srcId="{B085E63B-65A5-4E61-BE95-A16E93D7FAB5}" destId="{DDD2DFA9-2C99-45F3-B103-3861186D9C2F}" srcOrd="0" destOrd="0" presId="urn:microsoft.com/office/officeart/2009/3/layout/HorizontalOrganizationChart"/>
    <dgm:cxn modelId="{AA0FEEEC-A062-453D-B659-2F20E8DFC5CA}" type="presOf" srcId="{58977B38-A04E-47FA-92AA-6D4C2B544C74}" destId="{539092B5-14F1-464C-89F1-78CC619B6E4A}" srcOrd="1" destOrd="0" presId="urn:microsoft.com/office/officeart/2009/3/layout/HorizontalOrganizationChart"/>
    <dgm:cxn modelId="{9A064AA9-49B7-4822-AD39-99D96F4466F6}" srcId="{9496F357-5658-4300-B9F3-9CFBBCC477E5}" destId="{113B4302-741F-43AC-A6F0-3679124804C8}" srcOrd="1" destOrd="0" parTransId="{6853392E-FB2D-4561-82DB-971331E3A6E2}" sibTransId="{90FFBB6B-27F1-43E6-980A-FEA9A2C220B1}"/>
    <dgm:cxn modelId="{99D4CEDF-2FE2-4766-9C3E-16049EC8EAD1}" type="presOf" srcId="{F757C485-668D-4A80-B536-8A88E1350817}" destId="{AF58DB8C-94BC-4BE7-9490-EBD4C51C9399}" srcOrd="0" destOrd="0" presId="urn:microsoft.com/office/officeart/2009/3/layout/HorizontalOrganizationChart"/>
    <dgm:cxn modelId="{1C5B9E7E-4333-4DDD-A146-CD205C9F1397}" type="presOf" srcId="{113B4302-741F-43AC-A6F0-3679124804C8}" destId="{D2123B0A-9F14-4EE5-BB0C-70994E9331FB}" srcOrd="1" destOrd="0" presId="urn:microsoft.com/office/officeart/2009/3/layout/HorizontalOrganizationChart"/>
    <dgm:cxn modelId="{0B10B113-0616-4262-8A0F-1662D68F30F5}" type="presOf" srcId="{257EA1EC-30AD-440F-ACD3-9883B97C34DD}" destId="{07DAD1F1-4C0A-45F4-9CD0-1CB78814019A}" srcOrd="0" destOrd="0" presId="urn:microsoft.com/office/officeart/2009/3/layout/HorizontalOrganizationChart"/>
    <dgm:cxn modelId="{78D89364-9240-4375-AF3E-6FE22051350C}" type="presOf" srcId="{93154C95-869E-4E53-86DA-F430D73A5203}" destId="{31332DF5-5068-44C5-A3DC-638A5574FBCD}" srcOrd="0" destOrd="0" presId="urn:microsoft.com/office/officeart/2009/3/layout/HorizontalOrganizationChart"/>
    <dgm:cxn modelId="{21F75E9B-7FE0-4B83-BC45-F84938FF7099}" srcId="{93154C95-869E-4E53-86DA-F430D73A5203}" destId="{9496F357-5658-4300-B9F3-9CFBBCC477E5}" srcOrd="0" destOrd="0" parTransId="{AA5501DF-E1B3-4225-820B-B63E46A658C2}" sibTransId="{0624F6ED-3864-4D38-ADEF-4C7ADFF334E0}"/>
    <dgm:cxn modelId="{FD16779E-2C91-40A8-9F56-B040303F7DE0}" type="presParOf" srcId="{31332DF5-5068-44C5-A3DC-638A5574FBCD}" destId="{A2AE1D4F-9C9C-4E5C-9CE0-15FB765FE8E2}" srcOrd="0" destOrd="0" presId="urn:microsoft.com/office/officeart/2009/3/layout/HorizontalOrganizationChart"/>
    <dgm:cxn modelId="{96E7CA0D-3DCA-46CA-B8DB-B509AFB9AD35}" type="presParOf" srcId="{A2AE1D4F-9C9C-4E5C-9CE0-15FB765FE8E2}" destId="{C88CDA62-DA7F-4EAB-8707-3D1D03E10090}" srcOrd="0" destOrd="0" presId="urn:microsoft.com/office/officeart/2009/3/layout/HorizontalOrganizationChart"/>
    <dgm:cxn modelId="{41E85C88-013E-400E-8578-ECE87C0B83AB}" type="presParOf" srcId="{C88CDA62-DA7F-4EAB-8707-3D1D03E10090}" destId="{E2BEA9D9-6D65-4874-9D8B-8E02DD67FB27}" srcOrd="0" destOrd="0" presId="urn:microsoft.com/office/officeart/2009/3/layout/HorizontalOrganizationChart"/>
    <dgm:cxn modelId="{75F0382C-3388-4EF3-BEE3-58251203260C}" type="presParOf" srcId="{C88CDA62-DA7F-4EAB-8707-3D1D03E10090}" destId="{DDF43EE5-8347-4F9C-9459-68E47087A9AA}" srcOrd="1" destOrd="0" presId="urn:microsoft.com/office/officeart/2009/3/layout/HorizontalOrganizationChart"/>
    <dgm:cxn modelId="{FE294776-A262-46A3-A4B9-7E456007F44C}" type="presParOf" srcId="{A2AE1D4F-9C9C-4E5C-9CE0-15FB765FE8E2}" destId="{40C4DEFD-56B5-4351-95D7-BCB723764F79}" srcOrd="1" destOrd="0" presId="urn:microsoft.com/office/officeart/2009/3/layout/HorizontalOrganizationChart"/>
    <dgm:cxn modelId="{32C02671-38B3-42AF-AFA9-BDC402B9FA6D}" type="presParOf" srcId="{40C4DEFD-56B5-4351-95D7-BCB723764F79}" destId="{DDD2DFA9-2C99-45F3-B103-3861186D9C2F}" srcOrd="0" destOrd="0" presId="urn:microsoft.com/office/officeart/2009/3/layout/HorizontalOrganizationChart"/>
    <dgm:cxn modelId="{DE52EB84-F05C-4D75-A31D-50563E81D51E}" type="presParOf" srcId="{40C4DEFD-56B5-4351-95D7-BCB723764F79}" destId="{AA396EA6-F4DC-44D7-9EC3-FDEAE7F1C87D}" srcOrd="1" destOrd="0" presId="urn:microsoft.com/office/officeart/2009/3/layout/HorizontalOrganizationChart"/>
    <dgm:cxn modelId="{8CF572D0-7D0C-4FEF-B5F7-1275AF559C4A}" type="presParOf" srcId="{AA396EA6-F4DC-44D7-9EC3-FDEAE7F1C87D}" destId="{82F46566-8884-4028-B63E-7E0B87D5FC4D}" srcOrd="0" destOrd="0" presId="urn:microsoft.com/office/officeart/2009/3/layout/HorizontalOrganizationChart"/>
    <dgm:cxn modelId="{9D69FCD9-38E7-447B-B10B-A29296698183}" type="presParOf" srcId="{82F46566-8884-4028-B63E-7E0B87D5FC4D}" destId="{A54F70D0-2464-4D05-9A1E-1F52F76A3FD1}" srcOrd="0" destOrd="0" presId="urn:microsoft.com/office/officeart/2009/3/layout/HorizontalOrganizationChart"/>
    <dgm:cxn modelId="{76AB1D38-0262-4F2B-A453-03FB903B7B4F}" type="presParOf" srcId="{82F46566-8884-4028-B63E-7E0B87D5FC4D}" destId="{40DC05A7-138E-4307-84D2-5B1830DD1CD8}" srcOrd="1" destOrd="0" presId="urn:microsoft.com/office/officeart/2009/3/layout/HorizontalOrganizationChart"/>
    <dgm:cxn modelId="{F8F0A20A-B03E-49D6-9CEB-88EC136FD207}" type="presParOf" srcId="{AA396EA6-F4DC-44D7-9EC3-FDEAE7F1C87D}" destId="{7A901FD3-5081-4FAD-A7BF-912888ABD88D}" srcOrd="1" destOrd="0" presId="urn:microsoft.com/office/officeart/2009/3/layout/HorizontalOrganizationChart"/>
    <dgm:cxn modelId="{40C29EA2-C067-46A6-95CA-5A7B190FA4B6}" type="presParOf" srcId="{7A901FD3-5081-4FAD-A7BF-912888ABD88D}" destId="{07DAD1F1-4C0A-45F4-9CD0-1CB78814019A}" srcOrd="0" destOrd="0" presId="urn:microsoft.com/office/officeart/2009/3/layout/HorizontalOrganizationChart"/>
    <dgm:cxn modelId="{4668CCB1-723D-4D1D-913E-05E8B3730441}" type="presParOf" srcId="{7A901FD3-5081-4FAD-A7BF-912888ABD88D}" destId="{C9C69191-90FA-4E3F-8AA1-9A3A49612B04}" srcOrd="1" destOrd="0" presId="urn:microsoft.com/office/officeart/2009/3/layout/HorizontalOrganizationChart"/>
    <dgm:cxn modelId="{2F65771A-94FC-4231-9D46-51D019CBA54E}" type="presParOf" srcId="{C9C69191-90FA-4E3F-8AA1-9A3A49612B04}" destId="{0ABE4FFB-D93E-4045-A84E-0C2BC6A98346}" srcOrd="0" destOrd="0" presId="urn:microsoft.com/office/officeart/2009/3/layout/HorizontalOrganizationChart"/>
    <dgm:cxn modelId="{A976084C-6FBA-4FDD-A821-30A9D960F2C4}" type="presParOf" srcId="{0ABE4FFB-D93E-4045-A84E-0C2BC6A98346}" destId="{09648BEC-29D8-4CA5-961D-E8F05F5AB2FB}" srcOrd="0" destOrd="0" presId="urn:microsoft.com/office/officeart/2009/3/layout/HorizontalOrganizationChart"/>
    <dgm:cxn modelId="{B0B3F522-2797-436D-AC7A-3B722E940D85}" type="presParOf" srcId="{0ABE4FFB-D93E-4045-A84E-0C2BC6A98346}" destId="{46D5B122-CD70-4426-9F21-5ED1E79B169B}" srcOrd="1" destOrd="0" presId="urn:microsoft.com/office/officeart/2009/3/layout/HorizontalOrganizationChart"/>
    <dgm:cxn modelId="{930A7621-E20B-4A16-9576-EDA23D8587BD}" type="presParOf" srcId="{C9C69191-90FA-4E3F-8AA1-9A3A49612B04}" destId="{F5363ED4-B500-46DB-9865-83CEAAE1DC43}" srcOrd="1" destOrd="0" presId="urn:microsoft.com/office/officeart/2009/3/layout/HorizontalOrganizationChart"/>
    <dgm:cxn modelId="{AB09AF3C-83A5-4E76-8F16-03C486A6085F}" type="presParOf" srcId="{C9C69191-90FA-4E3F-8AA1-9A3A49612B04}" destId="{F04C0791-218A-4AEE-AAC7-00C4A1689B56}" srcOrd="2" destOrd="0" presId="urn:microsoft.com/office/officeart/2009/3/layout/HorizontalOrganizationChart"/>
    <dgm:cxn modelId="{32959CDF-1B89-4E5A-B572-D2D5C8AD3888}" type="presParOf" srcId="{AA396EA6-F4DC-44D7-9EC3-FDEAE7F1C87D}" destId="{933427BF-01DF-4721-ACEF-2F733D349073}" srcOrd="2" destOrd="0" presId="urn:microsoft.com/office/officeart/2009/3/layout/HorizontalOrganizationChart"/>
    <dgm:cxn modelId="{FC01B7BA-39A1-42AF-B752-945F777E4556}" type="presParOf" srcId="{40C4DEFD-56B5-4351-95D7-BCB723764F79}" destId="{7BDAA8FB-75E0-4483-864E-5DF0FA5715E5}" srcOrd="2" destOrd="0" presId="urn:microsoft.com/office/officeart/2009/3/layout/HorizontalOrganizationChart"/>
    <dgm:cxn modelId="{0440EC54-6C41-42B2-A345-F1448C55ACB9}" type="presParOf" srcId="{40C4DEFD-56B5-4351-95D7-BCB723764F79}" destId="{1C952D17-BD29-4A2A-B749-C80F915CB7C1}" srcOrd="3" destOrd="0" presId="urn:microsoft.com/office/officeart/2009/3/layout/HorizontalOrganizationChart"/>
    <dgm:cxn modelId="{B3247B2D-8FB9-48A5-AE30-064F17595208}" type="presParOf" srcId="{1C952D17-BD29-4A2A-B749-C80F915CB7C1}" destId="{43559506-A740-44B0-8E0A-4408CFBEEDA6}" srcOrd="0" destOrd="0" presId="urn:microsoft.com/office/officeart/2009/3/layout/HorizontalOrganizationChart"/>
    <dgm:cxn modelId="{FB6D1A75-BACE-4AB2-82D1-6DFD7A3847A1}" type="presParOf" srcId="{43559506-A740-44B0-8E0A-4408CFBEEDA6}" destId="{0880BBD6-E0ED-4FE2-99C2-D6E28315AD5D}" srcOrd="0" destOrd="0" presId="urn:microsoft.com/office/officeart/2009/3/layout/HorizontalOrganizationChart"/>
    <dgm:cxn modelId="{C5578591-C2B1-49B1-B3E1-4B41B09A0231}" type="presParOf" srcId="{43559506-A740-44B0-8E0A-4408CFBEEDA6}" destId="{D2123B0A-9F14-4EE5-BB0C-70994E9331FB}" srcOrd="1" destOrd="0" presId="urn:microsoft.com/office/officeart/2009/3/layout/HorizontalOrganizationChart"/>
    <dgm:cxn modelId="{C22E5031-4B27-44D9-9C86-9C7E828BBBD7}" type="presParOf" srcId="{1C952D17-BD29-4A2A-B749-C80F915CB7C1}" destId="{F51B9A49-B376-4741-9F7B-1D2851546EFD}" srcOrd="1" destOrd="0" presId="urn:microsoft.com/office/officeart/2009/3/layout/HorizontalOrganizationChart"/>
    <dgm:cxn modelId="{262F6640-4B46-4516-8EF1-8D33DB9D986C}" type="presParOf" srcId="{F51B9A49-B376-4741-9F7B-1D2851546EFD}" destId="{9FE0D9AC-34CE-4298-A356-D0C251A2249C}" srcOrd="0" destOrd="0" presId="urn:microsoft.com/office/officeart/2009/3/layout/HorizontalOrganizationChart"/>
    <dgm:cxn modelId="{A510C000-C551-4EEE-B2E1-6C3F9BD0BEA7}" type="presParOf" srcId="{F51B9A49-B376-4741-9F7B-1D2851546EFD}" destId="{DE33DB7A-EBAF-48C2-B08F-785D9DBCED5C}" srcOrd="1" destOrd="0" presId="urn:microsoft.com/office/officeart/2009/3/layout/HorizontalOrganizationChart"/>
    <dgm:cxn modelId="{6FE37F47-3F98-405C-A833-85BDE4080255}" type="presParOf" srcId="{DE33DB7A-EBAF-48C2-B08F-785D9DBCED5C}" destId="{0CD80B2E-AC0F-46E2-A289-0F774EA1F29F}" srcOrd="0" destOrd="0" presId="urn:microsoft.com/office/officeart/2009/3/layout/HorizontalOrganizationChart"/>
    <dgm:cxn modelId="{CF48E8F3-7DB4-44DB-A90F-71A2FA86156E}" type="presParOf" srcId="{0CD80B2E-AC0F-46E2-A289-0F774EA1F29F}" destId="{E2826750-C6C8-4346-BF4D-372664812A1D}" srcOrd="0" destOrd="0" presId="urn:microsoft.com/office/officeart/2009/3/layout/HorizontalOrganizationChart"/>
    <dgm:cxn modelId="{C2262E93-37EA-49DA-A8F0-E702D6EE2C0C}" type="presParOf" srcId="{0CD80B2E-AC0F-46E2-A289-0F774EA1F29F}" destId="{6AB66A8A-8960-480A-9742-346F19192A08}" srcOrd="1" destOrd="0" presId="urn:microsoft.com/office/officeart/2009/3/layout/HorizontalOrganizationChart"/>
    <dgm:cxn modelId="{953355FF-5DB2-4F92-815A-5565AA657D8A}" type="presParOf" srcId="{DE33DB7A-EBAF-48C2-B08F-785D9DBCED5C}" destId="{74E35AA3-65F2-47A9-9BCF-5B51DB285619}" srcOrd="1" destOrd="0" presId="urn:microsoft.com/office/officeart/2009/3/layout/HorizontalOrganizationChart"/>
    <dgm:cxn modelId="{69A9AE35-2AC0-4E8E-9EBA-1145033BA1CF}" type="presParOf" srcId="{DE33DB7A-EBAF-48C2-B08F-785D9DBCED5C}" destId="{CB4B51EF-AB5A-4A6D-9E37-7AD3AFD7606B}" srcOrd="2" destOrd="0" presId="urn:microsoft.com/office/officeart/2009/3/layout/HorizontalOrganizationChart"/>
    <dgm:cxn modelId="{C1AF8F3F-3AD4-4DA6-9AA5-A60C6C3E0FBF}" type="presParOf" srcId="{1C952D17-BD29-4A2A-B749-C80F915CB7C1}" destId="{EA631A00-60F3-4818-8C1C-3C5CA7F41599}" srcOrd="2" destOrd="0" presId="urn:microsoft.com/office/officeart/2009/3/layout/HorizontalOrganizationChart"/>
    <dgm:cxn modelId="{6442D30E-0876-48A7-9276-5A7AC70928CE}" type="presParOf" srcId="{40C4DEFD-56B5-4351-95D7-BCB723764F79}" destId="{01A6163E-BB11-4298-B52A-1C3B5DF4FE03}" srcOrd="4" destOrd="0" presId="urn:microsoft.com/office/officeart/2009/3/layout/HorizontalOrganizationChart"/>
    <dgm:cxn modelId="{1FA31027-019C-421F-BD80-28AF959BF0C2}" type="presParOf" srcId="{40C4DEFD-56B5-4351-95D7-BCB723764F79}" destId="{E303A172-362C-4F90-9ADE-756951683633}" srcOrd="5" destOrd="0" presId="urn:microsoft.com/office/officeart/2009/3/layout/HorizontalOrganizationChart"/>
    <dgm:cxn modelId="{81541CE5-065B-4CD3-8758-C5270298582A}" type="presParOf" srcId="{E303A172-362C-4F90-9ADE-756951683633}" destId="{6E6BC243-9A7F-477A-88D3-631ACC835608}" srcOrd="0" destOrd="0" presId="urn:microsoft.com/office/officeart/2009/3/layout/HorizontalOrganizationChart"/>
    <dgm:cxn modelId="{341C3415-1907-48BA-A767-ECFFEA28F92D}" type="presParOf" srcId="{6E6BC243-9A7F-477A-88D3-631ACC835608}" destId="{06D09FC8-D248-441E-9233-B76682187E1A}" srcOrd="0" destOrd="0" presId="urn:microsoft.com/office/officeart/2009/3/layout/HorizontalOrganizationChart"/>
    <dgm:cxn modelId="{E198222D-C7BB-4CBF-945A-C8FB24D93135}" type="presParOf" srcId="{6E6BC243-9A7F-477A-88D3-631ACC835608}" destId="{539092B5-14F1-464C-89F1-78CC619B6E4A}" srcOrd="1" destOrd="0" presId="urn:microsoft.com/office/officeart/2009/3/layout/HorizontalOrganizationChart"/>
    <dgm:cxn modelId="{63624299-D2F3-4CA2-B8F5-72C879CF1625}" type="presParOf" srcId="{E303A172-362C-4F90-9ADE-756951683633}" destId="{8B8D5EE8-9B17-411D-8CB3-0B9356FC260A}" srcOrd="1" destOrd="0" presId="urn:microsoft.com/office/officeart/2009/3/layout/HorizontalOrganizationChart"/>
    <dgm:cxn modelId="{3E4CF243-50E8-4B66-861E-A227741D6171}" type="presParOf" srcId="{8B8D5EE8-9B17-411D-8CB3-0B9356FC260A}" destId="{AF58DB8C-94BC-4BE7-9490-EBD4C51C9399}" srcOrd="0" destOrd="0" presId="urn:microsoft.com/office/officeart/2009/3/layout/HorizontalOrganizationChart"/>
    <dgm:cxn modelId="{97367ABC-F8DF-4D89-85B3-3E281E974C48}" type="presParOf" srcId="{8B8D5EE8-9B17-411D-8CB3-0B9356FC260A}" destId="{4CFABB97-C093-474E-9754-840FE64F4872}" srcOrd="1" destOrd="0" presId="urn:microsoft.com/office/officeart/2009/3/layout/HorizontalOrganizationChart"/>
    <dgm:cxn modelId="{2EEE9E50-FE28-4DCF-B8D6-F6CAE6753116}" type="presParOf" srcId="{4CFABB97-C093-474E-9754-840FE64F4872}" destId="{CF38BF80-7A4E-44EA-96E0-C58D8828DC60}" srcOrd="0" destOrd="0" presId="urn:microsoft.com/office/officeart/2009/3/layout/HorizontalOrganizationChart"/>
    <dgm:cxn modelId="{9BC6B40D-6BD3-406E-A3CC-AACFDA64D20D}" type="presParOf" srcId="{CF38BF80-7A4E-44EA-96E0-C58D8828DC60}" destId="{65EA440F-FF64-4A5B-A079-FF16BC4E9E31}" srcOrd="0" destOrd="0" presId="urn:microsoft.com/office/officeart/2009/3/layout/HorizontalOrganizationChart"/>
    <dgm:cxn modelId="{77159252-6F89-4A3E-8F1A-56879071154D}" type="presParOf" srcId="{CF38BF80-7A4E-44EA-96E0-C58D8828DC60}" destId="{ED6892DD-FF9C-4DFB-8764-49349CBF8524}" srcOrd="1" destOrd="0" presId="urn:microsoft.com/office/officeart/2009/3/layout/HorizontalOrganizationChart"/>
    <dgm:cxn modelId="{40D068ED-189F-40F2-993A-EDCE9E33383C}" type="presParOf" srcId="{4CFABB97-C093-474E-9754-840FE64F4872}" destId="{640A03C1-7399-49F3-B81F-D1172E6DC1A3}" srcOrd="1" destOrd="0" presId="urn:microsoft.com/office/officeart/2009/3/layout/HorizontalOrganizationChart"/>
    <dgm:cxn modelId="{4F079466-69C5-4452-96D3-ABCBF72FBD4E}" type="presParOf" srcId="{4CFABB97-C093-474E-9754-840FE64F4872}" destId="{EB087944-9946-4600-8BA9-02DA4B53B141}" srcOrd="2" destOrd="0" presId="urn:microsoft.com/office/officeart/2009/3/layout/HorizontalOrganizationChart"/>
    <dgm:cxn modelId="{35B0D137-2BC7-4FE2-AAD0-88E04794E378}" type="presParOf" srcId="{E303A172-362C-4F90-9ADE-756951683633}" destId="{FA9DB648-5A09-438E-9ECB-6C36D728D111}" srcOrd="2" destOrd="0" presId="urn:microsoft.com/office/officeart/2009/3/layout/HorizontalOrganizationChart"/>
    <dgm:cxn modelId="{5CC431C1-BD0C-4944-AA98-08498EC19BD5}" type="presParOf" srcId="{A2AE1D4F-9C9C-4E5C-9CE0-15FB765FE8E2}" destId="{1385A3CC-37F9-4799-8196-FB6C25448209}"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7A0BAE25-625E-4B10-86FF-8CC9BBA8372D}" type="doc">
      <dgm:prSet loTypeId="urn:microsoft.com/office/officeart/2005/8/layout/chevron2" loCatId="list" qsTypeId="urn:microsoft.com/office/officeart/2005/8/quickstyle/3d1" qsCatId="3D" csTypeId="urn:microsoft.com/office/officeart/2005/8/colors/colorful4" csCatId="colorful" phldr="1"/>
      <dgm:spPr/>
      <dgm:t>
        <a:bodyPr/>
        <a:lstStyle/>
        <a:p>
          <a:endParaRPr lang="en-US"/>
        </a:p>
      </dgm:t>
    </dgm:pt>
    <dgm:pt modelId="{8C19E6DA-5E3B-4AE3-A0C6-B055C3D5C87F}">
      <dgm:prSet phldrT="[Text]"/>
      <dgm:spPr/>
      <dgm:t>
        <a:bodyPr/>
        <a:lstStyle/>
        <a:p>
          <a:pPr algn="just"/>
          <a:r>
            <a:rPr lang="en-IN" b="1" dirty="0">
              <a:solidFill>
                <a:schemeClr val="tx1"/>
              </a:solidFill>
              <a:latin typeface="Times New Roman" panose="02020603050405020304" pitchFamily="18" charset="0"/>
              <a:cs typeface="Times New Roman" panose="02020603050405020304" pitchFamily="18" charset="0"/>
            </a:rPr>
            <a:t>Micro Computer </a:t>
          </a:r>
          <a:endParaRPr lang="en-US" b="1" dirty="0">
            <a:solidFill>
              <a:schemeClr val="tx1"/>
            </a:solidFill>
            <a:latin typeface="Times New Roman" panose="02020603050405020304" pitchFamily="18" charset="0"/>
            <a:cs typeface="Times New Roman" panose="02020603050405020304" pitchFamily="18" charset="0"/>
          </a:endParaRPr>
        </a:p>
      </dgm:t>
    </dgm:pt>
    <dgm:pt modelId="{AA88E513-36CE-44C5-A910-B6AC865206E3}" type="parTrans" cxnId="{845F0A4D-C0A8-481E-990A-E16CA298A42C}">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22A50981-3A49-4D10-B8EE-96CD5C900889}" type="sibTrans" cxnId="{845F0A4D-C0A8-481E-990A-E16CA298A42C}">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4CE2832E-8BF9-4183-8BE9-42F5A6B272A8}">
      <dgm:prSet phldrT="[Text]"/>
      <dgm:spPr/>
      <dgm:t>
        <a:bodyPr/>
        <a:lstStyle/>
        <a:p>
          <a:pPr algn="just"/>
          <a:r>
            <a:rPr lang="en-GB" b="0" dirty="0">
              <a:latin typeface="Times New Roman" panose="02020603050405020304" pitchFamily="18" charset="0"/>
              <a:cs typeface="Times New Roman" panose="02020603050405020304" pitchFamily="18" charset="0"/>
            </a:rPr>
            <a:t>A personal computer; designed to meet the computer needs  of  an  individual. Provides access to a wide variety of computing applications, such as word processing, photo editing, e-mail, and internet. </a:t>
          </a:r>
          <a:endParaRPr lang="en-US" b="0" dirty="0">
            <a:solidFill>
              <a:schemeClr val="tx1"/>
            </a:solidFill>
            <a:latin typeface="Times New Roman" panose="02020603050405020304" pitchFamily="18" charset="0"/>
            <a:cs typeface="Times New Roman" panose="02020603050405020304" pitchFamily="18" charset="0"/>
          </a:endParaRPr>
        </a:p>
      </dgm:t>
    </dgm:pt>
    <dgm:pt modelId="{874ED168-A7FB-4C67-8E72-BA24A619AAFF}" type="parTrans" cxnId="{C3AA9B94-E1CA-425E-BC33-0747B671C6AC}">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2583F9E1-3F02-469F-BD7E-C1A7FED816A3}" type="sibTrans" cxnId="{C3AA9B94-E1CA-425E-BC33-0747B671C6AC}">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037EAA6E-A1B9-4F99-A712-18B39A0A3BE7}">
      <dgm:prSet phldrT="[Text]"/>
      <dgm:spPr/>
      <dgm:t>
        <a:bodyPr/>
        <a:lstStyle/>
        <a:p>
          <a:pPr algn="just"/>
          <a:r>
            <a:rPr lang="en-IN" b="1" dirty="0">
              <a:solidFill>
                <a:schemeClr val="tx1"/>
              </a:solidFill>
              <a:latin typeface="Times New Roman" panose="02020603050405020304" pitchFamily="18" charset="0"/>
              <a:cs typeface="Times New Roman" panose="02020603050405020304" pitchFamily="18" charset="0"/>
            </a:rPr>
            <a:t>Laptop Computer </a:t>
          </a:r>
          <a:endParaRPr lang="en-US" b="1" dirty="0">
            <a:solidFill>
              <a:schemeClr val="tx1"/>
            </a:solidFill>
            <a:latin typeface="Times New Roman" panose="02020603050405020304" pitchFamily="18" charset="0"/>
            <a:cs typeface="Times New Roman" panose="02020603050405020304" pitchFamily="18" charset="0"/>
          </a:endParaRPr>
        </a:p>
      </dgm:t>
    </dgm:pt>
    <dgm:pt modelId="{289DE3D1-686F-4220-8E07-344A6B89750F}" type="parTrans" cxnId="{C221DBF6-3C7B-4A84-B31B-5AC8920991E4}">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CDA1558C-0DAA-48DC-8B9A-259F5C3910FB}" type="sibTrans" cxnId="{C221DBF6-3C7B-4A84-B31B-5AC8920991E4}">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FED4C476-5A9D-4D08-A743-49E0BA804D2A}">
      <dgm:prSet phldrT="[Text]"/>
      <dgm:spPr/>
      <dgm:t>
        <a:bodyPr/>
        <a:lstStyle/>
        <a:p>
          <a:pPr algn="just">
            <a:buFont typeface="Arial" panose="020B0604020202020204" pitchFamily="34" charset="0"/>
            <a:buChar char="•"/>
          </a:pPr>
          <a:r>
            <a:rPr lang="en-GB" b="0" dirty="0">
              <a:latin typeface="Times New Roman" panose="02020603050405020304" pitchFamily="18" charset="0"/>
              <a:cs typeface="Times New Roman" panose="02020603050405020304" pitchFamily="18" charset="0"/>
            </a:rPr>
            <a:t>A portable, compact computer that can run on power supply or a battery unit. All components are integrated as one compact unit. It is generally more expensive than a comparable desktop. It is also called a Notebook. </a:t>
          </a:r>
          <a:endParaRPr lang="en-US" b="0" dirty="0">
            <a:solidFill>
              <a:schemeClr val="tx1"/>
            </a:solidFill>
            <a:latin typeface="Times New Roman" panose="02020603050405020304" pitchFamily="18" charset="0"/>
            <a:cs typeface="Times New Roman" panose="02020603050405020304" pitchFamily="18" charset="0"/>
          </a:endParaRPr>
        </a:p>
      </dgm:t>
    </dgm:pt>
    <dgm:pt modelId="{882754FE-CF1F-4EF7-8854-BD1753AA313F}" type="parTrans" cxnId="{2E91AF7A-37D7-4FA9-A2A0-FA2D148D0893}">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7AD5A673-6A18-416A-B5DC-05008574FC24}" type="sibTrans" cxnId="{2E91AF7A-37D7-4FA9-A2A0-FA2D148D0893}">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62632D82-74C5-4426-82EB-DD063F0A9532}">
      <dgm:prSet phldrT="[Text]"/>
      <dgm:spPr/>
      <dgm:t>
        <a:bodyPr/>
        <a:lstStyle/>
        <a:p>
          <a:pPr algn="just"/>
          <a:r>
            <a:rPr lang="en-IN" b="1" dirty="0">
              <a:solidFill>
                <a:schemeClr val="tx1"/>
              </a:solidFill>
              <a:latin typeface="Times New Roman" panose="02020603050405020304" pitchFamily="18" charset="0"/>
              <a:cs typeface="Times New Roman" panose="02020603050405020304" pitchFamily="18" charset="0"/>
            </a:rPr>
            <a:t>Work Station </a:t>
          </a:r>
          <a:endParaRPr lang="en-US" b="1" dirty="0">
            <a:solidFill>
              <a:schemeClr val="tx1"/>
            </a:solidFill>
            <a:latin typeface="Times New Roman" panose="02020603050405020304" pitchFamily="18" charset="0"/>
            <a:cs typeface="Times New Roman" panose="02020603050405020304" pitchFamily="18" charset="0"/>
          </a:endParaRPr>
        </a:p>
      </dgm:t>
    </dgm:pt>
    <dgm:pt modelId="{AECCBE76-5CDC-4F2D-9002-9112ACE3E931}" type="parTrans" cxnId="{12180196-7713-4C0D-9734-B03C10A6EBDD}">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06083230-970C-4488-950F-C1F25105C418}" type="sibTrans" cxnId="{12180196-7713-4C0D-9734-B03C10A6EBDD}">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784965FA-8601-4FCF-BD63-614CEC480D74}">
      <dgm:prSet phldrT="[Text]"/>
      <dgm:spPr/>
      <dgm:t>
        <a:bodyPr/>
        <a:lstStyle/>
        <a:p>
          <a:pPr algn="just"/>
          <a:r>
            <a:rPr lang="en-GB" b="0" dirty="0">
              <a:latin typeface="Times New Roman" panose="02020603050405020304" pitchFamily="18" charset="0"/>
              <a:cs typeface="Times New Roman" panose="02020603050405020304" pitchFamily="18" charset="0"/>
            </a:rPr>
            <a:t>Powerful desktop computer designed for specialized tasks. Generally used for tasks that requires a lot of processing speed. Can also be an ordinary personal computer attached to a LAN (local area network). </a:t>
          </a:r>
          <a:endParaRPr lang="en-US" b="0" dirty="0">
            <a:solidFill>
              <a:schemeClr val="tx1"/>
            </a:solidFill>
            <a:latin typeface="Times New Roman" panose="02020603050405020304" pitchFamily="18" charset="0"/>
            <a:cs typeface="Times New Roman" panose="02020603050405020304" pitchFamily="18" charset="0"/>
          </a:endParaRPr>
        </a:p>
      </dgm:t>
    </dgm:pt>
    <dgm:pt modelId="{5EDE70B3-2558-4044-ADCF-EE1D9DAEFDC4}" type="parTrans" cxnId="{A2CD53B1-01B9-450D-8A36-39989CE4095C}">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05903D6A-A52F-4DA5-868C-29A6852E2C4D}" type="sibTrans" cxnId="{A2CD53B1-01B9-450D-8A36-39989CE4095C}">
      <dgm:prSet/>
      <dgm:spPr/>
      <dgm:t>
        <a:bodyPr/>
        <a:lstStyle/>
        <a:p>
          <a:pPr algn="just"/>
          <a:endParaRPr lang="en-US" b="1">
            <a:solidFill>
              <a:schemeClr val="tx1"/>
            </a:solidFill>
            <a:latin typeface="Times New Roman" panose="02020603050405020304" pitchFamily="18" charset="0"/>
            <a:cs typeface="Times New Roman" panose="02020603050405020304" pitchFamily="18" charset="0"/>
          </a:endParaRPr>
        </a:p>
      </dgm:t>
    </dgm:pt>
    <dgm:pt modelId="{670557DE-F5D3-4C16-85AA-DEE0DC5CB348}" type="pres">
      <dgm:prSet presAssocID="{7A0BAE25-625E-4B10-86FF-8CC9BBA8372D}" presName="linearFlow" presStyleCnt="0">
        <dgm:presLayoutVars>
          <dgm:dir/>
          <dgm:animLvl val="lvl"/>
          <dgm:resizeHandles val="exact"/>
        </dgm:presLayoutVars>
      </dgm:prSet>
      <dgm:spPr/>
      <dgm:t>
        <a:bodyPr/>
        <a:lstStyle/>
        <a:p>
          <a:endParaRPr lang="en-US"/>
        </a:p>
      </dgm:t>
    </dgm:pt>
    <dgm:pt modelId="{DC429CB4-75B2-4164-8EEC-92959B1FBC68}" type="pres">
      <dgm:prSet presAssocID="{8C19E6DA-5E3B-4AE3-A0C6-B055C3D5C87F}" presName="composite" presStyleCnt="0"/>
      <dgm:spPr/>
    </dgm:pt>
    <dgm:pt modelId="{B41150EF-051F-4C95-9BF9-F63A7C293DB8}" type="pres">
      <dgm:prSet presAssocID="{8C19E6DA-5E3B-4AE3-A0C6-B055C3D5C87F}" presName="parentText" presStyleLbl="alignNode1" presStyleIdx="0" presStyleCnt="3">
        <dgm:presLayoutVars>
          <dgm:chMax val="1"/>
          <dgm:bulletEnabled val="1"/>
        </dgm:presLayoutVars>
      </dgm:prSet>
      <dgm:spPr/>
      <dgm:t>
        <a:bodyPr/>
        <a:lstStyle/>
        <a:p>
          <a:endParaRPr lang="en-US"/>
        </a:p>
      </dgm:t>
    </dgm:pt>
    <dgm:pt modelId="{995D9D26-EEA2-4CFF-AAD6-1C22D0600CB9}" type="pres">
      <dgm:prSet presAssocID="{8C19E6DA-5E3B-4AE3-A0C6-B055C3D5C87F}" presName="descendantText" presStyleLbl="alignAcc1" presStyleIdx="0" presStyleCnt="3">
        <dgm:presLayoutVars>
          <dgm:bulletEnabled val="1"/>
        </dgm:presLayoutVars>
      </dgm:prSet>
      <dgm:spPr/>
      <dgm:t>
        <a:bodyPr/>
        <a:lstStyle/>
        <a:p>
          <a:endParaRPr lang="en-US"/>
        </a:p>
      </dgm:t>
    </dgm:pt>
    <dgm:pt modelId="{92C4B83B-A7CE-4300-B687-0319E78EFDD0}" type="pres">
      <dgm:prSet presAssocID="{22A50981-3A49-4D10-B8EE-96CD5C900889}" presName="sp" presStyleCnt="0"/>
      <dgm:spPr/>
    </dgm:pt>
    <dgm:pt modelId="{F71A9906-6917-4F3B-ABC6-4BE8582FADBA}" type="pres">
      <dgm:prSet presAssocID="{037EAA6E-A1B9-4F99-A712-18B39A0A3BE7}" presName="composite" presStyleCnt="0"/>
      <dgm:spPr/>
    </dgm:pt>
    <dgm:pt modelId="{A37DB583-BD0C-41A6-9BA7-4150B678E078}" type="pres">
      <dgm:prSet presAssocID="{037EAA6E-A1B9-4F99-A712-18B39A0A3BE7}" presName="parentText" presStyleLbl="alignNode1" presStyleIdx="1" presStyleCnt="3">
        <dgm:presLayoutVars>
          <dgm:chMax val="1"/>
          <dgm:bulletEnabled val="1"/>
        </dgm:presLayoutVars>
      </dgm:prSet>
      <dgm:spPr/>
      <dgm:t>
        <a:bodyPr/>
        <a:lstStyle/>
        <a:p>
          <a:endParaRPr lang="en-US"/>
        </a:p>
      </dgm:t>
    </dgm:pt>
    <dgm:pt modelId="{E3B8A591-F568-4FC6-952B-B196C12656AC}" type="pres">
      <dgm:prSet presAssocID="{037EAA6E-A1B9-4F99-A712-18B39A0A3BE7}" presName="descendantText" presStyleLbl="alignAcc1" presStyleIdx="1" presStyleCnt="3">
        <dgm:presLayoutVars>
          <dgm:bulletEnabled val="1"/>
        </dgm:presLayoutVars>
      </dgm:prSet>
      <dgm:spPr/>
      <dgm:t>
        <a:bodyPr/>
        <a:lstStyle/>
        <a:p>
          <a:endParaRPr lang="en-US"/>
        </a:p>
      </dgm:t>
    </dgm:pt>
    <dgm:pt modelId="{A175A30C-36A5-4E82-8B3E-4E14172E7D66}" type="pres">
      <dgm:prSet presAssocID="{CDA1558C-0DAA-48DC-8B9A-259F5C3910FB}" presName="sp" presStyleCnt="0"/>
      <dgm:spPr/>
    </dgm:pt>
    <dgm:pt modelId="{1C6DECE2-EF3E-48B4-BBD2-BD28DE0B8013}" type="pres">
      <dgm:prSet presAssocID="{62632D82-74C5-4426-82EB-DD063F0A9532}" presName="composite" presStyleCnt="0"/>
      <dgm:spPr/>
    </dgm:pt>
    <dgm:pt modelId="{AE04C4F9-7A13-465A-92B6-389030148CAE}" type="pres">
      <dgm:prSet presAssocID="{62632D82-74C5-4426-82EB-DD063F0A9532}" presName="parentText" presStyleLbl="alignNode1" presStyleIdx="2" presStyleCnt="3">
        <dgm:presLayoutVars>
          <dgm:chMax val="1"/>
          <dgm:bulletEnabled val="1"/>
        </dgm:presLayoutVars>
      </dgm:prSet>
      <dgm:spPr/>
      <dgm:t>
        <a:bodyPr/>
        <a:lstStyle/>
        <a:p>
          <a:endParaRPr lang="en-US"/>
        </a:p>
      </dgm:t>
    </dgm:pt>
    <dgm:pt modelId="{F1D1FE19-5488-48C0-9F81-93163190B607}" type="pres">
      <dgm:prSet presAssocID="{62632D82-74C5-4426-82EB-DD063F0A9532}" presName="descendantText" presStyleLbl="alignAcc1" presStyleIdx="2" presStyleCnt="3">
        <dgm:presLayoutVars>
          <dgm:bulletEnabled val="1"/>
        </dgm:presLayoutVars>
      </dgm:prSet>
      <dgm:spPr/>
      <dgm:t>
        <a:bodyPr/>
        <a:lstStyle/>
        <a:p>
          <a:endParaRPr lang="en-US"/>
        </a:p>
      </dgm:t>
    </dgm:pt>
  </dgm:ptLst>
  <dgm:cxnLst>
    <dgm:cxn modelId="{BD6FFBB8-A3CA-41AF-9E4C-66ED73DDEC02}" type="presOf" srcId="{4CE2832E-8BF9-4183-8BE9-42F5A6B272A8}" destId="{995D9D26-EEA2-4CFF-AAD6-1C22D0600CB9}" srcOrd="0" destOrd="0" presId="urn:microsoft.com/office/officeart/2005/8/layout/chevron2"/>
    <dgm:cxn modelId="{12180196-7713-4C0D-9734-B03C10A6EBDD}" srcId="{7A0BAE25-625E-4B10-86FF-8CC9BBA8372D}" destId="{62632D82-74C5-4426-82EB-DD063F0A9532}" srcOrd="2" destOrd="0" parTransId="{AECCBE76-5CDC-4F2D-9002-9112ACE3E931}" sibTransId="{06083230-970C-4488-950F-C1F25105C418}"/>
    <dgm:cxn modelId="{A2CD53B1-01B9-450D-8A36-39989CE4095C}" srcId="{62632D82-74C5-4426-82EB-DD063F0A9532}" destId="{784965FA-8601-4FCF-BD63-614CEC480D74}" srcOrd="0" destOrd="0" parTransId="{5EDE70B3-2558-4044-ADCF-EE1D9DAEFDC4}" sibTransId="{05903D6A-A52F-4DA5-868C-29A6852E2C4D}"/>
    <dgm:cxn modelId="{F6DDA11A-6FBE-41AD-8C74-97722F0F4D19}" type="presOf" srcId="{784965FA-8601-4FCF-BD63-614CEC480D74}" destId="{F1D1FE19-5488-48C0-9F81-93163190B607}" srcOrd="0" destOrd="0" presId="urn:microsoft.com/office/officeart/2005/8/layout/chevron2"/>
    <dgm:cxn modelId="{B61A6E62-0D86-42FF-A094-274A03D0E050}" type="presOf" srcId="{62632D82-74C5-4426-82EB-DD063F0A9532}" destId="{AE04C4F9-7A13-465A-92B6-389030148CAE}" srcOrd="0" destOrd="0" presId="urn:microsoft.com/office/officeart/2005/8/layout/chevron2"/>
    <dgm:cxn modelId="{C3AA9B94-E1CA-425E-BC33-0747B671C6AC}" srcId="{8C19E6DA-5E3B-4AE3-A0C6-B055C3D5C87F}" destId="{4CE2832E-8BF9-4183-8BE9-42F5A6B272A8}" srcOrd="0" destOrd="0" parTransId="{874ED168-A7FB-4C67-8E72-BA24A619AAFF}" sibTransId="{2583F9E1-3F02-469F-BD7E-C1A7FED816A3}"/>
    <dgm:cxn modelId="{0C980E32-C1FC-4529-949E-BDA7CD5B5821}" type="presOf" srcId="{FED4C476-5A9D-4D08-A743-49E0BA804D2A}" destId="{E3B8A591-F568-4FC6-952B-B196C12656AC}" srcOrd="0" destOrd="0" presId="urn:microsoft.com/office/officeart/2005/8/layout/chevron2"/>
    <dgm:cxn modelId="{2E91AF7A-37D7-4FA9-A2A0-FA2D148D0893}" srcId="{037EAA6E-A1B9-4F99-A712-18B39A0A3BE7}" destId="{FED4C476-5A9D-4D08-A743-49E0BA804D2A}" srcOrd="0" destOrd="0" parTransId="{882754FE-CF1F-4EF7-8854-BD1753AA313F}" sibTransId="{7AD5A673-6A18-416A-B5DC-05008574FC24}"/>
    <dgm:cxn modelId="{0C9C4881-177D-4A2D-9B8A-8EDB95C3E100}" type="presOf" srcId="{037EAA6E-A1B9-4F99-A712-18B39A0A3BE7}" destId="{A37DB583-BD0C-41A6-9BA7-4150B678E078}" srcOrd="0" destOrd="0" presId="urn:microsoft.com/office/officeart/2005/8/layout/chevron2"/>
    <dgm:cxn modelId="{CAB0499D-5B8D-4E3E-901F-8AFAA61CFF33}" type="presOf" srcId="{8C19E6DA-5E3B-4AE3-A0C6-B055C3D5C87F}" destId="{B41150EF-051F-4C95-9BF9-F63A7C293DB8}" srcOrd="0" destOrd="0" presId="urn:microsoft.com/office/officeart/2005/8/layout/chevron2"/>
    <dgm:cxn modelId="{845F0A4D-C0A8-481E-990A-E16CA298A42C}" srcId="{7A0BAE25-625E-4B10-86FF-8CC9BBA8372D}" destId="{8C19E6DA-5E3B-4AE3-A0C6-B055C3D5C87F}" srcOrd="0" destOrd="0" parTransId="{AA88E513-36CE-44C5-A910-B6AC865206E3}" sibTransId="{22A50981-3A49-4D10-B8EE-96CD5C900889}"/>
    <dgm:cxn modelId="{BE57E3CA-D48C-43DC-90EC-9063279522B1}" type="presOf" srcId="{7A0BAE25-625E-4B10-86FF-8CC9BBA8372D}" destId="{670557DE-F5D3-4C16-85AA-DEE0DC5CB348}" srcOrd="0" destOrd="0" presId="urn:microsoft.com/office/officeart/2005/8/layout/chevron2"/>
    <dgm:cxn modelId="{C221DBF6-3C7B-4A84-B31B-5AC8920991E4}" srcId="{7A0BAE25-625E-4B10-86FF-8CC9BBA8372D}" destId="{037EAA6E-A1B9-4F99-A712-18B39A0A3BE7}" srcOrd="1" destOrd="0" parTransId="{289DE3D1-686F-4220-8E07-344A6B89750F}" sibTransId="{CDA1558C-0DAA-48DC-8B9A-259F5C3910FB}"/>
    <dgm:cxn modelId="{567F7C72-C52A-4F51-8000-2DB9970F96C1}" type="presParOf" srcId="{670557DE-F5D3-4C16-85AA-DEE0DC5CB348}" destId="{DC429CB4-75B2-4164-8EEC-92959B1FBC68}" srcOrd="0" destOrd="0" presId="urn:microsoft.com/office/officeart/2005/8/layout/chevron2"/>
    <dgm:cxn modelId="{5F1EDD91-3AEC-490A-A8BC-2416B92AA8A6}" type="presParOf" srcId="{DC429CB4-75B2-4164-8EEC-92959B1FBC68}" destId="{B41150EF-051F-4C95-9BF9-F63A7C293DB8}" srcOrd="0" destOrd="0" presId="urn:microsoft.com/office/officeart/2005/8/layout/chevron2"/>
    <dgm:cxn modelId="{F5160E59-7846-4E72-B476-F1835E6E0D74}" type="presParOf" srcId="{DC429CB4-75B2-4164-8EEC-92959B1FBC68}" destId="{995D9D26-EEA2-4CFF-AAD6-1C22D0600CB9}" srcOrd="1" destOrd="0" presId="urn:microsoft.com/office/officeart/2005/8/layout/chevron2"/>
    <dgm:cxn modelId="{EEBF8C12-6DD6-40F2-92E6-41596FF15338}" type="presParOf" srcId="{670557DE-F5D3-4C16-85AA-DEE0DC5CB348}" destId="{92C4B83B-A7CE-4300-B687-0319E78EFDD0}" srcOrd="1" destOrd="0" presId="urn:microsoft.com/office/officeart/2005/8/layout/chevron2"/>
    <dgm:cxn modelId="{DD16E51E-9779-484F-B766-07D98D042592}" type="presParOf" srcId="{670557DE-F5D3-4C16-85AA-DEE0DC5CB348}" destId="{F71A9906-6917-4F3B-ABC6-4BE8582FADBA}" srcOrd="2" destOrd="0" presId="urn:microsoft.com/office/officeart/2005/8/layout/chevron2"/>
    <dgm:cxn modelId="{2348F2AB-5814-4F22-854E-E7DC37202A95}" type="presParOf" srcId="{F71A9906-6917-4F3B-ABC6-4BE8582FADBA}" destId="{A37DB583-BD0C-41A6-9BA7-4150B678E078}" srcOrd="0" destOrd="0" presId="urn:microsoft.com/office/officeart/2005/8/layout/chevron2"/>
    <dgm:cxn modelId="{8079DF48-D288-4AF3-8391-1332C382AAAE}" type="presParOf" srcId="{F71A9906-6917-4F3B-ABC6-4BE8582FADBA}" destId="{E3B8A591-F568-4FC6-952B-B196C12656AC}" srcOrd="1" destOrd="0" presId="urn:microsoft.com/office/officeart/2005/8/layout/chevron2"/>
    <dgm:cxn modelId="{8C959722-1EA6-4FEE-B086-A210AB9CB358}" type="presParOf" srcId="{670557DE-F5D3-4C16-85AA-DEE0DC5CB348}" destId="{A175A30C-36A5-4E82-8B3E-4E14172E7D66}" srcOrd="3" destOrd="0" presId="urn:microsoft.com/office/officeart/2005/8/layout/chevron2"/>
    <dgm:cxn modelId="{AF1EAD38-6A35-438A-AFAE-A321583B04A3}" type="presParOf" srcId="{670557DE-F5D3-4C16-85AA-DEE0DC5CB348}" destId="{1C6DECE2-EF3E-48B4-BBD2-BD28DE0B8013}" srcOrd="4" destOrd="0" presId="urn:microsoft.com/office/officeart/2005/8/layout/chevron2"/>
    <dgm:cxn modelId="{CD885675-B61E-4B65-A275-F95BDD6AA0FE}" type="presParOf" srcId="{1C6DECE2-EF3E-48B4-BBD2-BD28DE0B8013}" destId="{AE04C4F9-7A13-465A-92B6-389030148CAE}" srcOrd="0" destOrd="0" presId="urn:microsoft.com/office/officeart/2005/8/layout/chevron2"/>
    <dgm:cxn modelId="{D02C29BA-19C1-4ABF-A804-D8F517C823AE}" type="presParOf" srcId="{1C6DECE2-EF3E-48B4-BBD2-BD28DE0B8013}" destId="{F1D1FE19-5488-48C0-9F81-93163190B60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0C141D7-FE46-44CC-8D99-8D9B3FC6364B}" type="doc">
      <dgm:prSet loTypeId="urn:microsoft.com/office/officeart/2005/8/layout/chevron2" loCatId="list" qsTypeId="urn:microsoft.com/office/officeart/2005/8/quickstyle/3d1" qsCatId="3D" csTypeId="urn:microsoft.com/office/officeart/2005/8/colors/colorful4" csCatId="colorful" phldr="1"/>
      <dgm:spPr/>
      <dgm:t>
        <a:bodyPr/>
        <a:lstStyle/>
        <a:p>
          <a:endParaRPr lang="en-US"/>
        </a:p>
      </dgm:t>
    </dgm:pt>
    <dgm:pt modelId="{538D64E3-3C17-479F-9F1A-109395DEA3E4}">
      <dgm:prSet phldrT="[Text]" custT="1"/>
      <dgm:spPr/>
      <dgm:t>
        <a:bodyPr/>
        <a:lstStyle/>
        <a:p>
          <a:pPr algn="just"/>
          <a:r>
            <a:rPr lang="en-IN" sz="1600" b="1" dirty="0">
              <a:solidFill>
                <a:schemeClr val="tx1"/>
              </a:solidFill>
              <a:latin typeface="Times New Roman" panose="02020603050405020304" pitchFamily="18" charset="0"/>
              <a:cs typeface="Times New Roman" panose="02020603050405020304" pitchFamily="18" charset="0"/>
            </a:rPr>
            <a:t>Super Computer </a:t>
          </a:r>
          <a:endParaRPr lang="en-US" sz="1600" b="1" dirty="0">
            <a:solidFill>
              <a:schemeClr val="tx1"/>
            </a:solidFill>
            <a:latin typeface="Times New Roman" panose="02020603050405020304" pitchFamily="18" charset="0"/>
            <a:cs typeface="Times New Roman" panose="02020603050405020304" pitchFamily="18" charset="0"/>
          </a:endParaRPr>
        </a:p>
      </dgm:t>
    </dgm:pt>
    <dgm:pt modelId="{93ED9F3F-D9B1-4263-9D7D-6EE0C9B8CFBA}" type="parTrans" cxnId="{F88BEA35-6F8C-4912-96E5-3CEF845EC822}">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E5320F99-4FA3-4E09-A809-5E185C8445C7}" type="sibTrans" cxnId="{F88BEA35-6F8C-4912-96E5-3CEF845EC822}">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36D27023-E2BF-4088-B4F2-04DF84FD17C6}">
      <dgm:prSet phldrT="[Text]" custT="1"/>
      <dgm:spPr/>
      <dgm:t>
        <a:bodyPr/>
        <a:lstStyle/>
        <a:p>
          <a:pPr algn="just">
            <a:buFont typeface="Arial" panose="020B0604020202020204" pitchFamily="34" charset="0"/>
            <a:buChar char="•"/>
          </a:pPr>
          <a:r>
            <a:rPr lang="en-GB" sz="1600" b="0" dirty="0">
              <a:latin typeface="Times New Roman" panose="02020603050405020304" pitchFamily="18" charset="0"/>
              <a:cs typeface="Times New Roman" panose="02020603050405020304" pitchFamily="18" charset="0"/>
            </a:rPr>
            <a:t>A computer that is considered to be fastest in the world. Used to execute  tasks that would take lot of time for other computers. For Ex: Modelling weather systems, genome sequence, etc (Refer site: http://www.top500.org/) </a:t>
          </a:r>
          <a:endParaRPr lang="en-US" sz="1600" b="0" dirty="0">
            <a:solidFill>
              <a:schemeClr val="tx1"/>
            </a:solidFill>
            <a:latin typeface="Times New Roman" panose="02020603050405020304" pitchFamily="18" charset="0"/>
            <a:cs typeface="Times New Roman" panose="02020603050405020304" pitchFamily="18" charset="0"/>
          </a:endParaRPr>
        </a:p>
      </dgm:t>
    </dgm:pt>
    <dgm:pt modelId="{7254D829-D9D1-413A-8692-764254BD0BDC}" type="parTrans" cxnId="{3B36B42D-0C3C-4AC6-AF5A-D585CADB04FC}">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162CA2C3-5307-41FE-B9AE-946395E3B9D7}" type="sibTrans" cxnId="{3B36B42D-0C3C-4AC6-AF5A-D585CADB04FC}">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61B43E60-E89A-4DE5-8773-F63DB74709E2}">
      <dgm:prSet phldrT="[Text]" custT="1"/>
      <dgm:spPr/>
      <dgm:t>
        <a:bodyPr/>
        <a:lstStyle/>
        <a:p>
          <a:pPr algn="just"/>
          <a:r>
            <a:rPr lang="en-IN" sz="1600" b="1" dirty="0">
              <a:solidFill>
                <a:schemeClr val="tx1"/>
              </a:solidFill>
              <a:latin typeface="Times New Roman" panose="02020603050405020304" pitchFamily="18" charset="0"/>
              <a:cs typeface="Times New Roman" panose="02020603050405020304" pitchFamily="18" charset="0"/>
            </a:rPr>
            <a:t>Main Frame </a:t>
          </a:r>
          <a:endParaRPr lang="en-US" sz="1600" b="1" dirty="0">
            <a:solidFill>
              <a:schemeClr val="tx1"/>
            </a:solidFill>
            <a:latin typeface="Times New Roman" panose="02020603050405020304" pitchFamily="18" charset="0"/>
            <a:cs typeface="Times New Roman" panose="02020603050405020304" pitchFamily="18" charset="0"/>
          </a:endParaRPr>
        </a:p>
      </dgm:t>
    </dgm:pt>
    <dgm:pt modelId="{4711E416-B1D2-420D-B916-D21556F24BA8}" type="parTrans" cxnId="{8A9B8BCA-2AF3-4B72-AA82-9CAB0D259043}">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C5CC03DB-BB92-413F-9E62-A9886DD97826}" type="sibTrans" cxnId="{8A9B8BCA-2AF3-4B72-AA82-9CAB0D259043}">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40612224-2267-4C15-96DB-9CCC61652D8C}">
      <dgm:prSet phldrT="[Text]" custT="1"/>
      <dgm:spPr/>
      <dgm:t>
        <a:bodyPr/>
        <a:lstStyle/>
        <a:p>
          <a:pPr algn="just"/>
          <a:r>
            <a:rPr lang="en-GB" sz="1600" b="0" dirty="0">
              <a:latin typeface="Times New Roman" panose="02020603050405020304" pitchFamily="18" charset="0"/>
              <a:cs typeface="Times New Roman" panose="02020603050405020304" pitchFamily="18" charset="0"/>
            </a:rPr>
            <a:t>Large expensive computer capable of simultaneously processing data for hundreds or thousands of users. Used to store, manage, and process large amounts of data that need to be reliable, secure, and centralized. </a:t>
          </a:r>
          <a:endParaRPr lang="en-US" sz="1600" b="0" dirty="0">
            <a:solidFill>
              <a:schemeClr val="tx1"/>
            </a:solidFill>
            <a:latin typeface="Times New Roman" panose="02020603050405020304" pitchFamily="18" charset="0"/>
            <a:cs typeface="Times New Roman" panose="02020603050405020304" pitchFamily="18" charset="0"/>
          </a:endParaRPr>
        </a:p>
      </dgm:t>
    </dgm:pt>
    <dgm:pt modelId="{3B282E3F-11B3-4F1A-A5CC-0BB1A66E7C3D}" type="parTrans" cxnId="{C231B08E-986D-49C6-AE42-C52B7DC451B8}">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37F14F55-60DE-49EE-8FD2-56DBF064F008}" type="sibTrans" cxnId="{C231B08E-986D-49C6-AE42-C52B7DC451B8}">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E49B2F7F-13A2-45FA-B411-6C7A84B32C2C}">
      <dgm:prSet phldrT="[Text]" custT="1"/>
      <dgm:spPr/>
      <dgm:t>
        <a:bodyPr/>
        <a:lstStyle/>
        <a:p>
          <a:pPr algn="just"/>
          <a:r>
            <a:rPr lang="en-IN" sz="1600" b="1" dirty="0">
              <a:solidFill>
                <a:schemeClr val="tx1"/>
              </a:solidFill>
              <a:latin typeface="Times New Roman" panose="02020603050405020304" pitchFamily="18" charset="0"/>
              <a:cs typeface="Times New Roman" panose="02020603050405020304" pitchFamily="18" charset="0"/>
            </a:rPr>
            <a:t>Multi core </a:t>
          </a:r>
          <a:endParaRPr lang="en-US" sz="1600" b="1" dirty="0">
            <a:solidFill>
              <a:schemeClr val="tx1"/>
            </a:solidFill>
            <a:latin typeface="Times New Roman" panose="02020603050405020304" pitchFamily="18" charset="0"/>
            <a:cs typeface="Times New Roman" panose="02020603050405020304" pitchFamily="18" charset="0"/>
          </a:endParaRPr>
        </a:p>
      </dgm:t>
    </dgm:pt>
    <dgm:pt modelId="{80DC874D-FB19-4D02-AEE6-646749E8FE54}" type="parTrans" cxnId="{F58E954A-EE6A-4B52-B9D6-0137AB5C8FE3}">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C30F12D0-A5FA-4053-A788-76423C8C656F}" type="sibTrans" cxnId="{F58E954A-EE6A-4B52-B9D6-0137AB5C8FE3}">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E51CE229-BC03-4818-A170-94F26C695E5F}">
      <dgm:prSet phldrT="[Text]" custT="1"/>
      <dgm:spPr/>
      <dgm:t>
        <a:bodyPr/>
        <a:lstStyle/>
        <a:p>
          <a:pPr algn="just"/>
          <a:r>
            <a:rPr lang="en-GB" sz="1600" b="0" dirty="0">
              <a:latin typeface="Times New Roman" panose="02020603050405020304" pitchFamily="18" charset="0"/>
              <a:cs typeface="Times New Roman" panose="02020603050405020304" pitchFamily="18" charset="0"/>
            </a:rPr>
            <a:t>Have Multiple Cores – parallel computing platforms. Many Cores or computing elements in a single chip. Typical Examples: Sony Play station, Core 2 Duo, i3, i7 etc. </a:t>
          </a:r>
          <a:endParaRPr lang="en-US" sz="1600" b="0" dirty="0">
            <a:solidFill>
              <a:schemeClr val="tx1"/>
            </a:solidFill>
            <a:latin typeface="Times New Roman" panose="02020603050405020304" pitchFamily="18" charset="0"/>
            <a:cs typeface="Times New Roman" panose="02020603050405020304" pitchFamily="18" charset="0"/>
          </a:endParaRPr>
        </a:p>
      </dgm:t>
    </dgm:pt>
    <dgm:pt modelId="{3279E17A-9B2A-4AC8-A27D-83E037EE8211}" type="parTrans" cxnId="{60DBA070-DCCE-4BE9-B48F-2C0BECA57067}">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676D610F-2810-4C32-AD29-B9A8E2484A46}" type="sibTrans" cxnId="{60DBA070-DCCE-4BE9-B48F-2C0BECA57067}">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A31DD8A6-C5F4-467C-9FE9-75AA37B44B7F}">
      <dgm:prSet custT="1"/>
      <dgm:spPr/>
      <dgm:t>
        <a:bodyPr/>
        <a:lstStyle/>
        <a:p>
          <a:pPr algn="just"/>
          <a:r>
            <a:rPr lang="en-IN" sz="1600" b="1">
              <a:solidFill>
                <a:schemeClr val="tx1"/>
              </a:solidFill>
              <a:latin typeface="Times New Roman" panose="02020603050405020304" pitchFamily="18" charset="0"/>
              <a:cs typeface="Times New Roman" panose="02020603050405020304" pitchFamily="18" charset="0"/>
            </a:rPr>
            <a:t>Hand Held </a:t>
          </a:r>
          <a:endParaRPr lang="en-US" sz="1600" b="1">
            <a:solidFill>
              <a:schemeClr val="tx1"/>
            </a:solidFill>
            <a:latin typeface="Times New Roman" panose="02020603050405020304" pitchFamily="18" charset="0"/>
            <a:cs typeface="Times New Roman" panose="02020603050405020304" pitchFamily="18" charset="0"/>
          </a:endParaRPr>
        </a:p>
      </dgm:t>
    </dgm:pt>
    <dgm:pt modelId="{84344AD1-7754-480C-9386-FE681E53AB4C}" type="parTrans" cxnId="{492D56D4-29C2-4FA4-9ECE-71D342A9D436}">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709AA409-9B0B-4E8F-A0E1-306A3FAA14C2}" type="sibTrans" cxnId="{492D56D4-29C2-4FA4-9ECE-71D342A9D436}">
      <dgm:prSet/>
      <dgm:spPr/>
      <dgm:t>
        <a:bodyPr/>
        <a:lstStyle/>
        <a:p>
          <a:pPr algn="just"/>
          <a:endParaRPr lang="en-US" sz="2000" b="1">
            <a:solidFill>
              <a:schemeClr val="tx1"/>
            </a:solidFill>
            <a:latin typeface="Times New Roman" panose="02020603050405020304" pitchFamily="18" charset="0"/>
            <a:cs typeface="Times New Roman" panose="02020603050405020304" pitchFamily="18" charset="0"/>
          </a:endParaRPr>
        </a:p>
      </dgm:t>
    </dgm:pt>
    <dgm:pt modelId="{3AA15A11-F26B-4CB2-812E-B1A1A781B338}">
      <dgm:prSet custT="1"/>
      <dgm:spPr/>
      <dgm:t>
        <a:bodyPr/>
        <a:lstStyle/>
        <a:p>
          <a:pPr algn="just"/>
          <a:r>
            <a:rPr lang="en-US" sz="1600" b="0" dirty="0">
              <a:latin typeface="Times New Roman" panose="02020603050405020304" pitchFamily="18" charset="0"/>
              <a:cs typeface="Times New Roman" panose="02020603050405020304" pitchFamily="18" charset="0"/>
            </a:rPr>
            <a:t>It is also called a PDA (Personal Digital Assistant). A computer that fits into a pocket, runs on batteries, and is used while holding the unit in your hand. Typically used as an appointment book, address book, calculator and notepad. </a:t>
          </a:r>
        </a:p>
      </dgm:t>
    </dgm:pt>
    <dgm:pt modelId="{F490F9D7-9BDA-4190-BEDB-0F02FFC3059E}" type="parTrans" cxnId="{132E422B-A21E-4C9C-B21C-AF2D85CCD1EE}">
      <dgm:prSet/>
      <dgm:spPr/>
      <dgm:t>
        <a:bodyPr/>
        <a:lstStyle/>
        <a:p>
          <a:endParaRPr lang="en-US" sz="2000" b="1">
            <a:latin typeface="Times New Roman" panose="02020603050405020304" pitchFamily="18" charset="0"/>
            <a:cs typeface="Times New Roman" panose="02020603050405020304" pitchFamily="18" charset="0"/>
          </a:endParaRPr>
        </a:p>
      </dgm:t>
    </dgm:pt>
    <dgm:pt modelId="{4E6D1F53-22DA-4E99-9ACC-13489B1951E6}" type="sibTrans" cxnId="{132E422B-A21E-4C9C-B21C-AF2D85CCD1EE}">
      <dgm:prSet/>
      <dgm:spPr/>
      <dgm:t>
        <a:bodyPr/>
        <a:lstStyle/>
        <a:p>
          <a:endParaRPr lang="en-US" sz="2000" b="1">
            <a:latin typeface="Times New Roman" panose="02020603050405020304" pitchFamily="18" charset="0"/>
            <a:cs typeface="Times New Roman" panose="02020603050405020304" pitchFamily="18" charset="0"/>
          </a:endParaRPr>
        </a:p>
      </dgm:t>
    </dgm:pt>
    <dgm:pt modelId="{E55CACEB-1BD3-46E1-A06F-A282D6BC21C1}">
      <dgm:prSet custT="1"/>
      <dgm:spPr/>
      <dgm:t>
        <a:bodyPr/>
        <a:lstStyle/>
        <a:p>
          <a:pPr algn="just"/>
          <a:endParaRPr lang="en-US" sz="1600" b="1" dirty="0">
            <a:latin typeface="Times New Roman" panose="02020603050405020304" pitchFamily="18" charset="0"/>
            <a:cs typeface="Times New Roman" panose="02020603050405020304" pitchFamily="18" charset="0"/>
          </a:endParaRPr>
        </a:p>
      </dgm:t>
    </dgm:pt>
    <dgm:pt modelId="{46A95C25-7215-481B-8D06-E06DE1768179}" type="parTrans" cxnId="{9B99C243-5B05-424E-9134-BB19941245F9}">
      <dgm:prSet/>
      <dgm:spPr/>
      <dgm:t>
        <a:bodyPr/>
        <a:lstStyle/>
        <a:p>
          <a:endParaRPr lang="en-US" sz="2000" b="1">
            <a:latin typeface="Times New Roman" panose="02020603050405020304" pitchFamily="18" charset="0"/>
            <a:cs typeface="Times New Roman" panose="02020603050405020304" pitchFamily="18" charset="0"/>
          </a:endParaRPr>
        </a:p>
      </dgm:t>
    </dgm:pt>
    <dgm:pt modelId="{9C457E3D-423B-4E8D-8325-815101E42923}" type="sibTrans" cxnId="{9B99C243-5B05-424E-9134-BB19941245F9}">
      <dgm:prSet/>
      <dgm:spPr/>
      <dgm:t>
        <a:bodyPr/>
        <a:lstStyle/>
        <a:p>
          <a:endParaRPr lang="en-US" sz="2000" b="1">
            <a:latin typeface="Times New Roman" panose="02020603050405020304" pitchFamily="18" charset="0"/>
            <a:cs typeface="Times New Roman" panose="02020603050405020304" pitchFamily="18" charset="0"/>
          </a:endParaRPr>
        </a:p>
      </dgm:t>
    </dgm:pt>
    <dgm:pt modelId="{D7BB573B-9EC2-4E23-B23C-64E8C99CF6B9}" type="pres">
      <dgm:prSet presAssocID="{E0C141D7-FE46-44CC-8D99-8D9B3FC6364B}" presName="linearFlow" presStyleCnt="0">
        <dgm:presLayoutVars>
          <dgm:dir/>
          <dgm:animLvl val="lvl"/>
          <dgm:resizeHandles val="exact"/>
        </dgm:presLayoutVars>
      </dgm:prSet>
      <dgm:spPr/>
      <dgm:t>
        <a:bodyPr/>
        <a:lstStyle/>
        <a:p>
          <a:endParaRPr lang="en-US"/>
        </a:p>
      </dgm:t>
    </dgm:pt>
    <dgm:pt modelId="{D7C2B8B1-47B7-4352-BA3D-4930F98DB87B}" type="pres">
      <dgm:prSet presAssocID="{538D64E3-3C17-479F-9F1A-109395DEA3E4}" presName="composite" presStyleCnt="0"/>
      <dgm:spPr/>
    </dgm:pt>
    <dgm:pt modelId="{DB78728A-B5EE-41D9-9B20-4A206B8A28CA}" type="pres">
      <dgm:prSet presAssocID="{538D64E3-3C17-479F-9F1A-109395DEA3E4}" presName="parentText" presStyleLbl="alignNode1" presStyleIdx="0" presStyleCnt="4">
        <dgm:presLayoutVars>
          <dgm:chMax val="1"/>
          <dgm:bulletEnabled val="1"/>
        </dgm:presLayoutVars>
      </dgm:prSet>
      <dgm:spPr/>
      <dgm:t>
        <a:bodyPr/>
        <a:lstStyle/>
        <a:p>
          <a:endParaRPr lang="en-US"/>
        </a:p>
      </dgm:t>
    </dgm:pt>
    <dgm:pt modelId="{2B76A15A-7F45-470A-8366-50E187D77721}" type="pres">
      <dgm:prSet presAssocID="{538D64E3-3C17-479F-9F1A-109395DEA3E4}" presName="descendantText" presStyleLbl="alignAcc1" presStyleIdx="0" presStyleCnt="4">
        <dgm:presLayoutVars>
          <dgm:bulletEnabled val="1"/>
        </dgm:presLayoutVars>
      </dgm:prSet>
      <dgm:spPr/>
      <dgm:t>
        <a:bodyPr/>
        <a:lstStyle/>
        <a:p>
          <a:endParaRPr lang="en-US"/>
        </a:p>
      </dgm:t>
    </dgm:pt>
    <dgm:pt modelId="{7439C481-10D1-4FFA-9F17-1E78C8385DAD}" type="pres">
      <dgm:prSet presAssocID="{E5320F99-4FA3-4E09-A809-5E185C8445C7}" presName="sp" presStyleCnt="0"/>
      <dgm:spPr/>
    </dgm:pt>
    <dgm:pt modelId="{F19DAB12-6D0A-4B1F-A4F7-027B248CB102}" type="pres">
      <dgm:prSet presAssocID="{61B43E60-E89A-4DE5-8773-F63DB74709E2}" presName="composite" presStyleCnt="0"/>
      <dgm:spPr/>
    </dgm:pt>
    <dgm:pt modelId="{74040B85-EE0D-403A-B8E6-2A21E4263B2C}" type="pres">
      <dgm:prSet presAssocID="{61B43E60-E89A-4DE5-8773-F63DB74709E2}" presName="parentText" presStyleLbl="alignNode1" presStyleIdx="1" presStyleCnt="4">
        <dgm:presLayoutVars>
          <dgm:chMax val="1"/>
          <dgm:bulletEnabled val="1"/>
        </dgm:presLayoutVars>
      </dgm:prSet>
      <dgm:spPr/>
      <dgm:t>
        <a:bodyPr/>
        <a:lstStyle/>
        <a:p>
          <a:endParaRPr lang="en-US"/>
        </a:p>
      </dgm:t>
    </dgm:pt>
    <dgm:pt modelId="{622D85F4-7054-4259-98CC-CEC181FE675C}" type="pres">
      <dgm:prSet presAssocID="{61B43E60-E89A-4DE5-8773-F63DB74709E2}" presName="descendantText" presStyleLbl="alignAcc1" presStyleIdx="1" presStyleCnt="4">
        <dgm:presLayoutVars>
          <dgm:bulletEnabled val="1"/>
        </dgm:presLayoutVars>
      </dgm:prSet>
      <dgm:spPr/>
      <dgm:t>
        <a:bodyPr/>
        <a:lstStyle/>
        <a:p>
          <a:endParaRPr lang="en-US"/>
        </a:p>
      </dgm:t>
    </dgm:pt>
    <dgm:pt modelId="{B7752DA9-057E-4728-A9A4-9FF92D685CF7}" type="pres">
      <dgm:prSet presAssocID="{C5CC03DB-BB92-413F-9E62-A9886DD97826}" presName="sp" presStyleCnt="0"/>
      <dgm:spPr/>
    </dgm:pt>
    <dgm:pt modelId="{A4C5C380-1666-443E-BE8C-8ED398DEB863}" type="pres">
      <dgm:prSet presAssocID="{A31DD8A6-C5F4-467C-9FE9-75AA37B44B7F}" presName="composite" presStyleCnt="0"/>
      <dgm:spPr/>
    </dgm:pt>
    <dgm:pt modelId="{2E41A1D2-7469-4208-ADB6-2F77B8CEC348}" type="pres">
      <dgm:prSet presAssocID="{A31DD8A6-C5F4-467C-9FE9-75AA37B44B7F}" presName="parentText" presStyleLbl="alignNode1" presStyleIdx="2" presStyleCnt="4">
        <dgm:presLayoutVars>
          <dgm:chMax val="1"/>
          <dgm:bulletEnabled val="1"/>
        </dgm:presLayoutVars>
      </dgm:prSet>
      <dgm:spPr/>
      <dgm:t>
        <a:bodyPr/>
        <a:lstStyle/>
        <a:p>
          <a:endParaRPr lang="en-US"/>
        </a:p>
      </dgm:t>
    </dgm:pt>
    <dgm:pt modelId="{55811385-DCD5-486B-A13F-A864DF2C3A7D}" type="pres">
      <dgm:prSet presAssocID="{A31DD8A6-C5F4-467C-9FE9-75AA37B44B7F}" presName="descendantText" presStyleLbl="alignAcc1" presStyleIdx="2" presStyleCnt="4">
        <dgm:presLayoutVars>
          <dgm:bulletEnabled val="1"/>
        </dgm:presLayoutVars>
      </dgm:prSet>
      <dgm:spPr/>
      <dgm:t>
        <a:bodyPr/>
        <a:lstStyle/>
        <a:p>
          <a:endParaRPr lang="en-US"/>
        </a:p>
      </dgm:t>
    </dgm:pt>
    <dgm:pt modelId="{88E4F251-CD1F-48B6-8B7F-39E49365D719}" type="pres">
      <dgm:prSet presAssocID="{709AA409-9B0B-4E8F-A0E1-306A3FAA14C2}" presName="sp" presStyleCnt="0"/>
      <dgm:spPr/>
    </dgm:pt>
    <dgm:pt modelId="{8A3F1EC3-DA77-4065-BCA5-E1959AD70671}" type="pres">
      <dgm:prSet presAssocID="{E49B2F7F-13A2-45FA-B411-6C7A84B32C2C}" presName="composite" presStyleCnt="0"/>
      <dgm:spPr/>
    </dgm:pt>
    <dgm:pt modelId="{890D8FF4-D5CD-4954-A5FF-0B8D6C4D16DB}" type="pres">
      <dgm:prSet presAssocID="{E49B2F7F-13A2-45FA-B411-6C7A84B32C2C}" presName="parentText" presStyleLbl="alignNode1" presStyleIdx="3" presStyleCnt="4">
        <dgm:presLayoutVars>
          <dgm:chMax val="1"/>
          <dgm:bulletEnabled val="1"/>
        </dgm:presLayoutVars>
      </dgm:prSet>
      <dgm:spPr/>
      <dgm:t>
        <a:bodyPr/>
        <a:lstStyle/>
        <a:p>
          <a:endParaRPr lang="en-US"/>
        </a:p>
      </dgm:t>
    </dgm:pt>
    <dgm:pt modelId="{701A5679-1333-41C6-B277-E3ECE3E91DF1}" type="pres">
      <dgm:prSet presAssocID="{E49B2F7F-13A2-45FA-B411-6C7A84B32C2C}" presName="descendantText" presStyleLbl="alignAcc1" presStyleIdx="3" presStyleCnt="4">
        <dgm:presLayoutVars>
          <dgm:bulletEnabled val="1"/>
        </dgm:presLayoutVars>
      </dgm:prSet>
      <dgm:spPr/>
      <dgm:t>
        <a:bodyPr/>
        <a:lstStyle/>
        <a:p>
          <a:endParaRPr lang="en-US"/>
        </a:p>
      </dgm:t>
    </dgm:pt>
  </dgm:ptLst>
  <dgm:cxnLst>
    <dgm:cxn modelId="{5D990895-F929-4EA2-8EC1-B5D6626835C0}" type="presOf" srcId="{A31DD8A6-C5F4-467C-9FE9-75AA37B44B7F}" destId="{2E41A1D2-7469-4208-ADB6-2F77B8CEC348}" srcOrd="0" destOrd="0" presId="urn:microsoft.com/office/officeart/2005/8/layout/chevron2"/>
    <dgm:cxn modelId="{4C497DB5-FD34-4468-B21F-E12AD7DAC2DA}" type="presOf" srcId="{61B43E60-E89A-4DE5-8773-F63DB74709E2}" destId="{74040B85-EE0D-403A-B8E6-2A21E4263B2C}" srcOrd="0" destOrd="0" presId="urn:microsoft.com/office/officeart/2005/8/layout/chevron2"/>
    <dgm:cxn modelId="{7B0F57F1-773A-4D87-A9B3-76AF8CBEEED5}" type="presOf" srcId="{E55CACEB-1BD3-46E1-A06F-A282D6BC21C1}" destId="{55811385-DCD5-486B-A13F-A864DF2C3A7D}" srcOrd="0" destOrd="1" presId="urn:microsoft.com/office/officeart/2005/8/layout/chevron2"/>
    <dgm:cxn modelId="{05AAF8A1-FD8A-40DB-9465-BA6F552F86E2}" type="presOf" srcId="{E0C141D7-FE46-44CC-8D99-8D9B3FC6364B}" destId="{D7BB573B-9EC2-4E23-B23C-64E8C99CF6B9}" srcOrd="0" destOrd="0" presId="urn:microsoft.com/office/officeart/2005/8/layout/chevron2"/>
    <dgm:cxn modelId="{F88BEA35-6F8C-4912-96E5-3CEF845EC822}" srcId="{E0C141D7-FE46-44CC-8D99-8D9B3FC6364B}" destId="{538D64E3-3C17-479F-9F1A-109395DEA3E4}" srcOrd="0" destOrd="0" parTransId="{93ED9F3F-D9B1-4263-9D7D-6EE0C9B8CFBA}" sibTransId="{E5320F99-4FA3-4E09-A809-5E185C8445C7}"/>
    <dgm:cxn modelId="{D35DAB4E-C5D4-4DB5-B236-46732E0DD2F9}" type="presOf" srcId="{36D27023-E2BF-4088-B4F2-04DF84FD17C6}" destId="{2B76A15A-7F45-470A-8366-50E187D77721}" srcOrd="0" destOrd="0" presId="urn:microsoft.com/office/officeart/2005/8/layout/chevron2"/>
    <dgm:cxn modelId="{7D317E29-E3AF-4A99-ADBB-FC6B9D61635C}" type="presOf" srcId="{E49B2F7F-13A2-45FA-B411-6C7A84B32C2C}" destId="{890D8FF4-D5CD-4954-A5FF-0B8D6C4D16DB}" srcOrd="0" destOrd="0" presId="urn:microsoft.com/office/officeart/2005/8/layout/chevron2"/>
    <dgm:cxn modelId="{F58E954A-EE6A-4B52-B9D6-0137AB5C8FE3}" srcId="{E0C141D7-FE46-44CC-8D99-8D9B3FC6364B}" destId="{E49B2F7F-13A2-45FA-B411-6C7A84B32C2C}" srcOrd="3" destOrd="0" parTransId="{80DC874D-FB19-4D02-AEE6-646749E8FE54}" sibTransId="{C30F12D0-A5FA-4053-A788-76423C8C656F}"/>
    <dgm:cxn modelId="{997FA77D-0570-4D30-960D-6955BEC7D7B7}" type="presOf" srcId="{40612224-2267-4C15-96DB-9CCC61652D8C}" destId="{622D85F4-7054-4259-98CC-CEC181FE675C}" srcOrd="0" destOrd="0" presId="urn:microsoft.com/office/officeart/2005/8/layout/chevron2"/>
    <dgm:cxn modelId="{403BA26B-667E-4549-9AE2-A660CD6E4146}" type="presOf" srcId="{3AA15A11-F26B-4CB2-812E-B1A1A781B338}" destId="{55811385-DCD5-486B-A13F-A864DF2C3A7D}" srcOrd="0" destOrd="0" presId="urn:microsoft.com/office/officeart/2005/8/layout/chevron2"/>
    <dgm:cxn modelId="{492D56D4-29C2-4FA4-9ECE-71D342A9D436}" srcId="{E0C141D7-FE46-44CC-8D99-8D9B3FC6364B}" destId="{A31DD8A6-C5F4-467C-9FE9-75AA37B44B7F}" srcOrd="2" destOrd="0" parTransId="{84344AD1-7754-480C-9386-FE681E53AB4C}" sibTransId="{709AA409-9B0B-4E8F-A0E1-306A3FAA14C2}"/>
    <dgm:cxn modelId="{C231B08E-986D-49C6-AE42-C52B7DC451B8}" srcId="{61B43E60-E89A-4DE5-8773-F63DB74709E2}" destId="{40612224-2267-4C15-96DB-9CCC61652D8C}" srcOrd="0" destOrd="0" parTransId="{3B282E3F-11B3-4F1A-A5CC-0BB1A66E7C3D}" sibTransId="{37F14F55-60DE-49EE-8FD2-56DBF064F008}"/>
    <dgm:cxn modelId="{1C18D2BD-86A0-4172-AC1C-1273BB8F7A30}" type="presOf" srcId="{E51CE229-BC03-4818-A170-94F26C695E5F}" destId="{701A5679-1333-41C6-B277-E3ECE3E91DF1}" srcOrd="0" destOrd="0" presId="urn:microsoft.com/office/officeart/2005/8/layout/chevron2"/>
    <dgm:cxn modelId="{60DBA070-DCCE-4BE9-B48F-2C0BECA57067}" srcId="{E49B2F7F-13A2-45FA-B411-6C7A84B32C2C}" destId="{E51CE229-BC03-4818-A170-94F26C695E5F}" srcOrd="0" destOrd="0" parTransId="{3279E17A-9B2A-4AC8-A27D-83E037EE8211}" sibTransId="{676D610F-2810-4C32-AD29-B9A8E2484A46}"/>
    <dgm:cxn modelId="{132E422B-A21E-4C9C-B21C-AF2D85CCD1EE}" srcId="{A31DD8A6-C5F4-467C-9FE9-75AA37B44B7F}" destId="{3AA15A11-F26B-4CB2-812E-B1A1A781B338}" srcOrd="0" destOrd="0" parTransId="{F490F9D7-9BDA-4190-BEDB-0F02FFC3059E}" sibTransId="{4E6D1F53-22DA-4E99-9ACC-13489B1951E6}"/>
    <dgm:cxn modelId="{3B36B42D-0C3C-4AC6-AF5A-D585CADB04FC}" srcId="{538D64E3-3C17-479F-9F1A-109395DEA3E4}" destId="{36D27023-E2BF-4088-B4F2-04DF84FD17C6}" srcOrd="0" destOrd="0" parTransId="{7254D829-D9D1-413A-8692-764254BD0BDC}" sibTransId="{162CA2C3-5307-41FE-B9AE-946395E3B9D7}"/>
    <dgm:cxn modelId="{57A0F0B7-7783-464A-A45D-200DEA81CBF6}" type="presOf" srcId="{538D64E3-3C17-479F-9F1A-109395DEA3E4}" destId="{DB78728A-B5EE-41D9-9B20-4A206B8A28CA}" srcOrd="0" destOrd="0" presId="urn:microsoft.com/office/officeart/2005/8/layout/chevron2"/>
    <dgm:cxn modelId="{9B99C243-5B05-424E-9134-BB19941245F9}" srcId="{A31DD8A6-C5F4-467C-9FE9-75AA37B44B7F}" destId="{E55CACEB-1BD3-46E1-A06F-A282D6BC21C1}" srcOrd="1" destOrd="0" parTransId="{46A95C25-7215-481B-8D06-E06DE1768179}" sibTransId="{9C457E3D-423B-4E8D-8325-815101E42923}"/>
    <dgm:cxn modelId="{8A9B8BCA-2AF3-4B72-AA82-9CAB0D259043}" srcId="{E0C141D7-FE46-44CC-8D99-8D9B3FC6364B}" destId="{61B43E60-E89A-4DE5-8773-F63DB74709E2}" srcOrd="1" destOrd="0" parTransId="{4711E416-B1D2-420D-B916-D21556F24BA8}" sibTransId="{C5CC03DB-BB92-413F-9E62-A9886DD97826}"/>
    <dgm:cxn modelId="{B7B8B5EB-912C-4618-9E8B-429D161BE9E8}" type="presParOf" srcId="{D7BB573B-9EC2-4E23-B23C-64E8C99CF6B9}" destId="{D7C2B8B1-47B7-4352-BA3D-4930F98DB87B}" srcOrd="0" destOrd="0" presId="urn:microsoft.com/office/officeart/2005/8/layout/chevron2"/>
    <dgm:cxn modelId="{28B897E8-E013-48A0-A6CB-0119A2774364}" type="presParOf" srcId="{D7C2B8B1-47B7-4352-BA3D-4930F98DB87B}" destId="{DB78728A-B5EE-41D9-9B20-4A206B8A28CA}" srcOrd="0" destOrd="0" presId="urn:microsoft.com/office/officeart/2005/8/layout/chevron2"/>
    <dgm:cxn modelId="{A5A43756-30A9-44D8-97B8-02114BE541E6}" type="presParOf" srcId="{D7C2B8B1-47B7-4352-BA3D-4930F98DB87B}" destId="{2B76A15A-7F45-470A-8366-50E187D77721}" srcOrd="1" destOrd="0" presId="urn:microsoft.com/office/officeart/2005/8/layout/chevron2"/>
    <dgm:cxn modelId="{C0700190-ED05-4336-B2D2-9EEC0CC98D09}" type="presParOf" srcId="{D7BB573B-9EC2-4E23-B23C-64E8C99CF6B9}" destId="{7439C481-10D1-4FFA-9F17-1E78C8385DAD}" srcOrd="1" destOrd="0" presId="urn:microsoft.com/office/officeart/2005/8/layout/chevron2"/>
    <dgm:cxn modelId="{504DCCB3-851D-4713-9DAA-8B80B9923E32}" type="presParOf" srcId="{D7BB573B-9EC2-4E23-B23C-64E8C99CF6B9}" destId="{F19DAB12-6D0A-4B1F-A4F7-027B248CB102}" srcOrd="2" destOrd="0" presId="urn:microsoft.com/office/officeart/2005/8/layout/chevron2"/>
    <dgm:cxn modelId="{BB2EF490-A3C4-4594-BE9B-15909E0160BB}" type="presParOf" srcId="{F19DAB12-6D0A-4B1F-A4F7-027B248CB102}" destId="{74040B85-EE0D-403A-B8E6-2A21E4263B2C}" srcOrd="0" destOrd="0" presId="urn:microsoft.com/office/officeart/2005/8/layout/chevron2"/>
    <dgm:cxn modelId="{1E7B570C-C481-4B54-BD35-6FE112A31B7F}" type="presParOf" srcId="{F19DAB12-6D0A-4B1F-A4F7-027B248CB102}" destId="{622D85F4-7054-4259-98CC-CEC181FE675C}" srcOrd="1" destOrd="0" presId="urn:microsoft.com/office/officeart/2005/8/layout/chevron2"/>
    <dgm:cxn modelId="{E89C8AA0-D4E6-4FF1-81BD-A3E13531A7EB}" type="presParOf" srcId="{D7BB573B-9EC2-4E23-B23C-64E8C99CF6B9}" destId="{B7752DA9-057E-4728-A9A4-9FF92D685CF7}" srcOrd="3" destOrd="0" presId="urn:microsoft.com/office/officeart/2005/8/layout/chevron2"/>
    <dgm:cxn modelId="{9C07E16C-2E77-4FCC-9E62-97D114C62CD8}" type="presParOf" srcId="{D7BB573B-9EC2-4E23-B23C-64E8C99CF6B9}" destId="{A4C5C380-1666-443E-BE8C-8ED398DEB863}" srcOrd="4" destOrd="0" presId="urn:microsoft.com/office/officeart/2005/8/layout/chevron2"/>
    <dgm:cxn modelId="{02DE09F9-A5ED-4FF4-8E33-B8D893DC94D4}" type="presParOf" srcId="{A4C5C380-1666-443E-BE8C-8ED398DEB863}" destId="{2E41A1D2-7469-4208-ADB6-2F77B8CEC348}" srcOrd="0" destOrd="0" presId="urn:microsoft.com/office/officeart/2005/8/layout/chevron2"/>
    <dgm:cxn modelId="{8248CBC6-8D93-461D-A58C-BD9976574C8D}" type="presParOf" srcId="{A4C5C380-1666-443E-BE8C-8ED398DEB863}" destId="{55811385-DCD5-486B-A13F-A864DF2C3A7D}" srcOrd="1" destOrd="0" presId="urn:microsoft.com/office/officeart/2005/8/layout/chevron2"/>
    <dgm:cxn modelId="{64671FCA-88E1-45FF-A192-8C6CB3E1A23B}" type="presParOf" srcId="{D7BB573B-9EC2-4E23-B23C-64E8C99CF6B9}" destId="{88E4F251-CD1F-48B6-8B7F-39E49365D719}" srcOrd="5" destOrd="0" presId="urn:microsoft.com/office/officeart/2005/8/layout/chevron2"/>
    <dgm:cxn modelId="{C1B99F7B-F24F-4A3F-A186-07CD1E198268}" type="presParOf" srcId="{D7BB573B-9EC2-4E23-B23C-64E8C99CF6B9}" destId="{8A3F1EC3-DA77-4065-BCA5-E1959AD70671}" srcOrd="6" destOrd="0" presId="urn:microsoft.com/office/officeart/2005/8/layout/chevron2"/>
    <dgm:cxn modelId="{EFB25B7C-6563-4FD1-8DD7-F455FFA97BD1}" type="presParOf" srcId="{8A3F1EC3-DA77-4065-BCA5-E1959AD70671}" destId="{890D8FF4-D5CD-4954-A5FF-0B8D6C4D16DB}" srcOrd="0" destOrd="0" presId="urn:microsoft.com/office/officeart/2005/8/layout/chevron2"/>
    <dgm:cxn modelId="{3A1C74FF-3519-486F-915E-68C08C19107B}" type="presParOf" srcId="{8A3F1EC3-DA77-4065-BCA5-E1959AD70671}" destId="{701A5679-1333-41C6-B277-E3ECE3E91DF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58DB8C-94BC-4BE7-9490-EBD4C51C9399}">
      <dsp:nvSpPr>
        <dsp:cNvPr id="0" name=""/>
        <dsp:cNvSpPr/>
      </dsp:nvSpPr>
      <dsp:spPr>
        <a:xfrm>
          <a:off x="7080921" y="4155771"/>
          <a:ext cx="643325" cy="91440"/>
        </a:xfrm>
        <a:custGeom>
          <a:avLst/>
          <a:gdLst/>
          <a:ahLst/>
          <a:cxnLst/>
          <a:rect l="0" t="0" r="0" b="0"/>
          <a:pathLst>
            <a:path>
              <a:moveTo>
                <a:pt x="0" y="45720"/>
              </a:moveTo>
              <a:lnTo>
                <a:pt x="643325" y="45720"/>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1A6163E-BB11-4298-B52A-1C3B5DF4FE03}">
      <dsp:nvSpPr>
        <dsp:cNvPr id="0" name=""/>
        <dsp:cNvSpPr/>
      </dsp:nvSpPr>
      <dsp:spPr>
        <a:xfrm>
          <a:off x="3220969" y="2818342"/>
          <a:ext cx="643325" cy="1383149"/>
        </a:xfrm>
        <a:custGeom>
          <a:avLst/>
          <a:gdLst/>
          <a:ahLst/>
          <a:cxnLst/>
          <a:rect l="0" t="0" r="0" b="0"/>
          <a:pathLst>
            <a:path>
              <a:moveTo>
                <a:pt x="0" y="0"/>
              </a:moveTo>
              <a:lnTo>
                <a:pt x="321662" y="0"/>
              </a:lnTo>
              <a:lnTo>
                <a:pt x="321662" y="1383149"/>
              </a:lnTo>
              <a:lnTo>
                <a:pt x="643325" y="1383149"/>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9FE0D9AC-34CE-4298-A356-D0C251A2249C}">
      <dsp:nvSpPr>
        <dsp:cNvPr id="0" name=""/>
        <dsp:cNvSpPr/>
      </dsp:nvSpPr>
      <dsp:spPr>
        <a:xfrm>
          <a:off x="7080921" y="2772622"/>
          <a:ext cx="643325" cy="91440"/>
        </a:xfrm>
        <a:custGeom>
          <a:avLst/>
          <a:gdLst/>
          <a:ahLst/>
          <a:cxnLst/>
          <a:rect l="0" t="0" r="0" b="0"/>
          <a:pathLst>
            <a:path>
              <a:moveTo>
                <a:pt x="0" y="45720"/>
              </a:moveTo>
              <a:lnTo>
                <a:pt x="643325" y="45720"/>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7BDAA8FB-75E0-4483-864E-5DF0FA5715E5}">
      <dsp:nvSpPr>
        <dsp:cNvPr id="0" name=""/>
        <dsp:cNvSpPr/>
      </dsp:nvSpPr>
      <dsp:spPr>
        <a:xfrm>
          <a:off x="3220969" y="2772622"/>
          <a:ext cx="643325" cy="91440"/>
        </a:xfrm>
        <a:custGeom>
          <a:avLst/>
          <a:gdLst/>
          <a:ahLst/>
          <a:cxnLst/>
          <a:rect l="0" t="0" r="0" b="0"/>
          <a:pathLst>
            <a:path>
              <a:moveTo>
                <a:pt x="0" y="45720"/>
              </a:moveTo>
              <a:lnTo>
                <a:pt x="643325" y="45720"/>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7DAD1F1-4C0A-45F4-9CD0-1CB78814019A}">
      <dsp:nvSpPr>
        <dsp:cNvPr id="0" name=""/>
        <dsp:cNvSpPr/>
      </dsp:nvSpPr>
      <dsp:spPr>
        <a:xfrm>
          <a:off x="7080921" y="1389472"/>
          <a:ext cx="643325" cy="91440"/>
        </a:xfrm>
        <a:custGeom>
          <a:avLst/>
          <a:gdLst/>
          <a:ahLst/>
          <a:cxnLst/>
          <a:rect l="0" t="0" r="0" b="0"/>
          <a:pathLst>
            <a:path>
              <a:moveTo>
                <a:pt x="0" y="45720"/>
              </a:moveTo>
              <a:lnTo>
                <a:pt x="643325" y="45720"/>
              </a:lnTo>
            </a:path>
          </a:pathLst>
        </a:custGeom>
        <a:noFill/>
        <a:ln w="25400" cap="flat" cmpd="sng" algn="ctr">
          <a:solidFill>
            <a:schemeClr val="accent1">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DDD2DFA9-2C99-45F3-B103-3861186D9C2F}">
      <dsp:nvSpPr>
        <dsp:cNvPr id="0" name=""/>
        <dsp:cNvSpPr/>
      </dsp:nvSpPr>
      <dsp:spPr>
        <a:xfrm>
          <a:off x="3220969" y="1435192"/>
          <a:ext cx="643325" cy="1383149"/>
        </a:xfrm>
        <a:custGeom>
          <a:avLst/>
          <a:gdLst/>
          <a:ahLst/>
          <a:cxnLst/>
          <a:rect l="0" t="0" r="0" b="0"/>
          <a:pathLst>
            <a:path>
              <a:moveTo>
                <a:pt x="0" y="1383149"/>
              </a:moveTo>
              <a:lnTo>
                <a:pt x="321662" y="1383149"/>
              </a:lnTo>
              <a:lnTo>
                <a:pt x="321662" y="0"/>
              </a:lnTo>
              <a:lnTo>
                <a:pt x="643325" y="0"/>
              </a:lnTo>
            </a:path>
          </a:pathLst>
        </a:custGeom>
        <a:noFill/>
        <a:ln w="25400" cap="flat" cmpd="sng" algn="ctr">
          <a:solidFill>
            <a:schemeClr val="accent6">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E2BEA9D9-6D65-4874-9D8B-8E02DD67FB27}">
      <dsp:nvSpPr>
        <dsp:cNvPr id="0" name=""/>
        <dsp:cNvSpPr/>
      </dsp:nvSpPr>
      <dsp:spPr>
        <a:xfrm>
          <a:off x="4342" y="2327806"/>
          <a:ext cx="3216626" cy="981071"/>
        </a:xfrm>
        <a:prstGeom prst="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GB" sz="1200" b="1" kern="1200" dirty="0">
              <a:solidFill>
                <a:schemeClr val="tx1"/>
              </a:solidFill>
              <a:latin typeface="Palatino Linotype" panose="02040502050505030304" pitchFamily="18" charset="0"/>
            </a:rPr>
            <a:t>Computer Architecture </a:t>
          </a:r>
          <a:endParaRPr lang="en-US" sz="1200" b="1" kern="1200" dirty="0">
            <a:solidFill>
              <a:schemeClr val="tx1"/>
            </a:solidFill>
          </a:endParaRPr>
        </a:p>
      </dsp:txBody>
      <dsp:txXfrm>
        <a:off x="4342" y="2327806"/>
        <a:ext cx="3216626" cy="981071"/>
      </dsp:txXfrm>
    </dsp:sp>
    <dsp:sp modelId="{A54F70D0-2464-4D05-9A1E-1F52F76A3FD1}">
      <dsp:nvSpPr>
        <dsp:cNvPr id="0" name=""/>
        <dsp:cNvSpPr/>
      </dsp:nvSpPr>
      <dsp:spPr>
        <a:xfrm>
          <a:off x="3864294" y="944656"/>
          <a:ext cx="3216626" cy="981071"/>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GB" sz="1200" b="1" kern="1200" dirty="0">
              <a:solidFill>
                <a:schemeClr val="tx1"/>
              </a:solidFill>
              <a:latin typeface="Palatino Linotype" panose="02040502050505030304" pitchFamily="18" charset="0"/>
            </a:rPr>
            <a:t>Computer Hardware</a:t>
          </a:r>
          <a:endParaRPr lang="en-US" sz="1200" b="1" kern="1200" dirty="0">
            <a:solidFill>
              <a:schemeClr val="tx1"/>
            </a:solidFill>
          </a:endParaRPr>
        </a:p>
      </dsp:txBody>
      <dsp:txXfrm>
        <a:off x="3864294" y="944656"/>
        <a:ext cx="3216626" cy="981071"/>
      </dsp:txXfrm>
    </dsp:sp>
    <dsp:sp modelId="{09648BEC-29D8-4CA5-961D-E8F05F5AB2FB}">
      <dsp:nvSpPr>
        <dsp:cNvPr id="0" name=""/>
        <dsp:cNvSpPr/>
      </dsp:nvSpPr>
      <dsp:spPr>
        <a:xfrm>
          <a:off x="7724246" y="944656"/>
          <a:ext cx="3216626" cy="98107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GB" sz="1200" b="1" kern="1200" dirty="0">
              <a:solidFill>
                <a:schemeClr val="tx1"/>
              </a:solidFill>
              <a:latin typeface="Palatino Linotype" panose="02040502050505030304" pitchFamily="18" charset="0"/>
            </a:rPr>
            <a:t>Electronic Circuits, Displays, Magnetic And Optical Storage Media And Communication Facilities</a:t>
          </a:r>
          <a:endParaRPr lang="en-US" sz="1200" b="1" kern="1200" dirty="0">
            <a:solidFill>
              <a:schemeClr val="tx1"/>
            </a:solidFill>
          </a:endParaRPr>
        </a:p>
      </dsp:txBody>
      <dsp:txXfrm>
        <a:off x="7724246" y="944656"/>
        <a:ext cx="3216626" cy="981071"/>
      </dsp:txXfrm>
    </dsp:sp>
    <dsp:sp modelId="{0880BBD6-E0ED-4FE2-99C2-D6E28315AD5D}">
      <dsp:nvSpPr>
        <dsp:cNvPr id="0" name=""/>
        <dsp:cNvSpPr/>
      </dsp:nvSpPr>
      <dsp:spPr>
        <a:xfrm>
          <a:off x="3864294" y="2327806"/>
          <a:ext cx="3216626" cy="981071"/>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GB" sz="1200" b="1" kern="1200" dirty="0">
              <a:solidFill>
                <a:schemeClr val="tx1"/>
              </a:solidFill>
              <a:latin typeface="Palatino Linotype" panose="02040502050505030304" pitchFamily="18" charset="0"/>
            </a:rPr>
            <a:t>Instruction Set Architecture </a:t>
          </a:r>
          <a:endParaRPr lang="en-US" sz="1200" b="1" kern="1200" dirty="0">
            <a:solidFill>
              <a:schemeClr val="tx1"/>
            </a:solidFill>
          </a:endParaRPr>
        </a:p>
      </dsp:txBody>
      <dsp:txXfrm>
        <a:off x="3864294" y="2327806"/>
        <a:ext cx="3216626" cy="981071"/>
      </dsp:txXfrm>
    </dsp:sp>
    <dsp:sp modelId="{E2826750-C6C8-4346-BF4D-372664812A1D}">
      <dsp:nvSpPr>
        <dsp:cNvPr id="0" name=""/>
        <dsp:cNvSpPr/>
      </dsp:nvSpPr>
      <dsp:spPr>
        <a:xfrm>
          <a:off x="7724246" y="2327806"/>
          <a:ext cx="3216626" cy="98107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a:solidFill>
                <a:schemeClr val="tx1"/>
              </a:solidFill>
            </a:rPr>
            <a:t>Instruction Set, Registers, Memory Organization And Exception Handling. Two Main Approaches Are Mainly CISC (Complex Instruction Set Computer) And RISC (Reduced Instruction Set Computer) </a:t>
          </a:r>
        </a:p>
      </dsp:txBody>
      <dsp:txXfrm>
        <a:off x="7724246" y="2327806"/>
        <a:ext cx="3216626" cy="981071"/>
      </dsp:txXfrm>
    </dsp:sp>
    <dsp:sp modelId="{06D09FC8-D248-441E-9233-B76682187E1A}">
      <dsp:nvSpPr>
        <dsp:cNvPr id="0" name=""/>
        <dsp:cNvSpPr/>
      </dsp:nvSpPr>
      <dsp:spPr>
        <a:xfrm>
          <a:off x="3864294" y="3710955"/>
          <a:ext cx="3216626" cy="981071"/>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GB" sz="1200" b="1" kern="1200" dirty="0">
              <a:solidFill>
                <a:schemeClr val="tx1"/>
              </a:solidFill>
              <a:latin typeface="Palatino Linotype" panose="02040502050505030304" pitchFamily="18" charset="0"/>
            </a:rPr>
            <a:t>Computer Organization</a:t>
          </a:r>
          <a:endParaRPr lang="en-US" sz="1200" b="1" kern="1200" dirty="0">
            <a:solidFill>
              <a:schemeClr val="tx1"/>
            </a:solidFill>
          </a:endParaRPr>
        </a:p>
      </dsp:txBody>
      <dsp:txXfrm>
        <a:off x="3864294" y="3710955"/>
        <a:ext cx="3216626" cy="981071"/>
      </dsp:txXfrm>
    </dsp:sp>
    <dsp:sp modelId="{65EA440F-FF64-4A5B-A079-FF16BC4E9E31}">
      <dsp:nvSpPr>
        <dsp:cNvPr id="0" name=""/>
        <dsp:cNvSpPr/>
      </dsp:nvSpPr>
      <dsp:spPr>
        <a:xfrm>
          <a:off x="7724246" y="3710955"/>
          <a:ext cx="3216626" cy="981071"/>
        </a:xfrm>
        <a:prstGeom prst="rect">
          <a:avLst/>
        </a:prstGeom>
        <a:gradFill rotWithShape="0">
          <a:gsLst>
            <a:gs pos="0">
              <a:schemeClr val="accent1">
                <a:hueOff val="0"/>
                <a:satOff val="0"/>
                <a:lumOff val="0"/>
                <a:alphaOff val="0"/>
                <a:tint val="100000"/>
                <a:shade val="100000"/>
                <a:satMod val="130000"/>
              </a:schemeClr>
            </a:gs>
            <a:gs pos="100000">
              <a:schemeClr val="accent1">
                <a:hueOff val="0"/>
                <a:satOff val="0"/>
                <a:lumOff val="0"/>
                <a:alphaOff val="0"/>
                <a:tint val="50000"/>
                <a:shade val="100000"/>
                <a:satMod val="350000"/>
              </a:schemeClr>
            </a:gs>
          </a:gsLst>
          <a:lin ang="16200000" scaled="0"/>
        </a:gradFill>
        <a:ln>
          <a:noFill/>
        </a:ln>
        <a:effectLst>
          <a:outerShdw blurRad="40000" dist="20000" dir="5400000" rotWithShape="0">
            <a:srgbClr val="000000">
              <a:alpha val="38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1" kern="1200" dirty="0">
              <a:solidFill>
                <a:schemeClr val="tx1"/>
              </a:solidFill>
            </a:rPr>
            <a:t>High Level Aspects Of A Design, Such As Memory System, The Bus Structure And The Design Of The Internal CPU</a:t>
          </a:r>
        </a:p>
      </dsp:txBody>
      <dsp:txXfrm>
        <a:off x="7724246" y="3710955"/>
        <a:ext cx="3216626" cy="9810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1150EF-051F-4C95-9BF9-F63A7C293DB8}">
      <dsp:nvSpPr>
        <dsp:cNvPr id="0" name=""/>
        <dsp:cNvSpPr/>
      </dsp:nvSpPr>
      <dsp:spPr>
        <a:xfrm rot="5400000">
          <a:off x="-253337" y="253515"/>
          <a:ext cx="1688918" cy="1182242"/>
        </a:xfrm>
        <a:prstGeom prst="chevron">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just" defTabSz="800100">
            <a:lnSpc>
              <a:spcPct val="90000"/>
            </a:lnSpc>
            <a:spcBef>
              <a:spcPct val="0"/>
            </a:spcBef>
            <a:spcAft>
              <a:spcPct val="35000"/>
            </a:spcAft>
          </a:pPr>
          <a:r>
            <a:rPr lang="en-IN" sz="1800" b="1" kern="1200" dirty="0">
              <a:solidFill>
                <a:schemeClr val="tx1"/>
              </a:solidFill>
              <a:latin typeface="Times New Roman" panose="02020603050405020304" pitchFamily="18" charset="0"/>
              <a:cs typeface="Times New Roman" panose="02020603050405020304" pitchFamily="18" charset="0"/>
            </a:rPr>
            <a:t>Micro Computer </a:t>
          </a:r>
          <a:endParaRPr lang="en-US" sz="1800" b="1" kern="1200" dirty="0">
            <a:solidFill>
              <a:schemeClr val="tx1"/>
            </a:solidFill>
            <a:latin typeface="Times New Roman" panose="02020603050405020304" pitchFamily="18" charset="0"/>
            <a:cs typeface="Times New Roman" panose="02020603050405020304" pitchFamily="18" charset="0"/>
          </a:endParaRPr>
        </a:p>
      </dsp:txBody>
      <dsp:txXfrm rot="-5400000">
        <a:off x="1" y="591298"/>
        <a:ext cx="1182242" cy="506676"/>
      </dsp:txXfrm>
    </dsp:sp>
    <dsp:sp modelId="{995D9D26-EEA2-4CFF-AAD6-1C22D0600CB9}">
      <dsp:nvSpPr>
        <dsp:cNvPr id="0" name=""/>
        <dsp:cNvSpPr/>
      </dsp:nvSpPr>
      <dsp:spPr>
        <a:xfrm rot="5400000">
          <a:off x="5514830" y="-4332410"/>
          <a:ext cx="1097797" cy="9762973"/>
        </a:xfrm>
        <a:prstGeom prst="round2Same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70688" tIns="15240" rIns="15240" bIns="15240" numCol="1" spcCol="1270" anchor="ctr" anchorCtr="0">
          <a:noAutofit/>
        </a:bodyPr>
        <a:lstStyle/>
        <a:p>
          <a:pPr marL="228600" lvl="1" indent="-228600" algn="just" defTabSz="1066800">
            <a:lnSpc>
              <a:spcPct val="90000"/>
            </a:lnSpc>
            <a:spcBef>
              <a:spcPct val="0"/>
            </a:spcBef>
            <a:spcAft>
              <a:spcPct val="15000"/>
            </a:spcAft>
            <a:buChar char="••"/>
          </a:pPr>
          <a:r>
            <a:rPr lang="en-GB" sz="2400" b="0" kern="1200" dirty="0">
              <a:latin typeface="Times New Roman" panose="02020603050405020304" pitchFamily="18" charset="0"/>
              <a:cs typeface="Times New Roman" panose="02020603050405020304" pitchFamily="18" charset="0"/>
            </a:rPr>
            <a:t>A personal computer; designed to meet the computer needs  of  an  individual. Provides access to a wide variety of computing applications, such as word processing, photo editing, e-mail, and internet. </a:t>
          </a:r>
          <a:endParaRPr lang="en-US" sz="2400" b="0" kern="1200" dirty="0">
            <a:solidFill>
              <a:schemeClr val="tx1"/>
            </a:solidFill>
            <a:latin typeface="Times New Roman" panose="02020603050405020304" pitchFamily="18" charset="0"/>
            <a:cs typeface="Times New Roman" panose="02020603050405020304" pitchFamily="18" charset="0"/>
          </a:endParaRPr>
        </a:p>
      </dsp:txBody>
      <dsp:txXfrm rot="-5400000">
        <a:off x="1182242" y="53768"/>
        <a:ext cx="9709383" cy="990617"/>
      </dsp:txXfrm>
    </dsp:sp>
    <dsp:sp modelId="{A37DB583-BD0C-41A6-9BA7-4150B678E078}">
      <dsp:nvSpPr>
        <dsp:cNvPr id="0" name=""/>
        <dsp:cNvSpPr/>
      </dsp:nvSpPr>
      <dsp:spPr>
        <a:xfrm rot="5400000">
          <a:off x="-253337" y="1749139"/>
          <a:ext cx="1688918" cy="1182242"/>
        </a:xfrm>
        <a:prstGeom prst="chevron">
          <a:avLst/>
        </a:prstGeom>
        <a:gradFill rotWithShape="0">
          <a:gsLst>
            <a:gs pos="0">
              <a:schemeClr val="accent4">
                <a:hueOff val="4900445"/>
                <a:satOff val="-20388"/>
                <a:lumOff val="4804"/>
                <a:alphaOff val="0"/>
                <a:tint val="100000"/>
                <a:shade val="100000"/>
                <a:satMod val="130000"/>
              </a:schemeClr>
            </a:gs>
            <a:gs pos="100000">
              <a:schemeClr val="accent4">
                <a:hueOff val="4900445"/>
                <a:satOff val="-20388"/>
                <a:lumOff val="4804"/>
                <a:alphaOff val="0"/>
                <a:tint val="50000"/>
                <a:shade val="100000"/>
                <a:satMod val="350000"/>
              </a:schemeClr>
            </a:gs>
          </a:gsLst>
          <a:lin ang="16200000" scaled="0"/>
        </a:gradFill>
        <a:ln w="9525" cap="flat" cmpd="sng" algn="ctr">
          <a:solidFill>
            <a:schemeClr val="accent4">
              <a:hueOff val="4900445"/>
              <a:satOff val="-20388"/>
              <a:lumOff val="4804"/>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just" defTabSz="800100">
            <a:lnSpc>
              <a:spcPct val="90000"/>
            </a:lnSpc>
            <a:spcBef>
              <a:spcPct val="0"/>
            </a:spcBef>
            <a:spcAft>
              <a:spcPct val="35000"/>
            </a:spcAft>
          </a:pPr>
          <a:r>
            <a:rPr lang="en-IN" sz="1800" b="1" kern="1200" dirty="0">
              <a:solidFill>
                <a:schemeClr val="tx1"/>
              </a:solidFill>
              <a:latin typeface="Times New Roman" panose="02020603050405020304" pitchFamily="18" charset="0"/>
              <a:cs typeface="Times New Roman" panose="02020603050405020304" pitchFamily="18" charset="0"/>
            </a:rPr>
            <a:t>Laptop Computer </a:t>
          </a:r>
          <a:endParaRPr lang="en-US" sz="1800" b="1" kern="1200" dirty="0">
            <a:solidFill>
              <a:schemeClr val="tx1"/>
            </a:solidFill>
            <a:latin typeface="Times New Roman" panose="02020603050405020304" pitchFamily="18" charset="0"/>
            <a:cs typeface="Times New Roman" panose="02020603050405020304" pitchFamily="18" charset="0"/>
          </a:endParaRPr>
        </a:p>
      </dsp:txBody>
      <dsp:txXfrm rot="-5400000">
        <a:off x="1" y="2086922"/>
        <a:ext cx="1182242" cy="506676"/>
      </dsp:txXfrm>
    </dsp:sp>
    <dsp:sp modelId="{E3B8A591-F568-4FC6-952B-B196C12656AC}">
      <dsp:nvSpPr>
        <dsp:cNvPr id="0" name=""/>
        <dsp:cNvSpPr/>
      </dsp:nvSpPr>
      <dsp:spPr>
        <a:xfrm rot="5400000">
          <a:off x="5514830" y="-2836786"/>
          <a:ext cx="1097797" cy="9762973"/>
        </a:xfrm>
        <a:prstGeom prst="round2SameRect">
          <a:avLst/>
        </a:prstGeom>
        <a:solidFill>
          <a:schemeClr val="lt1">
            <a:alpha val="90000"/>
            <a:hueOff val="0"/>
            <a:satOff val="0"/>
            <a:lumOff val="0"/>
            <a:alphaOff val="0"/>
          </a:schemeClr>
        </a:solidFill>
        <a:ln w="9525" cap="flat" cmpd="sng" algn="ctr">
          <a:solidFill>
            <a:schemeClr val="accent4">
              <a:hueOff val="4900445"/>
              <a:satOff val="-20388"/>
              <a:lumOff val="4804"/>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70688" tIns="15240" rIns="15240" bIns="15240" numCol="1" spcCol="1270" anchor="ctr" anchorCtr="0">
          <a:noAutofit/>
        </a:bodyPr>
        <a:lstStyle/>
        <a:p>
          <a:pPr marL="228600" lvl="1" indent="-228600" algn="just" defTabSz="1066800">
            <a:lnSpc>
              <a:spcPct val="90000"/>
            </a:lnSpc>
            <a:spcBef>
              <a:spcPct val="0"/>
            </a:spcBef>
            <a:spcAft>
              <a:spcPct val="15000"/>
            </a:spcAft>
            <a:buFont typeface="Arial" panose="020B0604020202020204" pitchFamily="34" charset="0"/>
            <a:buChar char="••"/>
          </a:pPr>
          <a:r>
            <a:rPr lang="en-GB" sz="2400" b="0" kern="1200" dirty="0">
              <a:latin typeface="Times New Roman" panose="02020603050405020304" pitchFamily="18" charset="0"/>
              <a:cs typeface="Times New Roman" panose="02020603050405020304" pitchFamily="18" charset="0"/>
            </a:rPr>
            <a:t>A portable, compact computer that can run on power supply or a battery unit. All components are integrated as one compact unit. It is generally more expensive than a comparable desktop. It is also called a Notebook. </a:t>
          </a:r>
          <a:endParaRPr lang="en-US" sz="2400" b="0" kern="1200" dirty="0">
            <a:solidFill>
              <a:schemeClr val="tx1"/>
            </a:solidFill>
            <a:latin typeface="Times New Roman" panose="02020603050405020304" pitchFamily="18" charset="0"/>
            <a:cs typeface="Times New Roman" panose="02020603050405020304" pitchFamily="18" charset="0"/>
          </a:endParaRPr>
        </a:p>
      </dsp:txBody>
      <dsp:txXfrm rot="-5400000">
        <a:off x="1182242" y="1549392"/>
        <a:ext cx="9709383" cy="990617"/>
      </dsp:txXfrm>
    </dsp:sp>
    <dsp:sp modelId="{AE04C4F9-7A13-465A-92B6-389030148CAE}">
      <dsp:nvSpPr>
        <dsp:cNvPr id="0" name=""/>
        <dsp:cNvSpPr/>
      </dsp:nvSpPr>
      <dsp:spPr>
        <a:xfrm rot="5400000">
          <a:off x="-253337" y="3244762"/>
          <a:ext cx="1688918" cy="1182242"/>
        </a:xfrm>
        <a:prstGeom prst="chevron">
          <a:avLst/>
        </a:prstGeom>
        <a:gradFill rotWithShape="0">
          <a:gsLst>
            <a:gs pos="0">
              <a:schemeClr val="accent4">
                <a:hueOff val="9800891"/>
                <a:satOff val="-40777"/>
                <a:lumOff val="9608"/>
                <a:alphaOff val="0"/>
                <a:tint val="100000"/>
                <a:shade val="100000"/>
                <a:satMod val="130000"/>
              </a:schemeClr>
            </a:gs>
            <a:gs pos="100000">
              <a:schemeClr val="accent4">
                <a:hueOff val="9800891"/>
                <a:satOff val="-40777"/>
                <a:lumOff val="9608"/>
                <a:alphaOff val="0"/>
                <a:tint val="50000"/>
                <a:shade val="100000"/>
                <a:satMod val="350000"/>
              </a:schemeClr>
            </a:gs>
          </a:gsLst>
          <a:lin ang="16200000" scaled="0"/>
        </a:gradFill>
        <a:ln w="9525" cap="flat" cmpd="sng" algn="ctr">
          <a:solidFill>
            <a:schemeClr val="accent4">
              <a:hueOff val="9800891"/>
              <a:satOff val="-40777"/>
              <a:lumOff val="9608"/>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just" defTabSz="800100">
            <a:lnSpc>
              <a:spcPct val="90000"/>
            </a:lnSpc>
            <a:spcBef>
              <a:spcPct val="0"/>
            </a:spcBef>
            <a:spcAft>
              <a:spcPct val="35000"/>
            </a:spcAft>
          </a:pPr>
          <a:r>
            <a:rPr lang="en-IN" sz="1800" b="1" kern="1200" dirty="0">
              <a:solidFill>
                <a:schemeClr val="tx1"/>
              </a:solidFill>
              <a:latin typeface="Times New Roman" panose="02020603050405020304" pitchFamily="18" charset="0"/>
              <a:cs typeface="Times New Roman" panose="02020603050405020304" pitchFamily="18" charset="0"/>
            </a:rPr>
            <a:t>Work Station </a:t>
          </a:r>
          <a:endParaRPr lang="en-US" sz="1800" b="1" kern="1200" dirty="0">
            <a:solidFill>
              <a:schemeClr val="tx1"/>
            </a:solidFill>
            <a:latin typeface="Times New Roman" panose="02020603050405020304" pitchFamily="18" charset="0"/>
            <a:cs typeface="Times New Roman" panose="02020603050405020304" pitchFamily="18" charset="0"/>
          </a:endParaRPr>
        </a:p>
      </dsp:txBody>
      <dsp:txXfrm rot="-5400000">
        <a:off x="1" y="3582545"/>
        <a:ext cx="1182242" cy="506676"/>
      </dsp:txXfrm>
    </dsp:sp>
    <dsp:sp modelId="{F1D1FE19-5488-48C0-9F81-93163190B607}">
      <dsp:nvSpPr>
        <dsp:cNvPr id="0" name=""/>
        <dsp:cNvSpPr/>
      </dsp:nvSpPr>
      <dsp:spPr>
        <a:xfrm rot="5400000">
          <a:off x="5514830" y="-1341162"/>
          <a:ext cx="1097797" cy="9762973"/>
        </a:xfrm>
        <a:prstGeom prst="round2SameRect">
          <a:avLst/>
        </a:prstGeom>
        <a:solidFill>
          <a:schemeClr val="lt1">
            <a:alpha val="90000"/>
            <a:hueOff val="0"/>
            <a:satOff val="0"/>
            <a:lumOff val="0"/>
            <a:alphaOff val="0"/>
          </a:schemeClr>
        </a:solidFill>
        <a:ln w="9525" cap="flat" cmpd="sng" algn="ctr">
          <a:solidFill>
            <a:schemeClr val="accent4">
              <a:hueOff val="9800891"/>
              <a:satOff val="-40777"/>
              <a:lumOff val="9608"/>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70688" tIns="15240" rIns="15240" bIns="15240" numCol="1" spcCol="1270" anchor="ctr" anchorCtr="0">
          <a:noAutofit/>
        </a:bodyPr>
        <a:lstStyle/>
        <a:p>
          <a:pPr marL="228600" lvl="1" indent="-228600" algn="just" defTabSz="1066800">
            <a:lnSpc>
              <a:spcPct val="90000"/>
            </a:lnSpc>
            <a:spcBef>
              <a:spcPct val="0"/>
            </a:spcBef>
            <a:spcAft>
              <a:spcPct val="15000"/>
            </a:spcAft>
            <a:buChar char="••"/>
          </a:pPr>
          <a:r>
            <a:rPr lang="en-GB" sz="2400" b="0" kern="1200" dirty="0">
              <a:latin typeface="Times New Roman" panose="02020603050405020304" pitchFamily="18" charset="0"/>
              <a:cs typeface="Times New Roman" panose="02020603050405020304" pitchFamily="18" charset="0"/>
            </a:rPr>
            <a:t>Powerful desktop computer designed for specialized tasks. Generally used for tasks that requires a lot of processing speed. Can also be an ordinary personal computer attached to a LAN (local area network). </a:t>
          </a:r>
          <a:endParaRPr lang="en-US" sz="2400" b="0" kern="1200" dirty="0">
            <a:solidFill>
              <a:schemeClr val="tx1"/>
            </a:solidFill>
            <a:latin typeface="Times New Roman" panose="02020603050405020304" pitchFamily="18" charset="0"/>
            <a:cs typeface="Times New Roman" panose="02020603050405020304" pitchFamily="18" charset="0"/>
          </a:endParaRPr>
        </a:p>
      </dsp:txBody>
      <dsp:txXfrm rot="-5400000">
        <a:off x="1182242" y="3045016"/>
        <a:ext cx="9709383" cy="9906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78728A-B5EE-41D9-9B20-4A206B8A28CA}">
      <dsp:nvSpPr>
        <dsp:cNvPr id="0" name=""/>
        <dsp:cNvSpPr/>
      </dsp:nvSpPr>
      <dsp:spPr>
        <a:xfrm rot="5400000">
          <a:off x="-213083" y="217405"/>
          <a:ext cx="1420558" cy="994390"/>
        </a:xfrm>
        <a:prstGeom prst="chevron">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just" defTabSz="711200">
            <a:lnSpc>
              <a:spcPct val="90000"/>
            </a:lnSpc>
            <a:spcBef>
              <a:spcPct val="0"/>
            </a:spcBef>
            <a:spcAft>
              <a:spcPct val="35000"/>
            </a:spcAft>
          </a:pPr>
          <a:r>
            <a:rPr lang="en-IN" sz="1600" b="1" kern="1200" dirty="0">
              <a:solidFill>
                <a:schemeClr val="tx1"/>
              </a:solidFill>
              <a:latin typeface="Times New Roman" panose="02020603050405020304" pitchFamily="18" charset="0"/>
              <a:cs typeface="Times New Roman" panose="02020603050405020304" pitchFamily="18" charset="0"/>
            </a:rPr>
            <a:t>Super Computer </a:t>
          </a:r>
          <a:endParaRPr lang="en-US" sz="1600" b="1" kern="1200" dirty="0">
            <a:solidFill>
              <a:schemeClr val="tx1"/>
            </a:solidFill>
            <a:latin typeface="Times New Roman" panose="02020603050405020304" pitchFamily="18" charset="0"/>
            <a:cs typeface="Times New Roman" panose="02020603050405020304" pitchFamily="18" charset="0"/>
          </a:endParaRPr>
        </a:p>
      </dsp:txBody>
      <dsp:txXfrm rot="-5400000">
        <a:off x="1" y="501516"/>
        <a:ext cx="994390" cy="426168"/>
      </dsp:txXfrm>
    </dsp:sp>
    <dsp:sp modelId="{2B76A15A-7F45-470A-8366-50E187D77721}">
      <dsp:nvSpPr>
        <dsp:cNvPr id="0" name=""/>
        <dsp:cNvSpPr/>
      </dsp:nvSpPr>
      <dsp:spPr>
        <a:xfrm rot="5400000">
          <a:off x="5293071" y="-4294358"/>
          <a:ext cx="923848" cy="9521209"/>
        </a:xfrm>
        <a:prstGeom prst="round2Same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just" defTabSz="711200">
            <a:lnSpc>
              <a:spcPct val="90000"/>
            </a:lnSpc>
            <a:spcBef>
              <a:spcPct val="0"/>
            </a:spcBef>
            <a:spcAft>
              <a:spcPct val="15000"/>
            </a:spcAft>
            <a:buFont typeface="Arial" panose="020B0604020202020204" pitchFamily="34" charset="0"/>
            <a:buChar char="••"/>
          </a:pPr>
          <a:r>
            <a:rPr lang="en-GB" sz="1600" b="0" kern="1200" dirty="0">
              <a:latin typeface="Times New Roman" panose="02020603050405020304" pitchFamily="18" charset="0"/>
              <a:cs typeface="Times New Roman" panose="02020603050405020304" pitchFamily="18" charset="0"/>
            </a:rPr>
            <a:t>A computer that is considered to be fastest in the world. Used to execute  tasks that would take lot of time for other computers. For Ex: Modelling weather systems, genome sequence, etc (Refer site: http://www.top500.org/) </a:t>
          </a:r>
          <a:endParaRPr lang="en-US" sz="1600" b="0" kern="1200" dirty="0">
            <a:solidFill>
              <a:schemeClr val="tx1"/>
            </a:solidFill>
            <a:latin typeface="Times New Roman" panose="02020603050405020304" pitchFamily="18" charset="0"/>
            <a:cs typeface="Times New Roman" panose="02020603050405020304" pitchFamily="18" charset="0"/>
          </a:endParaRPr>
        </a:p>
      </dsp:txBody>
      <dsp:txXfrm rot="-5400000">
        <a:off x="994391" y="49421"/>
        <a:ext cx="9476110" cy="833650"/>
      </dsp:txXfrm>
    </dsp:sp>
    <dsp:sp modelId="{74040B85-EE0D-403A-B8E6-2A21E4263B2C}">
      <dsp:nvSpPr>
        <dsp:cNvPr id="0" name=""/>
        <dsp:cNvSpPr/>
      </dsp:nvSpPr>
      <dsp:spPr>
        <a:xfrm rot="5400000">
          <a:off x="-213083" y="1493199"/>
          <a:ext cx="1420558" cy="994390"/>
        </a:xfrm>
        <a:prstGeom prst="chevron">
          <a:avLst/>
        </a:prstGeom>
        <a:gradFill rotWithShape="0">
          <a:gsLst>
            <a:gs pos="0">
              <a:schemeClr val="accent4">
                <a:hueOff val="3266964"/>
                <a:satOff val="-13592"/>
                <a:lumOff val="3203"/>
                <a:alphaOff val="0"/>
                <a:tint val="100000"/>
                <a:shade val="100000"/>
                <a:satMod val="130000"/>
              </a:schemeClr>
            </a:gs>
            <a:gs pos="100000">
              <a:schemeClr val="accent4">
                <a:hueOff val="3266964"/>
                <a:satOff val="-13592"/>
                <a:lumOff val="3203"/>
                <a:alphaOff val="0"/>
                <a:tint val="50000"/>
                <a:shade val="100000"/>
                <a:satMod val="350000"/>
              </a:schemeClr>
            </a:gs>
          </a:gsLst>
          <a:lin ang="16200000" scaled="0"/>
        </a:gradFill>
        <a:ln w="9525" cap="flat" cmpd="sng" algn="ctr">
          <a:solidFill>
            <a:schemeClr val="accent4">
              <a:hueOff val="3266964"/>
              <a:satOff val="-13592"/>
              <a:lumOff val="3203"/>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just" defTabSz="711200">
            <a:lnSpc>
              <a:spcPct val="90000"/>
            </a:lnSpc>
            <a:spcBef>
              <a:spcPct val="0"/>
            </a:spcBef>
            <a:spcAft>
              <a:spcPct val="35000"/>
            </a:spcAft>
          </a:pPr>
          <a:r>
            <a:rPr lang="en-IN" sz="1600" b="1" kern="1200" dirty="0">
              <a:solidFill>
                <a:schemeClr val="tx1"/>
              </a:solidFill>
              <a:latin typeface="Times New Roman" panose="02020603050405020304" pitchFamily="18" charset="0"/>
              <a:cs typeface="Times New Roman" panose="02020603050405020304" pitchFamily="18" charset="0"/>
            </a:rPr>
            <a:t>Main Frame </a:t>
          </a:r>
          <a:endParaRPr lang="en-US" sz="1600" b="1" kern="1200" dirty="0">
            <a:solidFill>
              <a:schemeClr val="tx1"/>
            </a:solidFill>
            <a:latin typeface="Times New Roman" panose="02020603050405020304" pitchFamily="18" charset="0"/>
            <a:cs typeface="Times New Roman" panose="02020603050405020304" pitchFamily="18" charset="0"/>
          </a:endParaRPr>
        </a:p>
      </dsp:txBody>
      <dsp:txXfrm rot="-5400000">
        <a:off x="1" y="1777310"/>
        <a:ext cx="994390" cy="426168"/>
      </dsp:txXfrm>
    </dsp:sp>
    <dsp:sp modelId="{622D85F4-7054-4259-98CC-CEC181FE675C}">
      <dsp:nvSpPr>
        <dsp:cNvPr id="0" name=""/>
        <dsp:cNvSpPr/>
      </dsp:nvSpPr>
      <dsp:spPr>
        <a:xfrm rot="5400000">
          <a:off x="5293313" y="-3018807"/>
          <a:ext cx="923362" cy="9521209"/>
        </a:xfrm>
        <a:prstGeom prst="round2SameRect">
          <a:avLst/>
        </a:prstGeom>
        <a:solidFill>
          <a:schemeClr val="lt1">
            <a:alpha val="90000"/>
            <a:hueOff val="0"/>
            <a:satOff val="0"/>
            <a:lumOff val="0"/>
            <a:alphaOff val="0"/>
          </a:schemeClr>
        </a:solidFill>
        <a:ln w="9525" cap="flat" cmpd="sng" algn="ctr">
          <a:solidFill>
            <a:schemeClr val="accent4">
              <a:hueOff val="3266964"/>
              <a:satOff val="-13592"/>
              <a:lumOff val="3203"/>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just" defTabSz="711200">
            <a:lnSpc>
              <a:spcPct val="90000"/>
            </a:lnSpc>
            <a:spcBef>
              <a:spcPct val="0"/>
            </a:spcBef>
            <a:spcAft>
              <a:spcPct val="15000"/>
            </a:spcAft>
            <a:buChar char="••"/>
          </a:pPr>
          <a:r>
            <a:rPr lang="en-GB" sz="1600" b="0" kern="1200" dirty="0">
              <a:latin typeface="Times New Roman" panose="02020603050405020304" pitchFamily="18" charset="0"/>
              <a:cs typeface="Times New Roman" panose="02020603050405020304" pitchFamily="18" charset="0"/>
            </a:rPr>
            <a:t>Large expensive computer capable of simultaneously processing data for hundreds or thousands of users. Used to store, manage, and process large amounts of data that need to be reliable, secure, and centralized. </a:t>
          </a:r>
          <a:endParaRPr lang="en-US" sz="1600" b="0" kern="1200" dirty="0">
            <a:solidFill>
              <a:schemeClr val="tx1"/>
            </a:solidFill>
            <a:latin typeface="Times New Roman" panose="02020603050405020304" pitchFamily="18" charset="0"/>
            <a:cs typeface="Times New Roman" panose="02020603050405020304" pitchFamily="18" charset="0"/>
          </a:endParaRPr>
        </a:p>
      </dsp:txBody>
      <dsp:txXfrm rot="-5400000">
        <a:off x="994390" y="1325191"/>
        <a:ext cx="9476134" cy="833212"/>
      </dsp:txXfrm>
    </dsp:sp>
    <dsp:sp modelId="{2E41A1D2-7469-4208-ADB6-2F77B8CEC348}">
      <dsp:nvSpPr>
        <dsp:cNvPr id="0" name=""/>
        <dsp:cNvSpPr/>
      </dsp:nvSpPr>
      <dsp:spPr>
        <a:xfrm rot="5400000">
          <a:off x="-213083" y="2768993"/>
          <a:ext cx="1420558" cy="994390"/>
        </a:xfrm>
        <a:prstGeom prst="chevron">
          <a:avLst/>
        </a:prstGeom>
        <a:gradFill rotWithShape="0">
          <a:gsLst>
            <a:gs pos="0">
              <a:schemeClr val="accent4">
                <a:hueOff val="6533927"/>
                <a:satOff val="-27185"/>
                <a:lumOff val="6405"/>
                <a:alphaOff val="0"/>
                <a:tint val="100000"/>
                <a:shade val="100000"/>
                <a:satMod val="130000"/>
              </a:schemeClr>
            </a:gs>
            <a:gs pos="100000">
              <a:schemeClr val="accent4">
                <a:hueOff val="6533927"/>
                <a:satOff val="-27185"/>
                <a:lumOff val="6405"/>
                <a:alphaOff val="0"/>
                <a:tint val="50000"/>
                <a:shade val="100000"/>
                <a:satMod val="350000"/>
              </a:schemeClr>
            </a:gs>
          </a:gsLst>
          <a:lin ang="16200000" scaled="0"/>
        </a:gradFill>
        <a:ln w="9525" cap="flat" cmpd="sng" algn="ctr">
          <a:solidFill>
            <a:schemeClr val="accent4">
              <a:hueOff val="6533927"/>
              <a:satOff val="-27185"/>
              <a:lumOff val="6405"/>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just" defTabSz="711200">
            <a:lnSpc>
              <a:spcPct val="90000"/>
            </a:lnSpc>
            <a:spcBef>
              <a:spcPct val="0"/>
            </a:spcBef>
            <a:spcAft>
              <a:spcPct val="35000"/>
            </a:spcAft>
          </a:pPr>
          <a:r>
            <a:rPr lang="en-IN" sz="1600" b="1" kern="1200">
              <a:solidFill>
                <a:schemeClr val="tx1"/>
              </a:solidFill>
              <a:latin typeface="Times New Roman" panose="02020603050405020304" pitchFamily="18" charset="0"/>
              <a:cs typeface="Times New Roman" panose="02020603050405020304" pitchFamily="18" charset="0"/>
            </a:rPr>
            <a:t>Hand Held </a:t>
          </a:r>
          <a:endParaRPr lang="en-US" sz="1600" b="1" kern="1200">
            <a:solidFill>
              <a:schemeClr val="tx1"/>
            </a:solidFill>
            <a:latin typeface="Times New Roman" panose="02020603050405020304" pitchFamily="18" charset="0"/>
            <a:cs typeface="Times New Roman" panose="02020603050405020304" pitchFamily="18" charset="0"/>
          </a:endParaRPr>
        </a:p>
      </dsp:txBody>
      <dsp:txXfrm rot="-5400000">
        <a:off x="1" y="3053104"/>
        <a:ext cx="994390" cy="426168"/>
      </dsp:txXfrm>
    </dsp:sp>
    <dsp:sp modelId="{55811385-DCD5-486B-A13F-A864DF2C3A7D}">
      <dsp:nvSpPr>
        <dsp:cNvPr id="0" name=""/>
        <dsp:cNvSpPr/>
      </dsp:nvSpPr>
      <dsp:spPr>
        <a:xfrm rot="5400000">
          <a:off x="5293313" y="-1743013"/>
          <a:ext cx="923362" cy="9521209"/>
        </a:xfrm>
        <a:prstGeom prst="round2SameRect">
          <a:avLst/>
        </a:prstGeom>
        <a:solidFill>
          <a:schemeClr val="lt1">
            <a:alpha val="90000"/>
            <a:hueOff val="0"/>
            <a:satOff val="0"/>
            <a:lumOff val="0"/>
            <a:alphaOff val="0"/>
          </a:schemeClr>
        </a:solidFill>
        <a:ln w="9525" cap="flat" cmpd="sng" algn="ctr">
          <a:solidFill>
            <a:schemeClr val="accent4">
              <a:hueOff val="6533927"/>
              <a:satOff val="-27185"/>
              <a:lumOff val="6405"/>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just" defTabSz="711200">
            <a:lnSpc>
              <a:spcPct val="90000"/>
            </a:lnSpc>
            <a:spcBef>
              <a:spcPct val="0"/>
            </a:spcBef>
            <a:spcAft>
              <a:spcPct val="15000"/>
            </a:spcAft>
            <a:buChar char="••"/>
          </a:pPr>
          <a:r>
            <a:rPr lang="en-US" sz="1600" b="0" kern="1200" dirty="0">
              <a:latin typeface="Times New Roman" panose="02020603050405020304" pitchFamily="18" charset="0"/>
              <a:cs typeface="Times New Roman" panose="02020603050405020304" pitchFamily="18" charset="0"/>
            </a:rPr>
            <a:t>It is also called a PDA (Personal Digital Assistant). A computer that fits into a pocket, runs on batteries, and is used while holding the unit in your hand. Typically used as an appointment book, address book, calculator and notepad. </a:t>
          </a:r>
        </a:p>
        <a:p>
          <a:pPr marL="171450" lvl="1" indent="-171450" algn="just" defTabSz="711200">
            <a:lnSpc>
              <a:spcPct val="90000"/>
            </a:lnSpc>
            <a:spcBef>
              <a:spcPct val="0"/>
            </a:spcBef>
            <a:spcAft>
              <a:spcPct val="15000"/>
            </a:spcAft>
            <a:buChar char="••"/>
          </a:pPr>
          <a:endParaRPr lang="en-US" sz="1600" b="1" kern="1200" dirty="0">
            <a:latin typeface="Times New Roman" panose="02020603050405020304" pitchFamily="18" charset="0"/>
            <a:cs typeface="Times New Roman" panose="02020603050405020304" pitchFamily="18" charset="0"/>
          </a:endParaRPr>
        </a:p>
      </dsp:txBody>
      <dsp:txXfrm rot="-5400000">
        <a:off x="994390" y="2600985"/>
        <a:ext cx="9476134" cy="833212"/>
      </dsp:txXfrm>
    </dsp:sp>
    <dsp:sp modelId="{890D8FF4-D5CD-4954-A5FF-0B8D6C4D16DB}">
      <dsp:nvSpPr>
        <dsp:cNvPr id="0" name=""/>
        <dsp:cNvSpPr/>
      </dsp:nvSpPr>
      <dsp:spPr>
        <a:xfrm rot="5400000">
          <a:off x="-213083" y="4044788"/>
          <a:ext cx="1420558" cy="994390"/>
        </a:xfrm>
        <a:prstGeom prst="chevron">
          <a:avLst/>
        </a:prstGeom>
        <a:gradFill rotWithShape="0">
          <a:gsLst>
            <a:gs pos="0">
              <a:schemeClr val="accent4">
                <a:hueOff val="9800891"/>
                <a:satOff val="-40777"/>
                <a:lumOff val="9608"/>
                <a:alphaOff val="0"/>
                <a:tint val="100000"/>
                <a:shade val="100000"/>
                <a:satMod val="130000"/>
              </a:schemeClr>
            </a:gs>
            <a:gs pos="100000">
              <a:schemeClr val="accent4">
                <a:hueOff val="9800891"/>
                <a:satOff val="-40777"/>
                <a:lumOff val="9608"/>
                <a:alphaOff val="0"/>
                <a:tint val="50000"/>
                <a:shade val="100000"/>
                <a:satMod val="350000"/>
              </a:schemeClr>
            </a:gs>
          </a:gsLst>
          <a:lin ang="16200000" scaled="0"/>
        </a:gradFill>
        <a:ln w="9525" cap="flat" cmpd="sng" algn="ctr">
          <a:solidFill>
            <a:schemeClr val="accent4">
              <a:hueOff val="9800891"/>
              <a:satOff val="-40777"/>
              <a:lumOff val="9608"/>
              <a:alphaOff val="0"/>
            </a:schemeClr>
          </a:solidFill>
          <a:prstDash val="solid"/>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lvl="0" algn="just" defTabSz="711200">
            <a:lnSpc>
              <a:spcPct val="90000"/>
            </a:lnSpc>
            <a:spcBef>
              <a:spcPct val="0"/>
            </a:spcBef>
            <a:spcAft>
              <a:spcPct val="35000"/>
            </a:spcAft>
          </a:pPr>
          <a:r>
            <a:rPr lang="en-IN" sz="1600" b="1" kern="1200" dirty="0">
              <a:solidFill>
                <a:schemeClr val="tx1"/>
              </a:solidFill>
              <a:latin typeface="Times New Roman" panose="02020603050405020304" pitchFamily="18" charset="0"/>
              <a:cs typeface="Times New Roman" panose="02020603050405020304" pitchFamily="18" charset="0"/>
            </a:rPr>
            <a:t>Multi core </a:t>
          </a:r>
          <a:endParaRPr lang="en-US" sz="1600" b="1" kern="1200" dirty="0">
            <a:solidFill>
              <a:schemeClr val="tx1"/>
            </a:solidFill>
            <a:latin typeface="Times New Roman" panose="02020603050405020304" pitchFamily="18" charset="0"/>
            <a:cs typeface="Times New Roman" panose="02020603050405020304" pitchFamily="18" charset="0"/>
          </a:endParaRPr>
        </a:p>
      </dsp:txBody>
      <dsp:txXfrm rot="-5400000">
        <a:off x="1" y="4328899"/>
        <a:ext cx="994390" cy="426168"/>
      </dsp:txXfrm>
    </dsp:sp>
    <dsp:sp modelId="{701A5679-1333-41C6-B277-E3ECE3E91DF1}">
      <dsp:nvSpPr>
        <dsp:cNvPr id="0" name=""/>
        <dsp:cNvSpPr/>
      </dsp:nvSpPr>
      <dsp:spPr>
        <a:xfrm rot="5400000">
          <a:off x="5293313" y="-467218"/>
          <a:ext cx="923362" cy="9521209"/>
        </a:xfrm>
        <a:prstGeom prst="round2SameRect">
          <a:avLst/>
        </a:prstGeom>
        <a:solidFill>
          <a:schemeClr val="lt1">
            <a:alpha val="90000"/>
            <a:hueOff val="0"/>
            <a:satOff val="0"/>
            <a:lumOff val="0"/>
            <a:alphaOff val="0"/>
          </a:schemeClr>
        </a:solidFill>
        <a:ln w="9525" cap="flat" cmpd="sng" algn="ctr">
          <a:solidFill>
            <a:schemeClr val="accent4">
              <a:hueOff val="9800891"/>
              <a:satOff val="-40777"/>
              <a:lumOff val="9608"/>
              <a:alphaOff val="0"/>
            </a:schemeClr>
          </a:solidFill>
          <a:prstDash val="solid"/>
        </a:ln>
        <a:effectLst>
          <a:outerShdw blurRad="40000" dist="23000" dir="5400000" rotWithShape="0">
            <a:srgbClr val="000000">
              <a:alpha val="35000"/>
            </a:srgb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13792" tIns="10160" rIns="10160" bIns="10160" numCol="1" spcCol="1270" anchor="ctr" anchorCtr="0">
          <a:noAutofit/>
        </a:bodyPr>
        <a:lstStyle/>
        <a:p>
          <a:pPr marL="171450" lvl="1" indent="-171450" algn="just" defTabSz="711200">
            <a:lnSpc>
              <a:spcPct val="90000"/>
            </a:lnSpc>
            <a:spcBef>
              <a:spcPct val="0"/>
            </a:spcBef>
            <a:spcAft>
              <a:spcPct val="15000"/>
            </a:spcAft>
            <a:buChar char="••"/>
          </a:pPr>
          <a:r>
            <a:rPr lang="en-GB" sz="1600" b="0" kern="1200" dirty="0">
              <a:latin typeface="Times New Roman" panose="02020603050405020304" pitchFamily="18" charset="0"/>
              <a:cs typeface="Times New Roman" panose="02020603050405020304" pitchFamily="18" charset="0"/>
            </a:rPr>
            <a:t>Have Multiple Cores – parallel computing platforms. Many Cores or computing elements in a single chip. Typical Examples: Sony Play station, Core 2 Duo, i3, i7 etc. </a:t>
          </a:r>
          <a:endParaRPr lang="en-US" sz="1600" b="0" kern="1200" dirty="0">
            <a:solidFill>
              <a:schemeClr val="tx1"/>
            </a:solidFill>
            <a:latin typeface="Times New Roman" panose="02020603050405020304" pitchFamily="18" charset="0"/>
            <a:cs typeface="Times New Roman" panose="02020603050405020304" pitchFamily="18" charset="0"/>
          </a:endParaRPr>
        </a:p>
      </dsp:txBody>
      <dsp:txXfrm rot="-5400000">
        <a:off x="994390" y="3876780"/>
        <a:ext cx="9476134" cy="833212"/>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29:42.6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29:43.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29:57.44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0,'0'1,"1"1,-1-1,0 0,0 0,1 0,-1 0,1 0,-1 0,1 0,-1 0,1 0,0 0,0 0,-1 0,1 0,0 0,0-1,0 1,0 0,0-1,0 1,0 0,0-1,0 1,0-1,1 1,37 8,-34-8,97 11,175-1,-221-10,278-2,82 2,-202 15,-173-6,-40-10,-1 0,1 1,-1-1,1 0,-1 0,1 0,-1 0,1 0,-1 0,0 1,1-1,-1 0,1 0,-1 1,0-1,1 0,-1 0,0 1,1-1,-1 0,0 1,0-1,1 1,-1-1,0 0,0 1,1-1,-1 1,0-1,0 1,0-1,0 0,0 1,0-1,0 1,0-1,0 1,0-1,0 1,0-1,0 1,0-1,0 1,0-1,-1 0,1 1,0-1,0 1,-1-1,1 0,0 1,-1 0,-23 14,-6-4,0-2,0 0,-1-2,-53 5,28-4,-229 32,-2-13,-301-11,547-17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29:57.8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29:58.15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trace contextRef="#ctx0" brushRef="#br0" timeOffset="1">1 1,'10'0,"12"0,8 0,-1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29:58.52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29:58.90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0:03.6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0,'181'0,"16"0,1258 0,-3037 0,1559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30T08:30:29.741"/>
    </inkml:context>
    <inkml:brush xml:id="br0">
      <inkml:brushProperty name="width" value="0.35" units="cm"/>
      <inkml:brushProperty name="height" value="0.35" units="cm"/>
    </inkml:brush>
  </inkml:definitions>
  <inkml:trace contextRef="#ctx0" brushRef="#br0">0 58 24575,'0'-1'0,"1"-1"0,-1 1 0,0-1 0,1 1 0,-1 0 0,1 0 0,-1-1 0,1 1 0,0 0 0,-1 0 0,1-1 0,0 1 0,0 0 0,0 0 0,0 0 0,0 0 0,0 0 0,0 0 0,0 1 0,0-1 0,1 0 0,-1 0 0,0 1 0,0-1 0,1 1 0,-1-1 0,0 1 0,2-1 0,8-1 0,-1-1 0,21-1 0,-19 3 0,529-17 0,-537 18 0,328 21 0,-2 23 0,-69-9 0,-97-22 0,205-11 0,-175-4 0,286 2-1365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30T08:30:30.289"/>
    </inkml:context>
    <inkml:brush xml:id="br0">
      <inkml:brushProperty name="width" value="0.35" units="cm"/>
      <inkml:brushProperty name="height" value="0.35" units="cm"/>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30T08:30:49.960"/>
    </inkml:context>
    <inkml:brush xml:id="br0">
      <inkml:brushProperty name="width" value="0.35" units="cm"/>
      <inkml:brushProperty name="height" value="0.35" units="cm"/>
      <inkml:brushProperty name="color" value="#FFFFFF"/>
    </inkml:brush>
  </inkml:definitions>
  <inkml:trace contextRef="#ctx0" brushRef="#br0">1 0 24575,'66'2'0,"0"3"0,0 3 0,94 23 0,-146-28 0,386 81 0,7-20 0,-394-63 0,404 29 0,258-32 0,-628 3 0,-33 1 0,-12 0 0,-25 5 0,-252 24 0,-8-21 0,249-9 0,-801 2 0,454-4 0,318-2 0,57 2 0,0 0 0,0 0 0,0-1 0,0 0 0,0 0 0,0 0 0,-10-6 0,15 8 0,1 0 0,-1-1 0,1 1 0,0 0 0,-1-1 0,1 1 0,0 0 0,-1-1 0,1 1 0,0-1 0,0 1 0,-1-1 0,1 1 0,0 0 0,0-1 0,0 1 0,-1-1 0,1 1 0,0-1 0,0 1 0,0-1 0,0 1 0,0-1 0,0 1 0,0-1 0,0 1 0,0-1 0,0 1 0,0-1 0,1 1 0,-1-1 0,0 1 0,0 0 0,0-1 0,1 1 0,-1-1 0,0 1 0,0-1 0,1 1 0,-1 0 0,0-1 0,1 1 0,-1 0 0,1-1 0,-1 1 0,0 0 0,1 0 0,-1-1 0,1 1 0,27-17 0,-24 15 0,29-14 0,2 1 0,0 2 0,1 1 0,66-13 0,153-4 0,-116 19 0,165-7 0,247 18 0,-947 27 0,242-13 0,27-4 0,115-8 0,31-2 0,683 0-528,-323-4 321,420 3 942,-741 3-735,114 21 0,-169-24 0,-1 1 0,1-1 0,-1 1 0,1 0 0,-1 0 0,0 0 0,1 0 0,-1 0 0,3 3 0,-4-4 0,-1 1 0,1-1 0,-1 1 0,1-1 0,-1 1 0,1 0 0,-1-1 0,0 1 0,1 0 0,-1-1 0,0 1 0,0 0 0,0-1 0,1 1 0,-1 0 0,0-1 0,0 1 0,0 0 0,0 0 0,0-1 0,0 1 0,0 0 0,-1-1 0,1 1 0,0 0 0,0-1 0,0 1 0,-1 0 0,1-1 0,0 1 0,-1 0 0,1-1 0,-1 1 0,1-1 0,-1 1 0,1-1 0,-1 1 0,0 0 0,-4 5 0,-1-1 0,0 0 0,0 0 0,0 0 0,-1-1 0,0 0 0,-10 5 0,-57 20 0,61-24 0,-34 10 0,0-2 0,-1-2 0,-1-2 0,-75 4 0,-203-12 0,179-4 0,-44 2-1365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30T08:30:52.205"/>
    </inkml:context>
    <inkml:brush xml:id="br0">
      <inkml:brushProperty name="width" value="0.35" units="cm"/>
      <inkml:brushProperty name="height" value="0.35" units="cm"/>
      <inkml:brushProperty name="color" value="#FFFFFF"/>
    </inkml:brush>
  </inkml:definitions>
  <inkml:trace contextRef="#ctx0" brushRef="#br0">1 640 24575,'0'-25'0,"-1"-15"0,2 0 0,1 0 0,3 1 0,10-47 0,10-20 0,13-120 0,-31 194 0,-7 32 0,0 0 0,0-1 0,0 1 0,0 0 0,1-1 0,-1 1 0,0 0 0,0 0 0,0-1 0,0 1 0,0 0 0,1 0 0,-1-1 0,0 1 0,0 0 0,0 0 0,1 0 0,-1-1 0,0 1 0,0 0 0,1 0 0,-1 0 0,0 0 0,0-1 0,1 1 0,-1 0 0,0 0 0,1 0 0,-1 0 0,0 0 0,1 0 0,-1 0 0,0 0 0,0 0 0,1 0 0,-1 0 0,0 0 0,1 0 0,-1 0 0,0 0 0,0 1 0,1-1 0,-1 0 0,0 0 0,1 0 0,-1 0 0,0 0 0,0 1 0,1-1 0,-1 0 0,0 0 0,0 0 0,0 1 0,1-1 0,-1 0 0,0 0 0,0 1 0,0-1 0,0 0 0,0 0 0,0 1 0,1-1 0,-1 0 0,0 1 0,0-1 0,0 0 0,0 1 0,9 24 0,26 201 0,-16-82 0,46 213 0,-35-197 0,-25-135 0,-7-35 0,-8-44 0,-19-148 0,-5-340 0,34 532 0,2-30 0,-2 39 0,0-1 0,0 1 0,0-1 0,1 1 0,-1-1 0,1 1 0,-1 0 0,1-1 0,-1 1 0,1 0 0,0 0 0,-1-1 0,1 1 0,0 0 0,0 0 0,0 0 0,0 0 0,0 0 0,0 0 0,1 0 0,0-1 0,-1 2 0,1 0 0,-1 0 0,0 0 0,0 0 0,0 0 0,1 0 0,-1 0 0,0 1 0,0-1 0,0 0 0,0 1 0,1-1 0,-1 1 0,0-1 0,0 1 0,0-1 0,0 1 0,0 0 0,0-1 0,0 1 0,-1 0 0,1 0 0,0 0 0,0 0 0,0 1 0,19 27 0,-19-28 0,8 17 0,-1 2 0,0-1 0,-2 1 0,0 0 0,-1 1 0,2 21 0,2 2 0,56 253-1365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1:29.085"/>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1 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34.21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34.7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1,'0'0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36.04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36.4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37.25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37.63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trace contextRef="#ctx0" brushRef="#br0" timeOffset="1">0 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38.92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39.29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41.76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42.16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trace contextRef="#ctx0" brushRef="#br0" timeOffset="1">0 1,'0'0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43.1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44.04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44.3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54.046"/>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7-30T08:32:45.62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30T08:38:54.689"/>
    </inkml:context>
    <inkml:brush xml:id="br0">
      <inkml:brushProperty name="width" value="0.35" units="cm"/>
      <inkml:brushProperty name="height" value="0.35" units="cm"/>
      <inkml:brushProperty name="color" value="#FFFFFF"/>
    </inkml:brush>
  </inkml:definitions>
  <inkml:trace contextRef="#ctx0" brushRef="#br0">0 59 24575,'691'-25'-1059,"-270"6"263,516 4 456,-851 18 762,91 14 0,75 25 709,-123-19-911,-116-19-220,-25-3 0,-35-1 0,40 0 0,-704 23 0,545-10 0,-177 5 0,784-17 0,-198-3 0,41-12 0,-48 0 0,584 12 187,-425 4-1739</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7-30T08:38:56.60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2605496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6314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3238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7798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480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2748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0813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079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17410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9792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8418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3370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723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9505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
        <p:nvSpPr>
          <p:cNvPr id="422" name="Google Shape;42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3" name="Google Shape;423;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1" name="Google Shape;511;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529" name="Google Shape;52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41:notes"/>
          <p:cNvSpPr>
            <a:spLocks noGrp="1" noRot="1" noChangeAspect="1"/>
          </p:cNvSpPr>
          <p:nvPr>
            <p:ph type="sldImg" idx="2"/>
          </p:nvPr>
        </p:nvSpPr>
        <p:spPr>
          <a:xfrm>
            <a:off x="-4200525" y="1252538"/>
            <a:ext cx="11839575" cy="66611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38" name="Google Shape;538;p41:notes"/>
          <p:cNvSpPr txBox="1">
            <a:spLocks noGrp="1"/>
          </p:cNvSpPr>
          <p:nvPr>
            <p:ph type="body" idx="1"/>
          </p:nvPr>
        </p:nvSpPr>
        <p:spPr>
          <a:xfrm>
            <a:off x="685690" y="4343133"/>
            <a:ext cx="5486620" cy="411533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a:buNone/>
            </a:pPr>
            <a:endParaRPr>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549" name="Google Shape;54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42</a:t>
            </a:fld>
            <a:endParaRPr/>
          </a:p>
        </p:txBody>
      </p:sp>
      <p:sp>
        <p:nvSpPr>
          <p:cNvPr id="596" name="Google Shape;59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7" name="Google Shape;597;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43</a:t>
            </a:fld>
            <a:endParaRPr/>
          </a:p>
        </p:txBody>
      </p:sp>
      <p:sp>
        <p:nvSpPr>
          <p:cNvPr id="608" name="Google Shape;60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9" name="Google Shape;609;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18" name="Google Shape;61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45</a:t>
            </a:fld>
            <a:endParaRPr/>
          </a:p>
        </p:txBody>
      </p:sp>
      <p:sp>
        <p:nvSpPr>
          <p:cNvPr id="626" name="Google Shape;626;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7" name="Google Shape;627;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46</a:t>
            </a:fld>
            <a:endParaRPr/>
          </a:p>
        </p:txBody>
      </p:sp>
      <p:sp>
        <p:nvSpPr>
          <p:cNvPr id="636" name="Google Shape;636;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7" name="Google Shape;637;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47</a:t>
            </a:fld>
            <a:endParaRPr/>
          </a:p>
        </p:txBody>
      </p:sp>
      <p:sp>
        <p:nvSpPr>
          <p:cNvPr id="646" name="Google Shape;646;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7" name="Google Shape;647;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60" name="Google Shape;660;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69" name="Google Shape;669;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78" name="Google Shape;67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86" name="Google Shape;686;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697" name="Google Shape;697;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n-US"/>
              <a:t>53</a:t>
            </a:fld>
            <a:endParaRPr/>
          </a:p>
        </p:txBody>
      </p:sp>
      <p:sp>
        <p:nvSpPr>
          <p:cNvPr id="706" name="Google Shape;706;p54:notes"/>
          <p:cNvSpPr txBox="1"/>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53</a:t>
            </a:fld>
            <a:endParaRPr sz="1200">
              <a:solidFill>
                <a:schemeClr val="dk1"/>
              </a:solidFill>
              <a:latin typeface="Calibri"/>
              <a:ea typeface="Calibri"/>
              <a:cs typeface="Calibri"/>
              <a:sym typeface="Calibri"/>
            </a:endParaRPr>
          </a:p>
        </p:txBody>
      </p:sp>
      <p:sp>
        <p:nvSpPr>
          <p:cNvPr id="707" name="Google Shape;707;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8" name="Google Shape;708;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807" name="Google Shape;807;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5" name="Google Shape;815;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3" name="Google Shape;823;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2" name="Google Shape;832;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1" name="Google Shape;841;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2" name="Google Shape;852;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1" name="Google Shape;86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0" name="Google Shape;870;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9" name="Google Shape;879;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8" name="Google Shape;888;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7" name="Google Shape;897;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6" name="Google Shape;906;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4" name="Google Shape;914;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3" name="Google Shape;923;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1" name="Google Shape;931;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7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0" name="Google Shape;940;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p7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2" name="Google Shape;952;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7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1" name="Google Shape;961;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7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0" name="Google Shape;970;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p7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9" name="Google Shape;979;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7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8" name="Google Shape;988;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7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7" name="Google Shape;997;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6" name="Google Shape;1006;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p7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4" name="Google Shape;1014;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p7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2" name="Google Shape;1022;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p8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1" name="Google Shape;1031;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8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0" name="Google Shape;1040;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p8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9" name="Google Shape;1049;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p8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8" name="Google Shape;1058;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p8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7" name="Google Shape;1067;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6" name="Google Shape;1076;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7" name="Google Shape;1077;p8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84</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p8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8" name="Google Shape;1088;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p8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7" name="Google Shape;1097;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p8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7" name="Google Shape;1107;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p8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6" name="Google Shape;1116;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p9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89</a:t>
            </a:fld>
            <a:endParaRPr/>
          </a:p>
        </p:txBody>
      </p:sp>
      <p:sp>
        <p:nvSpPr>
          <p:cNvPr id="1124" name="Google Shape;1124;p90:notes"/>
          <p:cNvSpPr/>
          <p:nvPr/>
        </p:nvSpPr>
        <p:spPr>
          <a:xfrm>
            <a:off x="388620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5" name="Google Shape;1125;p90:notes"/>
          <p:cNvSpPr/>
          <p:nvPr/>
        </p:nvSpPr>
        <p:spPr>
          <a:xfrm>
            <a:off x="3886200" y="8686800"/>
            <a:ext cx="2971800" cy="457200"/>
          </a:xfrm>
          <a:prstGeom prst="rect">
            <a:avLst/>
          </a:prstGeom>
          <a:noFill/>
          <a:ln>
            <a:noFill/>
          </a:ln>
        </p:spPr>
        <p:txBody>
          <a:bodyPr spcFirstLastPara="1" wrap="square" lIns="90475" tIns="44450" rIns="90475" bIns="44450" anchor="b" anchorCtr="0">
            <a:noAutofit/>
          </a:bodyPr>
          <a:lstStyle/>
          <a:p>
            <a:pPr marL="0" marR="0" lvl="0" indent="0" algn="r" rtl="0">
              <a:spcBef>
                <a:spcPts val="0"/>
              </a:spcBef>
              <a:spcAft>
                <a:spcPts val="0"/>
              </a:spcAft>
              <a:buNone/>
            </a:pPr>
            <a:r>
              <a:rPr lang="en-US" sz="1200">
                <a:solidFill>
                  <a:schemeClr val="dk1"/>
                </a:solidFill>
                <a:latin typeface="Times New Roman"/>
                <a:ea typeface="Times New Roman"/>
                <a:cs typeface="Times New Roman"/>
                <a:sym typeface="Times New Roman"/>
              </a:rPr>
              <a:t>7</a:t>
            </a:r>
            <a:endParaRPr/>
          </a:p>
        </p:txBody>
      </p:sp>
      <p:sp>
        <p:nvSpPr>
          <p:cNvPr id="1126" name="Google Shape;1126;p90:notes"/>
          <p:cNvSpPr/>
          <p:nvPr/>
        </p:nvSpPr>
        <p:spPr>
          <a:xfrm>
            <a:off x="0" y="868680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7" name="Google Shape;1127;p90:notes"/>
          <p:cNvSpPr/>
          <p:nvPr/>
        </p:nvSpPr>
        <p:spPr>
          <a:xfrm>
            <a:off x="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8" name="Google Shape;1128;p90:notes"/>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29" name="Google Shape;1129;p90:notes"/>
          <p:cNvSpPr txBox="1">
            <a:spLocks noGrp="1"/>
          </p:cNvSpPr>
          <p:nvPr>
            <p:ph type="body" idx="1"/>
          </p:nvPr>
        </p:nvSpPr>
        <p:spPr>
          <a:xfrm>
            <a:off x="914400"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p9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0" name="Google Shape;1140;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p9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91</a:t>
            </a:fld>
            <a:endParaRPr/>
          </a:p>
        </p:txBody>
      </p:sp>
      <p:sp>
        <p:nvSpPr>
          <p:cNvPr id="1148" name="Google Shape;1148;p92:notes"/>
          <p:cNvSpPr/>
          <p:nvPr/>
        </p:nvSpPr>
        <p:spPr>
          <a:xfrm>
            <a:off x="388620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49" name="Google Shape;1149;p92:notes"/>
          <p:cNvSpPr/>
          <p:nvPr/>
        </p:nvSpPr>
        <p:spPr>
          <a:xfrm>
            <a:off x="3886200" y="8686800"/>
            <a:ext cx="2971800" cy="457200"/>
          </a:xfrm>
          <a:prstGeom prst="rect">
            <a:avLst/>
          </a:prstGeom>
          <a:noFill/>
          <a:ln>
            <a:noFill/>
          </a:ln>
        </p:spPr>
        <p:txBody>
          <a:bodyPr spcFirstLastPara="1" wrap="square" lIns="90475" tIns="44450" rIns="90475" bIns="44450" anchor="b" anchorCtr="0">
            <a:noAutofit/>
          </a:bodyPr>
          <a:lstStyle/>
          <a:p>
            <a:pPr marL="0" marR="0" lvl="0" indent="0" algn="r" rtl="0">
              <a:spcBef>
                <a:spcPts val="0"/>
              </a:spcBef>
              <a:spcAft>
                <a:spcPts val="0"/>
              </a:spcAft>
              <a:buNone/>
            </a:pPr>
            <a:r>
              <a:rPr lang="en-US" sz="1200">
                <a:solidFill>
                  <a:schemeClr val="dk1"/>
                </a:solidFill>
                <a:latin typeface="Times New Roman"/>
                <a:ea typeface="Times New Roman"/>
                <a:cs typeface="Times New Roman"/>
                <a:sym typeface="Times New Roman"/>
              </a:rPr>
              <a:t>10</a:t>
            </a:r>
            <a:endParaRPr/>
          </a:p>
        </p:txBody>
      </p:sp>
      <p:sp>
        <p:nvSpPr>
          <p:cNvPr id="1150" name="Google Shape;1150;p92:notes"/>
          <p:cNvSpPr/>
          <p:nvPr/>
        </p:nvSpPr>
        <p:spPr>
          <a:xfrm>
            <a:off x="0" y="868680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1" name="Google Shape;1151;p92:notes"/>
          <p:cNvSpPr/>
          <p:nvPr/>
        </p:nvSpPr>
        <p:spPr>
          <a:xfrm>
            <a:off x="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2" name="Google Shape;1152;p92:notes"/>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3" name="Google Shape;1153;p92:notes"/>
          <p:cNvSpPr txBox="1">
            <a:spLocks noGrp="1"/>
          </p:cNvSpPr>
          <p:nvPr>
            <p:ph type="body" idx="1"/>
          </p:nvPr>
        </p:nvSpPr>
        <p:spPr>
          <a:xfrm>
            <a:off x="914400"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2"/>
        <p:cNvGrpSpPr/>
        <p:nvPr/>
      </p:nvGrpSpPr>
      <p:grpSpPr>
        <a:xfrm>
          <a:off x="0" y="0"/>
          <a:ext cx="0" cy="0"/>
          <a:chOff x="0" y="0"/>
          <a:chExt cx="0" cy="0"/>
        </a:xfrm>
      </p:grpSpPr>
      <p:sp>
        <p:nvSpPr>
          <p:cNvPr id="1163" name="Google Shape;1163;p9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92</a:t>
            </a:fld>
            <a:endParaRPr/>
          </a:p>
        </p:txBody>
      </p:sp>
      <p:sp>
        <p:nvSpPr>
          <p:cNvPr id="1164" name="Google Shape;1164;p93:notes"/>
          <p:cNvSpPr/>
          <p:nvPr/>
        </p:nvSpPr>
        <p:spPr>
          <a:xfrm>
            <a:off x="388620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5" name="Google Shape;1165;p93:notes"/>
          <p:cNvSpPr/>
          <p:nvPr/>
        </p:nvSpPr>
        <p:spPr>
          <a:xfrm>
            <a:off x="3886200" y="8686800"/>
            <a:ext cx="2971800" cy="457200"/>
          </a:xfrm>
          <a:prstGeom prst="rect">
            <a:avLst/>
          </a:prstGeom>
          <a:noFill/>
          <a:ln>
            <a:noFill/>
          </a:ln>
        </p:spPr>
        <p:txBody>
          <a:bodyPr spcFirstLastPara="1" wrap="square" lIns="90475" tIns="44450" rIns="90475" bIns="44450" anchor="b" anchorCtr="0">
            <a:noAutofit/>
          </a:bodyPr>
          <a:lstStyle/>
          <a:p>
            <a:pPr marL="0" marR="0" lvl="0" indent="0" algn="r" rtl="0">
              <a:spcBef>
                <a:spcPts val="0"/>
              </a:spcBef>
              <a:spcAft>
                <a:spcPts val="0"/>
              </a:spcAft>
              <a:buNone/>
            </a:pPr>
            <a:r>
              <a:rPr lang="en-US" sz="1200">
                <a:solidFill>
                  <a:schemeClr val="dk1"/>
                </a:solidFill>
                <a:latin typeface="Times New Roman"/>
                <a:ea typeface="Times New Roman"/>
                <a:cs typeface="Times New Roman"/>
                <a:sym typeface="Times New Roman"/>
              </a:rPr>
              <a:t>11</a:t>
            </a:r>
            <a:endParaRPr/>
          </a:p>
        </p:txBody>
      </p:sp>
      <p:sp>
        <p:nvSpPr>
          <p:cNvPr id="1166" name="Google Shape;1166;p93:notes"/>
          <p:cNvSpPr/>
          <p:nvPr/>
        </p:nvSpPr>
        <p:spPr>
          <a:xfrm>
            <a:off x="0" y="868680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7" name="Google Shape;1167;p93:notes"/>
          <p:cNvSpPr/>
          <p:nvPr/>
        </p:nvSpPr>
        <p:spPr>
          <a:xfrm>
            <a:off x="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68" name="Google Shape;1168;p93:notes"/>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9" name="Google Shape;1169;p93:notes"/>
          <p:cNvSpPr txBox="1">
            <a:spLocks noGrp="1"/>
          </p:cNvSpPr>
          <p:nvPr>
            <p:ph type="body" idx="1"/>
          </p:nvPr>
        </p:nvSpPr>
        <p:spPr>
          <a:xfrm>
            <a:off x="914400"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8"/>
        <p:cNvGrpSpPr/>
        <p:nvPr/>
      </p:nvGrpSpPr>
      <p:grpSpPr>
        <a:xfrm>
          <a:off x="0" y="0"/>
          <a:ext cx="0" cy="0"/>
          <a:chOff x="0" y="0"/>
          <a:chExt cx="0" cy="0"/>
        </a:xfrm>
      </p:grpSpPr>
      <p:sp>
        <p:nvSpPr>
          <p:cNvPr id="1179" name="Google Shape;1179;p9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0" name="Google Shape;1180;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p9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94</a:t>
            </a:fld>
            <a:endParaRPr/>
          </a:p>
        </p:txBody>
      </p:sp>
      <p:sp>
        <p:nvSpPr>
          <p:cNvPr id="1188" name="Google Shape;1188;p95:notes"/>
          <p:cNvSpPr/>
          <p:nvPr/>
        </p:nvSpPr>
        <p:spPr>
          <a:xfrm>
            <a:off x="388620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89" name="Google Shape;1189;p95:notes"/>
          <p:cNvSpPr/>
          <p:nvPr/>
        </p:nvSpPr>
        <p:spPr>
          <a:xfrm>
            <a:off x="3886200" y="8686800"/>
            <a:ext cx="2971800" cy="457200"/>
          </a:xfrm>
          <a:prstGeom prst="rect">
            <a:avLst/>
          </a:prstGeom>
          <a:noFill/>
          <a:ln>
            <a:noFill/>
          </a:ln>
        </p:spPr>
        <p:txBody>
          <a:bodyPr spcFirstLastPara="1" wrap="square" lIns="90475" tIns="44450" rIns="90475" bIns="44450" anchor="b" anchorCtr="0">
            <a:noAutofit/>
          </a:bodyPr>
          <a:lstStyle/>
          <a:p>
            <a:pPr marL="0" marR="0" lvl="0" indent="0" algn="r" rtl="0">
              <a:spcBef>
                <a:spcPts val="0"/>
              </a:spcBef>
              <a:spcAft>
                <a:spcPts val="0"/>
              </a:spcAft>
              <a:buNone/>
            </a:pPr>
            <a:r>
              <a:rPr lang="en-US" sz="1200">
                <a:solidFill>
                  <a:schemeClr val="dk1"/>
                </a:solidFill>
                <a:latin typeface="Times New Roman"/>
                <a:ea typeface="Times New Roman"/>
                <a:cs typeface="Times New Roman"/>
                <a:sym typeface="Times New Roman"/>
              </a:rPr>
              <a:t>13</a:t>
            </a:r>
            <a:endParaRPr/>
          </a:p>
        </p:txBody>
      </p:sp>
      <p:sp>
        <p:nvSpPr>
          <p:cNvPr id="1190" name="Google Shape;1190;p95:notes"/>
          <p:cNvSpPr/>
          <p:nvPr/>
        </p:nvSpPr>
        <p:spPr>
          <a:xfrm>
            <a:off x="0" y="868680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1" name="Google Shape;1191;p95:notes"/>
          <p:cNvSpPr/>
          <p:nvPr/>
        </p:nvSpPr>
        <p:spPr>
          <a:xfrm>
            <a:off x="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2" name="Google Shape;1192;p95:notes"/>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3" name="Google Shape;1193;p95:notes"/>
          <p:cNvSpPr txBox="1">
            <a:spLocks noGrp="1"/>
          </p:cNvSpPr>
          <p:nvPr>
            <p:ph type="body" idx="1"/>
          </p:nvPr>
        </p:nvSpPr>
        <p:spPr>
          <a:xfrm>
            <a:off x="914400"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p9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4" name="Google Shape;1204;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p9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96</a:t>
            </a:fld>
            <a:endParaRPr/>
          </a:p>
        </p:txBody>
      </p:sp>
      <p:sp>
        <p:nvSpPr>
          <p:cNvPr id="1212" name="Google Shape;1212;p97:notes"/>
          <p:cNvSpPr/>
          <p:nvPr/>
        </p:nvSpPr>
        <p:spPr>
          <a:xfrm>
            <a:off x="388620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3" name="Google Shape;1213;p97:notes"/>
          <p:cNvSpPr/>
          <p:nvPr/>
        </p:nvSpPr>
        <p:spPr>
          <a:xfrm>
            <a:off x="3886200" y="8686800"/>
            <a:ext cx="2971800" cy="457200"/>
          </a:xfrm>
          <a:prstGeom prst="rect">
            <a:avLst/>
          </a:prstGeom>
          <a:noFill/>
          <a:ln>
            <a:noFill/>
          </a:ln>
        </p:spPr>
        <p:txBody>
          <a:bodyPr spcFirstLastPara="1" wrap="square" lIns="90475" tIns="44450" rIns="90475" bIns="44450" anchor="b" anchorCtr="0">
            <a:noAutofit/>
          </a:bodyPr>
          <a:lstStyle/>
          <a:p>
            <a:pPr marL="0" marR="0" lvl="0" indent="0" algn="r" rtl="0">
              <a:spcBef>
                <a:spcPts val="0"/>
              </a:spcBef>
              <a:spcAft>
                <a:spcPts val="0"/>
              </a:spcAft>
              <a:buNone/>
            </a:pPr>
            <a:r>
              <a:rPr lang="en-US" sz="1200">
                <a:solidFill>
                  <a:schemeClr val="dk1"/>
                </a:solidFill>
                <a:latin typeface="Times New Roman"/>
                <a:ea typeface="Times New Roman"/>
                <a:cs typeface="Times New Roman"/>
                <a:sym typeface="Times New Roman"/>
              </a:rPr>
              <a:t>15</a:t>
            </a:r>
            <a:endParaRPr/>
          </a:p>
        </p:txBody>
      </p:sp>
      <p:sp>
        <p:nvSpPr>
          <p:cNvPr id="1214" name="Google Shape;1214;p97:notes"/>
          <p:cNvSpPr/>
          <p:nvPr/>
        </p:nvSpPr>
        <p:spPr>
          <a:xfrm>
            <a:off x="0" y="868680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5" name="Google Shape;1215;p97:notes"/>
          <p:cNvSpPr/>
          <p:nvPr/>
        </p:nvSpPr>
        <p:spPr>
          <a:xfrm>
            <a:off x="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16" name="Google Shape;1216;p97:notes"/>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17" name="Google Shape;1217;p97:notes"/>
          <p:cNvSpPr txBox="1">
            <a:spLocks noGrp="1"/>
          </p:cNvSpPr>
          <p:nvPr>
            <p:ph type="body" idx="1"/>
          </p:nvPr>
        </p:nvSpPr>
        <p:spPr>
          <a:xfrm>
            <a:off x="914400"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6"/>
        <p:cNvGrpSpPr/>
        <p:nvPr/>
      </p:nvGrpSpPr>
      <p:grpSpPr>
        <a:xfrm>
          <a:off x="0" y="0"/>
          <a:ext cx="0" cy="0"/>
          <a:chOff x="0" y="0"/>
          <a:chExt cx="0" cy="0"/>
        </a:xfrm>
      </p:grpSpPr>
      <p:sp>
        <p:nvSpPr>
          <p:cNvPr id="1227" name="Google Shape;1227;p9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8" name="Google Shape;1228;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p9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98</a:t>
            </a:fld>
            <a:endParaRPr/>
          </a:p>
        </p:txBody>
      </p:sp>
      <p:sp>
        <p:nvSpPr>
          <p:cNvPr id="1236" name="Google Shape;1236;p99:notes"/>
          <p:cNvSpPr/>
          <p:nvPr/>
        </p:nvSpPr>
        <p:spPr>
          <a:xfrm>
            <a:off x="388620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7" name="Google Shape;1237;p99:notes"/>
          <p:cNvSpPr/>
          <p:nvPr/>
        </p:nvSpPr>
        <p:spPr>
          <a:xfrm>
            <a:off x="3886200" y="8686800"/>
            <a:ext cx="2971800" cy="457200"/>
          </a:xfrm>
          <a:prstGeom prst="rect">
            <a:avLst/>
          </a:prstGeom>
          <a:noFill/>
          <a:ln>
            <a:noFill/>
          </a:ln>
        </p:spPr>
        <p:txBody>
          <a:bodyPr spcFirstLastPara="1" wrap="square" lIns="90475" tIns="44450" rIns="90475" bIns="44450" anchor="b" anchorCtr="0">
            <a:noAutofit/>
          </a:bodyPr>
          <a:lstStyle/>
          <a:p>
            <a:pPr marL="0" marR="0" lvl="0" indent="0" algn="r" rtl="0">
              <a:spcBef>
                <a:spcPts val="0"/>
              </a:spcBef>
              <a:spcAft>
                <a:spcPts val="0"/>
              </a:spcAft>
              <a:buNone/>
            </a:pPr>
            <a:r>
              <a:rPr lang="en-US" sz="1200">
                <a:solidFill>
                  <a:schemeClr val="dk1"/>
                </a:solidFill>
                <a:latin typeface="Times New Roman"/>
                <a:ea typeface="Times New Roman"/>
                <a:cs typeface="Times New Roman"/>
                <a:sym typeface="Times New Roman"/>
              </a:rPr>
              <a:t>17</a:t>
            </a:r>
            <a:endParaRPr/>
          </a:p>
        </p:txBody>
      </p:sp>
      <p:sp>
        <p:nvSpPr>
          <p:cNvPr id="1238" name="Google Shape;1238;p99:notes"/>
          <p:cNvSpPr/>
          <p:nvPr/>
        </p:nvSpPr>
        <p:spPr>
          <a:xfrm>
            <a:off x="0" y="868680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39" name="Google Shape;1239;p99:notes"/>
          <p:cNvSpPr/>
          <p:nvPr/>
        </p:nvSpPr>
        <p:spPr>
          <a:xfrm>
            <a:off x="0" y="0"/>
            <a:ext cx="29718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0" name="Google Shape;1240;p99:notes"/>
          <p:cNvSpPr>
            <a:spLocks noGrp="1" noRot="1" noChangeAspect="1"/>
          </p:cNvSpPr>
          <p:nvPr>
            <p:ph type="sldImg" idx="2"/>
          </p:nvPr>
        </p:nvSpPr>
        <p:spPr>
          <a:xfrm>
            <a:off x="393700" y="692150"/>
            <a:ext cx="6070600"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1" name="Google Shape;1241;p99:notes"/>
          <p:cNvSpPr txBox="1">
            <a:spLocks noGrp="1"/>
          </p:cNvSpPr>
          <p:nvPr>
            <p:ph type="body" idx="1"/>
          </p:nvPr>
        </p:nvSpPr>
        <p:spPr>
          <a:xfrm>
            <a:off x="914400" y="4343400"/>
            <a:ext cx="5029200" cy="4114800"/>
          </a:xfrm>
          <a:prstGeom prst="rect">
            <a:avLst/>
          </a:prstGeom>
          <a:noFill/>
          <a:ln>
            <a:noFill/>
          </a:ln>
        </p:spPr>
        <p:txBody>
          <a:bodyPr spcFirstLastPara="1" wrap="square" lIns="90475" tIns="44450" rIns="90475" bIns="4445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0"/>
        <p:cNvGrpSpPr/>
        <p:nvPr/>
      </p:nvGrpSpPr>
      <p:grpSpPr>
        <a:xfrm>
          <a:off x="0" y="0"/>
          <a:ext cx="0" cy="0"/>
          <a:chOff x="0" y="0"/>
          <a:chExt cx="0" cy="0"/>
        </a:xfrm>
      </p:grpSpPr>
      <p:sp>
        <p:nvSpPr>
          <p:cNvPr id="1251" name="Google Shape;1251;p10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2" name="Google Shape;1252;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p10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0" name="Google Shape;1260;p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7"/>
        <p:cNvGrpSpPr/>
        <p:nvPr/>
      </p:nvGrpSpPr>
      <p:grpSpPr>
        <a:xfrm>
          <a:off x="0" y="0"/>
          <a:ext cx="0" cy="0"/>
          <a:chOff x="0" y="0"/>
          <a:chExt cx="0" cy="0"/>
        </a:xfrm>
      </p:grpSpPr>
      <p:sp>
        <p:nvSpPr>
          <p:cNvPr id="1268" name="Google Shape;1268;p10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9" name="Google Shape;1269;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p10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7" name="Google Shape;1277;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4"/>
        <p:cNvGrpSpPr/>
        <p:nvPr/>
      </p:nvGrpSpPr>
      <p:grpSpPr>
        <a:xfrm>
          <a:off x="0" y="0"/>
          <a:ext cx="0" cy="0"/>
          <a:chOff x="0" y="0"/>
          <a:chExt cx="0" cy="0"/>
        </a:xfrm>
      </p:grpSpPr>
      <p:sp>
        <p:nvSpPr>
          <p:cNvPr id="1285" name="Google Shape;1285;p10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6" name="Google Shape;1286;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2"/>
        <p:cNvGrpSpPr/>
        <p:nvPr/>
      </p:nvGrpSpPr>
      <p:grpSpPr>
        <a:xfrm>
          <a:off x="0" y="0"/>
          <a:ext cx="0" cy="0"/>
          <a:chOff x="0" y="0"/>
          <a:chExt cx="0" cy="0"/>
        </a:xfrm>
      </p:grpSpPr>
      <p:sp>
        <p:nvSpPr>
          <p:cNvPr id="1293" name="Google Shape;1293;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4" name="Google Shape;1294;p10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5" name="Google Shape;1295;p10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104</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4"/>
        <p:cNvGrpSpPr/>
        <p:nvPr/>
      </p:nvGrpSpPr>
      <p:grpSpPr>
        <a:xfrm>
          <a:off x="0" y="0"/>
          <a:ext cx="0" cy="0"/>
          <a:chOff x="0" y="0"/>
          <a:chExt cx="0" cy="0"/>
        </a:xfrm>
      </p:grpSpPr>
      <p:sp>
        <p:nvSpPr>
          <p:cNvPr id="1305" name="Google Shape;1305;p10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105</a:t>
            </a:fld>
            <a:endParaRPr sz="1200">
              <a:solidFill>
                <a:schemeClr val="dk1"/>
              </a:solidFill>
              <a:latin typeface="Arial"/>
              <a:ea typeface="Arial"/>
              <a:cs typeface="Arial"/>
              <a:sym typeface="Arial"/>
            </a:endParaRPr>
          </a:p>
        </p:txBody>
      </p:sp>
      <p:sp>
        <p:nvSpPr>
          <p:cNvPr id="1306" name="Google Shape;1306;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07" name="Google Shape;1307;p10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4"/>
        <p:cNvGrpSpPr/>
        <p:nvPr/>
      </p:nvGrpSpPr>
      <p:grpSpPr>
        <a:xfrm>
          <a:off x="0" y="0"/>
          <a:ext cx="0" cy="0"/>
          <a:chOff x="0" y="0"/>
          <a:chExt cx="0" cy="0"/>
        </a:xfrm>
      </p:grpSpPr>
      <p:sp>
        <p:nvSpPr>
          <p:cNvPr id="1315" name="Google Shape;1315;p10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6" name="Google Shape;1316;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3"/>
        <p:cNvGrpSpPr/>
        <p:nvPr/>
      </p:nvGrpSpPr>
      <p:grpSpPr>
        <a:xfrm>
          <a:off x="0" y="0"/>
          <a:ext cx="0" cy="0"/>
          <a:chOff x="0" y="0"/>
          <a:chExt cx="0" cy="0"/>
        </a:xfrm>
      </p:grpSpPr>
      <p:sp>
        <p:nvSpPr>
          <p:cNvPr id="1324" name="Google Shape;1324;p10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5" name="Google Shape;1325;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1"/>
        <p:cNvGrpSpPr/>
        <p:nvPr/>
      </p:nvGrpSpPr>
      <p:grpSpPr>
        <a:xfrm>
          <a:off x="0" y="0"/>
          <a:ext cx="0" cy="0"/>
          <a:chOff x="0" y="0"/>
          <a:chExt cx="0" cy="0"/>
        </a:xfrm>
      </p:grpSpPr>
      <p:sp>
        <p:nvSpPr>
          <p:cNvPr id="1332" name="Google Shape;1332;p10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3" name="Google Shape;1333;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1"/>
        <p:cNvGrpSpPr/>
        <p:nvPr/>
      </p:nvGrpSpPr>
      <p:grpSpPr>
        <a:xfrm>
          <a:off x="0" y="0"/>
          <a:ext cx="0" cy="0"/>
          <a:chOff x="0" y="0"/>
          <a:chExt cx="0" cy="0"/>
        </a:xfrm>
      </p:grpSpPr>
      <p:sp>
        <p:nvSpPr>
          <p:cNvPr id="1352" name="Google Shape;1352;p1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3" name="Google Shape;1353;p1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9"/>
        <p:cNvGrpSpPr/>
        <p:nvPr/>
      </p:nvGrpSpPr>
      <p:grpSpPr>
        <a:xfrm>
          <a:off x="0" y="0"/>
          <a:ext cx="0" cy="0"/>
          <a:chOff x="0" y="0"/>
          <a:chExt cx="0" cy="0"/>
        </a:xfrm>
      </p:grpSpPr>
      <p:sp>
        <p:nvSpPr>
          <p:cNvPr id="1360" name="Google Shape;1360;p1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110</a:t>
            </a:fld>
            <a:endParaRPr sz="1200">
              <a:solidFill>
                <a:schemeClr val="dk1"/>
              </a:solidFill>
              <a:latin typeface="Arial"/>
              <a:ea typeface="Arial"/>
              <a:cs typeface="Arial"/>
              <a:sym typeface="Arial"/>
            </a:endParaRPr>
          </a:p>
        </p:txBody>
      </p:sp>
      <p:sp>
        <p:nvSpPr>
          <p:cNvPr id="1361" name="Google Shape;1361;p1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62" name="Google Shape;1362;p1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9"/>
        <p:cNvGrpSpPr/>
        <p:nvPr/>
      </p:nvGrpSpPr>
      <p:grpSpPr>
        <a:xfrm>
          <a:off x="0" y="0"/>
          <a:ext cx="0" cy="0"/>
          <a:chOff x="0" y="0"/>
          <a:chExt cx="0" cy="0"/>
        </a:xfrm>
      </p:grpSpPr>
      <p:sp>
        <p:nvSpPr>
          <p:cNvPr id="1370" name="Google Shape;1370;p1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1" name="Google Shape;1371;p1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8"/>
        <p:cNvGrpSpPr/>
        <p:nvPr/>
      </p:nvGrpSpPr>
      <p:grpSpPr>
        <a:xfrm>
          <a:off x="0" y="0"/>
          <a:ext cx="0" cy="0"/>
          <a:chOff x="0" y="0"/>
          <a:chExt cx="0" cy="0"/>
        </a:xfrm>
      </p:grpSpPr>
      <p:sp>
        <p:nvSpPr>
          <p:cNvPr id="1379" name="Google Shape;1379;p1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0" name="Google Shape;1380;p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6"/>
        <p:cNvGrpSpPr/>
        <p:nvPr/>
      </p:nvGrpSpPr>
      <p:grpSpPr>
        <a:xfrm>
          <a:off x="0" y="0"/>
          <a:ext cx="0" cy="0"/>
          <a:chOff x="0" y="0"/>
          <a:chExt cx="0" cy="0"/>
        </a:xfrm>
      </p:grpSpPr>
      <p:sp>
        <p:nvSpPr>
          <p:cNvPr id="1387" name="Google Shape;1387;p1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8" name="Google Shape;1388;p1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4"/>
        <p:cNvGrpSpPr/>
        <p:nvPr/>
      </p:nvGrpSpPr>
      <p:grpSpPr>
        <a:xfrm>
          <a:off x="0" y="0"/>
          <a:ext cx="0" cy="0"/>
          <a:chOff x="0" y="0"/>
          <a:chExt cx="0" cy="0"/>
        </a:xfrm>
      </p:grpSpPr>
      <p:sp>
        <p:nvSpPr>
          <p:cNvPr id="1395" name="Google Shape;1395;p1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114</a:t>
            </a:fld>
            <a:endParaRPr sz="1200">
              <a:solidFill>
                <a:schemeClr val="dk1"/>
              </a:solidFill>
              <a:latin typeface="Arial"/>
              <a:ea typeface="Arial"/>
              <a:cs typeface="Arial"/>
              <a:sym typeface="Arial"/>
            </a:endParaRPr>
          </a:p>
        </p:txBody>
      </p:sp>
      <p:sp>
        <p:nvSpPr>
          <p:cNvPr id="1396" name="Google Shape;1396;p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97" name="Google Shape;1397;p1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4"/>
        <p:cNvGrpSpPr/>
        <p:nvPr/>
      </p:nvGrpSpPr>
      <p:grpSpPr>
        <a:xfrm>
          <a:off x="0" y="0"/>
          <a:ext cx="0" cy="0"/>
          <a:chOff x="0" y="0"/>
          <a:chExt cx="0" cy="0"/>
        </a:xfrm>
      </p:grpSpPr>
      <p:sp>
        <p:nvSpPr>
          <p:cNvPr id="1405" name="Google Shape;1405;p1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6" name="Google Shape;1406;p1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3"/>
        <p:cNvGrpSpPr/>
        <p:nvPr/>
      </p:nvGrpSpPr>
      <p:grpSpPr>
        <a:xfrm>
          <a:off x="0" y="0"/>
          <a:ext cx="0" cy="0"/>
          <a:chOff x="0" y="0"/>
          <a:chExt cx="0" cy="0"/>
        </a:xfrm>
      </p:grpSpPr>
      <p:sp>
        <p:nvSpPr>
          <p:cNvPr id="1414" name="Google Shape;1414;p1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5" name="Google Shape;1415;p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2"/>
        <p:cNvGrpSpPr/>
        <p:nvPr/>
      </p:nvGrpSpPr>
      <p:grpSpPr>
        <a:xfrm>
          <a:off x="0" y="0"/>
          <a:ext cx="0" cy="0"/>
          <a:chOff x="0" y="0"/>
          <a:chExt cx="0" cy="0"/>
        </a:xfrm>
      </p:grpSpPr>
      <p:sp>
        <p:nvSpPr>
          <p:cNvPr id="1423" name="Google Shape;1423;p1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4" name="Google Shape;1424;p1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1"/>
        <p:cNvGrpSpPr/>
        <p:nvPr/>
      </p:nvGrpSpPr>
      <p:grpSpPr>
        <a:xfrm>
          <a:off x="0" y="0"/>
          <a:ext cx="0" cy="0"/>
          <a:chOff x="0" y="0"/>
          <a:chExt cx="0" cy="0"/>
        </a:xfrm>
      </p:grpSpPr>
      <p:sp>
        <p:nvSpPr>
          <p:cNvPr id="1432" name="Google Shape;1432;p1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3" name="Google Shape;1433;p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0"/>
        <p:cNvGrpSpPr/>
        <p:nvPr/>
      </p:nvGrpSpPr>
      <p:grpSpPr>
        <a:xfrm>
          <a:off x="0" y="0"/>
          <a:ext cx="0" cy="0"/>
          <a:chOff x="0" y="0"/>
          <a:chExt cx="0" cy="0"/>
        </a:xfrm>
      </p:grpSpPr>
      <p:sp>
        <p:nvSpPr>
          <p:cNvPr id="1441" name="Google Shape;1441;p1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2" name="Google Shape;1442;p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9"/>
        <p:cNvGrpSpPr/>
        <p:nvPr/>
      </p:nvGrpSpPr>
      <p:grpSpPr>
        <a:xfrm>
          <a:off x="0" y="0"/>
          <a:ext cx="0" cy="0"/>
          <a:chOff x="0" y="0"/>
          <a:chExt cx="0" cy="0"/>
        </a:xfrm>
      </p:grpSpPr>
      <p:sp>
        <p:nvSpPr>
          <p:cNvPr id="1450" name="Google Shape;1450;p1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1" name="Google Shape;1451;p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7"/>
        <p:cNvGrpSpPr/>
        <p:nvPr/>
      </p:nvGrpSpPr>
      <p:grpSpPr>
        <a:xfrm>
          <a:off x="0" y="0"/>
          <a:ext cx="0" cy="0"/>
          <a:chOff x="0" y="0"/>
          <a:chExt cx="0" cy="0"/>
        </a:xfrm>
      </p:grpSpPr>
      <p:sp>
        <p:nvSpPr>
          <p:cNvPr id="1458" name="Google Shape;1458;p1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9" name="Google Shape;1459;p1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p1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8" name="Google Shape;1468;p1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4"/>
        <p:cNvGrpSpPr/>
        <p:nvPr/>
      </p:nvGrpSpPr>
      <p:grpSpPr>
        <a:xfrm>
          <a:off x="0" y="0"/>
          <a:ext cx="0" cy="0"/>
          <a:chOff x="0" y="0"/>
          <a:chExt cx="0" cy="0"/>
        </a:xfrm>
      </p:grpSpPr>
      <p:sp>
        <p:nvSpPr>
          <p:cNvPr id="1475" name="Google Shape;1475;p1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6" name="Google Shape;1476;p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2"/>
        <p:cNvGrpSpPr/>
        <p:nvPr/>
      </p:nvGrpSpPr>
      <p:grpSpPr>
        <a:xfrm>
          <a:off x="0" y="0"/>
          <a:ext cx="0" cy="0"/>
          <a:chOff x="0" y="0"/>
          <a:chExt cx="0" cy="0"/>
        </a:xfrm>
      </p:grpSpPr>
      <p:sp>
        <p:nvSpPr>
          <p:cNvPr id="1483" name="Google Shape;1483;p1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4" name="Google Shape;1484;p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1"/>
        <p:cNvGrpSpPr/>
        <p:nvPr/>
      </p:nvGrpSpPr>
      <p:grpSpPr>
        <a:xfrm>
          <a:off x="0" y="0"/>
          <a:ext cx="0" cy="0"/>
          <a:chOff x="0" y="0"/>
          <a:chExt cx="0" cy="0"/>
        </a:xfrm>
      </p:grpSpPr>
      <p:sp>
        <p:nvSpPr>
          <p:cNvPr id="1492" name="Google Shape;1492;p1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3" name="Google Shape;1493;p1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p1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2" name="Google Shape;1502;p1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p1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127</a:t>
            </a:fld>
            <a:endParaRPr/>
          </a:p>
        </p:txBody>
      </p:sp>
      <p:sp>
        <p:nvSpPr>
          <p:cNvPr id="1513" name="Google Shape;1513;p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4" name="Google Shape;1514;p1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2"/>
        <p:cNvGrpSpPr/>
        <p:nvPr/>
      </p:nvGrpSpPr>
      <p:grpSpPr>
        <a:xfrm>
          <a:off x="0" y="0"/>
          <a:ext cx="0" cy="0"/>
          <a:chOff x="0" y="0"/>
          <a:chExt cx="0" cy="0"/>
        </a:xfrm>
      </p:grpSpPr>
      <p:sp>
        <p:nvSpPr>
          <p:cNvPr id="1523" name="Google Shape;1523;p1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4" name="Google Shape;1524;p1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531B0D91-7D90-4EC1-9DFA-AA338D97B905}" type="datetime1">
              <a:rPr lang="en-US" smtClean="0"/>
              <a:t>8/12/2024</a:t>
            </a:fld>
            <a:endParaRPr/>
          </a:p>
        </p:txBody>
      </p:sp>
      <p:sp>
        <p:nvSpPr>
          <p:cNvPr id="20" name="Google Shape;20;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21" name="Google Shape;21;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888888"/>
                </a:solidFill>
                <a:latin typeface="Calibri"/>
                <a:ea typeface="Calibri"/>
                <a:cs typeface="Calibri"/>
                <a:sym typeface="Calibri"/>
              </a:defRPr>
            </a:lvl1pPr>
            <a:lvl2pPr marL="0" lvl="1" indent="0" algn="r">
              <a:spcBef>
                <a:spcPts val="0"/>
              </a:spcBef>
              <a:buNone/>
              <a:defRPr sz="1200" b="0" i="0" u="none" strike="noStrike" cap="none">
                <a:solidFill>
                  <a:srgbClr val="888888"/>
                </a:solidFill>
                <a:latin typeface="Calibri"/>
                <a:ea typeface="Calibri"/>
                <a:cs typeface="Calibri"/>
                <a:sym typeface="Calibri"/>
              </a:defRPr>
            </a:lvl2pPr>
            <a:lvl3pPr marL="0" lvl="2" indent="0" algn="r">
              <a:spcBef>
                <a:spcPts val="0"/>
              </a:spcBef>
              <a:buNone/>
              <a:defRPr sz="1200" b="0" i="0" u="none" strike="noStrike" cap="none">
                <a:solidFill>
                  <a:srgbClr val="888888"/>
                </a:solidFill>
                <a:latin typeface="Calibri"/>
                <a:ea typeface="Calibri"/>
                <a:cs typeface="Calibri"/>
                <a:sym typeface="Calibri"/>
              </a:defRPr>
            </a:lvl3pPr>
            <a:lvl4pPr marL="0" lvl="3" indent="0" algn="r">
              <a:spcBef>
                <a:spcPts val="0"/>
              </a:spcBef>
              <a:buNone/>
              <a:defRPr sz="1200" b="0" i="0" u="none" strike="noStrike" cap="none">
                <a:solidFill>
                  <a:srgbClr val="888888"/>
                </a:solidFill>
                <a:latin typeface="Calibri"/>
                <a:ea typeface="Calibri"/>
                <a:cs typeface="Calibri"/>
                <a:sym typeface="Calibri"/>
              </a:defRPr>
            </a:lvl4pPr>
            <a:lvl5pPr marL="0" lvl="4" indent="0" algn="r">
              <a:spcBef>
                <a:spcPts val="0"/>
              </a:spcBef>
              <a:buNone/>
              <a:defRPr sz="1200" b="0" i="0" u="none" strike="noStrike" cap="none">
                <a:solidFill>
                  <a:srgbClr val="888888"/>
                </a:solidFill>
                <a:latin typeface="Calibri"/>
                <a:ea typeface="Calibri"/>
                <a:cs typeface="Calibri"/>
                <a:sym typeface="Calibri"/>
              </a:defRPr>
            </a:lvl5pPr>
            <a:lvl6pPr marL="0" lvl="5" indent="0" algn="r">
              <a:spcBef>
                <a:spcPts val="0"/>
              </a:spcBef>
              <a:buNone/>
              <a:defRPr sz="1200" b="0" i="0" u="none" strike="noStrike" cap="none">
                <a:solidFill>
                  <a:srgbClr val="888888"/>
                </a:solidFill>
                <a:latin typeface="Calibri"/>
                <a:ea typeface="Calibri"/>
                <a:cs typeface="Calibri"/>
                <a:sym typeface="Calibri"/>
              </a:defRPr>
            </a:lvl6pPr>
            <a:lvl7pPr marL="0" lvl="6" indent="0" algn="r">
              <a:spcBef>
                <a:spcPts val="0"/>
              </a:spcBef>
              <a:buNone/>
              <a:defRPr sz="1200" b="0" i="0" u="none" strike="noStrike" cap="none">
                <a:solidFill>
                  <a:srgbClr val="888888"/>
                </a:solidFill>
                <a:latin typeface="Calibri"/>
                <a:ea typeface="Calibri"/>
                <a:cs typeface="Calibri"/>
                <a:sym typeface="Calibri"/>
              </a:defRPr>
            </a:lvl7pPr>
            <a:lvl8pPr marL="0" lvl="7" indent="0" algn="r">
              <a:spcBef>
                <a:spcPts val="0"/>
              </a:spcBef>
              <a:buNone/>
              <a:defRPr sz="1200" b="0" i="0" u="none" strike="noStrike" cap="none">
                <a:solidFill>
                  <a:srgbClr val="888888"/>
                </a:solidFill>
                <a:latin typeface="Calibri"/>
                <a:ea typeface="Calibri"/>
                <a:cs typeface="Calibri"/>
                <a:sym typeface="Calibri"/>
              </a:defRPr>
            </a:lvl8pPr>
            <a:lvl9pPr marL="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0A3DA6F-88BC-4D6E-A6CF-7441624E2E33}" type="datetime1">
              <a:rPr lang="en-US" smtClean="0"/>
              <a:t>8/12/2024</a:t>
            </a:fld>
            <a:endParaRPr/>
          </a:p>
        </p:txBody>
      </p:sp>
      <p:sp>
        <p:nvSpPr>
          <p:cNvPr id="26" name="Google Shape;26;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27" name="Google Shape;27;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2030543-99F5-4F59-8EA0-C0FAAD4CE429}" type="datetime1">
              <a:rPr lang="en-US" smtClean="0"/>
              <a:t>8/12/2024</a:t>
            </a:fld>
            <a:endParaRPr/>
          </a:p>
        </p:txBody>
      </p:sp>
      <p:sp>
        <p:nvSpPr>
          <p:cNvPr id="30" name="Google Shape;30;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31" name="Google Shape;31;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5"/>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fld id="{1B4F9602-51EE-4B35-93EA-EA8251D502A4}" type="datetime1">
              <a:rPr lang="en-US" smtClean="0"/>
              <a:t>8/12/2024</a:t>
            </a:fld>
            <a:endParaRPr/>
          </a:p>
        </p:txBody>
      </p:sp>
      <p:sp>
        <p:nvSpPr>
          <p:cNvPr id="37" name="Google Shape;37;p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400"/>
              <a:buFont typeface="Calibri"/>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a:r>
              <a:rPr lang="en-US"/>
              <a:t>21CSS201T - Computer Organization and Architecture</a:t>
            </a:r>
            <a:endParaRPr/>
          </a:p>
        </p:txBody>
      </p:sp>
      <p:sp>
        <p:nvSpPr>
          <p:cNvPr id="38" name="Google Shape;38;p5"/>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marL="0" marR="0" lvl="1" indent="0" algn="r">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2pPr>
            <a:lvl3pPr marL="0" marR="0" lvl="2" indent="0" algn="r">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3pPr>
            <a:lvl4pPr marL="0" marR="0" lvl="3" indent="0" algn="r">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4pPr>
            <a:lvl5pPr marL="0" marR="0" lvl="4" indent="0" algn="r">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5pPr>
            <a:lvl6pPr marL="0" marR="0" lvl="5" indent="0" algn="r">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6pPr>
            <a:lvl7pPr marL="0" marR="0" lvl="6" indent="0" algn="r">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7pPr>
            <a:lvl8pPr marL="0" marR="0" lvl="7" indent="0" algn="r">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8pPr>
            <a:lvl9pPr marL="0" marR="0" lvl="8" indent="0" algn="r">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50554AB-D59D-4145-BACD-044C0A5B24B8}" type="datetime1">
              <a:rPr lang="en-US" smtClean="0"/>
              <a:t>8/12/2024</a:t>
            </a:fld>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E1EC2D2D-09E1-487D-B059-8B7C3E24D45C}" type="datetime1">
              <a:rPr lang="en-US" smtClean="0"/>
              <a:t>8/12/2024</a:t>
            </a:fld>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FBE319B4-30E1-45EB-AA95-411852314813}" type="datetime1">
              <a:rPr lang="en-US" smtClean="0"/>
              <a:t>8/12/2024</a:t>
            </a:fld>
            <a:endParaRPr/>
          </a:p>
        </p:txBody>
      </p:sp>
      <p:sp>
        <p:nvSpPr>
          <p:cNvPr id="59" name="Google Shape;5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60" name="Google Shape;6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EB3A3F70-8D35-410D-9D3E-3881C251F09B}" type="datetime1">
              <a:rPr lang="en-US" smtClean="0"/>
              <a:t>8/12/2024</a:t>
            </a:fld>
            <a:endParaRPr/>
          </a:p>
        </p:txBody>
      </p:sp>
      <p:sp>
        <p:nvSpPr>
          <p:cNvPr id="64" name="Google Shape;6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65" name="Google Shape;6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6"/>
        <p:cNvGrpSpPr/>
        <p:nvPr/>
      </p:nvGrpSpPr>
      <p:grpSpPr>
        <a:xfrm>
          <a:off x="0" y="0"/>
          <a:ext cx="0" cy="0"/>
          <a:chOff x="0" y="0"/>
          <a:chExt cx="0" cy="0"/>
        </a:xfrm>
      </p:grpSpPr>
      <p:sp>
        <p:nvSpPr>
          <p:cNvPr id="67" name="Google Shape;67;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9" name="Google Shape;69;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51C54FA1-A4C7-494E-99DB-E053DCE381DF}" type="datetime1">
              <a:rPr lang="en-US" smtClean="0"/>
              <a:t>8/12/2024</a:t>
            </a:fld>
            <a:endParaRPr/>
          </a:p>
        </p:txBody>
      </p:sp>
      <p:sp>
        <p:nvSpPr>
          <p:cNvPr id="71" name="Google Shape;7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72" name="Google Shape;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1"/>
          <p:cNvSpPr>
            <a:spLocks noGrp="1"/>
          </p:cNvSpPr>
          <p:nvPr>
            <p:ph type="pic" idx="2"/>
          </p:nvPr>
        </p:nvSpPr>
        <p:spPr>
          <a:xfrm>
            <a:off x="5183188" y="987425"/>
            <a:ext cx="6172200" cy="4873625"/>
          </a:xfrm>
          <a:prstGeom prst="rect">
            <a:avLst/>
          </a:prstGeom>
          <a:noFill/>
          <a:ln>
            <a:noFill/>
          </a:ln>
        </p:spPr>
      </p:sp>
      <p:sp>
        <p:nvSpPr>
          <p:cNvPr id="76" name="Google Shape;76;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6496F4F-7216-478E-932E-9B5B2A0EE644}" type="datetime1">
              <a:rPr lang="en-US" smtClean="0"/>
              <a:t>8/12/2024</a:t>
            </a:fld>
            <a:endParaRPr/>
          </a:p>
        </p:txBody>
      </p:sp>
      <p:sp>
        <p:nvSpPr>
          <p:cNvPr id="78" name="Google Shape;78;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79" name="Google Shape;79;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8D8EDCE-F6AF-407E-84DE-74FF0456DDC6}" type="datetime1">
              <a:rPr lang="en-US" smtClean="0"/>
              <a:t>8/12/2024</a:t>
            </a:fld>
            <a:endParaRPr/>
          </a:p>
        </p:txBody>
      </p:sp>
      <p:sp>
        <p:nvSpPr>
          <p:cNvPr id="84" name="Google Shape;84;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85" name="Google Shape;8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6"/>
        <p:cNvGrpSpPr/>
        <p:nvPr/>
      </p:nvGrpSpPr>
      <p:grpSpPr>
        <a:xfrm>
          <a:off x="0" y="0"/>
          <a:ext cx="0" cy="0"/>
          <a:chOff x="0" y="0"/>
          <a:chExt cx="0" cy="0"/>
        </a:xfrm>
      </p:grpSpPr>
      <p:sp>
        <p:nvSpPr>
          <p:cNvPr id="87" name="Google Shape;87;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9" name="Google Shape;8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E7B1857B-2857-421C-BFC9-3A7B613C367A}" type="datetime1">
              <a:rPr lang="en-US" smtClean="0"/>
              <a:t>8/12/2024</a:t>
            </a:fld>
            <a:endParaRPr/>
          </a:p>
        </p:txBody>
      </p:sp>
      <p:sp>
        <p:nvSpPr>
          <p:cNvPr id="90" name="Google Shape;9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21CSS201T - Computer Organization and Architecture</a:t>
            </a:r>
            <a:endParaRPr/>
          </a:p>
        </p:txBody>
      </p:sp>
      <p:sp>
        <p:nvSpPr>
          <p:cNvPr id="91" name="Google Shape;9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Calibri"/>
                <a:ea typeface="Calibri"/>
                <a:cs typeface="Calibri"/>
                <a:sym typeface="Calibri"/>
              </a:defRPr>
            </a:lvl1pPr>
            <a:lvl2pPr marL="0" lvl="1" indent="0" algn="r">
              <a:spcBef>
                <a:spcPts val="0"/>
              </a:spcBef>
              <a:buNone/>
              <a:defRPr sz="1200">
                <a:solidFill>
                  <a:srgbClr val="888888"/>
                </a:solidFill>
                <a:latin typeface="Calibri"/>
                <a:ea typeface="Calibri"/>
                <a:cs typeface="Calibri"/>
                <a:sym typeface="Calibri"/>
              </a:defRPr>
            </a:lvl2pPr>
            <a:lvl3pPr marL="0" lvl="2" indent="0" algn="r">
              <a:spcBef>
                <a:spcPts val="0"/>
              </a:spcBef>
              <a:buNone/>
              <a:defRPr sz="1200">
                <a:solidFill>
                  <a:srgbClr val="888888"/>
                </a:solidFill>
                <a:latin typeface="Calibri"/>
                <a:ea typeface="Calibri"/>
                <a:cs typeface="Calibri"/>
                <a:sym typeface="Calibri"/>
              </a:defRPr>
            </a:lvl3pPr>
            <a:lvl4pPr marL="0" lvl="3" indent="0" algn="r">
              <a:spcBef>
                <a:spcPts val="0"/>
              </a:spcBef>
              <a:buNone/>
              <a:defRPr sz="1200">
                <a:solidFill>
                  <a:srgbClr val="888888"/>
                </a:solidFill>
                <a:latin typeface="Calibri"/>
                <a:ea typeface="Calibri"/>
                <a:cs typeface="Calibri"/>
                <a:sym typeface="Calibri"/>
              </a:defRPr>
            </a:lvl4pPr>
            <a:lvl5pPr marL="0" lvl="4" indent="0" algn="r">
              <a:spcBef>
                <a:spcPts val="0"/>
              </a:spcBef>
              <a:buNone/>
              <a:defRPr sz="1200">
                <a:solidFill>
                  <a:srgbClr val="888888"/>
                </a:solidFill>
                <a:latin typeface="Calibri"/>
                <a:ea typeface="Calibri"/>
                <a:cs typeface="Calibri"/>
                <a:sym typeface="Calibri"/>
              </a:defRPr>
            </a:lvl5pPr>
            <a:lvl6pPr marL="0" lvl="5" indent="0" algn="r">
              <a:spcBef>
                <a:spcPts val="0"/>
              </a:spcBef>
              <a:buNone/>
              <a:defRPr sz="1200">
                <a:solidFill>
                  <a:srgbClr val="888888"/>
                </a:solidFill>
                <a:latin typeface="Calibri"/>
                <a:ea typeface="Calibri"/>
                <a:cs typeface="Calibri"/>
                <a:sym typeface="Calibri"/>
              </a:defRPr>
            </a:lvl6pPr>
            <a:lvl7pPr marL="0" lvl="6" indent="0" algn="r">
              <a:spcBef>
                <a:spcPts val="0"/>
              </a:spcBef>
              <a:buNone/>
              <a:defRPr sz="1200">
                <a:solidFill>
                  <a:srgbClr val="888888"/>
                </a:solidFill>
                <a:latin typeface="Calibri"/>
                <a:ea typeface="Calibri"/>
                <a:cs typeface="Calibri"/>
                <a:sym typeface="Calibri"/>
              </a:defRPr>
            </a:lvl7pPr>
            <a:lvl8pPr marL="0" lvl="7" indent="0" algn="r">
              <a:spcBef>
                <a:spcPts val="0"/>
              </a:spcBef>
              <a:buNone/>
              <a:defRPr sz="1200">
                <a:solidFill>
                  <a:srgbClr val="888888"/>
                </a:solidFill>
                <a:latin typeface="Calibri"/>
                <a:ea typeface="Calibri"/>
                <a:cs typeface="Calibri"/>
                <a:sym typeface="Calibri"/>
              </a:defRPr>
            </a:lvl8pPr>
            <a:lvl9pPr marL="0" lvl="8" indent="0" algn="r">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46F7E532-966A-46D3-B5C1-76AE3FC5048C}" type="datetime1">
              <a:rPr lang="en-US" smtClean="0"/>
              <a:t>8/12/2024</a:t>
            </a:fld>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a:t>21CSS201T - Computer Organization and Architecture</a:t>
            </a:r>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
          <p:cNvSpPr/>
          <p:nvPr/>
        </p:nvSpPr>
        <p:spPr>
          <a:xfrm>
            <a:off x="10504715" y="230188"/>
            <a:ext cx="1231640" cy="690465"/>
          </a:xfrm>
          <a:prstGeom prst="rect">
            <a:avLst/>
          </a:prstGeom>
          <a:blipFill rotWithShape="1">
            <a:blip r:embed="rId14">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customXml" Target="../ink/ink7.xml"/><Relationship Id="rId18" Type="http://schemas.openxmlformats.org/officeDocument/2006/relationships/image" Target="../media/image12.png"/><Relationship Id="rId26" Type="http://schemas.openxmlformats.org/officeDocument/2006/relationships/image" Target="../media/image16.png"/><Relationship Id="rId39" Type="http://schemas.openxmlformats.org/officeDocument/2006/relationships/customXml" Target="../ink/ink25.xml"/><Relationship Id="rId3" Type="http://schemas.openxmlformats.org/officeDocument/2006/relationships/image" Target="../media/image6.png"/><Relationship Id="rId21" Type="http://schemas.openxmlformats.org/officeDocument/2006/relationships/customXml" Target="../ink/ink11.xml"/><Relationship Id="rId34" Type="http://schemas.openxmlformats.org/officeDocument/2006/relationships/customXml" Target="../ink/ink21.xml"/><Relationship Id="rId42" Type="http://schemas.openxmlformats.org/officeDocument/2006/relationships/image" Target="../media/image18.png"/><Relationship Id="rId7" Type="http://schemas.openxmlformats.org/officeDocument/2006/relationships/customXml" Target="../ink/ink3.xml"/><Relationship Id="rId12" Type="http://schemas.openxmlformats.org/officeDocument/2006/relationships/customXml" Target="../ink/ink6.xml"/><Relationship Id="rId17" Type="http://schemas.openxmlformats.org/officeDocument/2006/relationships/customXml" Target="../ink/ink9.xml"/><Relationship Id="rId25" Type="http://schemas.openxmlformats.org/officeDocument/2006/relationships/customXml" Target="../ink/ink13.xml"/><Relationship Id="rId33" Type="http://schemas.openxmlformats.org/officeDocument/2006/relationships/customXml" Target="../ink/ink20.xml"/><Relationship Id="rId38" Type="http://schemas.openxmlformats.org/officeDocument/2006/relationships/customXml" Target="../ink/ink24.xml"/><Relationship Id="rId2" Type="http://schemas.openxmlformats.org/officeDocument/2006/relationships/notesSlide" Target="../notesSlides/notesSlide4.xml"/><Relationship Id="rId16" Type="http://schemas.openxmlformats.org/officeDocument/2006/relationships/image" Target="../media/image11.png"/><Relationship Id="rId20" Type="http://schemas.openxmlformats.org/officeDocument/2006/relationships/image" Target="../media/image13.png"/><Relationship Id="rId29" Type="http://schemas.openxmlformats.org/officeDocument/2006/relationships/customXml" Target="../ink/ink16.xml"/><Relationship Id="rId41" Type="http://schemas.openxmlformats.org/officeDocument/2006/relationships/customXml" Target="../ink/ink2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9.png"/><Relationship Id="rId24" Type="http://schemas.openxmlformats.org/officeDocument/2006/relationships/image" Target="../media/image15.png"/><Relationship Id="rId32" Type="http://schemas.openxmlformats.org/officeDocument/2006/relationships/customXml" Target="../ink/ink19.xml"/><Relationship Id="rId37" Type="http://schemas.openxmlformats.org/officeDocument/2006/relationships/customXml" Target="../ink/ink23.xml"/><Relationship Id="rId40" Type="http://schemas.openxmlformats.org/officeDocument/2006/relationships/customXml" Target="../ink/ink26.xml"/><Relationship Id="rId5" Type="http://schemas.openxmlformats.org/officeDocument/2006/relationships/image" Target="../media/image7.png"/><Relationship Id="rId15" Type="http://schemas.openxmlformats.org/officeDocument/2006/relationships/customXml" Target="../ink/ink8.xml"/><Relationship Id="rId23" Type="http://schemas.openxmlformats.org/officeDocument/2006/relationships/customXml" Target="../ink/ink12.xml"/><Relationship Id="rId28" Type="http://schemas.openxmlformats.org/officeDocument/2006/relationships/customXml" Target="../ink/ink15.xml"/><Relationship Id="rId36" Type="http://schemas.openxmlformats.org/officeDocument/2006/relationships/customXml" Target="../ink/ink22.xml"/><Relationship Id="rId10" Type="http://schemas.openxmlformats.org/officeDocument/2006/relationships/customXml" Target="../ink/ink5.xml"/><Relationship Id="rId19" Type="http://schemas.openxmlformats.org/officeDocument/2006/relationships/customXml" Target="../ink/ink10.xml"/><Relationship Id="rId31" Type="http://schemas.openxmlformats.org/officeDocument/2006/relationships/customXml" Target="../ink/ink18.xml"/><Relationship Id="rId4" Type="http://schemas.openxmlformats.org/officeDocument/2006/relationships/customXml" Target="../ink/ink1.xml"/><Relationship Id="rId9" Type="http://schemas.openxmlformats.org/officeDocument/2006/relationships/customXml" Target="../ink/ink4.xml"/><Relationship Id="rId14" Type="http://schemas.openxmlformats.org/officeDocument/2006/relationships/image" Target="../media/image10.png"/><Relationship Id="rId22" Type="http://schemas.openxmlformats.org/officeDocument/2006/relationships/image" Target="../media/image14.png"/><Relationship Id="rId27" Type="http://schemas.openxmlformats.org/officeDocument/2006/relationships/customXml" Target="../ink/ink14.xml"/><Relationship Id="rId30" Type="http://schemas.openxmlformats.org/officeDocument/2006/relationships/customXml" Target="../ink/ink17.xml"/><Relationship Id="rId35"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customXml" Target="../ink/ink28.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ustomXml" Target="../ink/ink30.xml"/><Relationship Id="rId5" Type="http://schemas.openxmlformats.org/officeDocument/2006/relationships/image" Target="../media/image190.png"/><Relationship Id="rId4" Type="http://schemas.openxmlformats.org/officeDocument/2006/relationships/customXml" Target="../ink/ink29.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09.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5F7AB217-BC9C-8E03-08A9-A2F893EFA7CF}"/>
              </a:ext>
            </a:extLst>
          </p:cNvPr>
          <p:cNvSpPr txBox="1"/>
          <p:nvPr/>
        </p:nvSpPr>
        <p:spPr>
          <a:xfrm>
            <a:off x="623392" y="908720"/>
            <a:ext cx="11089232" cy="5472608"/>
          </a:xfrm>
          <a:prstGeom prst="rect">
            <a:avLst/>
          </a:prstGeom>
          <a:noFill/>
          <a:ln w="28575">
            <a:solidFill>
              <a:schemeClr val="tx1"/>
            </a:solidFill>
          </a:ln>
        </p:spPr>
        <p:txBody>
          <a:bodyPr wrap="square" rtlCol="0">
            <a:spAutoFit/>
          </a:bodyPr>
          <a:lstStyle/>
          <a:p>
            <a:endParaRPr lang="en-IN" dirty="0"/>
          </a:p>
        </p:txBody>
      </p:sp>
      <p:sp>
        <p:nvSpPr>
          <p:cNvPr id="2" name="Title 1">
            <a:extLst>
              <a:ext uri="{FF2B5EF4-FFF2-40B4-BE49-F238E27FC236}">
                <a16:creationId xmlns:a16="http://schemas.microsoft.com/office/drawing/2014/main" xmlns="" id="{5AD227C5-F86A-4EC4-A0F4-C7E09560EEE7}"/>
              </a:ext>
            </a:extLst>
          </p:cNvPr>
          <p:cNvSpPr>
            <a:spLocks noGrp="1"/>
          </p:cNvSpPr>
          <p:nvPr>
            <p:ph type="ctrTitle"/>
          </p:nvPr>
        </p:nvSpPr>
        <p:spPr>
          <a:xfrm>
            <a:off x="1596008" y="3284984"/>
            <a:ext cx="9144000" cy="2387600"/>
          </a:xfrm>
        </p:spPr>
        <p:txBody>
          <a:bodyPr>
            <a:normAutofit fontScale="90000"/>
          </a:bodyPr>
          <a:lstStyle>
            <a:defPPr/>
          </a:lstStyle>
          <a:p>
            <a:r>
              <a:rPr lang="en-IN" sz="4800" b="1" dirty="0">
                <a:latin typeface="Palatino Linotype" panose="02040502050505030304" pitchFamily="18" charset="0"/>
              </a:rPr>
              <a:t/>
            </a:r>
            <a:br>
              <a:rPr lang="en-IN" sz="4800" b="1" dirty="0">
                <a:latin typeface="Palatino Linotype" panose="02040502050505030304" pitchFamily="18" charset="0"/>
              </a:rPr>
            </a:br>
            <a:r>
              <a:rPr lang="en-IN" sz="4800" b="1" dirty="0">
                <a:latin typeface="Palatino Linotype" panose="02040502050505030304" pitchFamily="18" charset="0"/>
              </a:rPr>
              <a:t/>
            </a:r>
            <a:br>
              <a:rPr lang="en-IN" sz="4800" b="1" dirty="0">
                <a:latin typeface="Palatino Linotype" panose="02040502050505030304" pitchFamily="18" charset="0"/>
              </a:rPr>
            </a:br>
            <a:r>
              <a:rPr lang="en-IN" sz="4800" b="1" dirty="0">
                <a:latin typeface="Palatino Linotype" panose="02040502050505030304" pitchFamily="18" charset="0"/>
              </a:rPr>
              <a:t/>
            </a:r>
            <a:br>
              <a:rPr lang="en-IN" sz="4800" b="1" dirty="0">
                <a:latin typeface="Palatino Linotype" panose="02040502050505030304" pitchFamily="18" charset="0"/>
              </a:rPr>
            </a:br>
            <a:r>
              <a:rPr lang="en-IN" sz="4800" b="1" dirty="0">
                <a:solidFill>
                  <a:schemeClr val="accent1"/>
                </a:solidFill>
                <a:latin typeface="Posterama" panose="020B0504020200020000" pitchFamily="34" charset="0"/>
                <a:cs typeface="Posterama" panose="020B0504020200020000" pitchFamily="34" charset="0"/>
              </a:rPr>
              <a:t>21CSS201T</a:t>
            </a:r>
            <a:br>
              <a:rPr lang="en-IN" sz="4800" b="1" dirty="0">
                <a:solidFill>
                  <a:schemeClr val="accent1"/>
                </a:solidFill>
                <a:latin typeface="Posterama" panose="020B0504020200020000" pitchFamily="34" charset="0"/>
                <a:cs typeface="Posterama" panose="020B0504020200020000" pitchFamily="34" charset="0"/>
              </a:rPr>
            </a:br>
            <a:r>
              <a:rPr lang="en-IN" sz="4800" b="1" dirty="0">
                <a:solidFill>
                  <a:schemeClr val="accent1"/>
                </a:solidFill>
                <a:latin typeface="Posterama" panose="020B0504020200020000" pitchFamily="34" charset="0"/>
                <a:cs typeface="Posterama" panose="020B0504020200020000" pitchFamily="34" charset="0"/>
              </a:rPr>
              <a:t>COMPUTER ORGANIZATION AND ARCHITECTURE</a:t>
            </a:r>
            <a:r>
              <a:rPr lang="en-IN" sz="4800" b="1" dirty="0">
                <a:solidFill>
                  <a:schemeClr val="accent1"/>
                </a:solidFill>
                <a:latin typeface="Palatino Linotype" panose="02040502050505030304" pitchFamily="18" charset="0"/>
              </a:rPr>
              <a:t/>
            </a:r>
            <a:br>
              <a:rPr lang="en-IN" sz="4800" b="1" dirty="0">
                <a:solidFill>
                  <a:schemeClr val="accent1"/>
                </a:solidFill>
                <a:latin typeface="Palatino Linotype" panose="02040502050505030304" pitchFamily="18" charset="0"/>
              </a:rPr>
            </a:br>
            <a:r>
              <a:rPr lang="en-IN" sz="4800" b="1" dirty="0">
                <a:solidFill>
                  <a:schemeClr val="accent1"/>
                </a:solidFill>
                <a:latin typeface="Palatino Linotype" panose="02040502050505030304" pitchFamily="18" charset="0"/>
              </a:rPr>
              <a:t/>
            </a:r>
            <a:br>
              <a:rPr lang="en-IN" sz="4800" b="1" dirty="0">
                <a:solidFill>
                  <a:schemeClr val="accent1"/>
                </a:solidFill>
                <a:latin typeface="Palatino Linotype" panose="02040502050505030304" pitchFamily="18" charset="0"/>
              </a:rPr>
            </a:br>
            <a:r>
              <a:rPr lang="en-IN" sz="4800" b="1" dirty="0">
                <a:solidFill>
                  <a:srgbClr val="00B050"/>
                </a:solidFill>
                <a:latin typeface="Palatino Linotype" panose="02040502050505030304" pitchFamily="18" charset="0"/>
              </a:rPr>
              <a:t>UNIT-2</a:t>
            </a:r>
            <a:br>
              <a:rPr lang="en-IN" sz="4800" b="1" dirty="0">
                <a:solidFill>
                  <a:srgbClr val="00B050"/>
                </a:solidFill>
                <a:latin typeface="Palatino Linotype" panose="02040502050505030304" pitchFamily="18" charset="0"/>
              </a:rPr>
            </a:br>
            <a:r>
              <a:rPr lang="en-IN" sz="4800" b="1" dirty="0">
                <a:solidFill>
                  <a:srgbClr val="00B050"/>
                </a:solidFill>
                <a:latin typeface="Palatino Linotype" panose="02040502050505030304" pitchFamily="18" charset="0"/>
              </a:rPr>
              <a:t>Topic : Basic Structure of a Computer</a:t>
            </a:r>
          </a:p>
        </p:txBody>
      </p:sp>
      <p:sp>
        <p:nvSpPr>
          <p:cNvPr id="3" name="Date Placeholder 2"/>
          <p:cNvSpPr>
            <a:spLocks noGrp="1"/>
          </p:cNvSpPr>
          <p:nvPr>
            <p:ph type="dt" sz="half" idx="10"/>
          </p:nvPr>
        </p:nvSpPr>
        <p:spPr/>
        <p:txBody>
          <a:bodyPr/>
          <a:lstStyle/>
          <a:p>
            <a:fld id="{E9E0E463-DE30-4FEE-8094-1DF52D3F67A2}"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6" name="Slide Number Placeholder 5"/>
          <p:cNvSpPr>
            <a:spLocks noGrp="1"/>
          </p:cNvSpPr>
          <p:nvPr>
            <p:ph type="sldNum" sz="quarter" idx="12"/>
          </p:nvPr>
        </p:nvSpPr>
        <p:spPr/>
        <p:txBody>
          <a:bodyPr/>
          <a:lstStyle/>
          <a:p>
            <a:fld id="{AE669347-E3B4-439D-9D1F-3479A370CD23}" type="slidenum">
              <a:rPr lang="en-IN" smtClean="0"/>
              <a:pPr/>
              <a:t>1</a:t>
            </a:fld>
            <a:endParaRPr lang="en-IN"/>
          </a:p>
        </p:txBody>
      </p:sp>
    </p:spTree>
    <p:extLst>
      <p:ext uri="{BB962C8B-B14F-4D97-AF65-F5344CB8AC3E}">
        <p14:creationId xmlns:p14="http://schemas.microsoft.com/office/powerpoint/2010/main" val="1740964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8BC28056-C35C-413D-6DC8-47AA1C1FDC71}"/>
              </a:ext>
            </a:extLst>
          </p:cNvPr>
          <p:cNvSpPr>
            <a:spLocks noGrp="1"/>
          </p:cNvSpPr>
          <p:nvPr>
            <p:ph type="dt" sz="half" idx="10"/>
          </p:nvPr>
        </p:nvSpPr>
        <p:spPr/>
        <p:txBody>
          <a:bodyPr/>
          <a:lstStyle/>
          <a:p>
            <a:fld id="{1B73A5B6-4578-458A-8A41-6D53C5C0D6EA}" type="datetime1">
              <a:rPr lang="en-US" smtClean="0"/>
              <a:t>8/12/2024</a:t>
            </a:fld>
            <a:endParaRPr lang="en-IN"/>
          </a:p>
        </p:txBody>
      </p:sp>
      <p:sp>
        <p:nvSpPr>
          <p:cNvPr id="5" name="Footer Placeholder 4">
            <a:extLst>
              <a:ext uri="{FF2B5EF4-FFF2-40B4-BE49-F238E27FC236}">
                <a16:creationId xmlns:a16="http://schemas.microsoft.com/office/drawing/2014/main" xmlns="" id="{E2F1BD35-8940-3A25-3FBD-35E36DE36F04}"/>
              </a:ext>
            </a:extLst>
          </p:cNvPr>
          <p:cNvSpPr>
            <a:spLocks noGrp="1"/>
          </p:cNvSpPr>
          <p:nvPr>
            <p:ph type="ftr" sz="quarter" idx="11"/>
          </p:nvPr>
        </p:nvSpPr>
        <p:spPr/>
        <p:txBody>
          <a:bodyPr/>
          <a:lstStyle/>
          <a:p>
            <a:r>
              <a:rPr lang="en-US"/>
              <a:t>21CSS201T - Computer Organization and Architecture</a:t>
            </a:r>
            <a:endParaRPr lang="en-IN"/>
          </a:p>
        </p:txBody>
      </p:sp>
      <p:sp>
        <p:nvSpPr>
          <p:cNvPr id="6" name="Slide Number Placeholder 5">
            <a:extLst>
              <a:ext uri="{FF2B5EF4-FFF2-40B4-BE49-F238E27FC236}">
                <a16:creationId xmlns:a16="http://schemas.microsoft.com/office/drawing/2014/main" xmlns="" id="{2ED729BD-B432-04D9-0B0F-D572A5B41B2A}"/>
              </a:ext>
            </a:extLst>
          </p:cNvPr>
          <p:cNvSpPr>
            <a:spLocks noGrp="1"/>
          </p:cNvSpPr>
          <p:nvPr>
            <p:ph type="sldNum" sz="quarter" idx="12"/>
          </p:nvPr>
        </p:nvSpPr>
        <p:spPr/>
        <p:txBody>
          <a:bodyPr/>
          <a:lstStyle/>
          <a:p>
            <a:fld id="{AE669347-E3B4-439D-9D1F-3479A370CD23}" type="slidenum">
              <a:rPr lang="en-IN" smtClean="0"/>
              <a:pPr/>
              <a:t>2</a:t>
            </a:fld>
            <a:endParaRPr lang="en-IN"/>
          </a:p>
        </p:txBody>
      </p:sp>
      <p:sp>
        <p:nvSpPr>
          <p:cNvPr id="7" name="Title 1">
            <a:extLst>
              <a:ext uri="{FF2B5EF4-FFF2-40B4-BE49-F238E27FC236}">
                <a16:creationId xmlns:a16="http://schemas.microsoft.com/office/drawing/2014/main" xmlns="" id="{F5EBAAA7-F6E6-62C0-3279-DB04A120E74E}"/>
              </a:ext>
            </a:extLst>
          </p:cNvPr>
          <p:cNvSpPr txBox="1">
            <a:spLocks/>
          </p:cNvSpPr>
          <p:nvPr/>
        </p:nvSpPr>
        <p:spPr>
          <a:xfrm>
            <a:off x="838200" y="305661"/>
            <a:ext cx="10515600" cy="639737"/>
          </a:xfrm>
          <a:prstGeom prst="rect">
            <a:avLst/>
          </a:prstGeom>
        </p:spPr>
        <p:txBody>
          <a:bodyPr vert="horz" lIns="91440" tIns="45720" rIns="91440" bIns="45720" rtlCol="0" anchor="ctr">
            <a:noAutofit/>
          </a:bodyPr>
          <a:lstStyle>
            <a:defPPr>
              <a:defRPr/>
            </a:defPPr>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4000" b="1">
                <a:latin typeface="Palatino Linotype" panose="02040502050505030304" pitchFamily="18" charset="0"/>
              </a:rPr>
              <a:t>Basic Structure of Computers </a:t>
            </a:r>
            <a:endParaRPr lang="en-IN" sz="4000" b="1" dirty="0">
              <a:latin typeface="Palatino Linotype" panose="02040502050505030304" pitchFamily="18" charset="0"/>
            </a:endParaRPr>
          </a:p>
        </p:txBody>
      </p:sp>
      <p:graphicFrame>
        <p:nvGraphicFramePr>
          <p:cNvPr id="9" name="Diagram 8">
            <a:extLst>
              <a:ext uri="{FF2B5EF4-FFF2-40B4-BE49-F238E27FC236}">
                <a16:creationId xmlns:a16="http://schemas.microsoft.com/office/drawing/2014/main" xmlns="" id="{B59B23CB-90FE-3ADF-03F8-DE3654538236}"/>
              </a:ext>
            </a:extLst>
          </p:cNvPr>
          <p:cNvGraphicFramePr/>
          <p:nvPr/>
        </p:nvGraphicFramePr>
        <p:xfrm>
          <a:off x="767408" y="719666"/>
          <a:ext cx="10945216" cy="56366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014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D8838F-1D84-4472-B916-1CE151DEC4CD}"/>
              </a:ext>
            </a:extLst>
          </p:cNvPr>
          <p:cNvSpPr>
            <a:spLocks noGrp="1"/>
          </p:cNvSpPr>
          <p:nvPr>
            <p:ph type="title"/>
          </p:nvPr>
        </p:nvSpPr>
        <p:spPr>
          <a:xfrm>
            <a:off x="838200" y="305661"/>
            <a:ext cx="10515600" cy="639737"/>
          </a:xfrm>
        </p:spPr>
        <p:txBody>
          <a:bodyPr>
            <a:noAutofit/>
          </a:bodyPr>
          <a:lstStyle>
            <a:defPPr/>
          </a:lstStyle>
          <a:p>
            <a:r>
              <a:rPr lang="en-IN" sz="4000" b="1" dirty="0">
                <a:latin typeface="Palatino Linotype" panose="02040502050505030304" pitchFamily="18" charset="0"/>
              </a:rPr>
              <a:t>Computer Types </a:t>
            </a:r>
          </a:p>
        </p:txBody>
      </p:sp>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marL="539750" lvl="1" indent="-276225" algn="just">
              <a:lnSpc>
                <a:spcPct val="150000"/>
              </a:lnSpc>
              <a:buFont typeface="Wingdings" panose="05000000000000000000" pitchFamily="2" charset="2"/>
              <a:buChar char="Ø"/>
              <a:tabLst>
                <a:tab pos="623888" algn="l"/>
              </a:tabLst>
            </a:pPr>
            <a:r>
              <a:rPr lang="en-GB" sz="2000" dirty="0">
                <a:latin typeface="Palatino Linotype" panose="02040502050505030304" pitchFamily="18" charset="0"/>
              </a:rPr>
              <a:t>Computer is a fast electronic calculating machine which accepts digital input, processes it according to the internally stored instructions (Programs) and produces the result on the output device. The internal operation of the computer can be as depicted in the figure below: </a:t>
            </a:r>
            <a:endParaRPr lang="en-IN" sz="2000" dirty="0">
              <a:latin typeface="Palatino Linotype" panose="02040502050505030304" pitchFamily="18" charset="0"/>
            </a:endParaRPr>
          </a:p>
        </p:txBody>
      </p:sp>
      <p:pic>
        <p:nvPicPr>
          <p:cNvPr id="4" name="Picture 3"/>
          <p:cNvPicPr>
            <a:picLocks noChangeAspect="1"/>
          </p:cNvPicPr>
          <p:nvPr/>
        </p:nvPicPr>
        <p:blipFill>
          <a:blip r:embed="rId2">
            <a:lum contrast="20000"/>
          </a:blip>
          <a:stretch>
            <a:fillRect/>
          </a:stretch>
        </p:blipFill>
        <p:spPr>
          <a:xfrm>
            <a:off x="3143672" y="2950410"/>
            <a:ext cx="6120680" cy="3358910"/>
          </a:xfrm>
          <a:prstGeom prst="rect">
            <a:avLst/>
          </a:prstGeom>
        </p:spPr>
      </p:pic>
      <p:sp>
        <p:nvSpPr>
          <p:cNvPr id="5" name="Date Placeholder 4"/>
          <p:cNvSpPr>
            <a:spLocks noGrp="1"/>
          </p:cNvSpPr>
          <p:nvPr>
            <p:ph type="dt" sz="half" idx="10"/>
          </p:nvPr>
        </p:nvSpPr>
        <p:spPr/>
        <p:txBody>
          <a:bodyPr/>
          <a:lstStyle/>
          <a:p>
            <a:fld id="{F15D67E9-F5DE-4475-B656-E2A17022D635}" type="datetime1">
              <a:rPr lang="en-US" smtClean="0"/>
              <a:t>8/12/2024</a:t>
            </a:fld>
            <a:endParaRPr lang="en-IN"/>
          </a:p>
        </p:txBody>
      </p:sp>
      <p:sp>
        <p:nvSpPr>
          <p:cNvPr id="6" name="Footer Placeholder 5"/>
          <p:cNvSpPr>
            <a:spLocks noGrp="1"/>
          </p:cNvSpPr>
          <p:nvPr>
            <p:ph type="ftr" sz="quarter" idx="11"/>
          </p:nvPr>
        </p:nvSpPr>
        <p:spPr/>
        <p:txBody>
          <a:bodyPr/>
          <a:lstStyle/>
          <a:p>
            <a:r>
              <a:rPr lang="en-US"/>
              <a:t>21CSS201T - Computer Organization and Architecture</a:t>
            </a:r>
            <a:endParaRPr lang="en-IN"/>
          </a:p>
        </p:txBody>
      </p:sp>
      <p:sp>
        <p:nvSpPr>
          <p:cNvPr id="7" name="Slide Number Placeholder 6"/>
          <p:cNvSpPr>
            <a:spLocks noGrp="1"/>
          </p:cNvSpPr>
          <p:nvPr>
            <p:ph type="sldNum" sz="quarter" idx="12"/>
          </p:nvPr>
        </p:nvSpPr>
        <p:spPr/>
        <p:txBody>
          <a:bodyPr/>
          <a:lstStyle/>
          <a:p>
            <a:fld id="{AE669347-E3B4-439D-9D1F-3479A370CD23}" type="slidenum">
              <a:rPr lang="en-IN" smtClean="0"/>
              <a:pPr/>
              <a:t>3</a:t>
            </a:fld>
            <a:endParaRPr lang="en-IN"/>
          </a:p>
        </p:txBody>
      </p:sp>
    </p:spTree>
    <p:extLst>
      <p:ext uri="{BB962C8B-B14F-4D97-AF65-F5344CB8AC3E}">
        <p14:creationId xmlns:p14="http://schemas.microsoft.com/office/powerpoint/2010/main" val="3239283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DB2505DF-4D6C-581A-1594-EED82717ABC3}"/>
              </a:ext>
            </a:extLst>
          </p:cNvPr>
          <p:cNvSpPr>
            <a:spLocks noGrp="1"/>
          </p:cNvSpPr>
          <p:nvPr>
            <p:ph type="dt" sz="half" idx="10"/>
          </p:nvPr>
        </p:nvSpPr>
        <p:spPr/>
        <p:txBody>
          <a:bodyPr/>
          <a:lstStyle/>
          <a:p>
            <a:fld id="{0AD676EC-B472-43A3-9A24-6BA1923D16E0}" type="datetime1">
              <a:rPr lang="en-US" smtClean="0"/>
              <a:t>8/12/2024</a:t>
            </a:fld>
            <a:endParaRPr lang="en-IN"/>
          </a:p>
        </p:txBody>
      </p:sp>
      <p:sp>
        <p:nvSpPr>
          <p:cNvPr id="5" name="Footer Placeholder 4">
            <a:extLst>
              <a:ext uri="{FF2B5EF4-FFF2-40B4-BE49-F238E27FC236}">
                <a16:creationId xmlns:a16="http://schemas.microsoft.com/office/drawing/2014/main" xmlns="" id="{CAAE620C-9DBC-41F5-79EB-3F366B439B22}"/>
              </a:ext>
            </a:extLst>
          </p:cNvPr>
          <p:cNvSpPr>
            <a:spLocks noGrp="1"/>
          </p:cNvSpPr>
          <p:nvPr>
            <p:ph type="ftr" sz="quarter" idx="11"/>
          </p:nvPr>
        </p:nvSpPr>
        <p:spPr/>
        <p:txBody>
          <a:bodyPr/>
          <a:lstStyle/>
          <a:p>
            <a:r>
              <a:rPr lang="en-US"/>
              <a:t>21CSS201T - Computer Organization and Architecture</a:t>
            </a:r>
            <a:endParaRPr lang="en-IN"/>
          </a:p>
        </p:txBody>
      </p:sp>
      <p:sp>
        <p:nvSpPr>
          <p:cNvPr id="6" name="Slide Number Placeholder 5">
            <a:extLst>
              <a:ext uri="{FF2B5EF4-FFF2-40B4-BE49-F238E27FC236}">
                <a16:creationId xmlns:a16="http://schemas.microsoft.com/office/drawing/2014/main" xmlns="" id="{CECF3828-8DF6-7C26-9291-0569A9C1A4CE}"/>
              </a:ext>
            </a:extLst>
          </p:cNvPr>
          <p:cNvSpPr>
            <a:spLocks noGrp="1"/>
          </p:cNvSpPr>
          <p:nvPr>
            <p:ph type="sldNum" sz="quarter" idx="12"/>
          </p:nvPr>
        </p:nvSpPr>
        <p:spPr/>
        <p:txBody>
          <a:bodyPr/>
          <a:lstStyle/>
          <a:p>
            <a:fld id="{AE669347-E3B4-439D-9D1F-3479A370CD23}" type="slidenum">
              <a:rPr lang="en-IN" smtClean="0"/>
              <a:pPr/>
              <a:t>4</a:t>
            </a:fld>
            <a:endParaRPr lang="en-IN"/>
          </a:p>
        </p:txBody>
      </p:sp>
      <p:graphicFrame>
        <p:nvGraphicFramePr>
          <p:cNvPr id="9" name="Diagram 8">
            <a:extLst>
              <a:ext uri="{FF2B5EF4-FFF2-40B4-BE49-F238E27FC236}">
                <a16:creationId xmlns:a16="http://schemas.microsoft.com/office/drawing/2014/main" xmlns="" id="{3F1AEF0F-53F8-C5D9-F013-6A3DD6C88D46}"/>
              </a:ext>
            </a:extLst>
          </p:cNvPr>
          <p:cNvGraphicFramePr/>
          <p:nvPr/>
        </p:nvGraphicFramePr>
        <p:xfrm>
          <a:off x="623392" y="1268759"/>
          <a:ext cx="10945216" cy="46805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
            <a:extLst>
              <a:ext uri="{FF2B5EF4-FFF2-40B4-BE49-F238E27FC236}">
                <a16:creationId xmlns:a16="http://schemas.microsoft.com/office/drawing/2014/main" xmlns="" id="{C0DA0283-13FB-2A57-C7D7-4F62FA93D8C1}"/>
              </a:ext>
            </a:extLst>
          </p:cNvPr>
          <p:cNvSpPr>
            <a:spLocks noGrp="1"/>
          </p:cNvSpPr>
          <p:nvPr>
            <p:ph type="title"/>
          </p:nvPr>
        </p:nvSpPr>
        <p:spPr>
          <a:xfrm>
            <a:off x="838200" y="305661"/>
            <a:ext cx="10515600" cy="639737"/>
          </a:xfrm>
        </p:spPr>
        <p:txBody>
          <a:bodyPr>
            <a:noAutofit/>
          </a:bodyPr>
          <a:lstStyle>
            <a:defPPr/>
          </a:lstStyle>
          <a:p>
            <a:r>
              <a:rPr lang="en-IN" sz="4000" b="1" dirty="0">
                <a:latin typeface="Palatino Linotype" panose="02040502050505030304" pitchFamily="18" charset="0"/>
              </a:rPr>
              <a:t>Computer Types – contd. </a:t>
            </a:r>
          </a:p>
        </p:txBody>
      </p:sp>
    </p:spTree>
    <p:extLst>
      <p:ext uri="{BB962C8B-B14F-4D97-AF65-F5344CB8AC3E}">
        <p14:creationId xmlns:p14="http://schemas.microsoft.com/office/powerpoint/2010/main" val="4247494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xmlns="" id="{F422C779-7ECC-D240-D709-5A040BA153CC}"/>
              </a:ext>
            </a:extLst>
          </p:cNvPr>
          <p:cNvGraphicFramePr>
            <a:graphicFrameLocks noGrp="1"/>
          </p:cNvGraphicFramePr>
          <p:nvPr>
            <p:ph idx="1"/>
          </p:nvPr>
        </p:nvGraphicFramePr>
        <p:xfrm>
          <a:off x="983432" y="764704"/>
          <a:ext cx="10515600" cy="52565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a:extLst>
              <a:ext uri="{FF2B5EF4-FFF2-40B4-BE49-F238E27FC236}">
                <a16:creationId xmlns:a16="http://schemas.microsoft.com/office/drawing/2014/main" xmlns="" id="{F2DE9890-E81F-25AE-03E7-CE55933833B1}"/>
              </a:ext>
            </a:extLst>
          </p:cNvPr>
          <p:cNvSpPr>
            <a:spLocks noGrp="1"/>
          </p:cNvSpPr>
          <p:nvPr>
            <p:ph type="dt" sz="half" idx="10"/>
          </p:nvPr>
        </p:nvSpPr>
        <p:spPr/>
        <p:txBody>
          <a:bodyPr/>
          <a:lstStyle/>
          <a:p>
            <a:fld id="{EA5FD500-7BFB-47A9-A9A1-314D9C16196C}" type="datetime1">
              <a:rPr lang="en-US" smtClean="0"/>
              <a:t>8/12/2024</a:t>
            </a:fld>
            <a:endParaRPr lang="en-IN"/>
          </a:p>
        </p:txBody>
      </p:sp>
      <p:sp>
        <p:nvSpPr>
          <p:cNvPr id="5" name="Footer Placeholder 4">
            <a:extLst>
              <a:ext uri="{FF2B5EF4-FFF2-40B4-BE49-F238E27FC236}">
                <a16:creationId xmlns:a16="http://schemas.microsoft.com/office/drawing/2014/main" xmlns="" id="{B1FA0975-8B6F-BD1F-2153-2098C9B5E1C8}"/>
              </a:ext>
            </a:extLst>
          </p:cNvPr>
          <p:cNvSpPr>
            <a:spLocks noGrp="1"/>
          </p:cNvSpPr>
          <p:nvPr>
            <p:ph type="ftr" sz="quarter" idx="11"/>
          </p:nvPr>
        </p:nvSpPr>
        <p:spPr/>
        <p:txBody>
          <a:bodyPr/>
          <a:lstStyle/>
          <a:p>
            <a:r>
              <a:rPr lang="en-US"/>
              <a:t>21CSS201T - Computer Organization and Architecture</a:t>
            </a:r>
            <a:endParaRPr lang="en-IN"/>
          </a:p>
        </p:txBody>
      </p:sp>
      <p:sp>
        <p:nvSpPr>
          <p:cNvPr id="6" name="Slide Number Placeholder 5">
            <a:extLst>
              <a:ext uri="{FF2B5EF4-FFF2-40B4-BE49-F238E27FC236}">
                <a16:creationId xmlns:a16="http://schemas.microsoft.com/office/drawing/2014/main" xmlns="" id="{5A793CE4-2F9F-3019-9886-1537948BCEE5}"/>
              </a:ext>
            </a:extLst>
          </p:cNvPr>
          <p:cNvSpPr>
            <a:spLocks noGrp="1"/>
          </p:cNvSpPr>
          <p:nvPr>
            <p:ph type="sldNum" sz="quarter" idx="12"/>
          </p:nvPr>
        </p:nvSpPr>
        <p:spPr/>
        <p:txBody>
          <a:bodyPr/>
          <a:lstStyle/>
          <a:p>
            <a:fld id="{AE669347-E3B4-439D-9D1F-3479A370CD23}" type="slidenum">
              <a:rPr lang="en-IN" smtClean="0"/>
              <a:pPr/>
              <a:t>5</a:t>
            </a:fld>
            <a:endParaRPr lang="en-IN"/>
          </a:p>
        </p:txBody>
      </p:sp>
    </p:spTree>
    <p:extLst>
      <p:ext uri="{BB962C8B-B14F-4D97-AF65-F5344CB8AC3E}">
        <p14:creationId xmlns:p14="http://schemas.microsoft.com/office/powerpoint/2010/main" val="616627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a:stretch/>
        </p:blipFill>
        <p:spPr>
          <a:xfrm>
            <a:off x="3596034" y="2699915"/>
            <a:ext cx="5027600" cy="427729"/>
          </a:xfrm>
          <a:prstGeom prst="rect">
            <a:avLst/>
          </a:prstGeom>
          <a:noFill/>
          <a:ln>
            <a:noFill/>
          </a:ln>
        </p:spPr>
      </p:pic>
      <p:pic>
        <p:nvPicPr>
          <p:cNvPr id="91" name="Google Shape;91;p2"/>
          <p:cNvPicPr preferRelativeResize="0"/>
          <p:nvPr/>
        </p:nvPicPr>
        <p:blipFill rotWithShape="1">
          <a:blip r:embed="rId4">
            <a:alphaModFix/>
          </a:blip>
          <a:srcRect/>
          <a:stretch/>
        </p:blipFill>
        <p:spPr>
          <a:xfrm>
            <a:off x="4889874" y="3370414"/>
            <a:ext cx="2457128" cy="538976"/>
          </a:xfrm>
          <a:prstGeom prst="rect">
            <a:avLst/>
          </a:prstGeom>
          <a:noFill/>
          <a:ln>
            <a:noFill/>
          </a:ln>
        </p:spPr>
      </p:pic>
      <p:sp>
        <p:nvSpPr>
          <p:cNvPr id="92" name="Google Shape;92;p2"/>
          <p:cNvSpPr txBox="1">
            <a:spLocks noGrp="1"/>
          </p:cNvSpPr>
          <p:nvPr>
            <p:ph type="sldNum" idx="12"/>
          </p:nvPr>
        </p:nvSpPr>
        <p:spPr>
          <a:xfrm>
            <a:off x="8610600" y="6431598"/>
            <a:ext cx="2743200" cy="214630"/>
          </a:xfrm>
          <a:prstGeom prst="rect">
            <a:avLst/>
          </a:prstGeom>
          <a:noFill/>
          <a:ln>
            <a:noFill/>
          </a:ln>
        </p:spPr>
        <p:txBody>
          <a:bodyPr spcFirstLastPara="1" wrap="square" lIns="0" tIns="55875" rIns="0" bIns="0" anchor="t" anchorCtr="0">
            <a:spAutoFit/>
          </a:bodyPr>
          <a:lstStyle/>
          <a:p>
            <a:pPr marL="193040" marR="0" lvl="0" indent="0" algn="l" rtl="0">
              <a:lnSpc>
                <a:spcPct val="68888"/>
              </a:lnSpc>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
        <p:nvSpPr>
          <p:cNvPr id="2" name="Date Placeholder 1"/>
          <p:cNvSpPr>
            <a:spLocks noGrp="1"/>
          </p:cNvSpPr>
          <p:nvPr>
            <p:ph type="dt" sz="half" idx="10"/>
          </p:nvPr>
        </p:nvSpPr>
        <p:spPr/>
        <p:txBody>
          <a:bodyPr/>
          <a:lstStyle/>
          <a:p>
            <a:fld id="{B017A3CD-AD92-4CA0-BB9D-62DBB5007DF0}"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Tree>
    <p:extLst>
      <p:ext uri="{BB962C8B-B14F-4D97-AF65-F5344CB8AC3E}">
        <p14:creationId xmlns:p14="http://schemas.microsoft.com/office/powerpoint/2010/main" val="12735600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1487488" y="979586"/>
            <a:ext cx="8568951" cy="505898"/>
          </a:xfrm>
          <a:prstGeom prst="rect">
            <a:avLst/>
          </a:prstGeom>
          <a:noFill/>
          <a:ln>
            <a:noFill/>
          </a:ln>
        </p:spPr>
        <p:txBody>
          <a:bodyPr spcFirstLastPara="1" wrap="square" lIns="0" tIns="13325" rIns="0" bIns="0" anchor="ctr" anchorCtr="0">
            <a:spAutoFit/>
          </a:bodyPr>
          <a:lstStyle/>
          <a:p>
            <a:pPr marL="12700" lvl="0" indent="0" algn="l" rtl="0">
              <a:lnSpc>
                <a:spcPct val="100000"/>
              </a:lnSpc>
              <a:spcBef>
                <a:spcPts val="0"/>
              </a:spcBef>
              <a:spcAft>
                <a:spcPts val="0"/>
              </a:spcAft>
              <a:buClr>
                <a:schemeClr val="dk1"/>
              </a:buClr>
              <a:buSzPts val="3200"/>
              <a:buFont typeface="Calibri"/>
              <a:buNone/>
            </a:pPr>
            <a:r>
              <a:rPr lang="en-US" sz="3200" b="1" dirty="0">
                <a:latin typeface="Times New Roman" panose="02020603050405020304" pitchFamily="18" charset="0"/>
                <a:cs typeface="Times New Roman" panose="02020603050405020304" pitchFamily="18" charset="0"/>
              </a:rPr>
              <a:t>FUNCTIONAL UNITS OF COMPUTER</a:t>
            </a:r>
            <a:endParaRPr sz="3200" b="1" dirty="0">
              <a:latin typeface="Times New Roman" panose="02020603050405020304" pitchFamily="18" charset="0"/>
              <a:cs typeface="Times New Roman" panose="02020603050405020304" pitchFamily="18" charset="0"/>
            </a:endParaRPr>
          </a:p>
        </p:txBody>
      </p:sp>
      <p:sp>
        <p:nvSpPr>
          <p:cNvPr id="98" name="Google Shape;98;p3"/>
          <p:cNvSpPr txBox="1">
            <a:spLocks noGrp="1"/>
          </p:cNvSpPr>
          <p:nvPr>
            <p:ph type="sldNum" idx="12"/>
          </p:nvPr>
        </p:nvSpPr>
        <p:spPr>
          <a:xfrm>
            <a:off x="8610600" y="6431598"/>
            <a:ext cx="2743200" cy="214630"/>
          </a:xfrm>
          <a:prstGeom prst="rect">
            <a:avLst/>
          </a:prstGeom>
          <a:noFill/>
          <a:ln>
            <a:noFill/>
          </a:ln>
        </p:spPr>
        <p:txBody>
          <a:bodyPr spcFirstLastPara="1" wrap="square" lIns="0" tIns="55875" rIns="0" bIns="0" anchor="t" anchorCtr="0">
            <a:spAutoFit/>
          </a:bodyPr>
          <a:lstStyle/>
          <a:p>
            <a:pPr marL="193040" marR="0" lvl="0" indent="0" algn="l" rtl="0">
              <a:lnSpc>
                <a:spcPct val="68888"/>
              </a:lnSpc>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
        <p:nvSpPr>
          <p:cNvPr id="99" name="Google Shape;99;p3"/>
          <p:cNvSpPr txBox="1"/>
          <p:nvPr/>
        </p:nvSpPr>
        <p:spPr>
          <a:xfrm>
            <a:off x="2136140" y="1624330"/>
            <a:ext cx="6809740" cy="2040890"/>
          </a:xfrm>
          <a:prstGeom prst="rect">
            <a:avLst/>
          </a:prstGeom>
          <a:noFill/>
          <a:ln>
            <a:noFill/>
          </a:ln>
        </p:spPr>
        <p:txBody>
          <a:bodyPr spcFirstLastPara="1" wrap="square" lIns="0" tIns="48875" rIns="0" bIns="0" anchor="t" anchorCtr="0">
            <a:spAutoFit/>
          </a:bodyPr>
          <a:lstStyle/>
          <a:p>
            <a:pPr marL="355600" marR="0" lvl="0" indent="-342900" algn="l" rtl="0">
              <a:lnSpc>
                <a:spcPct val="100000"/>
              </a:lnSpc>
              <a:spcBef>
                <a:spcPts val="0"/>
              </a:spcBef>
              <a:spcAft>
                <a:spcPts val="0"/>
              </a:spcAft>
              <a:buClr>
                <a:schemeClr val="dk1"/>
              </a:buClr>
              <a:buSzPts val="2400"/>
              <a:buFont typeface="Arial"/>
              <a:buChar char="•"/>
            </a:pPr>
            <a:r>
              <a:rPr lang="en-US" sz="2400" b="1">
                <a:solidFill>
                  <a:schemeClr val="dk1"/>
                </a:solidFill>
                <a:latin typeface="Times New Roman"/>
                <a:ea typeface="Times New Roman"/>
                <a:cs typeface="Times New Roman"/>
                <a:sym typeface="Times New Roman"/>
              </a:rPr>
              <a:t>Input Unit</a:t>
            </a:r>
            <a:endParaRPr sz="2400">
              <a:solidFill>
                <a:schemeClr val="dk1"/>
              </a:solidFill>
              <a:latin typeface="Times New Roman"/>
              <a:ea typeface="Times New Roman"/>
              <a:cs typeface="Times New Roman"/>
              <a:sym typeface="Times New Roman"/>
            </a:endParaRPr>
          </a:p>
          <a:p>
            <a:pPr marL="355600" marR="0" lvl="0" indent="-342900" algn="l" rtl="0">
              <a:lnSpc>
                <a:spcPct val="100000"/>
              </a:lnSpc>
              <a:spcBef>
                <a:spcPts val="285"/>
              </a:spcBef>
              <a:spcAft>
                <a:spcPts val="0"/>
              </a:spcAft>
              <a:buClr>
                <a:schemeClr val="dk1"/>
              </a:buClr>
              <a:buSzPts val="2400"/>
              <a:buFont typeface="Arial"/>
              <a:buChar char="•"/>
            </a:pPr>
            <a:r>
              <a:rPr lang="en-US" sz="2400" b="1">
                <a:solidFill>
                  <a:schemeClr val="dk1"/>
                </a:solidFill>
                <a:latin typeface="Times New Roman"/>
                <a:ea typeface="Times New Roman"/>
                <a:cs typeface="Times New Roman"/>
                <a:sym typeface="Times New Roman"/>
              </a:rPr>
              <a:t>Output Unit</a:t>
            </a:r>
            <a:endParaRPr sz="2400">
              <a:solidFill>
                <a:schemeClr val="dk1"/>
              </a:solidFill>
              <a:latin typeface="Times New Roman"/>
              <a:ea typeface="Times New Roman"/>
              <a:cs typeface="Times New Roman"/>
              <a:sym typeface="Times New Roman"/>
            </a:endParaRPr>
          </a:p>
          <a:p>
            <a:pPr marL="355600" marR="0" lvl="0" indent="-342900" algn="l" rtl="0">
              <a:lnSpc>
                <a:spcPct val="100000"/>
              </a:lnSpc>
              <a:spcBef>
                <a:spcPts val="285"/>
              </a:spcBef>
              <a:spcAft>
                <a:spcPts val="0"/>
              </a:spcAft>
              <a:buClr>
                <a:schemeClr val="dk1"/>
              </a:buClr>
              <a:buSzPts val="2400"/>
              <a:buFont typeface="Arial"/>
              <a:buChar char="•"/>
            </a:pPr>
            <a:r>
              <a:rPr lang="en-US" sz="2400" b="1">
                <a:solidFill>
                  <a:schemeClr val="dk1"/>
                </a:solidFill>
                <a:latin typeface="Times New Roman"/>
                <a:ea typeface="Times New Roman"/>
                <a:cs typeface="Times New Roman"/>
                <a:sym typeface="Times New Roman"/>
              </a:rPr>
              <a:t>Central processing Unit (ALU and Control Units)</a:t>
            </a:r>
            <a:endParaRPr sz="2400">
              <a:solidFill>
                <a:schemeClr val="dk1"/>
              </a:solidFill>
              <a:latin typeface="Times New Roman"/>
              <a:ea typeface="Times New Roman"/>
              <a:cs typeface="Times New Roman"/>
              <a:sym typeface="Times New Roman"/>
            </a:endParaRPr>
          </a:p>
          <a:p>
            <a:pPr marL="355600" marR="0" lvl="0" indent="-342900" algn="l" rtl="0">
              <a:lnSpc>
                <a:spcPct val="100000"/>
              </a:lnSpc>
              <a:spcBef>
                <a:spcPts val="285"/>
              </a:spcBef>
              <a:spcAft>
                <a:spcPts val="0"/>
              </a:spcAft>
              <a:buClr>
                <a:schemeClr val="dk1"/>
              </a:buClr>
              <a:buSzPts val="2400"/>
              <a:buFont typeface="Arial"/>
              <a:buChar char="•"/>
            </a:pPr>
            <a:r>
              <a:rPr lang="en-US" sz="2400" b="1">
                <a:solidFill>
                  <a:schemeClr val="dk1"/>
                </a:solidFill>
                <a:latin typeface="Times New Roman"/>
                <a:ea typeface="Times New Roman"/>
                <a:cs typeface="Times New Roman"/>
                <a:sym typeface="Times New Roman"/>
              </a:rPr>
              <a:t>Memory</a:t>
            </a:r>
            <a:endParaRPr sz="2400">
              <a:solidFill>
                <a:schemeClr val="dk1"/>
              </a:solidFill>
              <a:latin typeface="Times New Roman"/>
              <a:ea typeface="Times New Roman"/>
              <a:cs typeface="Times New Roman"/>
              <a:sym typeface="Times New Roman"/>
            </a:endParaRPr>
          </a:p>
          <a:p>
            <a:pPr marL="355600" marR="0" lvl="0" indent="-342900" algn="l" rtl="0">
              <a:lnSpc>
                <a:spcPct val="100000"/>
              </a:lnSpc>
              <a:spcBef>
                <a:spcPts val="285"/>
              </a:spcBef>
              <a:spcAft>
                <a:spcPts val="0"/>
              </a:spcAft>
              <a:buClr>
                <a:schemeClr val="dk1"/>
              </a:buClr>
              <a:buSzPts val="2400"/>
              <a:buFont typeface="Arial"/>
              <a:buChar char="•"/>
            </a:pPr>
            <a:r>
              <a:rPr lang="en-US" sz="2400" b="1">
                <a:solidFill>
                  <a:schemeClr val="dk1"/>
                </a:solidFill>
                <a:latin typeface="Times New Roman"/>
                <a:ea typeface="Times New Roman"/>
                <a:cs typeface="Times New Roman"/>
                <a:sym typeface="Times New Roman"/>
              </a:rPr>
              <a:t>Bus Structure</a:t>
            </a:r>
            <a:endParaRPr sz="2400">
              <a:solidFill>
                <a:schemeClr val="dk1"/>
              </a:solidFill>
              <a:latin typeface="Times New Roman"/>
              <a:ea typeface="Times New Roman"/>
              <a:cs typeface="Times New Roman"/>
              <a:sym typeface="Times New Roman"/>
            </a:endParaRPr>
          </a:p>
        </p:txBody>
      </p:sp>
      <p:sp>
        <p:nvSpPr>
          <p:cNvPr id="2" name="Date Placeholder 1"/>
          <p:cNvSpPr>
            <a:spLocks noGrp="1"/>
          </p:cNvSpPr>
          <p:nvPr>
            <p:ph type="dt" sz="half" idx="10"/>
          </p:nvPr>
        </p:nvSpPr>
        <p:spPr/>
        <p:txBody>
          <a:bodyPr/>
          <a:lstStyle/>
          <a:p>
            <a:fld id="{25DA0066-D85E-468E-9B40-537D8460EC7F}"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Tree>
    <p:extLst>
      <p:ext uri="{BB962C8B-B14F-4D97-AF65-F5344CB8AC3E}">
        <p14:creationId xmlns:p14="http://schemas.microsoft.com/office/powerpoint/2010/main" val="895961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4"/>
          <p:cNvPicPr preferRelativeResize="0"/>
          <p:nvPr/>
        </p:nvPicPr>
        <p:blipFill rotWithShape="1">
          <a:blip r:embed="rId3">
            <a:alphaModFix/>
          </a:blip>
          <a:srcRect/>
          <a:stretch/>
        </p:blipFill>
        <p:spPr>
          <a:xfrm>
            <a:off x="1703831" y="1053083"/>
            <a:ext cx="8641080" cy="5308092"/>
          </a:xfrm>
          <a:prstGeom prst="rect">
            <a:avLst/>
          </a:prstGeom>
          <a:noFill/>
          <a:ln>
            <a:noFill/>
          </a:ln>
        </p:spPr>
      </p:pic>
      <p:sp>
        <p:nvSpPr>
          <p:cNvPr id="105" name="Google Shape;105;p4"/>
          <p:cNvSpPr txBox="1">
            <a:spLocks noGrp="1"/>
          </p:cNvSpPr>
          <p:nvPr>
            <p:ph type="sldNum" idx="12"/>
          </p:nvPr>
        </p:nvSpPr>
        <p:spPr>
          <a:xfrm>
            <a:off x="8610600" y="6431598"/>
            <a:ext cx="2743200" cy="214630"/>
          </a:xfrm>
          <a:prstGeom prst="rect">
            <a:avLst/>
          </a:prstGeom>
          <a:noFill/>
          <a:ln>
            <a:noFill/>
          </a:ln>
        </p:spPr>
        <p:txBody>
          <a:bodyPr spcFirstLastPara="1" wrap="square" lIns="0" tIns="55875" rIns="0" bIns="0" anchor="t" anchorCtr="0">
            <a:spAutoFit/>
          </a:bodyPr>
          <a:lstStyle/>
          <a:p>
            <a:pPr marL="193040" marR="0" lvl="0" indent="0" algn="l" rtl="0">
              <a:lnSpc>
                <a:spcPct val="68888"/>
              </a:lnSpc>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
        <p:nvSpPr>
          <p:cNvPr id="2" name="Date Placeholder 1"/>
          <p:cNvSpPr>
            <a:spLocks noGrp="1"/>
          </p:cNvSpPr>
          <p:nvPr>
            <p:ph type="dt" sz="half" idx="10"/>
          </p:nvPr>
        </p:nvSpPr>
        <p:spPr/>
        <p:txBody>
          <a:bodyPr/>
          <a:lstStyle/>
          <a:p>
            <a:fld id="{159292B7-9CDB-41A2-8FBB-4DAD6819E080}"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Tree>
    <p:extLst>
      <p:ext uri="{BB962C8B-B14F-4D97-AF65-F5344CB8AC3E}">
        <p14:creationId xmlns:p14="http://schemas.microsoft.com/office/powerpoint/2010/main" val="513552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p:nvPr/>
        </p:nvSpPr>
        <p:spPr>
          <a:xfrm>
            <a:off x="10029190" y="6425565"/>
            <a:ext cx="102870" cy="19685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a:solidFill>
                  <a:srgbClr val="888888"/>
                </a:solidFill>
                <a:latin typeface="Calibri"/>
                <a:ea typeface="Calibri"/>
                <a:cs typeface="Calibri"/>
                <a:sym typeface="Calibri"/>
              </a:rPr>
              <a:t>6</a:t>
            </a:r>
            <a:endParaRPr sz="1200">
              <a:solidFill>
                <a:schemeClr val="dk1"/>
              </a:solidFill>
              <a:latin typeface="Calibri"/>
              <a:ea typeface="Calibri"/>
              <a:cs typeface="Calibri"/>
              <a:sym typeface="Calibri"/>
            </a:endParaRPr>
          </a:p>
        </p:txBody>
      </p:sp>
      <p:sp>
        <p:nvSpPr>
          <p:cNvPr id="111" name="Google Shape;111;p5"/>
          <p:cNvSpPr txBox="1">
            <a:spLocks noGrp="1"/>
          </p:cNvSpPr>
          <p:nvPr>
            <p:ph type="title"/>
          </p:nvPr>
        </p:nvSpPr>
        <p:spPr>
          <a:xfrm>
            <a:off x="119336" y="322394"/>
            <a:ext cx="5328592" cy="68993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a:latin typeface="Times New Roman" panose="02020603050405020304" pitchFamily="18" charset="0"/>
                <a:cs typeface="Times New Roman" panose="02020603050405020304" pitchFamily="18" charset="0"/>
              </a:rPr>
              <a:t>What is a computer?</a:t>
            </a:r>
            <a:endParaRPr lang="en-US" dirty="0">
              <a:latin typeface="Times New Roman" panose="02020603050405020304" pitchFamily="18" charset="0"/>
              <a:cs typeface="Times New Roman" panose="02020603050405020304" pitchFamily="18" charset="0"/>
            </a:endParaRPr>
          </a:p>
        </p:txBody>
      </p:sp>
      <p:sp>
        <p:nvSpPr>
          <p:cNvPr id="112" name="Google Shape;112;p5"/>
          <p:cNvSpPr txBox="1"/>
          <p:nvPr/>
        </p:nvSpPr>
        <p:spPr>
          <a:xfrm>
            <a:off x="407368" y="1058095"/>
            <a:ext cx="7488832" cy="5060360"/>
          </a:xfrm>
          <a:prstGeom prst="rect">
            <a:avLst/>
          </a:prstGeom>
          <a:noFill/>
          <a:ln>
            <a:noFill/>
          </a:ln>
        </p:spPr>
        <p:txBody>
          <a:bodyPr spcFirstLastPara="1" wrap="square" lIns="0" tIns="12700" rIns="0" bIns="0" anchor="t" anchorCtr="0">
            <a:spAutoFit/>
          </a:bodyPr>
          <a:lstStyle/>
          <a:p>
            <a:pPr marL="355600" marR="924560" lvl="0" indent="-342900" algn="l" rtl="0">
              <a:lnSpc>
                <a:spcPct val="100000"/>
              </a:lnSpc>
              <a:spcBef>
                <a:spcPts val="0"/>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a computer is a sophisticated electronic calculating  machine that:</a:t>
            </a:r>
            <a:endParaRPr sz="2400" dirty="0">
              <a:solidFill>
                <a:schemeClr val="dk1"/>
              </a:solidFill>
              <a:latin typeface="Times New Roman"/>
              <a:ea typeface="Times New Roman"/>
              <a:cs typeface="Times New Roman"/>
              <a:sym typeface="Times New Roman"/>
            </a:endParaRPr>
          </a:p>
          <a:p>
            <a:pPr marL="755650" marR="0"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Accepts input information,</a:t>
            </a:r>
            <a:endParaRPr sz="2400" b="0" i="0" u="none" strike="noStrike" cap="none" dirty="0">
              <a:solidFill>
                <a:schemeClr val="dk1"/>
              </a:solidFill>
              <a:latin typeface="Times New Roman"/>
              <a:ea typeface="Times New Roman"/>
              <a:cs typeface="Times New Roman"/>
              <a:sym typeface="Times New Roman"/>
            </a:endParaRPr>
          </a:p>
          <a:p>
            <a:pPr marL="755650" marR="1003935"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Processes the information according to a list of  internally stored instructions and</a:t>
            </a:r>
            <a:endParaRPr sz="2400" b="0" i="0" u="none" strike="noStrike" cap="none" dirty="0">
              <a:solidFill>
                <a:schemeClr val="dk1"/>
              </a:solidFill>
              <a:latin typeface="Times New Roman"/>
              <a:ea typeface="Times New Roman"/>
              <a:cs typeface="Times New Roman"/>
              <a:sym typeface="Times New Roman"/>
            </a:endParaRPr>
          </a:p>
          <a:p>
            <a:pPr marL="755650" marR="0"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Produces the resulting output information.</a:t>
            </a:r>
            <a:endParaRPr sz="2400" b="0" i="0" u="none" strike="noStrike" cap="none" dirty="0">
              <a:solidFill>
                <a:schemeClr val="dk1"/>
              </a:solidFill>
              <a:latin typeface="Times New Roman"/>
              <a:ea typeface="Times New Roman"/>
              <a:cs typeface="Times New Roman"/>
              <a:sym typeface="Times New Roman"/>
            </a:endParaRPr>
          </a:p>
          <a:p>
            <a:pPr marL="355600" marR="0" lvl="0" indent="-342900" algn="l" rtl="0">
              <a:lnSpc>
                <a:spcPct val="100000"/>
              </a:lnSpc>
              <a:spcBef>
                <a:spcPts val="575"/>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Functions performed by a computer are:</a:t>
            </a:r>
            <a:endParaRPr sz="2400" dirty="0">
              <a:solidFill>
                <a:schemeClr val="dk1"/>
              </a:solidFill>
              <a:latin typeface="Times New Roman"/>
              <a:ea typeface="Times New Roman"/>
              <a:cs typeface="Times New Roman"/>
              <a:sym typeface="Times New Roman"/>
            </a:endParaRPr>
          </a:p>
          <a:p>
            <a:pPr marL="755650" marR="0"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Accepting information to be processed as input.</a:t>
            </a:r>
            <a:endParaRPr sz="2400" b="0" i="0" u="none" strike="noStrike" cap="none" dirty="0">
              <a:solidFill>
                <a:schemeClr val="dk1"/>
              </a:solidFill>
              <a:latin typeface="Times New Roman"/>
              <a:ea typeface="Times New Roman"/>
              <a:cs typeface="Times New Roman"/>
              <a:sym typeface="Times New Roman"/>
            </a:endParaRPr>
          </a:p>
          <a:p>
            <a:pPr marL="755650" marR="0"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Storing a list of instructions to process the information.</a:t>
            </a:r>
            <a:endParaRPr sz="2400" b="0" i="0" u="none" strike="noStrike" cap="none" dirty="0">
              <a:solidFill>
                <a:schemeClr val="dk1"/>
              </a:solidFill>
              <a:latin typeface="Times New Roman"/>
              <a:ea typeface="Times New Roman"/>
              <a:cs typeface="Times New Roman"/>
              <a:sym typeface="Times New Roman"/>
            </a:endParaRPr>
          </a:p>
          <a:p>
            <a:pPr marL="755650" marR="631825"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Processing the information according to the list of  instructions.</a:t>
            </a:r>
            <a:endParaRPr sz="2400" b="0" i="0" u="none" strike="noStrike" cap="none" dirty="0">
              <a:solidFill>
                <a:schemeClr val="dk1"/>
              </a:solidFill>
              <a:latin typeface="Times New Roman"/>
              <a:ea typeface="Times New Roman"/>
              <a:cs typeface="Times New Roman"/>
              <a:sym typeface="Times New Roman"/>
            </a:endParaRPr>
          </a:p>
          <a:p>
            <a:pPr marL="755650" marR="0"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Providing the results of the processing as output.</a:t>
            </a:r>
            <a:endParaRPr sz="2400" dirty="0">
              <a:solidFill>
                <a:schemeClr val="dk1"/>
              </a:solidFill>
              <a:latin typeface="Times New Roman"/>
              <a:ea typeface="Times New Roman"/>
              <a:cs typeface="Times New Roman"/>
              <a:sym typeface="Times New Roman"/>
            </a:endParaRPr>
          </a:p>
        </p:txBody>
      </p:sp>
      <p:sp>
        <p:nvSpPr>
          <p:cNvPr id="2" name="Date Placeholder 1"/>
          <p:cNvSpPr>
            <a:spLocks noGrp="1"/>
          </p:cNvSpPr>
          <p:nvPr>
            <p:ph type="dt" sz="half" idx="10"/>
          </p:nvPr>
        </p:nvSpPr>
        <p:spPr/>
        <p:txBody>
          <a:bodyPr/>
          <a:lstStyle/>
          <a:p>
            <a:fld id="{620CE2D5-BB37-48D5-B407-9DA1506D8696}"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
        <p:nvSpPr>
          <p:cNvPr id="4" name="Slide Number Placeholder 3"/>
          <p:cNvSpPr>
            <a:spLocks noGrp="1"/>
          </p:cNvSpPr>
          <p:nvPr>
            <p:ph type="sldNum" sz="quarter" idx="12"/>
          </p:nvPr>
        </p:nvSpPr>
        <p:spPr/>
        <p:txBody>
          <a:bodyPr/>
          <a:lstStyle/>
          <a:p>
            <a:fld id="{AE669347-E3B4-439D-9D1F-3479A370CD23}" type="slidenum">
              <a:rPr lang="en-IN" smtClean="0"/>
              <a:pPr/>
              <a:t>9</a:t>
            </a:fld>
            <a:endParaRPr lang="en-IN"/>
          </a:p>
        </p:txBody>
      </p:sp>
      <p:pic>
        <p:nvPicPr>
          <p:cNvPr id="5" name="Picture 4">
            <a:extLst>
              <a:ext uri="{FF2B5EF4-FFF2-40B4-BE49-F238E27FC236}">
                <a16:creationId xmlns:a16="http://schemas.microsoft.com/office/drawing/2014/main" xmlns="" id="{F70C4A0D-C54C-C0F0-C1B2-B59B73BA04B1}"/>
              </a:ext>
            </a:extLst>
          </p:cNvPr>
          <p:cNvPicPr>
            <a:picLocks noChangeAspect="1"/>
          </p:cNvPicPr>
          <p:nvPr/>
        </p:nvPicPr>
        <p:blipFill rotWithShape="1">
          <a:blip r:embed="rId3">
            <a:clrChange>
              <a:clrFrom>
                <a:srgbClr val="FFFFFF"/>
              </a:clrFrom>
              <a:clrTo>
                <a:srgbClr val="FFFFFF">
                  <a:alpha val="0"/>
                </a:srgbClr>
              </a:clrTo>
            </a:clrChange>
          </a:blip>
          <a:srcRect t="-1029"/>
          <a:stretch/>
        </p:blipFill>
        <p:spPr>
          <a:xfrm>
            <a:off x="7001447" y="1196752"/>
            <a:ext cx="4781908" cy="3220752"/>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xmlns="" id="{3B37A86D-39E1-24B4-D04D-C8A5F58BDB5A}"/>
                  </a:ext>
                </a:extLst>
              </p14:cNvPr>
              <p14:cNvContentPartPr/>
              <p14:nvPr/>
            </p14:nvContentPartPr>
            <p14:xfrm>
              <a:off x="10454520" y="2031880"/>
              <a:ext cx="360" cy="360"/>
            </p14:xfrm>
          </p:contentPart>
        </mc:Choice>
        <mc:Fallback xmlns="">
          <p:pic>
            <p:nvPicPr>
              <p:cNvPr id="8" name="Ink 7">
                <a:extLst>
                  <a:ext uri="{FF2B5EF4-FFF2-40B4-BE49-F238E27FC236}">
                    <a16:creationId xmlns:a16="http://schemas.microsoft.com/office/drawing/2014/main" id="{3B37A86D-39E1-24B4-D04D-C8A5F58BDB5A}"/>
                  </a:ext>
                </a:extLst>
              </p:cNvPr>
              <p:cNvPicPr/>
              <p:nvPr/>
            </p:nvPicPr>
            <p:blipFill>
              <a:blip r:embed="rId5"/>
              <a:stretch>
                <a:fillRect/>
              </a:stretch>
            </p:blipFill>
            <p:spPr>
              <a:xfrm>
                <a:off x="10364880" y="18518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xmlns="" id="{548AF183-244C-D51E-4C83-FF13854D24AC}"/>
                  </a:ext>
                </a:extLst>
              </p14:cNvPr>
              <p14:cNvContentPartPr/>
              <p14:nvPr/>
            </p14:nvContentPartPr>
            <p14:xfrm>
              <a:off x="10454520" y="2031880"/>
              <a:ext cx="360" cy="360"/>
            </p14:xfrm>
          </p:contentPart>
        </mc:Choice>
        <mc:Fallback xmlns="">
          <p:pic>
            <p:nvPicPr>
              <p:cNvPr id="9" name="Ink 8">
                <a:extLst>
                  <a:ext uri="{FF2B5EF4-FFF2-40B4-BE49-F238E27FC236}">
                    <a16:creationId xmlns:a16="http://schemas.microsoft.com/office/drawing/2014/main" id="{548AF183-244C-D51E-4C83-FF13854D24AC}"/>
                  </a:ext>
                </a:extLst>
              </p:cNvPr>
              <p:cNvPicPr/>
              <p:nvPr/>
            </p:nvPicPr>
            <p:blipFill>
              <a:blip r:embed="rId5"/>
              <a:stretch>
                <a:fillRect/>
              </a:stretch>
            </p:blipFill>
            <p:spPr>
              <a:xfrm>
                <a:off x="10364880" y="18518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xmlns="" id="{70B3EB01-D5D4-B0AF-A307-759E28D4CFCB}"/>
                  </a:ext>
                </a:extLst>
              </p14:cNvPr>
              <p14:cNvContentPartPr/>
              <p14:nvPr/>
            </p14:nvContentPartPr>
            <p14:xfrm>
              <a:off x="10779600" y="1351120"/>
              <a:ext cx="545760" cy="92880"/>
            </p14:xfrm>
          </p:contentPart>
        </mc:Choice>
        <mc:Fallback xmlns="">
          <p:pic>
            <p:nvPicPr>
              <p:cNvPr id="10" name="Ink 9">
                <a:extLst>
                  <a:ext uri="{FF2B5EF4-FFF2-40B4-BE49-F238E27FC236}">
                    <a16:creationId xmlns:a16="http://schemas.microsoft.com/office/drawing/2014/main" id="{70B3EB01-D5D4-B0AF-A307-759E28D4CFCB}"/>
                  </a:ext>
                </a:extLst>
              </p:cNvPr>
              <p:cNvPicPr/>
              <p:nvPr/>
            </p:nvPicPr>
            <p:blipFill>
              <a:blip r:embed="rId8"/>
              <a:stretch>
                <a:fillRect/>
              </a:stretch>
            </p:blipFill>
            <p:spPr>
              <a:xfrm>
                <a:off x="10689600" y="1171120"/>
                <a:ext cx="725400" cy="452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xmlns="" id="{DF192A2D-9804-4627-EC81-13AD63125F86}"/>
                  </a:ext>
                </a:extLst>
              </p14:cNvPr>
              <p14:cNvContentPartPr/>
              <p14:nvPr/>
            </p14:nvContentPartPr>
            <p14:xfrm>
              <a:off x="10687800" y="1462720"/>
              <a:ext cx="360" cy="360"/>
            </p14:xfrm>
          </p:contentPart>
        </mc:Choice>
        <mc:Fallback xmlns="">
          <p:pic>
            <p:nvPicPr>
              <p:cNvPr id="11" name="Ink 10">
                <a:extLst>
                  <a:ext uri="{FF2B5EF4-FFF2-40B4-BE49-F238E27FC236}">
                    <a16:creationId xmlns:a16="http://schemas.microsoft.com/office/drawing/2014/main" id="{DF192A2D-9804-4627-EC81-13AD63125F86}"/>
                  </a:ext>
                </a:extLst>
              </p:cNvPr>
              <p:cNvPicPr/>
              <p:nvPr/>
            </p:nvPicPr>
            <p:blipFill>
              <a:blip r:embed="rId5"/>
              <a:stretch>
                <a:fillRect/>
              </a:stretch>
            </p:blipFill>
            <p:spPr>
              <a:xfrm>
                <a:off x="10598160" y="12830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xmlns="" id="{8872777D-0DBF-94F8-8FAD-C7FF812941AD}"/>
                  </a:ext>
                </a:extLst>
              </p14:cNvPr>
              <p14:cNvContentPartPr/>
              <p14:nvPr/>
            </p14:nvContentPartPr>
            <p14:xfrm>
              <a:off x="10687800" y="1462720"/>
              <a:ext cx="33120" cy="360"/>
            </p14:xfrm>
          </p:contentPart>
        </mc:Choice>
        <mc:Fallback xmlns="">
          <p:pic>
            <p:nvPicPr>
              <p:cNvPr id="12" name="Ink 11">
                <a:extLst>
                  <a:ext uri="{FF2B5EF4-FFF2-40B4-BE49-F238E27FC236}">
                    <a16:creationId xmlns:a16="http://schemas.microsoft.com/office/drawing/2014/main" id="{8872777D-0DBF-94F8-8FAD-C7FF812941AD}"/>
                  </a:ext>
                </a:extLst>
              </p:cNvPr>
              <p:cNvPicPr/>
              <p:nvPr/>
            </p:nvPicPr>
            <p:blipFill>
              <a:blip r:embed="rId11"/>
              <a:stretch>
                <a:fillRect/>
              </a:stretch>
            </p:blipFill>
            <p:spPr>
              <a:xfrm>
                <a:off x="10598160" y="1283080"/>
                <a:ext cx="21276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Ink 12">
                <a:extLst>
                  <a:ext uri="{FF2B5EF4-FFF2-40B4-BE49-F238E27FC236}">
                    <a16:creationId xmlns:a16="http://schemas.microsoft.com/office/drawing/2014/main" xmlns="" id="{AE9A9C3C-AE79-85AD-88AF-1D9C61789030}"/>
                  </a:ext>
                </a:extLst>
              </p14:cNvPr>
              <p14:cNvContentPartPr/>
              <p14:nvPr/>
            </p14:nvContentPartPr>
            <p14:xfrm>
              <a:off x="10769520" y="1462720"/>
              <a:ext cx="360" cy="360"/>
            </p14:xfrm>
          </p:contentPart>
        </mc:Choice>
        <mc:Fallback xmlns="">
          <p:pic>
            <p:nvPicPr>
              <p:cNvPr id="13" name="Ink 12">
                <a:extLst>
                  <a:ext uri="{FF2B5EF4-FFF2-40B4-BE49-F238E27FC236}">
                    <a16:creationId xmlns:a16="http://schemas.microsoft.com/office/drawing/2014/main" id="{AE9A9C3C-AE79-85AD-88AF-1D9C61789030}"/>
                  </a:ext>
                </a:extLst>
              </p:cNvPr>
              <p:cNvPicPr/>
              <p:nvPr/>
            </p:nvPicPr>
            <p:blipFill>
              <a:blip r:embed="rId5"/>
              <a:stretch>
                <a:fillRect/>
              </a:stretch>
            </p:blipFill>
            <p:spPr>
              <a:xfrm>
                <a:off x="10679880" y="12830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xmlns="" id="{CA7C8C68-C9DE-BDA6-0C28-7D6CDF9D97FF}"/>
                  </a:ext>
                </a:extLst>
              </p14:cNvPr>
              <p14:cNvContentPartPr/>
              <p14:nvPr/>
            </p14:nvContentPartPr>
            <p14:xfrm>
              <a:off x="10932240" y="1462720"/>
              <a:ext cx="360" cy="360"/>
            </p14:xfrm>
          </p:contentPart>
        </mc:Choice>
        <mc:Fallback xmlns="">
          <p:pic>
            <p:nvPicPr>
              <p:cNvPr id="14" name="Ink 13">
                <a:extLst>
                  <a:ext uri="{FF2B5EF4-FFF2-40B4-BE49-F238E27FC236}">
                    <a16:creationId xmlns:a16="http://schemas.microsoft.com/office/drawing/2014/main" id="{CA7C8C68-C9DE-BDA6-0C28-7D6CDF9D97FF}"/>
                  </a:ext>
                </a:extLst>
              </p:cNvPr>
              <p:cNvPicPr/>
              <p:nvPr/>
            </p:nvPicPr>
            <p:blipFill>
              <a:blip r:embed="rId14"/>
              <a:stretch>
                <a:fillRect/>
              </a:stretch>
            </p:blipFill>
            <p:spPr>
              <a:xfrm>
                <a:off x="10842240" y="12830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xmlns="" id="{FD3E1BCE-583E-7187-8453-677D0553CC9B}"/>
                  </a:ext>
                </a:extLst>
              </p14:cNvPr>
              <p14:cNvContentPartPr/>
              <p14:nvPr/>
            </p14:nvContentPartPr>
            <p14:xfrm>
              <a:off x="10840440" y="1523920"/>
              <a:ext cx="660240" cy="360"/>
            </p14:xfrm>
          </p:contentPart>
        </mc:Choice>
        <mc:Fallback xmlns="">
          <p:pic>
            <p:nvPicPr>
              <p:cNvPr id="15" name="Ink 14">
                <a:extLst>
                  <a:ext uri="{FF2B5EF4-FFF2-40B4-BE49-F238E27FC236}">
                    <a16:creationId xmlns:a16="http://schemas.microsoft.com/office/drawing/2014/main" id="{FD3E1BCE-583E-7187-8453-677D0553CC9B}"/>
                  </a:ext>
                </a:extLst>
              </p:cNvPr>
              <p:cNvPicPr/>
              <p:nvPr/>
            </p:nvPicPr>
            <p:blipFill>
              <a:blip r:embed="rId16"/>
              <a:stretch>
                <a:fillRect/>
              </a:stretch>
            </p:blipFill>
            <p:spPr>
              <a:xfrm>
                <a:off x="10750800" y="1343920"/>
                <a:ext cx="83988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xmlns="" id="{8F0A8AD2-9F89-74AF-5300-13B4F2648CA5}"/>
                  </a:ext>
                </a:extLst>
              </p14:cNvPr>
              <p14:cNvContentPartPr/>
              <p14:nvPr/>
            </p14:nvContentPartPr>
            <p14:xfrm>
              <a:off x="10739280" y="1340680"/>
              <a:ext cx="996120" cy="41760"/>
            </p14:xfrm>
          </p:contentPart>
        </mc:Choice>
        <mc:Fallback xmlns="">
          <p:pic>
            <p:nvPicPr>
              <p:cNvPr id="16" name="Ink 15">
                <a:extLst>
                  <a:ext uri="{FF2B5EF4-FFF2-40B4-BE49-F238E27FC236}">
                    <a16:creationId xmlns:a16="http://schemas.microsoft.com/office/drawing/2014/main" id="{8F0A8AD2-9F89-74AF-5300-13B4F2648CA5}"/>
                  </a:ext>
                </a:extLst>
              </p:cNvPr>
              <p:cNvPicPr/>
              <p:nvPr/>
            </p:nvPicPr>
            <p:blipFill>
              <a:blip r:embed="rId18"/>
              <a:stretch>
                <a:fillRect/>
              </a:stretch>
            </p:blipFill>
            <p:spPr>
              <a:xfrm>
                <a:off x="10676280" y="1278040"/>
                <a:ext cx="11217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xmlns="" id="{07C83400-2EFA-D162-1286-83EBCB411AD8}"/>
                  </a:ext>
                </a:extLst>
              </p14:cNvPr>
              <p14:cNvContentPartPr/>
              <p14:nvPr/>
            </p14:nvContentPartPr>
            <p14:xfrm>
              <a:off x="11744760" y="2224840"/>
              <a:ext cx="360" cy="360"/>
            </p14:xfrm>
          </p:contentPart>
        </mc:Choice>
        <mc:Fallback xmlns="">
          <p:pic>
            <p:nvPicPr>
              <p:cNvPr id="17" name="Ink 16">
                <a:extLst>
                  <a:ext uri="{FF2B5EF4-FFF2-40B4-BE49-F238E27FC236}">
                    <a16:creationId xmlns:a16="http://schemas.microsoft.com/office/drawing/2014/main" id="{07C83400-2EFA-D162-1286-83EBCB411AD8}"/>
                  </a:ext>
                </a:extLst>
              </p:cNvPr>
              <p:cNvPicPr/>
              <p:nvPr/>
            </p:nvPicPr>
            <p:blipFill>
              <a:blip r:embed="rId20"/>
              <a:stretch>
                <a:fillRect/>
              </a:stretch>
            </p:blipFill>
            <p:spPr>
              <a:xfrm>
                <a:off x="11682120" y="21618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xmlns="" id="{15B77837-9D91-6753-5755-1D8708D72ADB}"/>
                  </a:ext>
                </a:extLst>
              </p14:cNvPr>
              <p14:cNvContentPartPr/>
              <p14:nvPr/>
            </p14:nvContentPartPr>
            <p14:xfrm>
              <a:off x="10596720" y="1300360"/>
              <a:ext cx="1221120" cy="123840"/>
            </p14:xfrm>
          </p:contentPart>
        </mc:Choice>
        <mc:Fallback xmlns="">
          <p:pic>
            <p:nvPicPr>
              <p:cNvPr id="19" name="Ink 18">
                <a:extLst>
                  <a:ext uri="{FF2B5EF4-FFF2-40B4-BE49-F238E27FC236}">
                    <a16:creationId xmlns:a16="http://schemas.microsoft.com/office/drawing/2014/main" id="{15B77837-9D91-6753-5755-1D8708D72ADB}"/>
                  </a:ext>
                </a:extLst>
              </p:cNvPr>
              <p:cNvPicPr/>
              <p:nvPr/>
            </p:nvPicPr>
            <p:blipFill>
              <a:blip r:embed="rId22"/>
              <a:stretch>
                <a:fillRect/>
              </a:stretch>
            </p:blipFill>
            <p:spPr>
              <a:xfrm>
                <a:off x="10534080" y="1237360"/>
                <a:ext cx="134676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xmlns="" id="{8CFECDEE-86CB-4D9A-8D84-0835CF013FD9}"/>
                  </a:ext>
                </a:extLst>
              </p14:cNvPr>
              <p14:cNvContentPartPr/>
              <p14:nvPr/>
            </p14:nvContentPartPr>
            <p14:xfrm>
              <a:off x="11663400" y="2014600"/>
              <a:ext cx="138960" cy="340200"/>
            </p14:xfrm>
          </p:contentPart>
        </mc:Choice>
        <mc:Fallback xmlns="">
          <p:pic>
            <p:nvPicPr>
              <p:cNvPr id="20" name="Ink 19">
                <a:extLst>
                  <a:ext uri="{FF2B5EF4-FFF2-40B4-BE49-F238E27FC236}">
                    <a16:creationId xmlns:a16="http://schemas.microsoft.com/office/drawing/2014/main" id="{8CFECDEE-86CB-4D9A-8D84-0835CF013FD9}"/>
                  </a:ext>
                </a:extLst>
              </p:cNvPr>
              <p:cNvPicPr/>
              <p:nvPr/>
            </p:nvPicPr>
            <p:blipFill>
              <a:blip r:embed="rId24"/>
              <a:stretch>
                <a:fillRect/>
              </a:stretch>
            </p:blipFill>
            <p:spPr>
              <a:xfrm>
                <a:off x="11600400" y="1951600"/>
                <a:ext cx="264600" cy="4658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25">
            <p14:nvContentPartPr>
              <p14:cNvPr id="21" name="Ink 20">
                <a:extLst>
                  <a:ext uri="{FF2B5EF4-FFF2-40B4-BE49-F238E27FC236}">
                    <a16:creationId xmlns:a16="http://schemas.microsoft.com/office/drawing/2014/main" id="{779C00E1-14AB-0969-B720-B82D274A15FB}"/>
                  </a:ext>
                </a:extLst>
              </p14:cNvPr>
              <p14:cNvContentPartPr/>
              <p14:nvPr/>
            </p14:nvContentPartPr>
            <p14:xfrm>
              <a:off x="9600960" y="2509240"/>
              <a:ext cx="360" cy="360"/>
            </p14:xfrm>
          </p:contentPart>
        </mc:Choice>
        <mc:Fallback>
          <p:pic>
            <p:nvPicPr>
              <p:cNvPr id="21" name="Ink 20">
                <a:extLst>
                  <a:ext uri="{FF2B5EF4-FFF2-40B4-BE49-F238E27FC236}">
                    <a16:creationId xmlns:a16="http://schemas.microsoft.com/office/drawing/2014/main" xmlns="" xmlns:aink="http://schemas.microsoft.com/office/drawing/2016/ink" xmlns:p14="http://schemas.microsoft.com/office/powerpoint/2010/main" id="{779C00E1-14AB-0969-B720-B82D274A15FB}"/>
                  </a:ext>
                </a:extLst>
              </p:cNvPr>
              <p:cNvPicPr/>
              <p:nvPr/>
            </p:nvPicPr>
            <p:blipFill>
              <a:blip r:embed="rId26"/>
              <a:stretch>
                <a:fillRect/>
              </a:stretch>
            </p:blipFill>
            <p:spPr>
              <a:xfrm>
                <a:off x="9592320" y="2455600"/>
                <a:ext cx="1800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xmlns="" id="{4142CBA3-168B-3E75-69C4-FBB0EC648BAE}"/>
                  </a:ext>
                </a:extLst>
              </p14:cNvPr>
              <p14:cNvContentPartPr/>
              <p14:nvPr/>
            </p14:nvContentPartPr>
            <p14:xfrm>
              <a:off x="1259760" y="6359800"/>
              <a:ext cx="360" cy="360"/>
            </p14:xfrm>
          </p:contentPart>
        </mc:Choice>
        <mc:Fallback xmlns="">
          <p:pic>
            <p:nvPicPr>
              <p:cNvPr id="22" name="Ink 21">
                <a:extLst>
                  <a:ext uri="{FF2B5EF4-FFF2-40B4-BE49-F238E27FC236}">
                    <a16:creationId xmlns:a16="http://schemas.microsoft.com/office/drawing/2014/main" id="{4142CBA3-168B-3E75-69C4-FBB0EC648BAE}"/>
                  </a:ext>
                </a:extLst>
              </p:cNvPr>
              <p:cNvPicPr/>
              <p:nvPr/>
            </p:nvPicPr>
            <p:blipFill>
              <a:blip r:embed="rId5"/>
              <a:stretch>
                <a:fillRect/>
              </a:stretch>
            </p:blipFill>
            <p:spPr>
              <a:xfrm>
                <a:off x="1169760" y="6180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xmlns="" id="{E8411DC6-BAE3-DD74-9E36-280FFB37CEE1}"/>
                  </a:ext>
                </a:extLst>
              </p14:cNvPr>
              <p14:cNvContentPartPr/>
              <p14:nvPr/>
            </p14:nvContentPartPr>
            <p14:xfrm>
              <a:off x="1930080" y="6014200"/>
              <a:ext cx="360" cy="360"/>
            </p14:xfrm>
          </p:contentPart>
        </mc:Choice>
        <mc:Fallback xmlns="">
          <p:pic>
            <p:nvPicPr>
              <p:cNvPr id="23" name="Ink 22">
                <a:extLst>
                  <a:ext uri="{FF2B5EF4-FFF2-40B4-BE49-F238E27FC236}">
                    <a16:creationId xmlns:a16="http://schemas.microsoft.com/office/drawing/2014/main" id="{E8411DC6-BAE3-DD74-9E36-280FFB37CEE1}"/>
                  </a:ext>
                </a:extLst>
              </p:cNvPr>
              <p:cNvPicPr/>
              <p:nvPr/>
            </p:nvPicPr>
            <p:blipFill>
              <a:blip r:embed="rId5"/>
              <a:stretch>
                <a:fillRect/>
              </a:stretch>
            </p:blipFill>
            <p:spPr>
              <a:xfrm>
                <a:off x="1840440" y="58345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xmlns="" id="{59083174-A439-B055-0DBD-446C0FD44A43}"/>
                  </a:ext>
                </a:extLst>
              </p14:cNvPr>
              <p14:cNvContentPartPr/>
              <p14:nvPr/>
            </p14:nvContentPartPr>
            <p14:xfrm>
              <a:off x="3139320" y="6441160"/>
              <a:ext cx="360" cy="360"/>
            </p14:xfrm>
          </p:contentPart>
        </mc:Choice>
        <mc:Fallback xmlns="">
          <p:pic>
            <p:nvPicPr>
              <p:cNvPr id="24" name="Ink 23">
                <a:extLst>
                  <a:ext uri="{FF2B5EF4-FFF2-40B4-BE49-F238E27FC236}">
                    <a16:creationId xmlns:a16="http://schemas.microsoft.com/office/drawing/2014/main" id="{59083174-A439-B055-0DBD-446C0FD44A43}"/>
                  </a:ext>
                </a:extLst>
              </p:cNvPr>
              <p:cNvPicPr/>
              <p:nvPr/>
            </p:nvPicPr>
            <p:blipFill>
              <a:blip r:embed="rId5"/>
              <a:stretch>
                <a:fillRect/>
              </a:stretch>
            </p:blipFill>
            <p:spPr>
              <a:xfrm>
                <a:off x="3049320" y="6261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xmlns="" id="{CD4C6EC4-29F0-D2B6-A11E-2379F1C7624E}"/>
                  </a:ext>
                </a:extLst>
              </p14:cNvPr>
              <p14:cNvContentPartPr/>
              <p14:nvPr/>
            </p14:nvContentPartPr>
            <p14:xfrm>
              <a:off x="3139320" y="6441160"/>
              <a:ext cx="360" cy="360"/>
            </p14:xfrm>
          </p:contentPart>
        </mc:Choice>
        <mc:Fallback xmlns="">
          <p:pic>
            <p:nvPicPr>
              <p:cNvPr id="25" name="Ink 24">
                <a:extLst>
                  <a:ext uri="{FF2B5EF4-FFF2-40B4-BE49-F238E27FC236}">
                    <a16:creationId xmlns:a16="http://schemas.microsoft.com/office/drawing/2014/main" id="{CD4C6EC4-29F0-D2B6-A11E-2379F1C7624E}"/>
                  </a:ext>
                </a:extLst>
              </p:cNvPr>
              <p:cNvPicPr/>
              <p:nvPr/>
            </p:nvPicPr>
            <p:blipFill>
              <a:blip r:embed="rId5"/>
              <a:stretch>
                <a:fillRect/>
              </a:stretch>
            </p:blipFill>
            <p:spPr>
              <a:xfrm>
                <a:off x="3049320" y="626116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6" name="Ink 25">
                <a:extLst>
                  <a:ext uri="{FF2B5EF4-FFF2-40B4-BE49-F238E27FC236}">
                    <a16:creationId xmlns:a16="http://schemas.microsoft.com/office/drawing/2014/main" xmlns="" id="{1D80F803-D1AF-F0EE-10C8-F606AF344F36}"/>
                  </a:ext>
                </a:extLst>
              </p14:cNvPr>
              <p14:cNvContentPartPr/>
              <p14:nvPr/>
            </p14:nvContentPartPr>
            <p14:xfrm>
              <a:off x="4236600" y="5181520"/>
              <a:ext cx="360" cy="360"/>
            </p14:xfrm>
          </p:contentPart>
        </mc:Choice>
        <mc:Fallback xmlns="">
          <p:pic>
            <p:nvPicPr>
              <p:cNvPr id="26" name="Ink 25">
                <a:extLst>
                  <a:ext uri="{FF2B5EF4-FFF2-40B4-BE49-F238E27FC236}">
                    <a16:creationId xmlns:a16="http://schemas.microsoft.com/office/drawing/2014/main" id="{1D80F803-D1AF-F0EE-10C8-F606AF344F36}"/>
                  </a:ext>
                </a:extLst>
              </p:cNvPr>
              <p:cNvPicPr/>
              <p:nvPr/>
            </p:nvPicPr>
            <p:blipFill>
              <a:blip r:embed="rId5"/>
              <a:stretch>
                <a:fillRect/>
              </a:stretch>
            </p:blipFill>
            <p:spPr>
              <a:xfrm>
                <a:off x="4146600" y="50015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xmlns="" id="{20CC354D-A523-BCBA-B099-B7B8600AB255}"/>
                  </a:ext>
                </a:extLst>
              </p14:cNvPr>
              <p14:cNvContentPartPr/>
              <p14:nvPr/>
            </p14:nvContentPartPr>
            <p14:xfrm>
              <a:off x="4236600" y="5181520"/>
              <a:ext cx="360" cy="360"/>
            </p14:xfrm>
          </p:contentPart>
        </mc:Choice>
        <mc:Fallback xmlns="">
          <p:pic>
            <p:nvPicPr>
              <p:cNvPr id="27" name="Ink 26">
                <a:extLst>
                  <a:ext uri="{FF2B5EF4-FFF2-40B4-BE49-F238E27FC236}">
                    <a16:creationId xmlns:a16="http://schemas.microsoft.com/office/drawing/2014/main" id="{20CC354D-A523-BCBA-B099-B7B8600AB255}"/>
                  </a:ext>
                </a:extLst>
              </p:cNvPr>
              <p:cNvPicPr/>
              <p:nvPr/>
            </p:nvPicPr>
            <p:blipFill>
              <a:blip r:embed="rId14"/>
              <a:stretch>
                <a:fillRect/>
              </a:stretch>
            </p:blipFill>
            <p:spPr>
              <a:xfrm>
                <a:off x="4146600" y="500152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8" name="Ink 27">
                <a:extLst>
                  <a:ext uri="{FF2B5EF4-FFF2-40B4-BE49-F238E27FC236}">
                    <a16:creationId xmlns:a16="http://schemas.microsoft.com/office/drawing/2014/main" xmlns="" id="{9AAF5B7A-B99C-F3BF-96E9-8A732BFD28DA}"/>
                  </a:ext>
                </a:extLst>
              </p14:cNvPr>
              <p14:cNvContentPartPr/>
              <p14:nvPr/>
            </p14:nvContentPartPr>
            <p14:xfrm>
              <a:off x="6369960" y="6421000"/>
              <a:ext cx="360" cy="360"/>
            </p14:xfrm>
          </p:contentPart>
        </mc:Choice>
        <mc:Fallback xmlns="">
          <p:pic>
            <p:nvPicPr>
              <p:cNvPr id="28" name="Ink 27">
                <a:extLst>
                  <a:ext uri="{FF2B5EF4-FFF2-40B4-BE49-F238E27FC236}">
                    <a16:creationId xmlns:a16="http://schemas.microsoft.com/office/drawing/2014/main" id="{9AAF5B7A-B99C-F3BF-96E9-8A732BFD28DA}"/>
                  </a:ext>
                </a:extLst>
              </p:cNvPr>
              <p:cNvPicPr/>
              <p:nvPr/>
            </p:nvPicPr>
            <p:blipFill>
              <a:blip r:embed="rId5"/>
              <a:stretch>
                <a:fillRect/>
              </a:stretch>
            </p:blipFill>
            <p:spPr>
              <a:xfrm>
                <a:off x="6280320" y="62410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Ink 28">
                <a:extLst>
                  <a:ext uri="{FF2B5EF4-FFF2-40B4-BE49-F238E27FC236}">
                    <a16:creationId xmlns:a16="http://schemas.microsoft.com/office/drawing/2014/main" xmlns="" id="{4CA1F26E-8141-C392-ABF5-7548E8FC49A3}"/>
                  </a:ext>
                </a:extLst>
              </p14:cNvPr>
              <p14:cNvContentPartPr/>
              <p14:nvPr/>
            </p14:nvContentPartPr>
            <p14:xfrm>
              <a:off x="6131448" y="6372500"/>
              <a:ext cx="360" cy="360"/>
            </p14:xfrm>
          </p:contentPart>
        </mc:Choice>
        <mc:Fallback xmlns="">
          <p:pic>
            <p:nvPicPr>
              <p:cNvPr id="29" name="Ink 28">
                <a:extLst>
                  <a:ext uri="{FF2B5EF4-FFF2-40B4-BE49-F238E27FC236}">
                    <a16:creationId xmlns:a16="http://schemas.microsoft.com/office/drawing/2014/main" id="{4CA1F26E-8141-C392-ABF5-7548E8FC49A3}"/>
                  </a:ext>
                </a:extLst>
              </p:cNvPr>
              <p:cNvPicPr/>
              <p:nvPr/>
            </p:nvPicPr>
            <p:blipFill>
              <a:blip r:embed="rId35"/>
              <a:stretch>
                <a:fillRect/>
              </a:stretch>
            </p:blipFill>
            <p:spPr>
              <a:xfrm>
                <a:off x="6041448" y="619250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xmlns="" id="{90C8CDF2-C566-9393-8356-9D9AD41E7EC2}"/>
                  </a:ext>
                </a:extLst>
              </p14:cNvPr>
              <p14:cNvContentPartPr/>
              <p14:nvPr/>
            </p14:nvContentPartPr>
            <p14:xfrm>
              <a:off x="1665840" y="3291520"/>
              <a:ext cx="360" cy="360"/>
            </p14:xfrm>
          </p:contentPart>
        </mc:Choice>
        <mc:Fallback xmlns="">
          <p:pic>
            <p:nvPicPr>
              <p:cNvPr id="30" name="Ink 29">
                <a:extLst>
                  <a:ext uri="{FF2B5EF4-FFF2-40B4-BE49-F238E27FC236}">
                    <a16:creationId xmlns:a16="http://schemas.microsoft.com/office/drawing/2014/main" id="{90C8CDF2-C566-9393-8356-9D9AD41E7EC2}"/>
                  </a:ext>
                </a:extLst>
              </p:cNvPr>
              <p:cNvPicPr/>
              <p:nvPr/>
            </p:nvPicPr>
            <p:blipFill>
              <a:blip r:embed="rId5"/>
              <a:stretch>
                <a:fillRect/>
              </a:stretch>
            </p:blipFill>
            <p:spPr>
              <a:xfrm>
                <a:off x="1575840" y="31118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1" name="Ink 30">
                <a:extLst>
                  <a:ext uri="{FF2B5EF4-FFF2-40B4-BE49-F238E27FC236}">
                    <a16:creationId xmlns:a16="http://schemas.microsoft.com/office/drawing/2014/main" xmlns="" id="{EC016D2C-B549-7EF9-1526-7C81E1B82B89}"/>
                  </a:ext>
                </a:extLst>
              </p14:cNvPr>
              <p14:cNvContentPartPr/>
              <p14:nvPr/>
            </p14:nvContentPartPr>
            <p14:xfrm>
              <a:off x="1665840" y="3291520"/>
              <a:ext cx="360" cy="360"/>
            </p14:xfrm>
          </p:contentPart>
        </mc:Choice>
        <mc:Fallback xmlns="">
          <p:pic>
            <p:nvPicPr>
              <p:cNvPr id="31" name="Ink 30">
                <a:extLst>
                  <a:ext uri="{FF2B5EF4-FFF2-40B4-BE49-F238E27FC236}">
                    <a16:creationId xmlns:a16="http://schemas.microsoft.com/office/drawing/2014/main" id="{EC016D2C-B549-7EF9-1526-7C81E1B82B89}"/>
                  </a:ext>
                </a:extLst>
              </p:cNvPr>
              <p:cNvPicPr/>
              <p:nvPr/>
            </p:nvPicPr>
            <p:blipFill>
              <a:blip r:embed="rId14"/>
              <a:stretch>
                <a:fillRect/>
              </a:stretch>
            </p:blipFill>
            <p:spPr>
              <a:xfrm>
                <a:off x="1575840" y="311188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2" name="Ink 31">
                <a:extLst>
                  <a:ext uri="{FF2B5EF4-FFF2-40B4-BE49-F238E27FC236}">
                    <a16:creationId xmlns:a16="http://schemas.microsoft.com/office/drawing/2014/main" xmlns="" id="{067FD881-71D0-C462-6E70-582208FAEDE6}"/>
                  </a:ext>
                </a:extLst>
              </p14:cNvPr>
              <p14:cNvContentPartPr/>
              <p14:nvPr/>
            </p14:nvContentPartPr>
            <p14:xfrm>
              <a:off x="-406680" y="3596440"/>
              <a:ext cx="360" cy="360"/>
            </p14:xfrm>
          </p:contentPart>
        </mc:Choice>
        <mc:Fallback xmlns="">
          <p:pic>
            <p:nvPicPr>
              <p:cNvPr id="32" name="Ink 31">
                <a:extLst>
                  <a:ext uri="{FF2B5EF4-FFF2-40B4-BE49-F238E27FC236}">
                    <a16:creationId xmlns:a16="http://schemas.microsoft.com/office/drawing/2014/main" id="{067FD881-71D0-C462-6E70-582208FAEDE6}"/>
                  </a:ext>
                </a:extLst>
              </p:cNvPr>
              <p:cNvPicPr/>
              <p:nvPr/>
            </p:nvPicPr>
            <p:blipFill>
              <a:blip r:embed="rId5"/>
              <a:stretch>
                <a:fillRect/>
              </a:stretch>
            </p:blipFill>
            <p:spPr>
              <a:xfrm>
                <a:off x="-496320" y="34164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3" name="Ink 32">
                <a:extLst>
                  <a:ext uri="{FF2B5EF4-FFF2-40B4-BE49-F238E27FC236}">
                    <a16:creationId xmlns:a16="http://schemas.microsoft.com/office/drawing/2014/main" xmlns="" id="{7DD2D389-CA4E-999B-37C1-12C236FFA02A}"/>
                  </a:ext>
                </a:extLst>
              </p14:cNvPr>
              <p14:cNvContentPartPr/>
              <p14:nvPr/>
            </p14:nvContentPartPr>
            <p14:xfrm>
              <a:off x="701040" y="5455480"/>
              <a:ext cx="360" cy="360"/>
            </p14:xfrm>
          </p:contentPart>
        </mc:Choice>
        <mc:Fallback xmlns="">
          <p:pic>
            <p:nvPicPr>
              <p:cNvPr id="33" name="Ink 32">
                <a:extLst>
                  <a:ext uri="{FF2B5EF4-FFF2-40B4-BE49-F238E27FC236}">
                    <a16:creationId xmlns:a16="http://schemas.microsoft.com/office/drawing/2014/main" id="{7DD2D389-CA4E-999B-37C1-12C236FFA02A}"/>
                  </a:ext>
                </a:extLst>
              </p:cNvPr>
              <p:cNvPicPr/>
              <p:nvPr/>
            </p:nvPicPr>
            <p:blipFill>
              <a:blip r:embed="rId5"/>
              <a:stretch>
                <a:fillRect/>
              </a:stretch>
            </p:blipFill>
            <p:spPr>
              <a:xfrm>
                <a:off x="611040" y="5275840"/>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4" name="Ink 33">
                <a:extLst>
                  <a:ext uri="{FF2B5EF4-FFF2-40B4-BE49-F238E27FC236}">
                    <a16:creationId xmlns:a16="http://schemas.microsoft.com/office/drawing/2014/main" xmlns="" id="{CE0224F4-635D-ED1A-E3BD-2B3373043A1A}"/>
                  </a:ext>
                </a:extLst>
              </p14:cNvPr>
              <p14:cNvContentPartPr/>
              <p14:nvPr/>
            </p14:nvContentPartPr>
            <p14:xfrm>
              <a:off x="701040" y="5455480"/>
              <a:ext cx="360" cy="360"/>
            </p14:xfrm>
          </p:contentPart>
        </mc:Choice>
        <mc:Fallback xmlns="">
          <p:pic>
            <p:nvPicPr>
              <p:cNvPr id="34" name="Ink 33">
                <a:extLst>
                  <a:ext uri="{FF2B5EF4-FFF2-40B4-BE49-F238E27FC236}">
                    <a16:creationId xmlns:a16="http://schemas.microsoft.com/office/drawing/2014/main" id="{CE0224F4-635D-ED1A-E3BD-2B3373043A1A}"/>
                  </a:ext>
                </a:extLst>
              </p:cNvPr>
              <p:cNvPicPr/>
              <p:nvPr/>
            </p:nvPicPr>
            <p:blipFill>
              <a:blip r:embed="rId5"/>
              <a:stretch>
                <a:fillRect/>
              </a:stretch>
            </p:blipFill>
            <p:spPr>
              <a:xfrm>
                <a:off x="611040" y="5275840"/>
                <a:ext cx="180000" cy="360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xmlns="" Requires="p14 aink">
          <p:contentPart p14:bwMode="auto" r:id="rId41">
            <p14:nvContentPartPr>
              <p14:cNvPr id="35" name="Ink 34">
                <a:extLst>
                  <a:ext uri="{FF2B5EF4-FFF2-40B4-BE49-F238E27FC236}">
                    <a16:creationId xmlns:a16="http://schemas.microsoft.com/office/drawing/2014/main" id="{6301B5D8-0B87-05D1-0572-B876E968A0E8}"/>
                  </a:ext>
                </a:extLst>
              </p14:cNvPr>
              <p14:cNvContentPartPr/>
              <p14:nvPr/>
            </p14:nvContentPartPr>
            <p14:xfrm>
              <a:off x="-721680" y="1158160"/>
              <a:ext cx="360" cy="360"/>
            </p14:xfrm>
          </p:contentPart>
        </mc:Choice>
        <mc:Fallback>
          <p:pic>
            <p:nvPicPr>
              <p:cNvPr id="35" name="Ink 34">
                <a:extLst>
                  <a:ext uri="{FF2B5EF4-FFF2-40B4-BE49-F238E27FC236}">
                    <a16:creationId xmlns:a16="http://schemas.microsoft.com/office/drawing/2014/main" xmlns="" xmlns:aink="http://schemas.microsoft.com/office/drawing/2016/ink" xmlns:p14="http://schemas.microsoft.com/office/powerpoint/2010/main" id="{6301B5D8-0B87-05D1-0572-B876E968A0E8}"/>
                  </a:ext>
                </a:extLst>
              </p:cNvPr>
              <p:cNvPicPr/>
              <p:nvPr/>
            </p:nvPicPr>
            <p:blipFill>
              <a:blip r:embed="rId42"/>
              <a:stretch>
                <a:fillRect/>
              </a:stretch>
            </p:blipFill>
            <p:spPr>
              <a:xfrm>
                <a:off x="-739680" y="1050160"/>
                <a:ext cx="36000" cy="216000"/>
              </a:xfrm>
              <a:prstGeom prst="rect">
                <a:avLst/>
              </a:prstGeom>
            </p:spPr>
          </p:pic>
        </mc:Fallback>
      </mc:AlternateContent>
    </p:spTree>
    <p:extLst>
      <p:ext uri="{BB962C8B-B14F-4D97-AF65-F5344CB8AC3E}">
        <p14:creationId xmlns:p14="http://schemas.microsoft.com/office/powerpoint/2010/main" val="2514004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6"/>
          <p:cNvSpPr txBox="1">
            <a:spLocks noGrp="1"/>
          </p:cNvSpPr>
          <p:nvPr>
            <p:ph type="title"/>
          </p:nvPr>
        </p:nvSpPr>
        <p:spPr>
          <a:xfrm>
            <a:off x="3581400" y="915242"/>
            <a:ext cx="3429635" cy="68993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Functions</a:t>
            </a:r>
            <a:endParaRPr b="1" dirty="0">
              <a:latin typeface="Times New Roman" panose="02020603050405020304" pitchFamily="18" charset="0"/>
              <a:cs typeface="Times New Roman" panose="02020603050405020304" pitchFamily="18" charset="0"/>
            </a:endParaRPr>
          </a:p>
        </p:txBody>
      </p:sp>
      <p:sp>
        <p:nvSpPr>
          <p:cNvPr id="118" name="Google Shape;118;p6"/>
          <p:cNvSpPr txBox="1"/>
          <p:nvPr/>
        </p:nvSpPr>
        <p:spPr>
          <a:xfrm>
            <a:off x="2059940" y="1810702"/>
            <a:ext cx="4808855" cy="442595"/>
          </a:xfrm>
          <a:prstGeom prst="rect">
            <a:avLst/>
          </a:prstGeom>
          <a:noFill/>
          <a:ln>
            <a:noFill/>
          </a:ln>
        </p:spPr>
        <p:txBody>
          <a:bodyPr spcFirstLastPara="1" wrap="square" lIns="0" tIns="12050" rIns="0" bIns="0" anchor="t" anchorCtr="0">
            <a:spAutoFit/>
          </a:bodyPr>
          <a:lstStyle/>
          <a:p>
            <a:pPr marL="355600" marR="0" lvl="0" indent="-342900" algn="l" rtl="0">
              <a:lnSpc>
                <a:spcPct val="100000"/>
              </a:lnSpc>
              <a:spcBef>
                <a:spcPts val="0"/>
              </a:spcBef>
              <a:spcAft>
                <a:spcPts val="0"/>
              </a:spcAft>
              <a:buClr>
                <a:schemeClr val="dk1"/>
              </a:buClr>
              <a:buSzPts val="2800"/>
              <a:buFont typeface="Arial"/>
              <a:buChar char="•"/>
            </a:pPr>
            <a:r>
              <a:rPr lang="en-US" sz="2800" b="1">
                <a:solidFill>
                  <a:schemeClr val="dk1"/>
                </a:solidFill>
                <a:latin typeface="Times New Roman"/>
                <a:ea typeface="Times New Roman"/>
                <a:cs typeface="Times New Roman"/>
                <a:sym typeface="Times New Roman"/>
              </a:rPr>
              <a:t>ALL computer functions are:</a:t>
            </a:r>
            <a:endParaRPr sz="2800">
              <a:solidFill>
                <a:schemeClr val="dk1"/>
              </a:solidFill>
              <a:latin typeface="Times New Roman"/>
              <a:ea typeface="Times New Roman"/>
              <a:cs typeface="Times New Roman"/>
              <a:sym typeface="Times New Roman"/>
            </a:endParaRPr>
          </a:p>
        </p:txBody>
      </p:sp>
      <p:sp>
        <p:nvSpPr>
          <p:cNvPr id="119" name="Google Shape;119;p6"/>
          <p:cNvSpPr txBox="1"/>
          <p:nvPr/>
        </p:nvSpPr>
        <p:spPr>
          <a:xfrm>
            <a:off x="2207569" y="2748470"/>
            <a:ext cx="3750636" cy="2078990"/>
          </a:xfrm>
          <a:prstGeom prst="rect">
            <a:avLst/>
          </a:prstGeom>
          <a:noFill/>
          <a:ln>
            <a:noFill/>
          </a:ln>
        </p:spPr>
        <p:txBody>
          <a:bodyPr spcFirstLastPara="1" wrap="square" lIns="0" tIns="97775" rIns="0" bIns="0" anchor="t" anchorCtr="0">
            <a:spAutoFit/>
          </a:bodyPr>
          <a:lstStyle/>
          <a:p>
            <a:pPr marL="298450" marR="0" lvl="0" indent="-285750" algn="l" rtl="0">
              <a:lnSpc>
                <a:spcPct val="100000"/>
              </a:lnSpc>
              <a:spcBef>
                <a:spcPts val="0"/>
              </a:spcBef>
              <a:spcAft>
                <a:spcPts val="0"/>
              </a:spcAft>
              <a:buClr>
                <a:schemeClr val="dk1"/>
              </a:buClr>
              <a:buSzPts val="2800"/>
              <a:buFont typeface="Arial"/>
              <a:buChar char="–"/>
            </a:pPr>
            <a:r>
              <a:rPr lang="en-US" sz="2800" b="1" dirty="0">
                <a:solidFill>
                  <a:schemeClr val="dk1"/>
                </a:solidFill>
                <a:latin typeface="Times New Roman"/>
                <a:ea typeface="Times New Roman"/>
                <a:cs typeface="Times New Roman"/>
                <a:sym typeface="Times New Roman"/>
              </a:rPr>
              <a:t>Data PROCESSING</a:t>
            </a:r>
            <a:endParaRPr sz="2800" dirty="0">
              <a:solidFill>
                <a:schemeClr val="dk1"/>
              </a:solidFill>
              <a:latin typeface="Times New Roman"/>
              <a:ea typeface="Times New Roman"/>
              <a:cs typeface="Times New Roman"/>
              <a:sym typeface="Times New Roman"/>
            </a:endParaRPr>
          </a:p>
          <a:p>
            <a:pPr marL="298450" marR="0" lvl="0" indent="-285750" algn="l" rtl="0">
              <a:lnSpc>
                <a:spcPct val="100000"/>
              </a:lnSpc>
              <a:spcBef>
                <a:spcPts val="670"/>
              </a:spcBef>
              <a:spcAft>
                <a:spcPts val="0"/>
              </a:spcAft>
              <a:buClr>
                <a:schemeClr val="dk1"/>
              </a:buClr>
              <a:buSzPts val="2800"/>
              <a:buFont typeface="Arial"/>
              <a:buChar char="–"/>
            </a:pPr>
            <a:r>
              <a:rPr lang="en-US" sz="2800" b="1" dirty="0">
                <a:solidFill>
                  <a:schemeClr val="dk1"/>
                </a:solidFill>
                <a:latin typeface="Times New Roman"/>
                <a:ea typeface="Times New Roman"/>
                <a:cs typeface="Times New Roman"/>
                <a:sym typeface="Times New Roman"/>
              </a:rPr>
              <a:t>Data STORAGE</a:t>
            </a:r>
            <a:endParaRPr sz="2800" dirty="0">
              <a:solidFill>
                <a:schemeClr val="dk1"/>
              </a:solidFill>
              <a:latin typeface="Times New Roman"/>
              <a:ea typeface="Times New Roman"/>
              <a:cs typeface="Times New Roman"/>
              <a:sym typeface="Times New Roman"/>
            </a:endParaRPr>
          </a:p>
          <a:p>
            <a:pPr marL="298450" marR="0" lvl="0" indent="-285750" algn="l" rtl="0">
              <a:lnSpc>
                <a:spcPct val="100000"/>
              </a:lnSpc>
              <a:spcBef>
                <a:spcPts val="670"/>
              </a:spcBef>
              <a:spcAft>
                <a:spcPts val="0"/>
              </a:spcAft>
              <a:buClr>
                <a:schemeClr val="dk1"/>
              </a:buClr>
              <a:buSzPts val="2800"/>
              <a:buFont typeface="Arial"/>
              <a:buChar char="–"/>
            </a:pPr>
            <a:r>
              <a:rPr lang="en-US" sz="2800" b="1" dirty="0">
                <a:solidFill>
                  <a:schemeClr val="dk1"/>
                </a:solidFill>
                <a:latin typeface="Times New Roman"/>
                <a:ea typeface="Times New Roman"/>
                <a:cs typeface="Times New Roman"/>
                <a:sym typeface="Times New Roman"/>
              </a:rPr>
              <a:t>Data MOVEMENT</a:t>
            </a:r>
            <a:endParaRPr sz="2800" dirty="0">
              <a:solidFill>
                <a:schemeClr val="dk1"/>
              </a:solidFill>
              <a:latin typeface="Times New Roman"/>
              <a:ea typeface="Times New Roman"/>
              <a:cs typeface="Times New Roman"/>
              <a:sym typeface="Times New Roman"/>
            </a:endParaRPr>
          </a:p>
          <a:p>
            <a:pPr marL="298450" marR="0" lvl="0" indent="-285750" algn="l" rtl="0">
              <a:lnSpc>
                <a:spcPct val="100000"/>
              </a:lnSpc>
              <a:spcBef>
                <a:spcPts val="670"/>
              </a:spcBef>
              <a:spcAft>
                <a:spcPts val="0"/>
              </a:spcAft>
              <a:buClr>
                <a:schemeClr val="dk1"/>
              </a:buClr>
              <a:buSzPts val="2800"/>
              <a:buFont typeface="Arial"/>
              <a:buChar char="–"/>
            </a:pPr>
            <a:r>
              <a:rPr lang="en-US" sz="2800" b="1" dirty="0">
                <a:solidFill>
                  <a:schemeClr val="dk1"/>
                </a:solidFill>
                <a:latin typeface="Times New Roman"/>
                <a:ea typeface="Times New Roman"/>
                <a:cs typeface="Times New Roman"/>
                <a:sym typeface="Times New Roman"/>
              </a:rPr>
              <a:t>CONTROL</a:t>
            </a:r>
            <a:endParaRPr sz="2800" dirty="0">
              <a:solidFill>
                <a:schemeClr val="dk1"/>
              </a:solidFill>
              <a:latin typeface="Times New Roman"/>
              <a:ea typeface="Times New Roman"/>
              <a:cs typeface="Times New Roman"/>
              <a:sym typeface="Times New Roman"/>
            </a:endParaRPr>
          </a:p>
        </p:txBody>
      </p:sp>
      <p:grpSp>
        <p:nvGrpSpPr>
          <p:cNvPr id="120" name="Google Shape;120;p6"/>
          <p:cNvGrpSpPr/>
          <p:nvPr/>
        </p:nvGrpSpPr>
        <p:grpSpPr>
          <a:xfrm>
            <a:off x="6319837" y="3464356"/>
            <a:ext cx="2828925" cy="476250"/>
            <a:chOff x="4795837" y="3464356"/>
            <a:chExt cx="2828925" cy="476250"/>
          </a:xfrm>
        </p:grpSpPr>
        <p:sp>
          <p:nvSpPr>
            <p:cNvPr id="121" name="Google Shape;121;p6"/>
            <p:cNvSpPr/>
            <p:nvPr/>
          </p:nvSpPr>
          <p:spPr>
            <a:xfrm>
              <a:off x="4800600" y="3468623"/>
              <a:ext cx="2819400" cy="467995"/>
            </a:xfrm>
            <a:custGeom>
              <a:avLst/>
              <a:gdLst/>
              <a:ahLst/>
              <a:cxnLst/>
              <a:rect l="l" t="t" r="r" b="b"/>
              <a:pathLst>
                <a:path w="2819400" h="467995" extrusionOk="0">
                  <a:moveTo>
                    <a:pt x="2819400" y="467868"/>
                  </a:moveTo>
                  <a:lnTo>
                    <a:pt x="0" y="467868"/>
                  </a:lnTo>
                  <a:lnTo>
                    <a:pt x="0" y="0"/>
                  </a:lnTo>
                  <a:lnTo>
                    <a:pt x="2819400" y="0"/>
                  </a:lnTo>
                  <a:lnTo>
                    <a:pt x="2819400" y="467868"/>
                  </a:lnTo>
                  <a:close/>
                </a:path>
              </a:pathLst>
            </a:custGeom>
            <a:solidFill>
              <a:srgbClr val="FFFF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 name="Google Shape;122;p6"/>
            <p:cNvSpPr/>
            <p:nvPr/>
          </p:nvSpPr>
          <p:spPr>
            <a:xfrm>
              <a:off x="4795837" y="3464356"/>
              <a:ext cx="2828925" cy="476250"/>
            </a:xfrm>
            <a:custGeom>
              <a:avLst/>
              <a:gdLst/>
              <a:ahLst/>
              <a:cxnLst/>
              <a:rect l="l" t="t" r="r" b="b"/>
              <a:pathLst>
                <a:path w="2828925" h="476250" extrusionOk="0">
                  <a:moveTo>
                    <a:pt x="2828925" y="476250"/>
                  </a:moveTo>
                  <a:lnTo>
                    <a:pt x="0" y="476250"/>
                  </a:lnTo>
                  <a:lnTo>
                    <a:pt x="0" y="0"/>
                  </a:lnTo>
                  <a:lnTo>
                    <a:pt x="2828925" y="0"/>
                  </a:lnTo>
                  <a:lnTo>
                    <a:pt x="2828925" y="4762"/>
                  </a:lnTo>
                  <a:lnTo>
                    <a:pt x="9525" y="4762"/>
                  </a:lnTo>
                  <a:lnTo>
                    <a:pt x="4762" y="9525"/>
                  </a:lnTo>
                  <a:lnTo>
                    <a:pt x="9525" y="9525"/>
                  </a:lnTo>
                  <a:lnTo>
                    <a:pt x="9525" y="466725"/>
                  </a:lnTo>
                  <a:lnTo>
                    <a:pt x="4762" y="466725"/>
                  </a:lnTo>
                  <a:lnTo>
                    <a:pt x="9525" y="471487"/>
                  </a:lnTo>
                  <a:lnTo>
                    <a:pt x="2828925" y="471487"/>
                  </a:lnTo>
                  <a:lnTo>
                    <a:pt x="2828925" y="476250"/>
                  </a:lnTo>
                  <a:close/>
                </a:path>
                <a:path w="2828925" h="476250" extrusionOk="0">
                  <a:moveTo>
                    <a:pt x="9525" y="9525"/>
                  </a:moveTo>
                  <a:lnTo>
                    <a:pt x="4762" y="9525"/>
                  </a:lnTo>
                  <a:lnTo>
                    <a:pt x="9525" y="4762"/>
                  </a:lnTo>
                  <a:lnTo>
                    <a:pt x="9525" y="9525"/>
                  </a:lnTo>
                  <a:close/>
                </a:path>
                <a:path w="2828925" h="476250" extrusionOk="0">
                  <a:moveTo>
                    <a:pt x="2819400" y="9525"/>
                  </a:moveTo>
                  <a:lnTo>
                    <a:pt x="9525" y="9525"/>
                  </a:lnTo>
                  <a:lnTo>
                    <a:pt x="9525" y="4762"/>
                  </a:lnTo>
                  <a:lnTo>
                    <a:pt x="2819400" y="4762"/>
                  </a:lnTo>
                  <a:lnTo>
                    <a:pt x="2819400" y="9525"/>
                  </a:lnTo>
                  <a:close/>
                </a:path>
                <a:path w="2828925" h="476250" extrusionOk="0">
                  <a:moveTo>
                    <a:pt x="2819400" y="471487"/>
                  </a:moveTo>
                  <a:lnTo>
                    <a:pt x="2819400" y="4762"/>
                  </a:lnTo>
                  <a:lnTo>
                    <a:pt x="2824162" y="9525"/>
                  </a:lnTo>
                  <a:lnTo>
                    <a:pt x="2828925" y="9525"/>
                  </a:lnTo>
                  <a:lnTo>
                    <a:pt x="2828925" y="466725"/>
                  </a:lnTo>
                  <a:lnTo>
                    <a:pt x="2824162" y="466725"/>
                  </a:lnTo>
                  <a:lnTo>
                    <a:pt x="2819400" y="471487"/>
                  </a:lnTo>
                  <a:close/>
                </a:path>
                <a:path w="2828925" h="476250" extrusionOk="0">
                  <a:moveTo>
                    <a:pt x="2828925" y="9525"/>
                  </a:moveTo>
                  <a:lnTo>
                    <a:pt x="2824162" y="9525"/>
                  </a:lnTo>
                  <a:lnTo>
                    <a:pt x="2819400" y="4762"/>
                  </a:lnTo>
                  <a:lnTo>
                    <a:pt x="2828925" y="4762"/>
                  </a:lnTo>
                  <a:lnTo>
                    <a:pt x="2828925" y="9525"/>
                  </a:lnTo>
                  <a:close/>
                </a:path>
                <a:path w="2828925" h="476250" extrusionOk="0">
                  <a:moveTo>
                    <a:pt x="9525" y="471487"/>
                  </a:moveTo>
                  <a:lnTo>
                    <a:pt x="4762" y="466725"/>
                  </a:lnTo>
                  <a:lnTo>
                    <a:pt x="9525" y="466725"/>
                  </a:lnTo>
                  <a:lnTo>
                    <a:pt x="9525" y="471487"/>
                  </a:lnTo>
                  <a:close/>
                </a:path>
                <a:path w="2828925" h="476250" extrusionOk="0">
                  <a:moveTo>
                    <a:pt x="2819400" y="471487"/>
                  </a:moveTo>
                  <a:lnTo>
                    <a:pt x="9525" y="471487"/>
                  </a:lnTo>
                  <a:lnTo>
                    <a:pt x="9525" y="466725"/>
                  </a:lnTo>
                  <a:lnTo>
                    <a:pt x="2819400" y="466725"/>
                  </a:lnTo>
                  <a:lnTo>
                    <a:pt x="2819400" y="471487"/>
                  </a:lnTo>
                  <a:close/>
                </a:path>
                <a:path w="2828925" h="476250" extrusionOk="0">
                  <a:moveTo>
                    <a:pt x="2828925" y="471487"/>
                  </a:moveTo>
                  <a:lnTo>
                    <a:pt x="2819400" y="471487"/>
                  </a:lnTo>
                  <a:lnTo>
                    <a:pt x="2824162" y="466725"/>
                  </a:lnTo>
                  <a:lnTo>
                    <a:pt x="2828925" y="466725"/>
                  </a:lnTo>
                  <a:lnTo>
                    <a:pt x="2828925" y="471487"/>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3" name="Google Shape;123;p6"/>
          <p:cNvSpPr txBox="1"/>
          <p:nvPr/>
        </p:nvSpPr>
        <p:spPr>
          <a:xfrm>
            <a:off x="6324600" y="3468623"/>
            <a:ext cx="3203164" cy="396898"/>
          </a:xfrm>
          <a:prstGeom prst="rect">
            <a:avLst/>
          </a:prstGeom>
          <a:noFill/>
          <a:ln>
            <a:noFill/>
          </a:ln>
        </p:spPr>
        <p:txBody>
          <a:bodyPr spcFirstLastPara="1" wrap="square" lIns="0" tIns="27300" rIns="0" bIns="0" anchor="t" anchorCtr="0">
            <a:spAutoFit/>
          </a:bodyPr>
          <a:lstStyle/>
          <a:p>
            <a:pPr marL="155575" marR="0" lvl="0" indent="0" algn="l" rtl="0">
              <a:lnSpc>
                <a:spcPct val="100000"/>
              </a:lnSpc>
              <a:spcBef>
                <a:spcPts val="0"/>
              </a:spcBef>
              <a:spcAft>
                <a:spcPts val="0"/>
              </a:spcAft>
              <a:buNone/>
            </a:pPr>
            <a:r>
              <a:rPr lang="en-US" sz="2400" dirty="0">
                <a:solidFill>
                  <a:schemeClr val="dk1"/>
                </a:solidFill>
                <a:latin typeface="Times New Roman"/>
                <a:ea typeface="Times New Roman"/>
                <a:cs typeface="Times New Roman"/>
                <a:sym typeface="Times New Roman"/>
              </a:rPr>
              <a:t>Data	= Information</a:t>
            </a:r>
            <a:endParaRPr sz="2400" dirty="0">
              <a:solidFill>
                <a:schemeClr val="dk1"/>
              </a:solidFill>
              <a:latin typeface="Times New Roman"/>
              <a:ea typeface="Times New Roman"/>
              <a:cs typeface="Times New Roman"/>
              <a:sym typeface="Times New Roman"/>
            </a:endParaRPr>
          </a:p>
        </p:txBody>
      </p:sp>
      <p:sp>
        <p:nvSpPr>
          <p:cNvPr id="124" name="Google Shape;124;p6"/>
          <p:cNvSpPr/>
          <p:nvPr/>
        </p:nvSpPr>
        <p:spPr>
          <a:xfrm>
            <a:off x="5562549" y="2940481"/>
            <a:ext cx="610235" cy="1447800"/>
          </a:xfrm>
          <a:custGeom>
            <a:avLst/>
            <a:gdLst/>
            <a:ahLst/>
            <a:cxnLst/>
            <a:rect l="l" t="t" r="r" b="b"/>
            <a:pathLst>
              <a:path w="610235" h="1447800" extrusionOk="0">
                <a:moveTo>
                  <a:pt x="146392" y="12700"/>
                </a:moveTo>
                <a:lnTo>
                  <a:pt x="75793" y="12700"/>
                </a:lnTo>
                <a:lnTo>
                  <a:pt x="61048" y="0"/>
                </a:lnTo>
                <a:lnTo>
                  <a:pt x="133134" y="0"/>
                </a:lnTo>
                <a:lnTo>
                  <a:pt x="146392" y="12700"/>
                </a:lnTo>
                <a:close/>
              </a:path>
              <a:path w="610235" h="1447800" extrusionOk="0">
                <a:moveTo>
                  <a:pt x="195478" y="25400"/>
                </a:moveTo>
                <a:lnTo>
                  <a:pt x="157048" y="25400"/>
                </a:lnTo>
                <a:lnTo>
                  <a:pt x="144284" y="12700"/>
                </a:lnTo>
                <a:lnTo>
                  <a:pt x="183832" y="12700"/>
                </a:lnTo>
                <a:lnTo>
                  <a:pt x="195478" y="25400"/>
                </a:lnTo>
                <a:close/>
              </a:path>
              <a:path w="610235" h="1447800" extrusionOk="0">
                <a:moveTo>
                  <a:pt x="227647" y="38100"/>
                </a:moveTo>
                <a:lnTo>
                  <a:pt x="203441" y="38100"/>
                </a:lnTo>
                <a:lnTo>
                  <a:pt x="192392" y="25400"/>
                </a:lnTo>
                <a:lnTo>
                  <a:pt x="217398" y="25400"/>
                </a:lnTo>
                <a:lnTo>
                  <a:pt x="227647" y="38100"/>
                </a:lnTo>
                <a:close/>
              </a:path>
              <a:path w="610235" h="1447800" extrusionOk="0">
                <a:moveTo>
                  <a:pt x="255117" y="50800"/>
                </a:moveTo>
                <a:lnTo>
                  <a:pt x="233273" y="50800"/>
                </a:lnTo>
                <a:lnTo>
                  <a:pt x="223685" y="38100"/>
                </a:lnTo>
                <a:lnTo>
                  <a:pt x="246443" y="38100"/>
                </a:lnTo>
                <a:lnTo>
                  <a:pt x="255117" y="50800"/>
                </a:lnTo>
                <a:close/>
              </a:path>
              <a:path w="610235" h="1447800" extrusionOk="0">
                <a:moveTo>
                  <a:pt x="270979" y="63500"/>
                </a:moveTo>
                <a:lnTo>
                  <a:pt x="258216" y="63500"/>
                </a:lnTo>
                <a:lnTo>
                  <a:pt x="250291" y="50800"/>
                </a:lnTo>
                <a:lnTo>
                  <a:pt x="263423" y="50800"/>
                </a:lnTo>
                <a:lnTo>
                  <a:pt x="270979" y="63500"/>
                </a:lnTo>
                <a:close/>
              </a:path>
              <a:path w="610235" h="1447800" extrusionOk="0">
                <a:moveTo>
                  <a:pt x="289979" y="76200"/>
                </a:moveTo>
                <a:lnTo>
                  <a:pt x="271881" y="76200"/>
                </a:lnTo>
                <a:lnTo>
                  <a:pt x="265150" y="63500"/>
                </a:lnTo>
                <a:lnTo>
                  <a:pt x="284276" y="63500"/>
                </a:lnTo>
                <a:lnTo>
                  <a:pt x="289979" y="76200"/>
                </a:lnTo>
                <a:close/>
              </a:path>
              <a:path w="610235" h="1447800" extrusionOk="0">
                <a:moveTo>
                  <a:pt x="299313" y="88900"/>
                </a:moveTo>
                <a:lnTo>
                  <a:pt x="287528" y="88900"/>
                </a:lnTo>
                <a:lnTo>
                  <a:pt x="282740" y="76200"/>
                </a:lnTo>
                <a:lnTo>
                  <a:pt x="295021" y="76200"/>
                </a:lnTo>
                <a:lnTo>
                  <a:pt x="299313" y="88900"/>
                </a:lnTo>
                <a:close/>
              </a:path>
              <a:path w="610235" h="1447800" extrusionOk="0">
                <a:moveTo>
                  <a:pt x="304380" y="101600"/>
                </a:moveTo>
                <a:lnTo>
                  <a:pt x="294487" y="101600"/>
                </a:lnTo>
                <a:lnTo>
                  <a:pt x="292874" y="88900"/>
                </a:lnTo>
                <a:lnTo>
                  <a:pt x="302945" y="88900"/>
                </a:lnTo>
                <a:lnTo>
                  <a:pt x="304380" y="101600"/>
                </a:lnTo>
                <a:close/>
              </a:path>
              <a:path w="610235" h="1447800" extrusionOk="0">
                <a:moveTo>
                  <a:pt x="298704" y="114300"/>
                </a:moveTo>
                <a:lnTo>
                  <a:pt x="297827" y="101600"/>
                </a:lnTo>
                <a:lnTo>
                  <a:pt x="298627" y="101600"/>
                </a:lnTo>
                <a:lnTo>
                  <a:pt x="298704" y="114300"/>
                </a:lnTo>
                <a:close/>
              </a:path>
              <a:path w="610235" h="1447800" extrusionOk="0">
                <a:moveTo>
                  <a:pt x="308610" y="114300"/>
                </a:moveTo>
                <a:lnTo>
                  <a:pt x="299313" y="114300"/>
                </a:lnTo>
                <a:lnTo>
                  <a:pt x="298627" y="101600"/>
                </a:lnTo>
                <a:lnTo>
                  <a:pt x="307924" y="101600"/>
                </a:lnTo>
                <a:lnTo>
                  <a:pt x="308610" y="114300"/>
                </a:lnTo>
                <a:close/>
              </a:path>
              <a:path w="610235" h="1447800" extrusionOk="0">
                <a:moveTo>
                  <a:pt x="309714" y="609600"/>
                </a:moveTo>
                <a:lnTo>
                  <a:pt x="300189" y="609600"/>
                </a:lnTo>
                <a:lnTo>
                  <a:pt x="300088" y="114300"/>
                </a:lnTo>
                <a:lnTo>
                  <a:pt x="309613" y="114300"/>
                </a:lnTo>
                <a:lnTo>
                  <a:pt x="309714" y="609600"/>
                </a:lnTo>
                <a:close/>
              </a:path>
              <a:path w="610235" h="1447800" extrusionOk="0">
                <a:moveTo>
                  <a:pt x="312851" y="622300"/>
                </a:moveTo>
                <a:lnTo>
                  <a:pt x="302806" y="622300"/>
                </a:lnTo>
                <a:lnTo>
                  <a:pt x="301777" y="609600"/>
                </a:lnTo>
                <a:lnTo>
                  <a:pt x="311785" y="609600"/>
                </a:lnTo>
                <a:lnTo>
                  <a:pt x="312851" y="622300"/>
                </a:lnTo>
                <a:close/>
              </a:path>
              <a:path w="610235" h="1447800" extrusionOk="0">
                <a:moveTo>
                  <a:pt x="318503" y="635000"/>
                </a:moveTo>
                <a:lnTo>
                  <a:pt x="308483" y="635000"/>
                </a:lnTo>
                <a:lnTo>
                  <a:pt x="306755" y="622300"/>
                </a:lnTo>
                <a:lnTo>
                  <a:pt x="316712" y="622300"/>
                </a:lnTo>
                <a:lnTo>
                  <a:pt x="318503" y="635000"/>
                </a:lnTo>
                <a:close/>
              </a:path>
              <a:path w="610235" h="1447800" extrusionOk="0">
                <a:moveTo>
                  <a:pt x="332181" y="647700"/>
                </a:moveTo>
                <a:lnTo>
                  <a:pt x="319722" y="647700"/>
                </a:lnTo>
                <a:lnTo>
                  <a:pt x="314680" y="635000"/>
                </a:lnTo>
                <a:lnTo>
                  <a:pt x="326720" y="635000"/>
                </a:lnTo>
                <a:lnTo>
                  <a:pt x="332181" y="647700"/>
                </a:lnTo>
                <a:close/>
              </a:path>
              <a:path w="610235" h="1447800" extrusionOk="0">
                <a:moveTo>
                  <a:pt x="344550" y="660400"/>
                </a:moveTo>
                <a:lnTo>
                  <a:pt x="331774" y="660400"/>
                </a:lnTo>
                <a:lnTo>
                  <a:pt x="325424" y="647700"/>
                </a:lnTo>
                <a:lnTo>
                  <a:pt x="337820" y="647700"/>
                </a:lnTo>
                <a:lnTo>
                  <a:pt x="344550" y="660400"/>
                </a:lnTo>
                <a:close/>
              </a:path>
              <a:path w="610235" h="1447800" extrusionOk="0">
                <a:moveTo>
                  <a:pt x="367715" y="673100"/>
                </a:moveTo>
                <a:lnTo>
                  <a:pt x="346278" y="673100"/>
                </a:lnTo>
                <a:lnTo>
                  <a:pt x="338721" y="660400"/>
                </a:lnTo>
                <a:lnTo>
                  <a:pt x="359219" y="660400"/>
                </a:lnTo>
                <a:lnTo>
                  <a:pt x="367715" y="673100"/>
                </a:lnTo>
                <a:close/>
              </a:path>
              <a:path w="610235" h="1447800" extrusionOk="0">
                <a:moveTo>
                  <a:pt x="395947" y="685800"/>
                </a:moveTo>
                <a:lnTo>
                  <a:pt x="372313" y="685800"/>
                </a:lnTo>
                <a:lnTo>
                  <a:pt x="363093" y="673100"/>
                </a:lnTo>
                <a:lnTo>
                  <a:pt x="385864" y="673100"/>
                </a:lnTo>
                <a:lnTo>
                  <a:pt x="395947" y="685800"/>
                </a:lnTo>
                <a:close/>
              </a:path>
              <a:path w="610235" h="1447800" extrusionOk="0">
                <a:moveTo>
                  <a:pt x="428701" y="698500"/>
                </a:moveTo>
                <a:lnTo>
                  <a:pt x="403034" y="698500"/>
                </a:lnTo>
                <a:lnTo>
                  <a:pt x="392303" y="685800"/>
                </a:lnTo>
                <a:lnTo>
                  <a:pt x="417182" y="685800"/>
                </a:lnTo>
                <a:lnTo>
                  <a:pt x="428701" y="698500"/>
                </a:lnTo>
                <a:close/>
              </a:path>
              <a:path w="610235" h="1447800" extrusionOk="0">
                <a:moveTo>
                  <a:pt x="478459" y="711200"/>
                </a:moveTo>
                <a:lnTo>
                  <a:pt x="437946" y="711200"/>
                </a:lnTo>
                <a:lnTo>
                  <a:pt x="425869" y="698500"/>
                </a:lnTo>
                <a:lnTo>
                  <a:pt x="465315" y="698500"/>
                </a:lnTo>
                <a:lnTo>
                  <a:pt x="478459" y="711200"/>
                </a:lnTo>
                <a:close/>
              </a:path>
              <a:path w="610235" h="1447800" extrusionOk="0">
                <a:moveTo>
                  <a:pt x="609701" y="723900"/>
                </a:moveTo>
                <a:lnTo>
                  <a:pt x="504113" y="723900"/>
                </a:lnTo>
                <a:lnTo>
                  <a:pt x="490169" y="711200"/>
                </a:lnTo>
                <a:lnTo>
                  <a:pt x="594017" y="711200"/>
                </a:lnTo>
                <a:lnTo>
                  <a:pt x="609701" y="723900"/>
                </a:lnTo>
                <a:close/>
              </a:path>
              <a:path w="610235" h="1447800" extrusionOk="0">
                <a:moveTo>
                  <a:pt x="533908" y="736600"/>
                </a:moveTo>
                <a:lnTo>
                  <a:pt x="463423" y="736600"/>
                </a:lnTo>
                <a:lnTo>
                  <a:pt x="476669" y="723900"/>
                </a:lnTo>
                <a:lnTo>
                  <a:pt x="548652" y="723900"/>
                </a:lnTo>
                <a:lnTo>
                  <a:pt x="533908" y="736600"/>
                </a:lnTo>
                <a:close/>
              </a:path>
              <a:path w="610235" h="1447800" extrusionOk="0">
                <a:moveTo>
                  <a:pt x="452653" y="749300"/>
                </a:moveTo>
                <a:lnTo>
                  <a:pt x="414350" y="749300"/>
                </a:lnTo>
                <a:lnTo>
                  <a:pt x="425869" y="736600"/>
                </a:lnTo>
                <a:lnTo>
                  <a:pt x="465416" y="736600"/>
                </a:lnTo>
                <a:lnTo>
                  <a:pt x="452653" y="749300"/>
                </a:lnTo>
                <a:close/>
              </a:path>
              <a:path w="610235" h="1447800" extrusionOk="0">
                <a:moveTo>
                  <a:pt x="406260" y="762000"/>
                </a:moveTo>
                <a:lnTo>
                  <a:pt x="382206" y="762000"/>
                </a:lnTo>
                <a:lnTo>
                  <a:pt x="392442" y="749300"/>
                </a:lnTo>
                <a:lnTo>
                  <a:pt x="417309" y="749300"/>
                </a:lnTo>
                <a:lnTo>
                  <a:pt x="406260" y="762000"/>
                </a:lnTo>
                <a:close/>
              </a:path>
              <a:path w="610235" h="1447800" extrusionOk="0">
                <a:moveTo>
                  <a:pt x="376428" y="774700"/>
                </a:moveTo>
                <a:lnTo>
                  <a:pt x="354584" y="774700"/>
                </a:lnTo>
                <a:lnTo>
                  <a:pt x="363258" y="762000"/>
                </a:lnTo>
                <a:lnTo>
                  <a:pt x="386016" y="762000"/>
                </a:lnTo>
                <a:lnTo>
                  <a:pt x="376428" y="774700"/>
                </a:lnTo>
                <a:close/>
              </a:path>
              <a:path w="610235" h="1447800" extrusionOk="0">
                <a:moveTo>
                  <a:pt x="351485" y="787400"/>
                </a:moveTo>
                <a:lnTo>
                  <a:pt x="338937" y="787400"/>
                </a:lnTo>
                <a:lnTo>
                  <a:pt x="346481" y="774700"/>
                </a:lnTo>
                <a:lnTo>
                  <a:pt x="359410" y="774700"/>
                </a:lnTo>
                <a:lnTo>
                  <a:pt x="351485" y="787400"/>
                </a:lnTo>
                <a:close/>
              </a:path>
              <a:path w="610235" h="1447800" extrusionOk="0">
                <a:moveTo>
                  <a:pt x="337820" y="800100"/>
                </a:moveTo>
                <a:lnTo>
                  <a:pt x="319722" y="800100"/>
                </a:lnTo>
                <a:lnTo>
                  <a:pt x="325666" y="787400"/>
                </a:lnTo>
                <a:lnTo>
                  <a:pt x="344550" y="787400"/>
                </a:lnTo>
                <a:lnTo>
                  <a:pt x="337820" y="800100"/>
                </a:lnTo>
                <a:close/>
              </a:path>
              <a:path w="610235" h="1447800" extrusionOk="0">
                <a:moveTo>
                  <a:pt x="322173" y="812800"/>
                </a:moveTo>
                <a:lnTo>
                  <a:pt x="310388" y="812800"/>
                </a:lnTo>
                <a:lnTo>
                  <a:pt x="314680" y="800100"/>
                </a:lnTo>
                <a:lnTo>
                  <a:pt x="326961" y="800100"/>
                </a:lnTo>
                <a:lnTo>
                  <a:pt x="322173" y="812800"/>
                </a:lnTo>
                <a:close/>
              </a:path>
              <a:path w="610235" h="1447800" extrusionOk="0">
                <a:moveTo>
                  <a:pt x="315213" y="825500"/>
                </a:moveTo>
                <a:lnTo>
                  <a:pt x="305320" y="825500"/>
                </a:lnTo>
                <a:lnTo>
                  <a:pt x="306870" y="812800"/>
                </a:lnTo>
                <a:lnTo>
                  <a:pt x="316826" y="812800"/>
                </a:lnTo>
                <a:lnTo>
                  <a:pt x="315213" y="825500"/>
                </a:lnTo>
                <a:close/>
              </a:path>
              <a:path w="610235" h="1447800" extrusionOk="0">
                <a:moveTo>
                  <a:pt x="310388" y="838200"/>
                </a:moveTo>
                <a:lnTo>
                  <a:pt x="301091" y="838200"/>
                </a:lnTo>
                <a:lnTo>
                  <a:pt x="301853" y="825500"/>
                </a:lnTo>
                <a:lnTo>
                  <a:pt x="311073" y="825500"/>
                </a:lnTo>
                <a:lnTo>
                  <a:pt x="310388" y="838200"/>
                </a:lnTo>
                <a:close/>
              </a:path>
              <a:path w="610235" h="1447800" extrusionOk="0">
                <a:moveTo>
                  <a:pt x="310997" y="838200"/>
                </a:moveTo>
                <a:lnTo>
                  <a:pt x="311073" y="825500"/>
                </a:lnTo>
                <a:lnTo>
                  <a:pt x="311873" y="825500"/>
                </a:lnTo>
                <a:lnTo>
                  <a:pt x="310997" y="838200"/>
                </a:lnTo>
                <a:close/>
              </a:path>
              <a:path w="610235" h="1447800" extrusionOk="0">
                <a:moveTo>
                  <a:pt x="309511" y="1333500"/>
                </a:moveTo>
                <a:lnTo>
                  <a:pt x="299986" y="1333500"/>
                </a:lnTo>
                <a:lnTo>
                  <a:pt x="300088" y="838200"/>
                </a:lnTo>
                <a:lnTo>
                  <a:pt x="309613" y="838200"/>
                </a:lnTo>
                <a:lnTo>
                  <a:pt x="309511" y="1333500"/>
                </a:lnTo>
                <a:close/>
              </a:path>
              <a:path w="610235" h="1447800" extrusionOk="0">
                <a:moveTo>
                  <a:pt x="306895" y="1346200"/>
                </a:moveTo>
                <a:lnTo>
                  <a:pt x="296849" y="1346200"/>
                </a:lnTo>
                <a:lnTo>
                  <a:pt x="297916" y="1333500"/>
                </a:lnTo>
                <a:lnTo>
                  <a:pt x="307848" y="1333500"/>
                </a:lnTo>
                <a:lnTo>
                  <a:pt x="306895" y="1346200"/>
                </a:lnTo>
                <a:close/>
              </a:path>
              <a:path w="610235" h="1447800" extrusionOk="0">
                <a:moveTo>
                  <a:pt x="301104" y="1358900"/>
                </a:moveTo>
                <a:lnTo>
                  <a:pt x="291198" y="1358900"/>
                </a:lnTo>
                <a:lnTo>
                  <a:pt x="292988" y="1346200"/>
                </a:lnTo>
                <a:lnTo>
                  <a:pt x="302831" y="1346200"/>
                </a:lnTo>
                <a:lnTo>
                  <a:pt x="301104" y="1358900"/>
                </a:lnTo>
                <a:close/>
              </a:path>
              <a:path w="610235" h="1447800" extrusionOk="0">
                <a:moveTo>
                  <a:pt x="289979" y="1371600"/>
                </a:moveTo>
                <a:lnTo>
                  <a:pt x="277520" y="1371600"/>
                </a:lnTo>
                <a:lnTo>
                  <a:pt x="282981" y="1358900"/>
                </a:lnTo>
                <a:lnTo>
                  <a:pt x="295021" y="1358900"/>
                </a:lnTo>
                <a:lnTo>
                  <a:pt x="289979" y="1371600"/>
                </a:lnTo>
                <a:close/>
              </a:path>
              <a:path w="610235" h="1447800" extrusionOk="0">
                <a:moveTo>
                  <a:pt x="277710" y="1384300"/>
                </a:moveTo>
                <a:lnTo>
                  <a:pt x="265150" y="1384300"/>
                </a:lnTo>
                <a:lnTo>
                  <a:pt x="271881" y="1371600"/>
                </a:lnTo>
                <a:lnTo>
                  <a:pt x="284035" y="1371600"/>
                </a:lnTo>
                <a:lnTo>
                  <a:pt x="277710" y="1384300"/>
                </a:lnTo>
                <a:close/>
              </a:path>
              <a:path w="610235" h="1447800" extrusionOk="0">
                <a:moveTo>
                  <a:pt x="263220" y="1397000"/>
                </a:moveTo>
                <a:lnTo>
                  <a:pt x="241985" y="1397000"/>
                </a:lnTo>
                <a:lnTo>
                  <a:pt x="250482" y="1384300"/>
                </a:lnTo>
                <a:lnTo>
                  <a:pt x="270763" y="1384300"/>
                </a:lnTo>
                <a:lnTo>
                  <a:pt x="263220" y="1397000"/>
                </a:lnTo>
                <a:close/>
              </a:path>
              <a:path w="610235" h="1447800" extrusionOk="0">
                <a:moveTo>
                  <a:pt x="237223" y="1409700"/>
                </a:moveTo>
                <a:lnTo>
                  <a:pt x="213753" y="1409700"/>
                </a:lnTo>
                <a:lnTo>
                  <a:pt x="223837" y="1397000"/>
                </a:lnTo>
                <a:lnTo>
                  <a:pt x="246443" y="1397000"/>
                </a:lnTo>
                <a:lnTo>
                  <a:pt x="237223" y="1409700"/>
                </a:lnTo>
                <a:close/>
              </a:path>
              <a:path w="610235" h="1447800" extrusionOk="0">
                <a:moveTo>
                  <a:pt x="206540" y="1422400"/>
                </a:moveTo>
                <a:lnTo>
                  <a:pt x="181000" y="1422400"/>
                </a:lnTo>
                <a:lnTo>
                  <a:pt x="192519" y="1409700"/>
                </a:lnTo>
                <a:lnTo>
                  <a:pt x="217258" y="1409700"/>
                </a:lnTo>
                <a:lnTo>
                  <a:pt x="206540" y="1422400"/>
                </a:lnTo>
                <a:close/>
              </a:path>
              <a:path w="610235" h="1447800" extrusionOk="0">
                <a:moveTo>
                  <a:pt x="171640" y="1435100"/>
                </a:moveTo>
                <a:lnTo>
                  <a:pt x="131241" y="1435100"/>
                </a:lnTo>
                <a:lnTo>
                  <a:pt x="144386" y="1422400"/>
                </a:lnTo>
                <a:lnTo>
                  <a:pt x="183705" y="1422400"/>
                </a:lnTo>
                <a:lnTo>
                  <a:pt x="171640" y="1435100"/>
                </a:lnTo>
                <a:close/>
              </a:path>
              <a:path w="610235" h="1447800" extrusionOk="0">
                <a:moveTo>
                  <a:pt x="105486" y="1447800"/>
                </a:moveTo>
                <a:lnTo>
                  <a:pt x="0" y="1447800"/>
                </a:lnTo>
                <a:lnTo>
                  <a:pt x="15684" y="1435100"/>
                </a:lnTo>
                <a:lnTo>
                  <a:pt x="119430" y="1435100"/>
                </a:lnTo>
                <a:lnTo>
                  <a:pt x="105486" y="1447800"/>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5" name="Google Shape;125;p6"/>
          <p:cNvSpPr/>
          <p:nvPr/>
        </p:nvSpPr>
        <p:spPr>
          <a:xfrm>
            <a:off x="5638800" y="4686300"/>
            <a:ext cx="609600" cy="76200"/>
          </a:xfrm>
          <a:custGeom>
            <a:avLst/>
            <a:gdLst/>
            <a:ahLst/>
            <a:cxnLst/>
            <a:rect l="l" t="t" r="r" b="b"/>
            <a:pathLst>
              <a:path w="609600" h="76200" extrusionOk="0">
                <a:moveTo>
                  <a:pt x="533400" y="76200"/>
                </a:moveTo>
                <a:lnTo>
                  <a:pt x="533400" y="0"/>
                </a:lnTo>
                <a:lnTo>
                  <a:pt x="600075" y="33337"/>
                </a:lnTo>
                <a:lnTo>
                  <a:pt x="552450" y="33337"/>
                </a:lnTo>
                <a:lnTo>
                  <a:pt x="552450" y="42862"/>
                </a:lnTo>
                <a:lnTo>
                  <a:pt x="600075" y="42862"/>
                </a:lnTo>
                <a:lnTo>
                  <a:pt x="533400" y="76200"/>
                </a:lnTo>
                <a:close/>
              </a:path>
              <a:path w="609600" h="76200" extrusionOk="0">
                <a:moveTo>
                  <a:pt x="533400" y="42862"/>
                </a:moveTo>
                <a:lnTo>
                  <a:pt x="0" y="42862"/>
                </a:lnTo>
                <a:lnTo>
                  <a:pt x="0" y="33337"/>
                </a:lnTo>
                <a:lnTo>
                  <a:pt x="533400" y="33337"/>
                </a:lnTo>
                <a:lnTo>
                  <a:pt x="533400" y="42862"/>
                </a:lnTo>
                <a:close/>
              </a:path>
              <a:path w="609600" h="76200" extrusionOk="0">
                <a:moveTo>
                  <a:pt x="600075" y="42862"/>
                </a:moveTo>
                <a:lnTo>
                  <a:pt x="552450" y="42862"/>
                </a:lnTo>
                <a:lnTo>
                  <a:pt x="552450" y="33337"/>
                </a:lnTo>
                <a:lnTo>
                  <a:pt x="600075" y="33337"/>
                </a:lnTo>
                <a:lnTo>
                  <a:pt x="609600" y="38100"/>
                </a:lnTo>
                <a:lnTo>
                  <a:pt x="600075" y="42862"/>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26" name="Google Shape;126;p6"/>
          <p:cNvGrpSpPr/>
          <p:nvPr/>
        </p:nvGrpSpPr>
        <p:grpSpPr>
          <a:xfrm>
            <a:off x="6319837" y="4262437"/>
            <a:ext cx="2828925" cy="841375"/>
            <a:chOff x="4795837" y="4262437"/>
            <a:chExt cx="2828925" cy="841375"/>
          </a:xfrm>
        </p:grpSpPr>
        <p:sp>
          <p:nvSpPr>
            <p:cNvPr id="127" name="Google Shape;127;p6"/>
            <p:cNvSpPr/>
            <p:nvPr/>
          </p:nvSpPr>
          <p:spPr>
            <a:xfrm>
              <a:off x="4800600" y="4267200"/>
              <a:ext cx="2819400" cy="832485"/>
            </a:xfrm>
            <a:custGeom>
              <a:avLst/>
              <a:gdLst/>
              <a:ahLst/>
              <a:cxnLst/>
              <a:rect l="l" t="t" r="r" b="b"/>
              <a:pathLst>
                <a:path w="2819400" h="832485" extrusionOk="0">
                  <a:moveTo>
                    <a:pt x="2819400" y="832103"/>
                  </a:moveTo>
                  <a:lnTo>
                    <a:pt x="0" y="832103"/>
                  </a:lnTo>
                  <a:lnTo>
                    <a:pt x="0" y="0"/>
                  </a:lnTo>
                  <a:lnTo>
                    <a:pt x="2819400" y="0"/>
                  </a:lnTo>
                  <a:lnTo>
                    <a:pt x="2819400" y="832103"/>
                  </a:lnTo>
                  <a:close/>
                </a:path>
              </a:pathLst>
            </a:custGeom>
            <a:solidFill>
              <a:srgbClr val="FFFF9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8" name="Google Shape;128;p6"/>
            <p:cNvSpPr/>
            <p:nvPr/>
          </p:nvSpPr>
          <p:spPr>
            <a:xfrm>
              <a:off x="4795837" y="4262437"/>
              <a:ext cx="2828925" cy="841375"/>
            </a:xfrm>
            <a:custGeom>
              <a:avLst/>
              <a:gdLst/>
              <a:ahLst/>
              <a:cxnLst/>
              <a:rect l="l" t="t" r="r" b="b"/>
              <a:pathLst>
                <a:path w="2828925" h="841375" extrusionOk="0">
                  <a:moveTo>
                    <a:pt x="2828925" y="841375"/>
                  </a:moveTo>
                  <a:lnTo>
                    <a:pt x="0" y="841375"/>
                  </a:lnTo>
                  <a:lnTo>
                    <a:pt x="0" y="0"/>
                  </a:lnTo>
                  <a:lnTo>
                    <a:pt x="2828925" y="0"/>
                  </a:lnTo>
                  <a:lnTo>
                    <a:pt x="2828925" y="4762"/>
                  </a:lnTo>
                  <a:lnTo>
                    <a:pt x="9525" y="4762"/>
                  </a:lnTo>
                  <a:lnTo>
                    <a:pt x="4762" y="9525"/>
                  </a:lnTo>
                  <a:lnTo>
                    <a:pt x="9525" y="9525"/>
                  </a:lnTo>
                  <a:lnTo>
                    <a:pt x="9525" y="831850"/>
                  </a:lnTo>
                  <a:lnTo>
                    <a:pt x="4762" y="831850"/>
                  </a:lnTo>
                  <a:lnTo>
                    <a:pt x="9525" y="836612"/>
                  </a:lnTo>
                  <a:lnTo>
                    <a:pt x="2828925" y="836612"/>
                  </a:lnTo>
                  <a:lnTo>
                    <a:pt x="2828925" y="841375"/>
                  </a:lnTo>
                  <a:close/>
                </a:path>
                <a:path w="2828925" h="841375" extrusionOk="0">
                  <a:moveTo>
                    <a:pt x="9525" y="9525"/>
                  </a:moveTo>
                  <a:lnTo>
                    <a:pt x="4762" y="9525"/>
                  </a:lnTo>
                  <a:lnTo>
                    <a:pt x="9525" y="4762"/>
                  </a:lnTo>
                  <a:lnTo>
                    <a:pt x="9525" y="9525"/>
                  </a:lnTo>
                  <a:close/>
                </a:path>
                <a:path w="2828925" h="841375" extrusionOk="0">
                  <a:moveTo>
                    <a:pt x="2819400" y="9525"/>
                  </a:moveTo>
                  <a:lnTo>
                    <a:pt x="9525" y="9525"/>
                  </a:lnTo>
                  <a:lnTo>
                    <a:pt x="9525" y="4762"/>
                  </a:lnTo>
                  <a:lnTo>
                    <a:pt x="2819400" y="4762"/>
                  </a:lnTo>
                  <a:lnTo>
                    <a:pt x="2819400" y="9525"/>
                  </a:lnTo>
                  <a:close/>
                </a:path>
                <a:path w="2828925" h="841375" extrusionOk="0">
                  <a:moveTo>
                    <a:pt x="2819400" y="836612"/>
                  </a:moveTo>
                  <a:lnTo>
                    <a:pt x="2819400" y="4762"/>
                  </a:lnTo>
                  <a:lnTo>
                    <a:pt x="2824162" y="9525"/>
                  </a:lnTo>
                  <a:lnTo>
                    <a:pt x="2828925" y="9525"/>
                  </a:lnTo>
                  <a:lnTo>
                    <a:pt x="2828925" y="831850"/>
                  </a:lnTo>
                  <a:lnTo>
                    <a:pt x="2824162" y="831850"/>
                  </a:lnTo>
                  <a:lnTo>
                    <a:pt x="2819400" y="836612"/>
                  </a:lnTo>
                  <a:close/>
                </a:path>
                <a:path w="2828925" h="841375" extrusionOk="0">
                  <a:moveTo>
                    <a:pt x="2828925" y="9525"/>
                  </a:moveTo>
                  <a:lnTo>
                    <a:pt x="2824162" y="9525"/>
                  </a:lnTo>
                  <a:lnTo>
                    <a:pt x="2819400" y="4762"/>
                  </a:lnTo>
                  <a:lnTo>
                    <a:pt x="2828925" y="4762"/>
                  </a:lnTo>
                  <a:lnTo>
                    <a:pt x="2828925" y="9525"/>
                  </a:lnTo>
                  <a:close/>
                </a:path>
                <a:path w="2828925" h="841375" extrusionOk="0">
                  <a:moveTo>
                    <a:pt x="9525" y="836612"/>
                  </a:moveTo>
                  <a:lnTo>
                    <a:pt x="4762" y="831850"/>
                  </a:lnTo>
                  <a:lnTo>
                    <a:pt x="9525" y="831850"/>
                  </a:lnTo>
                  <a:lnTo>
                    <a:pt x="9525" y="836612"/>
                  </a:lnTo>
                  <a:close/>
                </a:path>
                <a:path w="2828925" h="841375" extrusionOk="0">
                  <a:moveTo>
                    <a:pt x="2819400" y="836612"/>
                  </a:moveTo>
                  <a:lnTo>
                    <a:pt x="9525" y="836612"/>
                  </a:lnTo>
                  <a:lnTo>
                    <a:pt x="9525" y="831850"/>
                  </a:lnTo>
                  <a:lnTo>
                    <a:pt x="2819400" y="831850"/>
                  </a:lnTo>
                  <a:lnTo>
                    <a:pt x="2819400" y="836612"/>
                  </a:lnTo>
                  <a:close/>
                </a:path>
                <a:path w="2828925" h="841375" extrusionOk="0">
                  <a:moveTo>
                    <a:pt x="2828925" y="836612"/>
                  </a:moveTo>
                  <a:lnTo>
                    <a:pt x="2819400" y="836612"/>
                  </a:lnTo>
                  <a:lnTo>
                    <a:pt x="2824162" y="831850"/>
                  </a:lnTo>
                  <a:lnTo>
                    <a:pt x="2828925" y="831850"/>
                  </a:lnTo>
                  <a:lnTo>
                    <a:pt x="2828925" y="836612"/>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29" name="Google Shape;129;p6"/>
          <p:cNvSpPr txBox="1"/>
          <p:nvPr/>
        </p:nvSpPr>
        <p:spPr>
          <a:xfrm>
            <a:off x="6324600" y="4267200"/>
            <a:ext cx="2819400" cy="765810"/>
          </a:xfrm>
          <a:prstGeom prst="rect">
            <a:avLst/>
          </a:prstGeom>
          <a:noFill/>
          <a:ln>
            <a:noFill/>
          </a:ln>
        </p:spPr>
        <p:txBody>
          <a:bodyPr spcFirstLastPara="1" wrap="square" lIns="0" tIns="27300" rIns="0" bIns="0" anchor="t" anchorCtr="0">
            <a:spAutoFit/>
          </a:bodyPr>
          <a:lstStyle/>
          <a:p>
            <a:pPr marL="190500" marR="184150" lvl="0" indent="147955" algn="l" rtl="0">
              <a:lnSpc>
                <a:spcPct val="100000"/>
              </a:lnSpc>
              <a:spcBef>
                <a:spcPts val="0"/>
              </a:spcBef>
              <a:spcAft>
                <a:spcPts val="0"/>
              </a:spcAft>
              <a:buNone/>
            </a:pPr>
            <a:r>
              <a:rPr lang="en-US" sz="2400">
                <a:solidFill>
                  <a:schemeClr val="dk1"/>
                </a:solidFill>
                <a:latin typeface="Times New Roman"/>
                <a:ea typeface="Times New Roman"/>
                <a:cs typeface="Times New Roman"/>
                <a:sym typeface="Times New Roman"/>
              </a:rPr>
              <a:t>Coordinates How  Information is Used</a:t>
            </a:r>
            <a:endParaRPr sz="2400">
              <a:solidFill>
                <a:schemeClr val="dk1"/>
              </a:solidFill>
              <a:latin typeface="Times New Roman"/>
              <a:ea typeface="Times New Roman"/>
              <a:cs typeface="Times New Roman"/>
              <a:sym typeface="Times New Roman"/>
            </a:endParaRPr>
          </a:p>
        </p:txBody>
      </p:sp>
      <p:sp>
        <p:nvSpPr>
          <p:cNvPr id="130" name="Google Shape;130;p6"/>
          <p:cNvSpPr txBox="1">
            <a:spLocks noGrp="1"/>
          </p:cNvSpPr>
          <p:nvPr>
            <p:ph type="sldNum" idx="12"/>
          </p:nvPr>
        </p:nvSpPr>
        <p:spPr>
          <a:xfrm>
            <a:off x="8610600" y="6431598"/>
            <a:ext cx="2743200" cy="214630"/>
          </a:xfrm>
          <a:prstGeom prst="rect">
            <a:avLst/>
          </a:prstGeom>
          <a:noFill/>
          <a:ln>
            <a:noFill/>
          </a:ln>
        </p:spPr>
        <p:txBody>
          <a:bodyPr spcFirstLastPara="1" wrap="square" lIns="0" tIns="55875" rIns="0" bIns="0" anchor="t" anchorCtr="0">
            <a:spAutoFit/>
          </a:bodyPr>
          <a:lstStyle/>
          <a:p>
            <a:pPr marL="193040" marR="0" lvl="0" indent="0" algn="l" rtl="0">
              <a:lnSpc>
                <a:spcPct val="68888"/>
              </a:lnSpc>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
        <p:nvSpPr>
          <p:cNvPr id="2" name="Date Placeholder 1"/>
          <p:cNvSpPr>
            <a:spLocks noGrp="1"/>
          </p:cNvSpPr>
          <p:nvPr>
            <p:ph type="dt" sz="half" idx="10"/>
          </p:nvPr>
        </p:nvSpPr>
        <p:spPr/>
        <p:txBody>
          <a:bodyPr/>
          <a:lstStyle/>
          <a:p>
            <a:fld id="{DAF8EDCF-6BF2-4799-A85B-465FC01EFA7D}"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xmlns="" id="{2B7EC1AB-E0C8-AED4-5B30-85DD000F30DD}"/>
                  </a:ext>
                </a:extLst>
              </p14:cNvPr>
              <p14:cNvContentPartPr/>
              <p14:nvPr/>
            </p14:nvContentPartPr>
            <p14:xfrm>
              <a:off x="3576000" y="4114840"/>
              <a:ext cx="360" cy="360"/>
            </p14:xfrm>
          </p:contentPart>
        </mc:Choice>
        <mc:Fallback xmlns="">
          <p:pic>
            <p:nvPicPr>
              <p:cNvPr id="4" name="Ink 3">
                <a:extLst>
                  <a:ext uri="{FF2B5EF4-FFF2-40B4-BE49-F238E27FC236}">
                    <a16:creationId xmlns:a16="http://schemas.microsoft.com/office/drawing/2014/main" id="{2B7EC1AB-E0C8-AED4-5B30-85DD000F30DD}"/>
                  </a:ext>
                </a:extLst>
              </p:cNvPr>
              <p:cNvPicPr/>
              <p:nvPr/>
            </p:nvPicPr>
            <p:blipFill>
              <a:blip r:embed="rId4"/>
              <a:stretch>
                <a:fillRect/>
              </a:stretch>
            </p:blipFill>
            <p:spPr>
              <a:xfrm>
                <a:off x="3486000" y="3934840"/>
                <a:ext cx="180000" cy="360000"/>
              </a:xfrm>
              <a:prstGeom prst="rect">
                <a:avLst/>
              </a:prstGeom>
            </p:spPr>
          </p:pic>
        </mc:Fallback>
      </mc:AlternateContent>
    </p:spTree>
    <p:extLst>
      <p:ext uri="{BB962C8B-B14F-4D97-AF65-F5344CB8AC3E}">
        <p14:creationId xmlns:p14="http://schemas.microsoft.com/office/powerpoint/2010/main" val="2852431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7"/>
          <p:cNvSpPr txBox="1">
            <a:spLocks noGrp="1"/>
          </p:cNvSpPr>
          <p:nvPr>
            <p:ph type="title"/>
          </p:nvPr>
        </p:nvSpPr>
        <p:spPr>
          <a:xfrm>
            <a:off x="2999656" y="463569"/>
            <a:ext cx="5867102" cy="689932"/>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Functions of a computer</a:t>
            </a:r>
            <a:endParaRPr b="1" dirty="0">
              <a:latin typeface="Times New Roman" panose="02020603050405020304" pitchFamily="18" charset="0"/>
              <a:cs typeface="Times New Roman" panose="02020603050405020304" pitchFamily="18" charset="0"/>
            </a:endParaRPr>
          </a:p>
        </p:txBody>
      </p:sp>
      <p:sp>
        <p:nvSpPr>
          <p:cNvPr id="136" name="Google Shape;136;p7"/>
          <p:cNvSpPr txBox="1">
            <a:spLocks noGrp="1"/>
          </p:cNvSpPr>
          <p:nvPr>
            <p:ph type="sldNum" idx="12"/>
          </p:nvPr>
        </p:nvSpPr>
        <p:spPr>
          <a:xfrm>
            <a:off x="8610600" y="6431598"/>
            <a:ext cx="2743200" cy="214630"/>
          </a:xfrm>
          <a:prstGeom prst="rect">
            <a:avLst/>
          </a:prstGeom>
          <a:noFill/>
          <a:ln>
            <a:noFill/>
          </a:ln>
        </p:spPr>
        <p:txBody>
          <a:bodyPr spcFirstLastPara="1" wrap="square" lIns="0" tIns="55875" rIns="0" bIns="0" anchor="t" anchorCtr="0">
            <a:spAutoFit/>
          </a:bodyPr>
          <a:lstStyle/>
          <a:p>
            <a:pPr marL="193040" marR="0" lvl="0" indent="0" algn="l" rtl="0">
              <a:lnSpc>
                <a:spcPct val="68888"/>
              </a:lnSpc>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
        <p:nvSpPr>
          <p:cNvPr id="137" name="Google Shape;137;p7"/>
          <p:cNvSpPr txBox="1"/>
          <p:nvPr/>
        </p:nvSpPr>
        <p:spPr>
          <a:xfrm>
            <a:off x="551384" y="1335525"/>
            <a:ext cx="5836146" cy="5172555"/>
          </a:xfrm>
          <a:prstGeom prst="rect">
            <a:avLst/>
          </a:prstGeom>
          <a:noFill/>
          <a:ln>
            <a:noFill/>
          </a:ln>
        </p:spPr>
        <p:txBody>
          <a:bodyPr spcFirstLastPara="1" wrap="square" lIns="0" tIns="12050" rIns="0" bIns="0" anchor="t" anchorCtr="0">
            <a:spAutoFit/>
          </a:bodyPr>
          <a:lstStyle/>
          <a:p>
            <a:pPr marL="12700" marR="5715" lvl="0" indent="0" algn="just" rtl="0">
              <a:lnSpc>
                <a:spcPct val="100000"/>
              </a:lnSpc>
              <a:spcBef>
                <a:spcPts val="0"/>
              </a:spcBef>
              <a:spcAft>
                <a:spcPts val="0"/>
              </a:spcAft>
              <a:buNone/>
            </a:pPr>
            <a:r>
              <a:rPr lang="en-US" sz="2400" dirty="0">
                <a:solidFill>
                  <a:schemeClr val="dk1"/>
                </a:solidFill>
                <a:latin typeface="Times New Roman"/>
                <a:ea typeface="Times New Roman"/>
                <a:cs typeface="Times New Roman"/>
                <a:sym typeface="Times New Roman"/>
              </a:rPr>
              <a:t>The operations performed by a computer using the  functional units can be summarized as follows:</a:t>
            </a:r>
            <a:endParaRPr sz="2400" dirty="0">
              <a:solidFill>
                <a:schemeClr val="dk1"/>
              </a:solidFill>
              <a:latin typeface="Times New Roman"/>
              <a:ea typeface="Times New Roman"/>
              <a:cs typeface="Times New Roman"/>
              <a:sym typeface="Times New Roman"/>
            </a:endParaRPr>
          </a:p>
          <a:p>
            <a:pPr marL="355600" marR="5080" lvl="0" indent="-342900" algn="just" rtl="0">
              <a:lnSpc>
                <a:spcPct val="100000"/>
              </a:lnSpc>
              <a:spcBef>
                <a:spcPts val="670"/>
              </a:spcBef>
              <a:spcAft>
                <a:spcPts val="0"/>
              </a:spcAft>
              <a:buClr>
                <a:schemeClr val="dk1"/>
              </a:buClr>
              <a:buSzPts val="2800"/>
              <a:buFont typeface="Arial"/>
              <a:buChar char="•"/>
            </a:pPr>
            <a:r>
              <a:rPr lang="en-US" sz="2400" dirty="0">
                <a:solidFill>
                  <a:schemeClr val="dk1"/>
                </a:solidFill>
                <a:latin typeface="Times New Roman"/>
                <a:ea typeface="Times New Roman"/>
                <a:cs typeface="Times New Roman"/>
                <a:sym typeface="Times New Roman"/>
              </a:rPr>
              <a:t>It accepts information (program and data) through  input unit and transfers it to the memory.</a:t>
            </a:r>
            <a:endParaRPr sz="2400" dirty="0">
              <a:solidFill>
                <a:schemeClr val="dk1"/>
              </a:solidFill>
              <a:latin typeface="Times New Roman"/>
              <a:ea typeface="Times New Roman"/>
              <a:cs typeface="Times New Roman"/>
              <a:sym typeface="Times New Roman"/>
            </a:endParaRPr>
          </a:p>
          <a:p>
            <a:pPr marL="355600" marR="5080" lvl="0" indent="-342900" algn="just" rtl="0">
              <a:lnSpc>
                <a:spcPct val="100000"/>
              </a:lnSpc>
              <a:spcBef>
                <a:spcPts val="670"/>
              </a:spcBef>
              <a:spcAft>
                <a:spcPts val="0"/>
              </a:spcAft>
              <a:buClr>
                <a:schemeClr val="dk1"/>
              </a:buClr>
              <a:buSzPts val="2800"/>
              <a:buFont typeface="Arial"/>
              <a:buChar char="•"/>
            </a:pPr>
            <a:r>
              <a:rPr lang="en-US" sz="2400" dirty="0">
                <a:solidFill>
                  <a:schemeClr val="dk1"/>
                </a:solidFill>
                <a:latin typeface="Times New Roman"/>
                <a:ea typeface="Times New Roman"/>
                <a:cs typeface="Times New Roman"/>
                <a:sym typeface="Times New Roman"/>
              </a:rPr>
              <a:t>Information stored in the memory is fetched, under  program control, into an arithmetic and logic unit for  processing.</a:t>
            </a:r>
            <a:endParaRPr sz="2400" dirty="0">
              <a:solidFill>
                <a:schemeClr val="dk1"/>
              </a:solidFill>
              <a:latin typeface="Times New Roman"/>
              <a:ea typeface="Times New Roman"/>
              <a:cs typeface="Times New Roman"/>
              <a:sym typeface="Times New Roman"/>
            </a:endParaRPr>
          </a:p>
          <a:p>
            <a:pPr marL="355600" marR="5080" lvl="0" indent="-342900" algn="just" rtl="0">
              <a:lnSpc>
                <a:spcPct val="100000"/>
              </a:lnSpc>
              <a:spcBef>
                <a:spcPts val="670"/>
              </a:spcBef>
              <a:spcAft>
                <a:spcPts val="0"/>
              </a:spcAft>
              <a:buClr>
                <a:schemeClr val="dk1"/>
              </a:buClr>
              <a:buSzPts val="2800"/>
              <a:buFont typeface="Arial"/>
              <a:buChar char="•"/>
            </a:pPr>
            <a:r>
              <a:rPr lang="en-US" sz="2400" dirty="0">
                <a:solidFill>
                  <a:schemeClr val="dk1"/>
                </a:solidFill>
                <a:latin typeface="Times New Roman"/>
                <a:ea typeface="Times New Roman"/>
                <a:cs typeface="Times New Roman"/>
                <a:sym typeface="Times New Roman"/>
              </a:rPr>
              <a:t>Processed information leaves the computer through  an output unit.</a:t>
            </a:r>
            <a:endParaRPr sz="2400" dirty="0">
              <a:solidFill>
                <a:schemeClr val="dk1"/>
              </a:solidFill>
              <a:latin typeface="Times New Roman"/>
              <a:ea typeface="Times New Roman"/>
              <a:cs typeface="Times New Roman"/>
              <a:sym typeface="Times New Roman"/>
            </a:endParaRPr>
          </a:p>
          <a:p>
            <a:pPr marL="355600" marR="5715" lvl="0" indent="-342900" algn="just" rtl="0">
              <a:lnSpc>
                <a:spcPct val="100000"/>
              </a:lnSpc>
              <a:spcBef>
                <a:spcPts val="670"/>
              </a:spcBef>
              <a:spcAft>
                <a:spcPts val="0"/>
              </a:spcAft>
              <a:buClr>
                <a:schemeClr val="dk1"/>
              </a:buClr>
              <a:buSzPts val="2800"/>
              <a:buFont typeface="Arial"/>
              <a:buChar char="•"/>
            </a:pPr>
            <a:r>
              <a:rPr lang="en-US" sz="2400" dirty="0">
                <a:solidFill>
                  <a:schemeClr val="dk1"/>
                </a:solidFill>
                <a:latin typeface="Times New Roman"/>
                <a:ea typeface="Times New Roman"/>
                <a:cs typeface="Times New Roman"/>
                <a:sym typeface="Times New Roman"/>
              </a:rPr>
              <a:t>The control unit controls all activities taking place  inside a computer.</a:t>
            </a:r>
            <a:endParaRPr sz="2400" dirty="0">
              <a:solidFill>
                <a:schemeClr val="dk1"/>
              </a:solidFill>
              <a:latin typeface="Times New Roman"/>
              <a:ea typeface="Times New Roman"/>
              <a:cs typeface="Times New Roman"/>
              <a:sym typeface="Times New Roman"/>
            </a:endParaRPr>
          </a:p>
        </p:txBody>
      </p:sp>
      <p:sp>
        <p:nvSpPr>
          <p:cNvPr id="2" name="Date Placeholder 1"/>
          <p:cNvSpPr>
            <a:spLocks noGrp="1"/>
          </p:cNvSpPr>
          <p:nvPr>
            <p:ph type="dt" sz="half" idx="10"/>
          </p:nvPr>
        </p:nvSpPr>
        <p:spPr/>
        <p:txBody>
          <a:bodyPr/>
          <a:lstStyle/>
          <a:p>
            <a:fld id="{4C301256-87A7-40D9-8517-668C4FF99CAE}"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pic>
        <p:nvPicPr>
          <p:cNvPr id="4" name="Picture 3">
            <a:extLst>
              <a:ext uri="{FF2B5EF4-FFF2-40B4-BE49-F238E27FC236}">
                <a16:creationId xmlns:a16="http://schemas.microsoft.com/office/drawing/2014/main" xmlns="" id="{07F02126-ED5E-CA15-1FB6-50ED178284CA}"/>
              </a:ext>
            </a:extLst>
          </p:cNvPr>
          <p:cNvPicPr>
            <a:picLocks noChangeAspect="1"/>
          </p:cNvPicPr>
          <p:nvPr/>
        </p:nvPicPr>
        <p:blipFill>
          <a:blip r:embed="rId3"/>
          <a:stretch>
            <a:fillRect/>
          </a:stretch>
        </p:blipFill>
        <p:spPr>
          <a:xfrm>
            <a:off x="6816080" y="1844824"/>
            <a:ext cx="5020059" cy="3423642"/>
          </a:xfrm>
          <a:prstGeom prst="rect">
            <a:avLst/>
          </a:prstGeom>
        </p:spPr>
      </p:pic>
      <p:grpSp>
        <p:nvGrpSpPr>
          <p:cNvPr id="7" name="Group 6">
            <a:extLst>
              <a:ext uri="{FF2B5EF4-FFF2-40B4-BE49-F238E27FC236}">
                <a16:creationId xmlns:a16="http://schemas.microsoft.com/office/drawing/2014/main" xmlns="" id="{2676A531-C9E8-3945-C795-24210C1467AA}"/>
              </a:ext>
            </a:extLst>
          </p:cNvPr>
          <p:cNvGrpSpPr/>
          <p:nvPr/>
        </p:nvGrpSpPr>
        <p:grpSpPr>
          <a:xfrm>
            <a:off x="10149960" y="3077680"/>
            <a:ext cx="1605240" cy="153360"/>
            <a:chOff x="10149960" y="3077680"/>
            <a:chExt cx="1605240" cy="15336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xmlns="" id="{855593B0-4C71-EB0B-1A60-2DBE738F07E7}"/>
                    </a:ext>
                  </a:extLst>
                </p14:cNvPr>
                <p14:cNvContentPartPr/>
                <p14:nvPr/>
              </p14:nvContentPartPr>
              <p14:xfrm>
                <a:off x="10149960" y="3077680"/>
                <a:ext cx="1382400" cy="52560"/>
              </p14:xfrm>
            </p:contentPart>
          </mc:Choice>
          <mc:Fallback xmlns="">
            <p:pic>
              <p:nvPicPr>
                <p:cNvPr id="5" name="Ink 4">
                  <a:extLst>
                    <a:ext uri="{FF2B5EF4-FFF2-40B4-BE49-F238E27FC236}">
                      <a16:creationId xmlns:a16="http://schemas.microsoft.com/office/drawing/2014/main" id="{855593B0-4C71-EB0B-1A60-2DBE738F07E7}"/>
                    </a:ext>
                  </a:extLst>
                </p:cNvPr>
                <p:cNvPicPr/>
                <p:nvPr/>
              </p:nvPicPr>
              <p:blipFill>
                <a:blip r:embed="rId5"/>
                <a:stretch>
                  <a:fillRect/>
                </a:stretch>
              </p:blipFill>
              <p:spPr>
                <a:xfrm>
                  <a:off x="10086960" y="3014680"/>
                  <a:ext cx="15080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xmlns="" id="{551CB17F-FAAD-B4CA-EFAF-7D876E3AC436}"/>
                    </a:ext>
                  </a:extLst>
                </p14:cNvPr>
                <p14:cNvContentPartPr/>
                <p14:nvPr/>
              </p14:nvContentPartPr>
              <p14:xfrm>
                <a:off x="11754840" y="3230680"/>
                <a:ext cx="360" cy="360"/>
              </p14:xfrm>
            </p:contentPart>
          </mc:Choice>
          <mc:Fallback xmlns="">
            <p:pic>
              <p:nvPicPr>
                <p:cNvPr id="6" name="Ink 5">
                  <a:extLst>
                    <a:ext uri="{FF2B5EF4-FFF2-40B4-BE49-F238E27FC236}">
                      <a16:creationId xmlns:a16="http://schemas.microsoft.com/office/drawing/2014/main" id="{551CB17F-FAAD-B4CA-EFAF-7D876E3AC436}"/>
                    </a:ext>
                  </a:extLst>
                </p:cNvPr>
                <p:cNvPicPr/>
                <p:nvPr/>
              </p:nvPicPr>
              <p:blipFill>
                <a:blip r:embed="rId7"/>
                <a:stretch>
                  <a:fillRect/>
                </a:stretch>
              </p:blipFill>
              <p:spPr>
                <a:xfrm>
                  <a:off x="11691840" y="3167680"/>
                  <a:ext cx="126000" cy="126000"/>
                </a:xfrm>
                <a:prstGeom prst="rect">
                  <a:avLst/>
                </a:prstGeom>
              </p:spPr>
            </p:pic>
          </mc:Fallback>
        </mc:AlternateContent>
      </p:grpSp>
    </p:spTree>
    <p:extLst>
      <p:ext uri="{BB962C8B-B14F-4D97-AF65-F5344CB8AC3E}">
        <p14:creationId xmlns:p14="http://schemas.microsoft.com/office/powerpoint/2010/main" val="3137260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8"/>
          <p:cNvPicPr preferRelativeResize="0"/>
          <p:nvPr/>
        </p:nvPicPr>
        <p:blipFill rotWithShape="1">
          <a:blip r:embed="rId3">
            <a:alphaModFix/>
          </a:blip>
          <a:srcRect/>
          <a:stretch/>
        </p:blipFill>
        <p:spPr>
          <a:xfrm>
            <a:off x="1819084" y="836712"/>
            <a:ext cx="8163116" cy="5257800"/>
          </a:xfrm>
          <a:prstGeom prst="rect">
            <a:avLst/>
          </a:prstGeom>
          <a:noFill/>
          <a:ln>
            <a:noFill/>
          </a:ln>
        </p:spPr>
      </p:pic>
      <p:sp>
        <p:nvSpPr>
          <p:cNvPr id="143" name="Google Shape;143;p8"/>
          <p:cNvSpPr txBox="1">
            <a:spLocks noGrp="1"/>
          </p:cNvSpPr>
          <p:nvPr>
            <p:ph type="sldNum" idx="12"/>
          </p:nvPr>
        </p:nvSpPr>
        <p:spPr>
          <a:xfrm>
            <a:off x="8610600" y="6431598"/>
            <a:ext cx="2743200" cy="214630"/>
          </a:xfrm>
          <a:prstGeom prst="rect">
            <a:avLst/>
          </a:prstGeom>
          <a:noFill/>
          <a:ln>
            <a:noFill/>
          </a:ln>
        </p:spPr>
        <p:txBody>
          <a:bodyPr spcFirstLastPara="1" wrap="square" lIns="0" tIns="55875" rIns="0" bIns="0" anchor="t" anchorCtr="0">
            <a:spAutoFit/>
          </a:bodyPr>
          <a:lstStyle/>
          <a:p>
            <a:pPr marL="193040" marR="0" lvl="0" indent="0" algn="l" rtl="0">
              <a:lnSpc>
                <a:spcPct val="68888"/>
              </a:lnSpc>
              <a:spcBef>
                <a:spcPts val="0"/>
              </a:spcBef>
              <a:spcAft>
                <a:spcPts val="0"/>
              </a:spcAft>
              <a:buNone/>
            </a:pPr>
            <a:fld id="{00000000-1234-1234-1234-123412341234}" type="slidenum">
              <a:rPr lang="en-US" sz="1800">
                <a:solidFill>
                  <a:schemeClr val="dk1"/>
                </a:solidFill>
                <a:latin typeface="Calibri"/>
                <a:ea typeface="Calibri"/>
                <a:cs typeface="Calibri"/>
                <a:sym typeface="Calibri"/>
              </a:rPr>
              <a:t>12</a:t>
            </a:fld>
            <a:endParaRPr sz="1800">
              <a:solidFill>
                <a:schemeClr val="dk1"/>
              </a:solidFill>
              <a:latin typeface="Calibri"/>
              <a:ea typeface="Calibri"/>
              <a:cs typeface="Calibri"/>
              <a:sym typeface="Calibri"/>
            </a:endParaRPr>
          </a:p>
        </p:txBody>
      </p:sp>
      <p:sp>
        <p:nvSpPr>
          <p:cNvPr id="2" name="Date Placeholder 1"/>
          <p:cNvSpPr>
            <a:spLocks noGrp="1"/>
          </p:cNvSpPr>
          <p:nvPr>
            <p:ph type="dt" sz="half" idx="10"/>
          </p:nvPr>
        </p:nvSpPr>
        <p:spPr/>
        <p:txBody>
          <a:bodyPr/>
          <a:lstStyle/>
          <a:p>
            <a:fld id="{798D01BF-46AE-43A4-9420-2781A6F05A4F}"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Tree>
    <p:extLst>
      <p:ext uri="{BB962C8B-B14F-4D97-AF65-F5344CB8AC3E}">
        <p14:creationId xmlns:p14="http://schemas.microsoft.com/office/powerpoint/2010/main" val="3426452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9"/>
          <p:cNvSpPr txBox="1">
            <a:spLocks noGrp="1"/>
          </p:cNvSpPr>
          <p:nvPr>
            <p:ph type="title"/>
          </p:nvPr>
        </p:nvSpPr>
        <p:spPr>
          <a:xfrm>
            <a:off x="1559496" y="332656"/>
            <a:ext cx="8280920" cy="689932"/>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Arithmetic and Logic Unit (ALU)</a:t>
            </a:r>
            <a:endParaRPr b="1" dirty="0">
              <a:latin typeface="Times New Roman" panose="02020603050405020304" pitchFamily="18" charset="0"/>
              <a:cs typeface="Times New Roman" panose="02020603050405020304" pitchFamily="18" charset="0"/>
            </a:endParaRPr>
          </a:p>
        </p:txBody>
      </p:sp>
      <p:sp>
        <p:nvSpPr>
          <p:cNvPr id="149" name="Google Shape;149;p9"/>
          <p:cNvSpPr txBox="1"/>
          <p:nvPr/>
        </p:nvSpPr>
        <p:spPr>
          <a:xfrm>
            <a:off x="5981700" y="6442159"/>
            <a:ext cx="228600" cy="180340"/>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13</a:t>
            </a:fld>
            <a:endParaRPr sz="1200">
              <a:solidFill>
                <a:schemeClr val="dk1"/>
              </a:solidFill>
              <a:latin typeface="Times New Roman"/>
              <a:ea typeface="Times New Roman"/>
              <a:cs typeface="Times New Roman"/>
              <a:sym typeface="Times New Roman"/>
            </a:endParaRPr>
          </a:p>
        </p:txBody>
      </p:sp>
      <p:sp>
        <p:nvSpPr>
          <p:cNvPr id="150" name="Google Shape;150;p9"/>
          <p:cNvSpPr txBox="1"/>
          <p:nvPr/>
        </p:nvSpPr>
        <p:spPr>
          <a:xfrm>
            <a:off x="2003108" y="1108397"/>
            <a:ext cx="8185784" cy="2544445"/>
          </a:xfrm>
          <a:prstGeom prst="rect">
            <a:avLst/>
          </a:prstGeom>
          <a:noFill/>
          <a:ln>
            <a:noFill/>
          </a:ln>
        </p:spPr>
        <p:txBody>
          <a:bodyPr spcFirstLastPara="1" wrap="square" lIns="0" tIns="64125" rIns="0" bIns="0" anchor="t" anchorCtr="0">
            <a:spAutoFit/>
          </a:bodyPr>
          <a:lstStyle/>
          <a:p>
            <a:pPr marL="355600" marR="821055" lvl="0" indent="-342900" algn="l" rtl="0">
              <a:lnSpc>
                <a:spcPct val="108000"/>
              </a:lnSpc>
              <a:spcBef>
                <a:spcPts val="0"/>
              </a:spcBef>
              <a:spcAft>
                <a:spcPts val="0"/>
              </a:spcAft>
              <a:buClr>
                <a:schemeClr val="dk1"/>
              </a:buClr>
              <a:buSzPts val="3000"/>
              <a:buFont typeface="Arial"/>
              <a:buChar char="•"/>
            </a:pPr>
            <a:r>
              <a:rPr lang="en-US" sz="3000" dirty="0">
                <a:solidFill>
                  <a:schemeClr val="dk1"/>
                </a:solidFill>
                <a:latin typeface="Times New Roman"/>
                <a:ea typeface="Times New Roman"/>
                <a:cs typeface="Times New Roman"/>
                <a:sym typeface="Times New Roman"/>
              </a:rPr>
              <a:t>Operations are executed in the Arithmetic and  Logic Unit (ALU).</a:t>
            </a:r>
            <a:endParaRPr sz="3000" dirty="0">
              <a:solidFill>
                <a:schemeClr val="dk1"/>
              </a:solidFill>
              <a:latin typeface="Times New Roman"/>
              <a:ea typeface="Times New Roman"/>
              <a:cs typeface="Times New Roman"/>
              <a:sym typeface="Times New Roman"/>
            </a:endParaRPr>
          </a:p>
          <a:p>
            <a:pPr marL="755650" marR="0" lvl="1" indent="-285750" algn="l" rtl="0">
              <a:lnSpc>
                <a:spcPct val="100000"/>
              </a:lnSpc>
              <a:spcBef>
                <a:spcPts val="210"/>
              </a:spcBef>
              <a:spcAft>
                <a:spcPts val="0"/>
              </a:spcAft>
              <a:buClr>
                <a:schemeClr val="dk1"/>
              </a:buClr>
              <a:buSzPts val="1700"/>
              <a:buFont typeface="Arial"/>
              <a:buChar char="–"/>
            </a:pPr>
            <a:r>
              <a:rPr lang="en-US" sz="1700" b="0" i="0" u="none" strike="noStrike" cap="none" dirty="0">
                <a:solidFill>
                  <a:schemeClr val="dk1"/>
                </a:solidFill>
                <a:latin typeface="Times New Roman"/>
                <a:ea typeface="Times New Roman"/>
                <a:cs typeface="Times New Roman"/>
                <a:sym typeface="Times New Roman"/>
              </a:rPr>
              <a:t>Arithmetic operations such as addition, subtraction.</a:t>
            </a:r>
            <a:endParaRPr sz="1700" b="0" i="0" u="none" strike="noStrike" cap="none" dirty="0">
              <a:solidFill>
                <a:schemeClr val="dk1"/>
              </a:solidFill>
              <a:latin typeface="Times New Roman"/>
              <a:ea typeface="Times New Roman"/>
              <a:cs typeface="Times New Roman"/>
              <a:sym typeface="Times New Roman"/>
            </a:endParaRPr>
          </a:p>
          <a:p>
            <a:pPr marL="755650" marR="0" lvl="1" indent="-285750" algn="l" rtl="0">
              <a:lnSpc>
                <a:spcPct val="100000"/>
              </a:lnSpc>
              <a:spcBef>
                <a:spcPts val="270"/>
              </a:spcBef>
              <a:spcAft>
                <a:spcPts val="0"/>
              </a:spcAft>
              <a:buClr>
                <a:schemeClr val="dk1"/>
              </a:buClr>
              <a:buSzPts val="1700"/>
              <a:buFont typeface="Arial"/>
              <a:buChar char="–"/>
            </a:pPr>
            <a:r>
              <a:rPr lang="en-US" sz="1700" b="0" i="0" u="none" strike="noStrike" cap="none" dirty="0">
                <a:solidFill>
                  <a:schemeClr val="dk1"/>
                </a:solidFill>
                <a:latin typeface="Times New Roman"/>
                <a:ea typeface="Times New Roman"/>
                <a:cs typeface="Times New Roman"/>
                <a:sym typeface="Times New Roman"/>
              </a:rPr>
              <a:t>Logic operations such as comparison of numbers</a:t>
            </a:r>
            <a:r>
              <a:rPr lang="en-US" sz="2600" b="0" i="0" u="none" strike="noStrike" cap="none" dirty="0">
                <a:solidFill>
                  <a:schemeClr val="dk1"/>
                </a:solidFill>
                <a:latin typeface="Times New Roman"/>
                <a:ea typeface="Times New Roman"/>
                <a:cs typeface="Times New Roman"/>
                <a:sym typeface="Times New Roman"/>
              </a:rPr>
              <a:t>.</a:t>
            </a:r>
            <a:endParaRPr sz="2600" b="0" i="0" u="none" strike="noStrike" cap="none" dirty="0">
              <a:solidFill>
                <a:schemeClr val="dk1"/>
              </a:solidFill>
              <a:latin typeface="Times New Roman"/>
              <a:ea typeface="Times New Roman"/>
              <a:cs typeface="Times New Roman"/>
              <a:sym typeface="Times New Roman"/>
            </a:endParaRPr>
          </a:p>
          <a:p>
            <a:pPr marL="355600" marR="5080" lvl="0" indent="-342900" algn="l" rtl="0">
              <a:lnSpc>
                <a:spcPct val="108000"/>
              </a:lnSpc>
              <a:spcBef>
                <a:spcPts val="745"/>
              </a:spcBef>
              <a:spcAft>
                <a:spcPts val="0"/>
              </a:spcAft>
              <a:buClr>
                <a:schemeClr val="dk1"/>
              </a:buClr>
              <a:buSzPts val="3000"/>
              <a:buFont typeface="Arial"/>
              <a:buChar char="•"/>
            </a:pPr>
            <a:r>
              <a:rPr lang="en-US" sz="3000" dirty="0">
                <a:solidFill>
                  <a:schemeClr val="dk1"/>
                </a:solidFill>
                <a:latin typeface="Times New Roman"/>
                <a:ea typeface="Times New Roman"/>
                <a:cs typeface="Times New Roman"/>
                <a:sym typeface="Times New Roman"/>
              </a:rPr>
              <a:t>In order to execute an instruction, operands need to  be brought into the ALU from the memory.</a:t>
            </a:r>
            <a:endParaRPr sz="3000" dirty="0">
              <a:solidFill>
                <a:schemeClr val="dk1"/>
              </a:solidFill>
              <a:latin typeface="Times New Roman"/>
              <a:ea typeface="Times New Roman"/>
              <a:cs typeface="Times New Roman"/>
              <a:sym typeface="Times New Roman"/>
            </a:endParaRPr>
          </a:p>
        </p:txBody>
      </p:sp>
      <p:sp>
        <p:nvSpPr>
          <p:cNvPr id="151" name="Google Shape;151;p9"/>
          <p:cNvSpPr txBox="1"/>
          <p:nvPr/>
        </p:nvSpPr>
        <p:spPr>
          <a:xfrm>
            <a:off x="2383472" y="3958716"/>
            <a:ext cx="6381750" cy="834390"/>
          </a:xfrm>
          <a:prstGeom prst="rect">
            <a:avLst/>
          </a:prstGeom>
          <a:noFill/>
          <a:ln>
            <a:noFill/>
          </a:ln>
        </p:spPr>
        <p:txBody>
          <a:bodyPr spcFirstLastPara="1" wrap="square" lIns="0" tIns="161275" rIns="0" bIns="0" anchor="t" anchorCtr="0">
            <a:spAutoFit/>
          </a:bodyPr>
          <a:lstStyle/>
          <a:p>
            <a:pPr marL="298450" marR="0" lvl="0" indent="-285750" algn="l" rtl="0">
              <a:lnSpc>
                <a:spcPct val="100000"/>
              </a:lnSpc>
              <a:spcBef>
                <a:spcPts val="0"/>
              </a:spcBef>
              <a:spcAft>
                <a:spcPts val="0"/>
              </a:spcAft>
              <a:buClr>
                <a:schemeClr val="dk1"/>
              </a:buClr>
              <a:buSzPts val="1700"/>
              <a:buFont typeface="Arial"/>
              <a:buChar char="–"/>
            </a:pPr>
            <a:r>
              <a:rPr lang="en-US" sz="1700">
                <a:solidFill>
                  <a:schemeClr val="dk1"/>
                </a:solidFill>
                <a:latin typeface="Times New Roman"/>
                <a:ea typeface="Times New Roman"/>
                <a:cs typeface="Times New Roman"/>
                <a:sym typeface="Times New Roman"/>
              </a:rPr>
              <a:t>Operands are stored in general purpose registers available in the ALU.</a:t>
            </a:r>
            <a:endParaRPr sz="1700">
              <a:solidFill>
                <a:schemeClr val="dk1"/>
              </a:solidFill>
              <a:latin typeface="Times New Roman"/>
              <a:ea typeface="Times New Roman"/>
              <a:cs typeface="Times New Roman"/>
              <a:sym typeface="Times New Roman"/>
            </a:endParaRPr>
          </a:p>
          <a:p>
            <a:pPr marL="298450" marR="0" lvl="0" indent="-285750" algn="l" rtl="0">
              <a:lnSpc>
                <a:spcPct val="100000"/>
              </a:lnSpc>
              <a:spcBef>
                <a:spcPts val="1170"/>
              </a:spcBef>
              <a:spcAft>
                <a:spcPts val="0"/>
              </a:spcAft>
              <a:buClr>
                <a:schemeClr val="dk1"/>
              </a:buClr>
              <a:buSzPts val="1700"/>
              <a:buFont typeface="Arial"/>
              <a:buChar char="–"/>
            </a:pPr>
            <a:r>
              <a:rPr lang="en-US" sz="1700">
                <a:solidFill>
                  <a:schemeClr val="dk1"/>
                </a:solidFill>
                <a:latin typeface="Times New Roman"/>
                <a:ea typeface="Times New Roman"/>
                <a:cs typeface="Times New Roman"/>
                <a:sym typeface="Times New Roman"/>
              </a:rPr>
              <a:t>Access times of general purpose registers are faster than the cache.</a:t>
            </a:r>
            <a:endParaRPr sz="1700">
              <a:solidFill>
                <a:schemeClr val="dk1"/>
              </a:solidFill>
              <a:latin typeface="Times New Roman"/>
              <a:ea typeface="Times New Roman"/>
              <a:cs typeface="Times New Roman"/>
              <a:sym typeface="Times New Roman"/>
            </a:endParaRPr>
          </a:p>
        </p:txBody>
      </p:sp>
      <p:sp>
        <p:nvSpPr>
          <p:cNvPr id="152" name="Google Shape;152;p9"/>
          <p:cNvSpPr txBox="1"/>
          <p:nvPr/>
        </p:nvSpPr>
        <p:spPr>
          <a:xfrm>
            <a:off x="1926272" y="4839970"/>
            <a:ext cx="8124190" cy="1310640"/>
          </a:xfrm>
          <a:prstGeom prst="rect">
            <a:avLst/>
          </a:prstGeom>
          <a:noFill/>
          <a:ln>
            <a:noFill/>
          </a:ln>
        </p:spPr>
        <p:txBody>
          <a:bodyPr spcFirstLastPara="1" wrap="square" lIns="0" tIns="64125" rIns="0" bIns="0" anchor="t" anchorCtr="0">
            <a:spAutoFit/>
          </a:bodyPr>
          <a:lstStyle/>
          <a:p>
            <a:pPr marL="355600" marR="5080" lvl="0" indent="-342900" algn="l" rtl="0">
              <a:lnSpc>
                <a:spcPct val="108000"/>
              </a:lnSpc>
              <a:spcBef>
                <a:spcPts val="0"/>
              </a:spcBef>
              <a:spcAft>
                <a:spcPts val="0"/>
              </a:spcAft>
              <a:buClr>
                <a:schemeClr val="dk1"/>
              </a:buClr>
              <a:buSzPts val="3000"/>
              <a:buFont typeface="Arial"/>
              <a:buChar char="•"/>
            </a:pPr>
            <a:r>
              <a:rPr lang="en-US" sz="3000">
                <a:solidFill>
                  <a:schemeClr val="dk1"/>
                </a:solidFill>
                <a:latin typeface="Times New Roman"/>
                <a:ea typeface="Times New Roman"/>
                <a:cs typeface="Times New Roman"/>
                <a:sym typeface="Times New Roman"/>
              </a:rPr>
              <a:t>Results of the operations are stored back in the  memory or retained in the processor for immediate  use.</a:t>
            </a:r>
            <a:endParaRPr sz="3000">
              <a:solidFill>
                <a:schemeClr val="dk1"/>
              </a:solidFill>
              <a:latin typeface="Times New Roman"/>
              <a:ea typeface="Times New Roman"/>
              <a:cs typeface="Times New Roman"/>
              <a:sym typeface="Times New Roman"/>
            </a:endParaRPr>
          </a:p>
        </p:txBody>
      </p:sp>
      <p:sp>
        <p:nvSpPr>
          <p:cNvPr id="2" name="Date Placeholder 1"/>
          <p:cNvSpPr>
            <a:spLocks noGrp="1"/>
          </p:cNvSpPr>
          <p:nvPr>
            <p:ph type="dt" sz="half" idx="10"/>
          </p:nvPr>
        </p:nvSpPr>
        <p:spPr/>
        <p:txBody>
          <a:bodyPr/>
          <a:lstStyle/>
          <a:p>
            <a:fld id="{3EDBA3B9-5078-47ED-BB2F-B753C26A7D63}"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
        <p:nvSpPr>
          <p:cNvPr id="4" name="Slide Number Placeholder 3"/>
          <p:cNvSpPr>
            <a:spLocks noGrp="1"/>
          </p:cNvSpPr>
          <p:nvPr>
            <p:ph type="sldNum" sz="quarter" idx="12"/>
          </p:nvPr>
        </p:nvSpPr>
        <p:spPr/>
        <p:txBody>
          <a:bodyPr/>
          <a:lstStyle/>
          <a:p>
            <a:fld id="{AE669347-E3B4-439D-9D1F-3479A370CD23}" type="slidenum">
              <a:rPr lang="en-IN" smtClean="0"/>
              <a:pPr/>
              <a:t>13</a:t>
            </a:fld>
            <a:endParaRPr lang="en-IN"/>
          </a:p>
        </p:txBody>
      </p:sp>
    </p:spTree>
    <p:extLst>
      <p:ext uri="{BB962C8B-B14F-4D97-AF65-F5344CB8AC3E}">
        <p14:creationId xmlns:p14="http://schemas.microsoft.com/office/powerpoint/2010/main" val="1415651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0"/>
          <p:cNvSpPr txBox="1">
            <a:spLocks noGrp="1"/>
          </p:cNvSpPr>
          <p:nvPr>
            <p:ph type="title"/>
          </p:nvPr>
        </p:nvSpPr>
        <p:spPr>
          <a:xfrm>
            <a:off x="3562572" y="612616"/>
            <a:ext cx="3663710" cy="689932"/>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Output unit</a:t>
            </a:r>
            <a:endParaRPr b="1" dirty="0">
              <a:latin typeface="Times New Roman" panose="02020603050405020304" pitchFamily="18" charset="0"/>
              <a:cs typeface="Times New Roman" panose="02020603050405020304" pitchFamily="18" charset="0"/>
            </a:endParaRPr>
          </a:p>
        </p:txBody>
      </p:sp>
      <p:sp>
        <p:nvSpPr>
          <p:cNvPr id="158" name="Google Shape;158;p10"/>
          <p:cNvSpPr txBox="1"/>
          <p:nvPr/>
        </p:nvSpPr>
        <p:spPr>
          <a:xfrm>
            <a:off x="2868345" y="1549184"/>
            <a:ext cx="7194550" cy="1397635"/>
          </a:xfrm>
          <a:prstGeom prst="rect">
            <a:avLst/>
          </a:prstGeom>
          <a:noFill/>
          <a:ln>
            <a:noFill/>
          </a:ln>
        </p:spPr>
        <p:txBody>
          <a:bodyPr spcFirstLastPara="1" wrap="square" lIns="0" tIns="12700" rIns="0" bIns="0" anchor="t" anchorCtr="0">
            <a:spAutoFit/>
          </a:bodyPr>
          <a:lstStyle/>
          <a:p>
            <a:pPr marL="93345" marR="0" lvl="0" indent="-107442" algn="l" rtl="0">
              <a:lnSpc>
                <a:spcPct val="100000"/>
              </a:lnSpc>
              <a:spcBef>
                <a:spcPts val="0"/>
              </a:spcBef>
              <a:spcAft>
                <a:spcPts val="0"/>
              </a:spcAft>
              <a:buClr>
                <a:schemeClr val="dk1"/>
              </a:buClr>
              <a:buSzPts val="1692"/>
              <a:buFont typeface="Times New Roman"/>
              <a:buChar char="•"/>
            </a:pPr>
            <a:r>
              <a:rPr lang="en-US" sz="1800" dirty="0">
                <a:solidFill>
                  <a:schemeClr val="dk1"/>
                </a:solidFill>
                <a:latin typeface="Times New Roman"/>
                <a:ea typeface="Times New Roman"/>
                <a:cs typeface="Times New Roman"/>
                <a:sym typeface="Times New Roman"/>
              </a:rPr>
              <a:t>Computers represent information in a specific binary form. Output units:</a:t>
            </a:r>
            <a:endParaRPr sz="1800" dirty="0">
              <a:solidFill>
                <a:schemeClr val="dk1"/>
              </a:solidFill>
              <a:latin typeface="Times New Roman"/>
              <a:ea typeface="Times New Roman"/>
              <a:cs typeface="Times New Roman"/>
              <a:sym typeface="Times New Roman"/>
            </a:endParaRPr>
          </a:p>
          <a:p>
            <a:pPr marL="317500" marR="0" lvl="1" indent="-133350" algn="l" rtl="0">
              <a:lnSpc>
                <a:spcPct val="100000"/>
              </a:lnSpc>
              <a:spcBef>
                <a:spcPts val="0"/>
              </a:spcBef>
              <a:spcAft>
                <a:spcPts val="0"/>
              </a:spcAft>
              <a:buClr>
                <a:schemeClr val="dk1"/>
              </a:buClr>
              <a:buSzPts val="18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Interface with output devices.</a:t>
            </a:r>
            <a:endParaRPr sz="1800" b="0" i="0" u="none" strike="noStrike" cap="none" dirty="0">
              <a:solidFill>
                <a:schemeClr val="dk1"/>
              </a:solidFill>
              <a:latin typeface="Times New Roman"/>
              <a:ea typeface="Times New Roman"/>
              <a:cs typeface="Times New Roman"/>
              <a:sym typeface="Times New Roman"/>
            </a:endParaRPr>
          </a:p>
          <a:p>
            <a:pPr marL="304800" marR="0" lvl="1" indent="-120650" algn="l" rtl="0">
              <a:lnSpc>
                <a:spcPct val="100000"/>
              </a:lnSpc>
              <a:spcBef>
                <a:spcPts val="0"/>
              </a:spcBef>
              <a:spcAft>
                <a:spcPts val="0"/>
              </a:spcAft>
              <a:buClr>
                <a:schemeClr val="dk1"/>
              </a:buClr>
              <a:buSzPts val="18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Accept processed results provided by the computer in specific binary form.</a:t>
            </a:r>
            <a:endParaRPr sz="1800" b="0" i="0" u="none" strike="noStrike" cap="none" dirty="0">
              <a:solidFill>
                <a:schemeClr val="dk1"/>
              </a:solidFill>
              <a:latin typeface="Times New Roman"/>
              <a:ea typeface="Times New Roman"/>
              <a:cs typeface="Times New Roman"/>
              <a:sym typeface="Times New Roman"/>
            </a:endParaRPr>
          </a:p>
          <a:p>
            <a:pPr marL="355600" marR="755015" lvl="1" indent="-171450" algn="l" rtl="0">
              <a:lnSpc>
                <a:spcPct val="100000"/>
              </a:lnSpc>
              <a:spcBef>
                <a:spcPts val="0"/>
              </a:spcBef>
              <a:spcAft>
                <a:spcPts val="0"/>
              </a:spcAft>
              <a:buClr>
                <a:schemeClr val="dk1"/>
              </a:buClr>
              <a:buSzPts val="1800"/>
              <a:buFont typeface="Times New Roman"/>
              <a:buChar char="-"/>
            </a:pPr>
            <a:r>
              <a:rPr lang="en-US" sz="1800" b="0" i="0" u="none" strike="noStrike" cap="none" dirty="0">
                <a:solidFill>
                  <a:schemeClr val="dk1"/>
                </a:solidFill>
                <a:latin typeface="Times New Roman"/>
                <a:ea typeface="Times New Roman"/>
                <a:cs typeface="Times New Roman"/>
                <a:sym typeface="Times New Roman"/>
              </a:rPr>
              <a:t>Convert the information in binary form to a form understood by an  output device.</a:t>
            </a:r>
            <a:endParaRPr sz="1800" b="0" i="0" u="none" strike="noStrike" cap="none" dirty="0">
              <a:solidFill>
                <a:schemeClr val="dk1"/>
              </a:solidFill>
              <a:latin typeface="Times New Roman"/>
              <a:ea typeface="Times New Roman"/>
              <a:cs typeface="Times New Roman"/>
              <a:sym typeface="Times New Roman"/>
            </a:endParaRPr>
          </a:p>
        </p:txBody>
      </p:sp>
      <p:pic>
        <p:nvPicPr>
          <p:cNvPr id="159" name="Google Shape;159;p10"/>
          <p:cNvPicPr preferRelativeResize="0"/>
          <p:nvPr/>
        </p:nvPicPr>
        <p:blipFill rotWithShape="1">
          <a:blip r:embed="rId3">
            <a:alphaModFix/>
          </a:blip>
          <a:srcRect/>
          <a:stretch/>
        </p:blipFill>
        <p:spPr>
          <a:xfrm>
            <a:off x="2567939" y="3357371"/>
            <a:ext cx="7848600" cy="2752343"/>
          </a:xfrm>
          <a:prstGeom prst="rect">
            <a:avLst/>
          </a:prstGeom>
          <a:noFill/>
          <a:ln>
            <a:noFill/>
          </a:ln>
        </p:spPr>
      </p:pic>
      <p:sp>
        <p:nvSpPr>
          <p:cNvPr id="160" name="Google Shape;160;p10"/>
          <p:cNvSpPr txBox="1"/>
          <p:nvPr/>
        </p:nvSpPr>
        <p:spPr>
          <a:xfrm>
            <a:off x="5981700" y="6442159"/>
            <a:ext cx="228600" cy="180340"/>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14</a:t>
            </a:fld>
            <a:endParaRPr sz="1200">
              <a:solidFill>
                <a:schemeClr val="dk1"/>
              </a:solidFill>
              <a:latin typeface="Times New Roman"/>
              <a:ea typeface="Times New Roman"/>
              <a:cs typeface="Times New Roman"/>
              <a:sym typeface="Times New Roman"/>
            </a:endParaRPr>
          </a:p>
        </p:txBody>
      </p:sp>
      <p:sp>
        <p:nvSpPr>
          <p:cNvPr id="2" name="Date Placeholder 1"/>
          <p:cNvSpPr>
            <a:spLocks noGrp="1"/>
          </p:cNvSpPr>
          <p:nvPr>
            <p:ph type="dt" sz="half" idx="10"/>
          </p:nvPr>
        </p:nvSpPr>
        <p:spPr/>
        <p:txBody>
          <a:bodyPr/>
          <a:lstStyle/>
          <a:p>
            <a:fld id="{C6F0B3E5-4166-4986-908F-6BE4D8EC689D}"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
        <p:nvSpPr>
          <p:cNvPr id="4" name="Slide Number Placeholder 3"/>
          <p:cNvSpPr>
            <a:spLocks noGrp="1"/>
          </p:cNvSpPr>
          <p:nvPr>
            <p:ph type="sldNum" sz="quarter" idx="12"/>
          </p:nvPr>
        </p:nvSpPr>
        <p:spPr/>
        <p:txBody>
          <a:bodyPr/>
          <a:lstStyle/>
          <a:p>
            <a:fld id="{AE669347-E3B4-439D-9D1F-3479A370CD23}" type="slidenum">
              <a:rPr lang="en-IN" smtClean="0"/>
              <a:pPr/>
              <a:t>14</a:t>
            </a:fld>
            <a:endParaRPr lang="en-IN"/>
          </a:p>
        </p:txBody>
      </p:sp>
    </p:spTree>
    <p:extLst>
      <p:ext uri="{BB962C8B-B14F-4D97-AF65-F5344CB8AC3E}">
        <p14:creationId xmlns:p14="http://schemas.microsoft.com/office/powerpoint/2010/main" val="4171200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txBox="1">
            <a:spLocks noGrp="1"/>
          </p:cNvSpPr>
          <p:nvPr>
            <p:ph type="title"/>
          </p:nvPr>
        </p:nvSpPr>
        <p:spPr>
          <a:xfrm>
            <a:off x="3935760" y="541799"/>
            <a:ext cx="3356833" cy="689932"/>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Control unit</a:t>
            </a:r>
            <a:endParaRPr b="1" dirty="0">
              <a:latin typeface="Times New Roman" panose="02020603050405020304" pitchFamily="18" charset="0"/>
              <a:cs typeface="Times New Roman" panose="02020603050405020304" pitchFamily="18" charset="0"/>
            </a:endParaRPr>
          </a:p>
        </p:txBody>
      </p:sp>
      <p:sp>
        <p:nvSpPr>
          <p:cNvPr id="166" name="Google Shape;166;p11"/>
          <p:cNvSpPr txBox="1"/>
          <p:nvPr/>
        </p:nvSpPr>
        <p:spPr>
          <a:xfrm>
            <a:off x="5981700" y="6442159"/>
            <a:ext cx="228600" cy="180340"/>
          </a:xfrm>
          <a:prstGeom prst="rect">
            <a:avLst/>
          </a:prstGeom>
          <a:noFill/>
          <a:ln>
            <a:noFill/>
          </a:ln>
        </p:spPr>
        <p:txBody>
          <a:bodyPr spcFirstLastPara="1" wrap="square" lIns="0" tIns="0" rIns="0" bIns="0" anchor="t" anchorCtr="0">
            <a:spAutoFit/>
          </a:bodyPr>
          <a:lstStyle/>
          <a:p>
            <a:pPr marL="38100" marR="0" lvl="0" indent="0" algn="l" rtl="0">
              <a:lnSpc>
                <a:spcPct val="117499"/>
              </a:lnSpc>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15</a:t>
            </a:fld>
            <a:endParaRPr sz="1200">
              <a:solidFill>
                <a:schemeClr val="dk1"/>
              </a:solidFill>
              <a:latin typeface="Times New Roman"/>
              <a:ea typeface="Times New Roman"/>
              <a:cs typeface="Times New Roman"/>
              <a:sym typeface="Times New Roman"/>
            </a:endParaRPr>
          </a:p>
        </p:txBody>
      </p:sp>
      <p:sp>
        <p:nvSpPr>
          <p:cNvPr id="167" name="Google Shape;167;p11"/>
          <p:cNvSpPr txBox="1"/>
          <p:nvPr/>
        </p:nvSpPr>
        <p:spPr>
          <a:xfrm>
            <a:off x="1526860" y="1198405"/>
            <a:ext cx="9138280" cy="5033645"/>
          </a:xfrm>
          <a:prstGeom prst="rect">
            <a:avLst/>
          </a:prstGeom>
          <a:noFill/>
          <a:ln>
            <a:noFill/>
          </a:ln>
        </p:spPr>
        <p:txBody>
          <a:bodyPr spcFirstLastPara="1" wrap="square" lIns="0" tIns="85725" rIns="0" bIns="0" anchor="t" anchorCtr="0">
            <a:spAutoFit/>
          </a:bodyPr>
          <a:lstStyle/>
          <a:p>
            <a:pPr marL="355600" marR="0" lvl="0" indent="-342900" algn="l" rtl="0">
              <a:lnSpc>
                <a:spcPct val="100000"/>
              </a:lnSpc>
              <a:spcBef>
                <a:spcPts val="0"/>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Operation of a computer can be summarized as:</a:t>
            </a:r>
            <a:endParaRPr sz="2400" dirty="0">
              <a:solidFill>
                <a:schemeClr val="dk1"/>
              </a:solidFill>
              <a:latin typeface="Times New Roman"/>
              <a:ea typeface="Times New Roman"/>
              <a:cs typeface="Times New Roman"/>
              <a:sym typeface="Times New Roman"/>
            </a:endParaRPr>
          </a:p>
          <a:p>
            <a:pPr marL="755650" marR="0"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Accepts information from the input units (Input unit).</a:t>
            </a:r>
            <a:endParaRPr sz="2400" b="0" i="0" u="none" strike="noStrike" cap="none" dirty="0">
              <a:solidFill>
                <a:schemeClr val="dk1"/>
              </a:solidFill>
              <a:latin typeface="Times New Roman"/>
              <a:ea typeface="Times New Roman"/>
              <a:cs typeface="Times New Roman"/>
              <a:sym typeface="Times New Roman"/>
            </a:endParaRPr>
          </a:p>
          <a:p>
            <a:pPr marL="755650" marR="0"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Stores the information (Memory).</a:t>
            </a:r>
            <a:endParaRPr sz="2400" b="0" i="0" u="none" strike="noStrike" cap="none" dirty="0">
              <a:solidFill>
                <a:schemeClr val="dk1"/>
              </a:solidFill>
              <a:latin typeface="Times New Roman"/>
              <a:ea typeface="Times New Roman"/>
              <a:cs typeface="Times New Roman"/>
              <a:sym typeface="Times New Roman"/>
            </a:endParaRPr>
          </a:p>
          <a:p>
            <a:pPr marL="755650" marR="0"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Processes the information (ALU).</a:t>
            </a:r>
            <a:endParaRPr sz="2400" b="0" i="0" u="none" strike="noStrike" cap="none" dirty="0">
              <a:solidFill>
                <a:schemeClr val="dk1"/>
              </a:solidFill>
              <a:latin typeface="Times New Roman"/>
              <a:ea typeface="Times New Roman"/>
              <a:cs typeface="Times New Roman"/>
              <a:sym typeface="Times New Roman"/>
            </a:endParaRPr>
          </a:p>
          <a:p>
            <a:pPr marL="755650" marR="410210" lvl="1" indent="-285750" algn="l" rtl="0">
              <a:lnSpc>
                <a:spcPct val="100000"/>
              </a:lnSpc>
              <a:spcBef>
                <a:spcPts val="575"/>
              </a:spcBef>
              <a:spcAft>
                <a:spcPts val="0"/>
              </a:spcAft>
              <a:buClr>
                <a:schemeClr val="dk1"/>
              </a:buClr>
              <a:buSzPts val="2400"/>
              <a:buFont typeface="Arial"/>
              <a:buChar char="–"/>
            </a:pPr>
            <a:r>
              <a:rPr lang="en-US" sz="2400" b="0" i="0" u="none" strike="noStrike" cap="none" dirty="0">
                <a:solidFill>
                  <a:schemeClr val="dk1"/>
                </a:solidFill>
                <a:latin typeface="Times New Roman"/>
                <a:ea typeface="Times New Roman"/>
                <a:cs typeface="Times New Roman"/>
                <a:sym typeface="Times New Roman"/>
              </a:rPr>
              <a:t>Provides processed results through the output units (Output  unit).</a:t>
            </a:r>
            <a:endParaRPr sz="2400" b="0" i="0" u="none" strike="noStrike" cap="none" dirty="0">
              <a:solidFill>
                <a:schemeClr val="dk1"/>
              </a:solidFill>
              <a:latin typeface="Times New Roman"/>
              <a:ea typeface="Times New Roman"/>
              <a:cs typeface="Times New Roman"/>
              <a:sym typeface="Times New Roman"/>
            </a:endParaRPr>
          </a:p>
          <a:p>
            <a:pPr marL="355600" marR="730250" lvl="0" indent="-342900" algn="l" rtl="0">
              <a:lnSpc>
                <a:spcPct val="100000"/>
              </a:lnSpc>
              <a:spcBef>
                <a:spcPts val="575"/>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Operations of Input unit, Memory, ALU and Output unit are  coordinated by Control unit.</a:t>
            </a:r>
            <a:endParaRPr sz="2400" dirty="0">
              <a:solidFill>
                <a:schemeClr val="dk1"/>
              </a:solidFill>
              <a:latin typeface="Times New Roman"/>
              <a:ea typeface="Times New Roman"/>
              <a:cs typeface="Times New Roman"/>
              <a:sym typeface="Times New Roman"/>
            </a:endParaRPr>
          </a:p>
          <a:p>
            <a:pPr marL="355600" marR="5080" lvl="0" indent="-342900" algn="l" rtl="0">
              <a:lnSpc>
                <a:spcPct val="100000"/>
              </a:lnSpc>
              <a:spcBef>
                <a:spcPts val="575"/>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Instructions control “what” operations take place (e.g. data  transfer, processing).</a:t>
            </a:r>
            <a:endParaRPr sz="2400" dirty="0">
              <a:solidFill>
                <a:schemeClr val="dk1"/>
              </a:solidFill>
              <a:latin typeface="Times New Roman"/>
              <a:ea typeface="Times New Roman"/>
              <a:cs typeface="Times New Roman"/>
              <a:sym typeface="Times New Roman"/>
            </a:endParaRPr>
          </a:p>
          <a:p>
            <a:pPr marL="355600" marR="93980" lvl="0" indent="-342900" algn="l" rtl="0">
              <a:lnSpc>
                <a:spcPct val="100000"/>
              </a:lnSpc>
              <a:spcBef>
                <a:spcPts val="575"/>
              </a:spcBef>
              <a:spcAft>
                <a:spcPts val="0"/>
              </a:spcAft>
              <a:buClr>
                <a:schemeClr val="dk1"/>
              </a:buClr>
              <a:buSzPts val="2400"/>
              <a:buFont typeface="Arial"/>
              <a:buChar char="•"/>
            </a:pPr>
            <a:r>
              <a:rPr lang="en-US" sz="2400" dirty="0">
                <a:solidFill>
                  <a:schemeClr val="dk1"/>
                </a:solidFill>
                <a:latin typeface="Times New Roman"/>
                <a:ea typeface="Times New Roman"/>
                <a:cs typeface="Times New Roman"/>
                <a:sym typeface="Times New Roman"/>
              </a:rPr>
              <a:t>Control unit generates timing signals which determines “when” a  particular operation takes place.</a:t>
            </a:r>
            <a:endParaRPr sz="2400" dirty="0">
              <a:solidFill>
                <a:schemeClr val="dk1"/>
              </a:solidFill>
              <a:latin typeface="Times New Roman"/>
              <a:ea typeface="Times New Roman"/>
              <a:cs typeface="Times New Roman"/>
              <a:sym typeface="Times New Roman"/>
            </a:endParaRPr>
          </a:p>
        </p:txBody>
      </p:sp>
      <p:sp>
        <p:nvSpPr>
          <p:cNvPr id="2" name="Date Placeholder 1"/>
          <p:cNvSpPr>
            <a:spLocks noGrp="1"/>
          </p:cNvSpPr>
          <p:nvPr>
            <p:ph type="dt" sz="half" idx="10"/>
          </p:nvPr>
        </p:nvSpPr>
        <p:spPr/>
        <p:txBody>
          <a:bodyPr/>
          <a:lstStyle/>
          <a:p>
            <a:fld id="{81CFF83F-33E7-459C-9B5A-D0FC05717FB1}"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
        <p:nvSpPr>
          <p:cNvPr id="4" name="Slide Number Placeholder 3"/>
          <p:cNvSpPr>
            <a:spLocks noGrp="1"/>
          </p:cNvSpPr>
          <p:nvPr>
            <p:ph type="sldNum" sz="quarter" idx="12"/>
          </p:nvPr>
        </p:nvSpPr>
        <p:spPr/>
        <p:txBody>
          <a:bodyPr/>
          <a:lstStyle/>
          <a:p>
            <a:fld id="{AE669347-E3B4-439D-9D1F-3479A370CD23}" type="slidenum">
              <a:rPr lang="en-IN" smtClean="0"/>
              <a:pPr/>
              <a:t>15</a:t>
            </a:fld>
            <a:endParaRPr lang="en-IN"/>
          </a:p>
        </p:txBody>
      </p:sp>
    </p:spTree>
    <p:extLst>
      <p:ext uri="{BB962C8B-B14F-4D97-AF65-F5344CB8AC3E}">
        <p14:creationId xmlns:p14="http://schemas.microsoft.com/office/powerpoint/2010/main" val="26073930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2"/>
          <p:cNvSpPr txBox="1"/>
          <p:nvPr/>
        </p:nvSpPr>
        <p:spPr>
          <a:xfrm>
            <a:off x="1271464" y="2002180"/>
            <a:ext cx="10009112" cy="3890152"/>
          </a:xfrm>
          <a:prstGeom prst="rect">
            <a:avLst/>
          </a:prstGeom>
          <a:noFill/>
          <a:ln>
            <a:noFill/>
          </a:ln>
        </p:spPr>
        <p:txBody>
          <a:bodyPr spcFirstLastPara="1" wrap="square" lIns="0" tIns="12050" rIns="0" bIns="0" anchor="t" anchorCtr="0">
            <a:spAutoFit/>
          </a:bodyPr>
          <a:lstStyle/>
          <a:p>
            <a:pPr marL="189865" marR="0" lvl="0" indent="-177800" algn="just" rtl="0">
              <a:lnSpc>
                <a:spcPct val="150000"/>
              </a:lnSpc>
              <a:spcBef>
                <a:spcPts val="0"/>
              </a:spcBef>
              <a:spcAft>
                <a:spcPts val="0"/>
              </a:spcAft>
              <a:buClr>
                <a:schemeClr val="dk1"/>
              </a:buClr>
              <a:buSzPts val="2688"/>
              <a:buFont typeface="Calibri"/>
              <a:buChar char="•"/>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The “brain” of the machine</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189865" marR="0" lvl="0" indent="-177800" algn="just" rtl="0">
              <a:lnSpc>
                <a:spcPct val="150000"/>
              </a:lnSpc>
              <a:spcBef>
                <a:spcPts val="0"/>
              </a:spcBef>
              <a:spcAft>
                <a:spcPts val="0"/>
              </a:spcAft>
              <a:buClr>
                <a:schemeClr val="dk1"/>
              </a:buClr>
              <a:buSzPts val="2688"/>
              <a:buFont typeface="Calibri"/>
              <a:buChar char="•"/>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Responsible </a:t>
            </a: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for </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carrying out computational task</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189865" marR="0" lvl="0" indent="-177800" algn="just" rtl="0">
              <a:lnSpc>
                <a:spcPct val="150000"/>
              </a:lnSpc>
              <a:spcBef>
                <a:spcPts val="0"/>
              </a:spcBef>
              <a:spcAft>
                <a:spcPts val="0"/>
              </a:spcAft>
              <a:buClr>
                <a:schemeClr val="dk1"/>
              </a:buClr>
              <a:buSzPts val="2688"/>
              <a:buFont typeface="Calibri"/>
              <a:buChar char="•"/>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Contains ALU, CU, Registers</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189865" marR="0" lvl="0" indent="-177800" algn="just" rtl="0">
              <a:lnSpc>
                <a:spcPct val="150000"/>
              </a:lnSpc>
              <a:spcBef>
                <a:spcPts val="0"/>
              </a:spcBef>
              <a:spcAft>
                <a:spcPts val="0"/>
              </a:spcAft>
              <a:buClr>
                <a:schemeClr val="dk1"/>
              </a:buClr>
              <a:buSzPts val="2688"/>
              <a:buFont typeface="Calibri"/>
              <a:buChar char="•"/>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ALU Performs Arithmetic and logical operations</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12700" marR="5080" lvl="0" indent="-170688" algn="just" rtl="0">
              <a:lnSpc>
                <a:spcPct val="150000"/>
              </a:lnSpc>
              <a:spcBef>
                <a:spcPts val="0"/>
              </a:spcBef>
              <a:spcAft>
                <a:spcPts val="0"/>
              </a:spcAft>
              <a:buClr>
                <a:schemeClr val="dk1"/>
              </a:buClr>
              <a:buSzPts val="2688"/>
              <a:buFont typeface="Calibri"/>
              <a:buChar char="•"/>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CU Provides control signals in accordance with some  timings which in turn controls the execution process</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a:p>
            <a:pPr marL="12700" marR="5080" lvl="0" indent="-170688" algn="just" rtl="0">
              <a:lnSpc>
                <a:spcPct val="150000"/>
              </a:lnSpc>
              <a:spcBef>
                <a:spcPts val="0"/>
              </a:spcBef>
              <a:spcAft>
                <a:spcPts val="0"/>
              </a:spcAft>
              <a:buClr>
                <a:schemeClr val="dk1"/>
              </a:buClr>
              <a:buSzPts val="2688"/>
              <a:buFont typeface="Calibri"/>
              <a:buChar char="•"/>
            </a:pP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Register Stores data and result and speeds up the  operation</a:t>
            </a:r>
            <a:endParaRPr sz="24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3" name="Google Shape;173;p12"/>
          <p:cNvSpPr txBox="1">
            <a:spLocks noGrp="1"/>
          </p:cNvSpPr>
          <p:nvPr>
            <p:ph type="sldNum" idx="12"/>
          </p:nvPr>
        </p:nvSpPr>
        <p:spPr>
          <a:xfrm>
            <a:off x="8610600" y="6431598"/>
            <a:ext cx="2743200" cy="214630"/>
          </a:xfrm>
          <a:prstGeom prst="rect">
            <a:avLst/>
          </a:prstGeom>
          <a:noFill/>
          <a:ln>
            <a:noFill/>
          </a:ln>
        </p:spPr>
        <p:txBody>
          <a:bodyPr spcFirstLastPara="1" wrap="square" lIns="0" tIns="55875" rIns="0" bIns="0" anchor="t" anchorCtr="0">
            <a:spAutoFit/>
          </a:bodyPr>
          <a:lstStyle/>
          <a:p>
            <a:pPr marL="114935" marR="0" lvl="0" indent="0" algn="l" rtl="0">
              <a:lnSpc>
                <a:spcPct val="68888"/>
              </a:lnSpc>
              <a:spcBef>
                <a:spcPts val="0"/>
              </a:spcBef>
              <a:spcAft>
                <a:spcPts val="0"/>
              </a:spcAft>
              <a:buNone/>
            </a:pPr>
            <a:fld id="{00000000-1234-1234-1234-123412341234}" type="slidenum">
              <a:rPr lang="en-US" sz="1800">
                <a:solidFill>
                  <a:schemeClr val="dk1"/>
                </a:solidFill>
                <a:latin typeface="Calibri"/>
                <a:ea typeface="Calibri"/>
                <a:cs typeface="Calibri"/>
                <a:sym typeface="Calibri"/>
              </a:rPr>
              <a:t>16</a:t>
            </a:fld>
            <a:endParaRPr sz="1800">
              <a:solidFill>
                <a:schemeClr val="dk1"/>
              </a:solidFill>
              <a:latin typeface="Calibri"/>
              <a:ea typeface="Calibri"/>
              <a:cs typeface="Calibri"/>
              <a:sym typeface="Calibri"/>
            </a:endParaRPr>
          </a:p>
        </p:txBody>
      </p:sp>
      <p:sp>
        <p:nvSpPr>
          <p:cNvPr id="174" name="Google Shape;174;p12"/>
          <p:cNvSpPr txBox="1">
            <a:spLocks noGrp="1"/>
          </p:cNvSpPr>
          <p:nvPr>
            <p:ph type="title"/>
          </p:nvPr>
        </p:nvSpPr>
        <p:spPr>
          <a:xfrm>
            <a:off x="2135560" y="927865"/>
            <a:ext cx="7488832" cy="689932"/>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en-US" b="1" dirty="0">
                <a:latin typeface="Times New Roman" panose="02020603050405020304" pitchFamily="18" charset="0"/>
                <a:cs typeface="Times New Roman" panose="02020603050405020304" pitchFamily="18" charset="0"/>
              </a:rPr>
              <a:t>CPU (Central processing Unit)</a:t>
            </a:r>
            <a:endParaRPr b="1"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5FD4F539-120B-4EBF-91EF-122B08F061ED}"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Tree>
    <p:extLst>
      <p:ext uri="{BB962C8B-B14F-4D97-AF65-F5344CB8AC3E}">
        <p14:creationId xmlns:p14="http://schemas.microsoft.com/office/powerpoint/2010/main" val="2213287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13"/>
          <p:cNvPicPr preferRelativeResize="0"/>
          <p:nvPr/>
        </p:nvPicPr>
        <p:blipFill rotWithShape="1">
          <a:blip r:embed="rId3">
            <a:alphaModFix/>
          </a:blip>
          <a:srcRect/>
          <a:stretch/>
        </p:blipFill>
        <p:spPr>
          <a:xfrm>
            <a:off x="2150426" y="1340768"/>
            <a:ext cx="5029200" cy="5200994"/>
          </a:xfrm>
          <a:prstGeom prst="rect">
            <a:avLst/>
          </a:prstGeom>
          <a:noFill/>
          <a:ln>
            <a:noFill/>
          </a:ln>
        </p:spPr>
      </p:pic>
      <p:sp>
        <p:nvSpPr>
          <p:cNvPr id="180" name="Google Shape;180;p13"/>
          <p:cNvSpPr txBox="1"/>
          <p:nvPr/>
        </p:nvSpPr>
        <p:spPr>
          <a:xfrm>
            <a:off x="7241540" y="1848484"/>
            <a:ext cx="2509520" cy="843280"/>
          </a:xfrm>
          <a:prstGeom prst="rect">
            <a:avLst/>
          </a:prstGeom>
          <a:noFill/>
          <a:ln>
            <a:noFill/>
          </a:ln>
        </p:spPr>
        <p:txBody>
          <a:bodyPr spcFirstLastPara="1" wrap="square" lIns="0" tIns="12700" rIns="0" bIns="0" anchor="t" anchorCtr="0">
            <a:spAutoFit/>
          </a:bodyPr>
          <a:lstStyle/>
          <a:p>
            <a:pPr marL="12700" marR="5080" lvl="0" indent="-107442" algn="just" rtl="0">
              <a:lnSpc>
                <a:spcPct val="100000"/>
              </a:lnSpc>
              <a:spcBef>
                <a:spcPts val="0"/>
              </a:spcBef>
              <a:spcAft>
                <a:spcPts val="0"/>
              </a:spcAft>
              <a:buClr>
                <a:schemeClr val="dk1"/>
              </a:buClr>
              <a:buSzPts val="1692"/>
              <a:buFont typeface="Times New Roman"/>
              <a:buChar char="•"/>
            </a:pPr>
            <a:r>
              <a:rPr lang="en-US" sz="1800">
                <a:solidFill>
                  <a:schemeClr val="dk1"/>
                </a:solidFill>
                <a:latin typeface="Times New Roman"/>
                <a:ea typeface="Times New Roman"/>
                <a:cs typeface="Times New Roman"/>
                <a:sym typeface="Times New Roman"/>
              </a:rPr>
              <a:t>Control unit works with a  reference signal called  Processor clock</a:t>
            </a:r>
            <a:endParaRPr sz="1800">
              <a:solidFill>
                <a:schemeClr val="dk1"/>
              </a:solidFill>
              <a:latin typeface="Times New Roman"/>
              <a:ea typeface="Times New Roman"/>
              <a:cs typeface="Times New Roman"/>
              <a:sym typeface="Times New Roman"/>
            </a:endParaRPr>
          </a:p>
        </p:txBody>
      </p:sp>
      <p:sp>
        <p:nvSpPr>
          <p:cNvPr id="181" name="Google Shape;181;p13"/>
          <p:cNvSpPr txBox="1">
            <a:spLocks noGrp="1"/>
          </p:cNvSpPr>
          <p:nvPr>
            <p:ph type="sldNum" idx="12"/>
          </p:nvPr>
        </p:nvSpPr>
        <p:spPr>
          <a:xfrm>
            <a:off x="8610600" y="6431598"/>
            <a:ext cx="2743200" cy="214630"/>
          </a:xfrm>
          <a:prstGeom prst="rect">
            <a:avLst/>
          </a:prstGeom>
          <a:noFill/>
          <a:ln>
            <a:noFill/>
          </a:ln>
        </p:spPr>
        <p:txBody>
          <a:bodyPr spcFirstLastPara="1" wrap="square" lIns="0" tIns="55875" rIns="0" bIns="0" anchor="t" anchorCtr="0">
            <a:spAutoFit/>
          </a:bodyPr>
          <a:lstStyle/>
          <a:p>
            <a:pPr marL="114935" marR="0" lvl="0" indent="0" algn="l" rtl="0">
              <a:lnSpc>
                <a:spcPct val="68888"/>
              </a:lnSpc>
              <a:spcBef>
                <a:spcPts val="0"/>
              </a:spcBef>
              <a:spcAft>
                <a:spcPts val="0"/>
              </a:spcAft>
              <a:buNone/>
            </a:pPr>
            <a:fld id="{00000000-1234-1234-1234-123412341234}" type="slidenum">
              <a:rPr lang="en-US" sz="1800">
                <a:solidFill>
                  <a:schemeClr val="dk1"/>
                </a:solidFill>
                <a:latin typeface="Calibri"/>
                <a:ea typeface="Calibri"/>
                <a:cs typeface="Calibri"/>
                <a:sym typeface="Calibri"/>
              </a:rPr>
              <a:t>17</a:t>
            </a:fld>
            <a:endParaRPr sz="1800">
              <a:solidFill>
                <a:schemeClr val="dk1"/>
              </a:solidFill>
              <a:latin typeface="Calibri"/>
              <a:ea typeface="Calibri"/>
              <a:cs typeface="Calibri"/>
              <a:sym typeface="Calibri"/>
            </a:endParaRPr>
          </a:p>
        </p:txBody>
      </p:sp>
      <p:sp>
        <p:nvSpPr>
          <p:cNvPr id="182" name="Google Shape;182;p13"/>
          <p:cNvSpPr txBox="1"/>
          <p:nvPr/>
        </p:nvSpPr>
        <p:spPr>
          <a:xfrm>
            <a:off x="7241540" y="2945765"/>
            <a:ext cx="2509520" cy="566420"/>
          </a:xfrm>
          <a:prstGeom prst="rect">
            <a:avLst/>
          </a:prstGeom>
          <a:noFill/>
          <a:ln>
            <a:noFill/>
          </a:ln>
        </p:spPr>
        <p:txBody>
          <a:bodyPr spcFirstLastPara="1" wrap="square" lIns="0" tIns="12700" rIns="0" bIns="0" anchor="t" anchorCtr="0">
            <a:spAutoFit/>
          </a:bodyPr>
          <a:lstStyle/>
          <a:p>
            <a:pPr marL="12700" marR="5080" lvl="0" indent="-107442" algn="l" rtl="0">
              <a:lnSpc>
                <a:spcPct val="100000"/>
              </a:lnSpc>
              <a:spcBef>
                <a:spcPts val="0"/>
              </a:spcBef>
              <a:spcAft>
                <a:spcPts val="0"/>
              </a:spcAft>
              <a:buClr>
                <a:schemeClr val="dk1"/>
              </a:buClr>
              <a:buSzPts val="1692"/>
              <a:buFont typeface="Times New Roman"/>
              <a:buChar char="•"/>
            </a:pPr>
            <a:r>
              <a:rPr lang="en-US" sz="1800">
                <a:solidFill>
                  <a:schemeClr val="dk1"/>
                </a:solidFill>
                <a:latin typeface="Times New Roman"/>
                <a:ea typeface="Times New Roman"/>
                <a:cs typeface="Times New Roman"/>
                <a:sym typeface="Times New Roman"/>
              </a:rPr>
              <a:t>Processor divides the  operations into basic steps</a:t>
            </a:r>
            <a:endParaRPr sz="1800">
              <a:solidFill>
                <a:schemeClr val="dk1"/>
              </a:solidFill>
              <a:latin typeface="Times New Roman"/>
              <a:ea typeface="Times New Roman"/>
              <a:cs typeface="Times New Roman"/>
              <a:sym typeface="Times New Roman"/>
            </a:endParaRPr>
          </a:p>
        </p:txBody>
      </p:sp>
      <p:sp>
        <p:nvSpPr>
          <p:cNvPr id="183" name="Google Shape;183;p13"/>
          <p:cNvSpPr txBox="1"/>
          <p:nvPr/>
        </p:nvSpPr>
        <p:spPr>
          <a:xfrm>
            <a:off x="7241540" y="3768725"/>
            <a:ext cx="2510155" cy="843280"/>
          </a:xfrm>
          <a:prstGeom prst="rect">
            <a:avLst/>
          </a:prstGeom>
          <a:noFill/>
          <a:ln>
            <a:noFill/>
          </a:ln>
        </p:spPr>
        <p:txBody>
          <a:bodyPr spcFirstLastPara="1" wrap="square" lIns="0" tIns="12700" rIns="0" bIns="0" anchor="t" anchorCtr="0">
            <a:spAutoFit/>
          </a:bodyPr>
          <a:lstStyle/>
          <a:p>
            <a:pPr marL="12700" marR="5080" lvl="0" indent="-107442" algn="just" rtl="0">
              <a:lnSpc>
                <a:spcPct val="100000"/>
              </a:lnSpc>
              <a:spcBef>
                <a:spcPts val="0"/>
              </a:spcBef>
              <a:spcAft>
                <a:spcPts val="0"/>
              </a:spcAft>
              <a:buClr>
                <a:schemeClr val="dk1"/>
              </a:buClr>
              <a:buSzPts val="1692"/>
              <a:buFont typeface="Times New Roman"/>
              <a:buChar char="•"/>
            </a:pPr>
            <a:r>
              <a:rPr lang="en-US" sz="1800" dirty="0">
                <a:solidFill>
                  <a:schemeClr val="dk1"/>
                </a:solidFill>
                <a:latin typeface="Times New Roman"/>
                <a:ea typeface="Times New Roman"/>
                <a:cs typeface="Times New Roman"/>
                <a:sym typeface="Times New Roman"/>
              </a:rPr>
              <a:t>Each basic step is   executed in one clock  cycle</a:t>
            </a:r>
            <a:endParaRPr sz="1800" dirty="0">
              <a:solidFill>
                <a:schemeClr val="dk1"/>
              </a:solidFill>
              <a:latin typeface="Times New Roman"/>
              <a:ea typeface="Times New Roman"/>
              <a:cs typeface="Times New Roman"/>
              <a:sym typeface="Times New Roman"/>
            </a:endParaRPr>
          </a:p>
        </p:txBody>
      </p:sp>
      <p:sp>
        <p:nvSpPr>
          <p:cNvPr id="184" name="Google Shape;184;p13"/>
          <p:cNvSpPr txBox="1"/>
          <p:nvPr/>
        </p:nvSpPr>
        <p:spPr>
          <a:xfrm>
            <a:off x="2032558" y="2426982"/>
            <a:ext cx="202565" cy="2286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400">
                <a:solidFill>
                  <a:schemeClr val="dk1"/>
                </a:solidFill>
                <a:latin typeface="Calibri"/>
                <a:ea typeface="Calibri"/>
                <a:cs typeface="Calibri"/>
                <a:sym typeface="Calibri"/>
              </a:rPr>
              <a:t>T1</a:t>
            </a:r>
            <a:endParaRPr sz="1400">
              <a:solidFill>
                <a:schemeClr val="dk1"/>
              </a:solidFill>
              <a:latin typeface="Calibri"/>
              <a:ea typeface="Calibri"/>
              <a:cs typeface="Calibri"/>
              <a:sym typeface="Calibri"/>
            </a:endParaRPr>
          </a:p>
        </p:txBody>
      </p:sp>
      <p:sp>
        <p:nvSpPr>
          <p:cNvPr id="185" name="Google Shape;185;p13"/>
          <p:cNvSpPr txBox="1"/>
          <p:nvPr/>
        </p:nvSpPr>
        <p:spPr>
          <a:xfrm>
            <a:off x="2037715" y="2913989"/>
            <a:ext cx="202565" cy="2286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400">
                <a:solidFill>
                  <a:schemeClr val="dk1"/>
                </a:solidFill>
                <a:latin typeface="Calibri"/>
                <a:ea typeface="Calibri"/>
                <a:cs typeface="Calibri"/>
                <a:sym typeface="Calibri"/>
              </a:rPr>
              <a:t>T2</a:t>
            </a:r>
            <a:endParaRPr sz="1400">
              <a:solidFill>
                <a:schemeClr val="dk1"/>
              </a:solidFill>
              <a:latin typeface="Calibri"/>
              <a:ea typeface="Calibri"/>
              <a:cs typeface="Calibri"/>
              <a:sym typeface="Calibri"/>
            </a:endParaRPr>
          </a:p>
        </p:txBody>
      </p:sp>
      <p:sp>
        <p:nvSpPr>
          <p:cNvPr id="186" name="Google Shape;186;p13"/>
          <p:cNvSpPr txBox="1"/>
          <p:nvPr/>
        </p:nvSpPr>
        <p:spPr>
          <a:xfrm>
            <a:off x="3491864" y="4137660"/>
            <a:ext cx="212725" cy="2286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400">
                <a:solidFill>
                  <a:schemeClr val="dk1"/>
                </a:solidFill>
                <a:latin typeface="Calibri"/>
                <a:ea typeface="Calibri"/>
                <a:cs typeface="Calibri"/>
                <a:sym typeface="Calibri"/>
              </a:rPr>
              <a:t>R1</a:t>
            </a:r>
            <a:endParaRPr sz="1400">
              <a:solidFill>
                <a:schemeClr val="dk1"/>
              </a:solidFill>
              <a:latin typeface="Calibri"/>
              <a:ea typeface="Calibri"/>
              <a:cs typeface="Calibri"/>
              <a:sym typeface="Calibri"/>
            </a:endParaRPr>
          </a:p>
        </p:txBody>
      </p:sp>
      <p:sp>
        <p:nvSpPr>
          <p:cNvPr id="187" name="Google Shape;187;p13"/>
          <p:cNvSpPr txBox="1"/>
          <p:nvPr/>
        </p:nvSpPr>
        <p:spPr>
          <a:xfrm>
            <a:off x="5396865" y="4137660"/>
            <a:ext cx="212725" cy="2286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400">
                <a:solidFill>
                  <a:schemeClr val="dk1"/>
                </a:solidFill>
                <a:latin typeface="Calibri"/>
                <a:ea typeface="Calibri"/>
                <a:cs typeface="Calibri"/>
                <a:sym typeface="Calibri"/>
              </a:rPr>
              <a:t>R2</a:t>
            </a:r>
            <a:endParaRPr sz="1400">
              <a:solidFill>
                <a:schemeClr val="dk1"/>
              </a:solidFill>
              <a:latin typeface="Calibri"/>
              <a:ea typeface="Calibri"/>
              <a:cs typeface="Calibri"/>
              <a:sym typeface="Calibri"/>
            </a:endParaRPr>
          </a:p>
        </p:txBody>
      </p:sp>
      <p:sp>
        <p:nvSpPr>
          <p:cNvPr id="188" name="Google Shape;188;p13"/>
          <p:cNvSpPr txBox="1"/>
          <p:nvPr/>
        </p:nvSpPr>
        <p:spPr>
          <a:xfrm>
            <a:off x="4558664" y="5737859"/>
            <a:ext cx="212725" cy="2286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400">
                <a:solidFill>
                  <a:schemeClr val="dk1"/>
                </a:solidFill>
                <a:latin typeface="Calibri"/>
                <a:ea typeface="Calibri"/>
                <a:cs typeface="Calibri"/>
                <a:sym typeface="Calibri"/>
              </a:rPr>
              <a:t>R2</a:t>
            </a:r>
            <a:endParaRPr sz="1400">
              <a:solidFill>
                <a:schemeClr val="dk1"/>
              </a:solidFill>
              <a:latin typeface="Calibri"/>
              <a:ea typeface="Calibri"/>
              <a:cs typeface="Calibri"/>
              <a:sym typeface="Calibri"/>
            </a:endParaRPr>
          </a:p>
        </p:txBody>
      </p:sp>
      <p:sp>
        <p:nvSpPr>
          <p:cNvPr id="189" name="Google Shape;189;p13"/>
          <p:cNvSpPr txBox="1">
            <a:spLocks noGrp="1"/>
          </p:cNvSpPr>
          <p:nvPr>
            <p:ph type="title"/>
          </p:nvPr>
        </p:nvSpPr>
        <p:spPr>
          <a:xfrm>
            <a:off x="1919536" y="761687"/>
            <a:ext cx="2258695"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2400"/>
              <a:buFont typeface="Calibri"/>
              <a:buNone/>
            </a:pPr>
            <a:r>
              <a:rPr lang="en-US" sz="2400" dirty="0">
                <a:latin typeface="Times New Roman" panose="02020603050405020304" pitchFamily="18" charset="0"/>
                <a:cs typeface="Times New Roman" panose="02020603050405020304" pitchFamily="18" charset="0"/>
              </a:rPr>
              <a:t>CONTROL UNIT</a:t>
            </a:r>
            <a:endParaRPr sz="24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0E026B62-B960-47D9-BB09-45E33333BF3E}"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Tree>
    <p:extLst>
      <p:ext uri="{BB962C8B-B14F-4D97-AF65-F5344CB8AC3E}">
        <p14:creationId xmlns:p14="http://schemas.microsoft.com/office/powerpoint/2010/main" val="608019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4"/>
          <p:cNvSpPr txBox="1">
            <a:spLocks noGrp="1"/>
          </p:cNvSpPr>
          <p:nvPr>
            <p:ph type="title"/>
          </p:nvPr>
        </p:nvSpPr>
        <p:spPr>
          <a:xfrm>
            <a:off x="1998281" y="1191602"/>
            <a:ext cx="889000" cy="289560"/>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chemeClr val="dk1"/>
              </a:buClr>
              <a:buSzPts val="1800"/>
              <a:buFont typeface="Times New Roman"/>
              <a:buNone/>
            </a:pPr>
            <a:r>
              <a:rPr lang="en-US" sz="1800" b="1">
                <a:latin typeface="Times New Roman"/>
                <a:ea typeface="Times New Roman"/>
                <a:cs typeface="Times New Roman"/>
                <a:sym typeface="Times New Roman"/>
              </a:rPr>
              <a:t>Example</a:t>
            </a:r>
            <a:endParaRPr sz="1800">
              <a:latin typeface="Times New Roman"/>
              <a:ea typeface="Times New Roman"/>
              <a:cs typeface="Times New Roman"/>
              <a:sym typeface="Times New Roman"/>
            </a:endParaRPr>
          </a:p>
        </p:txBody>
      </p:sp>
      <p:sp>
        <p:nvSpPr>
          <p:cNvPr id="195" name="Google Shape;195;p14"/>
          <p:cNvSpPr txBox="1"/>
          <p:nvPr/>
        </p:nvSpPr>
        <p:spPr>
          <a:xfrm>
            <a:off x="1998281" y="1735163"/>
            <a:ext cx="1174750" cy="2895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Add R1, R2</a:t>
            </a:r>
            <a:endParaRPr sz="1800">
              <a:solidFill>
                <a:schemeClr val="dk1"/>
              </a:solidFill>
              <a:latin typeface="Times New Roman"/>
              <a:ea typeface="Times New Roman"/>
              <a:cs typeface="Times New Roman"/>
              <a:sym typeface="Times New Roman"/>
            </a:endParaRPr>
          </a:p>
        </p:txBody>
      </p:sp>
      <p:sp>
        <p:nvSpPr>
          <p:cNvPr id="196" name="Google Shape;196;p14"/>
          <p:cNvSpPr txBox="1"/>
          <p:nvPr/>
        </p:nvSpPr>
        <p:spPr>
          <a:xfrm>
            <a:off x="1998281" y="2558122"/>
            <a:ext cx="292100" cy="2895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T1</a:t>
            </a:r>
            <a:endParaRPr sz="1800">
              <a:solidFill>
                <a:schemeClr val="dk1"/>
              </a:solidFill>
              <a:latin typeface="Times New Roman"/>
              <a:ea typeface="Times New Roman"/>
              <a:cs typeface="Times New Roman"/>
              <a:sym typeface="Times New Roman"/>
            </a:endParaRPr>
          </a:p>
        </p:txBody>
      </p:sp>
      <p:sp>
        <p:nvSpPr>
          <p:cNvPr id="197" name="Google Shape;197;p14"/>
          <p:cNvSpPr txBox="1"/>
          <p:nvPr/>
        </p:nvSpPr>
        <p:spPr>
          <a:xfrm>
            <a:off x="1998281" y="3381082"/>
            <a:ext cx="292100" cy="2895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T2</a:t>
            </a:r>
            <a:endParaRPr sz="1800">
              <a:solidFill>
                <a:schemeClr val="dk1"/>
              </a:solidFill>
              <a:latin typeface="Times New Roman"/>
              <a:ea typeface="Times New Roman"/>
              <a:cs typeface="Times New Roman"/>
              <a:sym typeface="Times New Roman"/>
            </a:endParaRPr>
          </a:p>
        </p:txBody>
      </p:sp>
      <p:sp>
        <p:nvSpPr>
          <p:cNvPr id="198" name="Google Shape;198;p14"/>
          <p:cNvSpPr txBox="1"/>
          <p:nvPr/>
        </p:nvSpPr>
        <p:spPr>
          <a:xfrm>
            <a:off x="1998281" y="4204042"/>
            <a:ext cx="292100" cy="2895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T3</a:t>
            </a:r>
            <a:endParaRPr sz="1800">
              <a:solidFill>
                <a:schemeClr val="dk1"/>
              </a:solidFill>
              <a:latin typeface="Times New Roman"/>
              <a:ea typeface="Times New Roman"/>
              <a:cs typeface="Times New Roman"/>
              <a:sym typeface="Times New Roman"/>
            </a:endParaRPr>
          </a:p>
        </p:txBody>
      </p:sp>
      <p:sp>
        <p:nvSpPr>
          <p:cNvPr id="199" name="Google Shape;199;p14"/>
          <p:cNvSpPr txBox="1"/>
          <p:nvPr/>
        </p:nvSpPr>
        <p:spPr>
          <a:xfrm>
            <a:off x="1998281" y="5301322"/>
            <a:ext cx="292100" cy="2895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T4</a:t>
            </a:r>
            <a:endParaRPr sz="1800">
              <a:solidFill>
                <a:schemeClr val="dk1"/>
              </a:solidFill>
              <a:latin typeface="Times New Roman"/>
              <a:ea typeface="Times New Roman"/>
              <a:cs typeface="Times New Roman"/>
              <a:sym typeface="Times New Roman"/>
            </a:endParaRPr>
          </a:p>
        </p:txBody>
      </p:sp>
      <p:sp>
        <p:nvSpPr>
          <p:cNvPr id="200" name="Google Shape;200;p14"/>
          <p:cNvSpPr/>
          <p:nvPr/>
        </p:nvSpPr>
        <p:spPr>
          <a:xfrm>
            <a:off x="2693581" y="2759087"/>
            <a:ext cx="990600" cy="76200"/>
          </a:xfrm>
          <a:custGeom>
            <a:avLst/>
            <a:gdLst/>
            <a:ahLst/>
            <a:cxnLst/>
            <a:rect l="l" t="t" r="r" b="b"/>
            <a:pathLst>
              <a:path w="990600" h="76200" extrusionOk="0">
                <a:moveTo>
                  <a:pt x="914399" y="76200"/>
                </a:moveTo>
                <a:lnTo>
                  <a:pt x="914399" y="0"/>
                </a:lnTo>
                <a:lnTo>
                  <a:pt x="981074" y="33337"/>
                </a:lnTo>
                <a:lnTo>
                  <a:pt x="933449" y="33337"/>
                </a:lnTo>
                <a:lnTo>
                  <a:pt x="933449" y="42862"/>
                </a:lnTo>
                <a:lnTo>
                  <a:pt x="981074" y="42862"/>
                </a:lnTo>
                <a:lnTo>
                  <a:pt x="914399" y="76200"/>
                </a:lnTo>
                <a:close/>
              </a:path>
              <a:path w="990600" h="76200" extrusionOk="0">
                <a:moveTo>
                  <a:pt x="914399" y="42862"/>
                </a:moveTo>
                <a:lnTo>
                  <a:pt x="0" y="42862"/>
                </a:lnTo>
                <a:lnTo>
                  <a:pt x="0" y="33337"/>
                </a:lnTo>
                <a:lnTo>
                  <a:pt x="914399" y="33337"/>
                </a:lnTo>
                <a:lnTo>
                  <a:pt x="914399" y="42862"/>
                </a:lnTo>
                <a:close/>
              </a:path>
              <a:path w="990600" h="76200" extrusionOk="0">
                <a:moveTo>
                  <a:pt x="981074" y="42862"/>
                </a:moveTo>
                <a:lnTo>
                  <a:pt x="933449" y="42862"/>
                </a:lnTo>
                <a:lnTo>
                  <a:pt x="933449" y="33337"/>
                </a:lnTo>
                <a:lnTo>
                  <a:pt x="981074" y="33337"/>
                </a:lnTo>
                <a:lnTo>
                  <a:pt x="990599" y="38100"/>
                </a:lnTo>
                <a:lnTo>
                  <a:pt x="981074" y="42862"/>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1" name="Google Shape;201;p14"/>
          <p:cNvSpPr txBox="1"/>
          <p:nvPr/>
        </p:nvSpPr>
        <p:spPr>
          <a:xfrm>
            <a:off x="4117339" y="2610484"/>
            <a:ext cx="1047750" cy="2895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Enable R1</a:t>
            </a:r>
            <a:endParaRPr sz="1800">
              <a:solidFill>
                <a:schemeClr val="dk1"/>
              </a:solidFill>
              <a:latin typeface="Times New Roman"/>
              <a:ea typeface="Times New Roman"/>
              <a:cs typeface="Times New Roman"/>
              <a:sym typeface="Times New Roman"/>
            </a:endParaRPr>
          </a:p>
        </p:txBody>
      </p:sp>
      <p:sp>
        <p:nvSpPr>
          <p:cNvPr id="202" name="Google Shape;202;p14"/>
          <p:cNvSpPr/>
          <p:nvPr/>
        </p:nvSpPr>
        <p:spPr>
          <a:xfrm>
            <a:off x="2693581" y="3617340"/>
            <a:ext cx="914400" cy="76200"/>
          </a:xfrm>
          <a:custGeom>
            <a:avLst/>
            <a:gdLst/>
            <a:ahLst/>
            <a:cxnLst/>
            <a:rect l="l" t="t" r="r" b="b"/>
            <a:pathLst>
              <a:path w="914400" h="76200" extrusionOk="0">
                <a:moveTo>
                  <a:pt x="838199" y="76200"/>
                </a:moveTo>
                <a:lnTo>
                  <a:pt x="838199" y="0"/>
                </a:lnTo>
                <a:lnTo>
                  <a:pt x="904874" y="33337"/>
                </a:lnTo>
                <a:lnTo>
                  <a:pt x="857249" y="33337"/>
                </a:lnTo>
                <a:lnTo>
                  <a:pt x="857249" y="42862"/>
                </a:lnTo>
                <a:lnTo>
                  <a:pt x="904874" y="42862"/>
                </a:lnTo>
                <a:lnTo>
                  <a:pt x="838199" y="76200"/>
                </a:lnTo>
                <a:close/>
              </a:path>
              <a:path w="914400" h="76200" extrusionOk="0">
                <a:moveTo>
                  <a:pt x="838199" y="42862"/>
                </a:moveTo>
                <a:lnTo>
                  <a:pt x="0" y="42862"/>
                </a:lnTo>
                <a:lnTo>
                  <a:pt x="0" y="33337"/>
                </a:lnTo>
                <a:lnTo>
                  <a:pt x="838199" y="33337"/>
                </a:lnTo>
                <a:lnTo>
                  <a:pt x="838199" y="42862"/>
                </a:lnTo>
                <a:close/>
              </a:path>
              <a:path w="914400" h="76200" extrusionOk="0">
                <a:moveTo>
                  <a:pt x="904874" y="42862"/>
                </a:moveTo>
                <a:lnTo>
                  <a:pt x="857249" y="42862"/>
                </a:lnTo>
                <a:lnTo>
                  <a:pt x="857249" y="33337"/>
                </a:lnTo>
                <a:lnTo>
                  <a:pt x="904874" y="33337"/>
                </a:lnTo>
                <a:lnTo>
                  <a:pt x="914399" y="38100"/>
                </a:lnTo>
                <a:lnTo>
                  <a:pt x="904874" y="42862"/>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14"/>
          <p:cNvSpPr txBox="1"/>
          <p:nvPr/>
        </p:nvSpPr>
        <p:spPr>
          <a:xfrm>
            <a:off x="4155439" y="3448684"/>
            <a:ext cx="1047750" cy="2895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Enable R2</a:t>
            </a:r>
            <a:endParaRPr sz="1800">
              <a:solidFill>
                <a:schemeClr val="dk1"/>
              </a:solidFill>
              <a:latin typeface="Times New Roman"/>
              <a:ea typeface="Times New Roman"/>
              <a:cs typeface="Times New Roman"/>
              <a:sym typeface="Times New Roman"/>
            </a:endParaRPr>
          </a:p>
        </p:txBody>
      </p:sp>
      <p:sp>
        <p:nvSpPr>
          <p:cNvPr id="204" name="Google Shape;204;p14"/>
          <p:cNvSpPr/>
          <p:nvPr/>
        </p:nvSpPr>
        <p:spPr>
          <a:xfrm>
            <a:off x="2769781" y="4327004"/>
            <a:ext cx="990600" cy="76200"/>
          </a:xfrm>
          <a:custGeom>
            <a:avLst/>
            <a:gdLst/>
            <a:ahLst/>
            <a:cxnLst/>
            <a:rect l="l" t="t" r="r" b="b"/>
            <a:pathLst>
              <a:path w="990600" h="76200" extrusionOk="0">
                <a:moveTo>
                  <a:pt x="914399" y="76200"/>
                </a:moveTo>
                <a:lnTo>
                  <a:pt x="914399" y="0"/>
                </a:lnTo>
                <a:lnTo>
                  <a:pt x="981074" y="33337"/>
                </a:lnTo>
                <a:lnTo>
                  <a:pt x="933449" y="33337"/>
                </a:lnTo>
                <a:lnTo>
                  <a:pt x="933449" y="42862"/>
                </a:lnTo>
                <a:lnTo>
                  <a:pt x="981074" y="42862"/>
                </a:lnTo>
                <a:lnTo>
                  <a:pt x="914399" y="76200"/>
                </a:lnTo>
                <a:close/>
              </a:path>
              <a:path w="990600" h="76200" extrusionOk="0">
                <a:moveTo>
                  <a:pt x="914399" y="42862"/>
                </a:moveTo>
                <a:lnTo>
                  <a:pt x="0" y="42862"/>
                </a:lnTo>
                <a:lnTo>
                  <a:pt x="0" y="33337"/>
                </a:lnTo>
                <a:lnTo>
                  <a:pt x="914399" y="33337"/>
                </a:lnTo>
                <a:lnTo>
                  <a:pt x="914399" y="42862"/>
                </a:lnTo>
                <a:close/>
              </a:path>
              <a:path w="990600" h="76200" extrusionOk="0">
                <a:moveTo>
                  <a:pt x="981074" y="42862"/>
                </a:moveTo>
                <a:lnTo>
                  <a:pt x="933449" y="42862"/>
                </a:lnTo>
                <a:lnTo>
                  <a:pt x="933449" y="33337"/>
                </a:lnTo>
                <a:lnTo>
                  <a:pt x="981074" y="33337"/>
                </a:lnTo>
                <a:lnTo>
                  <a:pt x="990599" y="38100"/>
                </a:lnTo>
                <a:lnTo>
                  <a:pt x="981074" y="42862"/>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p14"/>
          <p:cNvSpPr txBox="1"/>
          <p:nvPr/>
        </p:nvSpPr>
        <p:spPr>
          <a:xfrm>
            <a:off x="4117911" y="4233024"/>
            <a:ext cx="3450590" cy="2895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Enable ALU for addition operation</a:t>
            </a:r>
            <a:endParaRPr sz="1800">
              <a:solidFill>
                <a:schemeClr val="dk1"/>
              </a:solidFill>
              <a:latin typeface="Times New Roman"/>
              <a:ea typeface="Times New Roman"/>
              <a:cs typeface="Times New Roman"/>
              <a:sym typeface="Times New Roman"/>
            </a:endParaRPr>
          </a:p>
        </p:txBody>
      </p:sp>
      <p:sp>
        <p:nvSpPr>
          <p:cNvPr id="206" name="Google Shape;206;p14"/>
          <p:cNvSpPr/>
          <p:nvPr/>
        </p:nvSpPr>
        <p:spPr>
          <a:xfrm>
            <a:off x="2693581" y="5479135"/>
            <a:ext cx="1066800" cy="76200"/>
          </a:xfrm>
          <a:custGeom>
            <a:avLst/>
            <a:gdLst/>
            <a:ahLst/>
            <a:cxnLst/>
            <a:rect l="l" t="t" r="r" b="b"/>
            <a:pathLst>
              <a:path w="1066800" h="76200" extrusionOk="0">
                <a:moveTo>
                  <a:pt x="990599" y="76200"/>
                </a:moveTo>
                <a:lnTo>
                  <a:pt x="990599" y="0"/>
                </a:lnTo>
                <a:lnTo>
                  <a:pt x="1057274" y="33337"/>
                </a:lnTo>
                <a:lnTo>
                  <a:pt x="1009649" y="33337"/>
                </a:lnTo>
                <a:lnTo>
                  <a:pt x="1009649" y="42862"/>
                </a:lnTo>
                <a:lnTo>
                  <a:pt x="1057274" y="42862"/>
                </a:lnTo>
                <a:lnTo>
                  <a:pt x="990599" y="76200"/>
                </a:lnTo>
                <a:close/>
              </a:path>
              <a:path w="1066800" h="76200" extrusionOk="0">
                <a:moveTo>
                  <a:pt x="990599" y="42862"/>
                </a:moveTo>
                <a:lnTo>
                  <a:pt x="0" y="42862"/>
                </a:lnTo>
                <a:lnTo>
                  <a:pt x="0" y="33337"/>
                </a:lnTo>
                <a:lnTo>
                  <a:pt x="990599" y="33337"/>
                </a:lnTo>
                <a:lnTo>
                  <a:pt x="990599" y="42862"/>
                </a:lnTo>
                <a:close/>
              </a:path>
              <a:path w="1066800" h="76200" extrusionOk="0">
                <a:moveTo>
                  <a:pt x="1057274" y="42862"/>
                </a:moveTo>
                <a:lnTo>
                  <a:pt x="1009649" y="42862"/>
                </a:lnTo>
                <a:lnTo>
                  <a:pt x="1009649" y="33337"/>
                </a:lnTo>
                <a:lnTo>
                  <a:pt x="1057274" y="33337"/>
                </a:lnTo>
                <a:lnTo>
                  <a:pt x="1066799" y="38100"/>
                </a:lnTo>
                <a:lnTo>
                  <a:pt x="1057274" y="42862"/>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7" name="Google Shape;207;p14"/>
          <p:cNvSpPr txBox="1"/>
          <p:nvPr/>
        </p:nvSpPr>
        <p:spPr>
          <a:xfrm>
            <a:off x="4271365" y="5235524"/>
            <a:ext cx="4251960" cy="566420"/>
          </a:xfrm>
          <a:prstGeom prst="rect">
            <a:avLst/>
          </a:prstGeom>
          <a:noFill/>
          <a:ln>
            <a:noFill/>
          </a:ln>
        </p:spPr>
        <p:txBody>
          <a:bodyPr spcFirstLastPara="1" wrap="square" lIns="0" tIns="12700" rIns="0" bIns="0" anchor="t" anchorCtr="0">
            <a:spAutoFit/>
          </a:bodyPr>
          <a:lstStyle/>
          <a:p>
            <a:pPr marL="14605" marR="5080" lvl="0" indent="-2539" algn="l" rtl="0">
              <a:lnSpc>
                <a:spcPct val="100000"/>
              </a:lnSpc>
              <a:spcBef>
                <a:spcPts val="0"/>
              </a:spcBef>
              <a:spcAft>
                <a:spcPts val="0"/>
              </a:spcAft>
              <a:buNone/>
            </a:pPr>
            <a:r>
              <a:rPr lang="en-US" sz="1800" b="1">
                <a:solidFill>
                  <a:schemeClr val="dk1"/>
                </a:solidFill>
                <a:latin typeface="Times New Roman"/>
                <a:ea typeface="Times New Roman"/>
                <a:cs typeface="Times New Roman"/>
                <a:sym typeface="Times New Roman"/>
              </a:rPr>
              <a:t>Enable out put of ALU to store result of the  operation</a:t>
            </a:r>
            <a:endParaRPr sz="1800">
              <a:solidFill>
                <a:schemeClr val="dk1"/>
              </a:solidFill>
              <a:latin typeface="Times New Roman"/>
              <a:ea typeface="Times New Roman"/>
              <a:cs typeface="Times New Roman"/>
              <a:sym typeface="Times New Roman"/>
            </a:endParaRPr>
          </a:p>
        </p:txBody>
      </p:sp>
      <p:sp>
        <p:nvSpPr>
          <p:cNvPr id="208" name="Google Shape;208;p14"/>
          <p:cNvSpPr txBox="1">
            <a:spLocks noGrp="1"/>
          </p:cNvSpPr>
          <p:nvPr>
            <p:ph type="sldNum" idx="12"/>
          </p:nvPr>
        </p:nvSpPr>
        <p:spPr>
          <a:xfrm>
            <a:off x="8610600" y="6431598"/>
            <a:ext cx="2743200" cy="214630"/>
          </a:xfrm>
          <a:prstGeom prst="rect">
            <a:avLst/>
          </a:prstGeom>
          <a:noFill/>
          <a:ln>
            <a:noFill/>
          </a:ln>
        </p:spPr>
        <p:txBody>
          <a:bodyPr spcFirstLastPara="1" wrap="square" lIns="0" tIns="55875" rIns="0" bIns="0" anchor="t" anchorCtr="0">
            <a:spAutoFit/>
          </a:bodyPr>
          <a:lstStyle/>
          <a:p>
            <a:pPr marL="114935" marR="0" lvl="0" indent="0" algn="l" rtl="0">
              <a:lnSpc>
                <a:spcPct val="68888"/>
              </a:lnSpc>
              <a:spcBef>
                <a:spcPts val="0"/>
              </a:spcBef>
              <a:spcAft>
                <a:spcPts val="0"/>
              </a:spcAft>
              <a:buNone/>
            </a:pPr>
            <a:fld id="{00000000-1234-1234-1234-123412341234}" type="slidenum">
              <a:rPr lang="en-US" sz="1800">
                <a:solidFill>
                  <a:schemeClr val="dk1"/>
                </a:solidFill>
                <a:latin typeface="Calibri"/>
                <a:ea typeface="Calibri"/>
                <a:cs typeface="Calibri"/>
                <a:sym typeface="Calibri"/>
              </a:rPr>
              <a:t>18</a:t>
            </a:fld>
            <a:endParaRPr sz="1800">
              <a:solidFill>
                <a:schemeClr val="dk1"/>
              </a:solidFill>
              <a:latin typeface="Calibri"/>
              <a:ea typeface="Calibri"/>
              <a:cs typeface="Calibri"/>
              <a:sym typeface="Calibri"/>
            </a:endParaRPr>
          </a:p>
        </p:txBody>
      </p:sp>
      <p:sp>
        <p:nvSpPr>
          <p:cNvPr id="2" name="Date Placeholder 1"/>
          <p:cNvSpPr>
            <a:spLocks noGrp="1"/>
          </p:cNvSpPr>
          <p:nvPr>
            <p:ph type="dt" sz="half" idx="10"/>
          </p:nvPr>
        </p:nvSpPr>
        <p:spPr/>
        <p:txBody>
          <a:bodyPr/>
          <a:lstStyle/>
          <a:p>
            <a:fld id="{50324817-CBF1-4675-BBDE-32A92B89C4C7}" type="datetime1">
              <a:rPr lang="en-US" smtClean="0"/>
              <a:t>8/12/2024</a:t>
            </a:fld>
            <a:endParaRPr lang="en-IN"/>
          </a:p>
        </p:txBody>
      </p:sp>
      <p:sp>
        <p:nvSpPr>
          <p:cNvPr id="3" name="Footer Placeholder 2"/>
          <p:cNvSpPr>
            <a:spLocks noGrp="1"/>
          </p:cNvSpPr>
          <p:nvPr>
            <p:ph type="ftr" sz="quarter" idx="11"/>
          </p:nvPr>
        </p:nvSpPr>
        <p:spPr/>
        <p:txBody>
          <a:bodyPr/>
          <a:lstStyle/>
          <a:p>
            <a:r>
              <a:rPr lang="en-US"/>
              <a:t>21CSS201T - Computer Organization and Architecture</a:t>
            </a:r>
            <a:endParaRPr lang="en-IN"/>
          </a:p>
        </p:txBody>
      </p:sp>
    </p:spTree>
    <p:extLst>
      <p:ext uri="{BB962C8B-B14F-4D97-AF65-F5344CB8AC3E}">
        <p14:creationId xmlns:p14="http://schemas.microsoft.com/office/powerpoint/2010/main" val="4096950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marL="457200" lvl="1" indent="0" algn="just">
              <a:lnSpc>
                <a:spcPct val="100000"/>
              </a:lnSpc>
              <a:buNone/>
            </a:pPr>
            <a:endParaRPr lang="en-IN" sz="2000" dirty="0">
              <a:latin typeface="Palatino Linotype" panose="02040502050505030304" pitchFamily="18" charset="0"/>
            </a:endParaRPr>
          </a:p>
        </p:txBody>
      </p:sp>
      <p:pic>
        <p:nvPicPr>
          <p:cNvPr id="9" name="Picture 8">
            <a:extLst>
              <a:ext uri="{FF2B5EF4-FFF2-40B4-BE49-F238E27FC236}">
                <a16:creationId xmlns:a16="http://schemas.microsoft.com/office/drawing/2014/main" xmlns="" id="{3B69C1DB-D46F-0E7D-5FEF-46FE2432EC3E}"/>
              </a:ext>
            </a:extLst>
          </p:cNvPr>
          <p:cNvPicPr>
            <a:picLocks noChangeAspect="1"/>
          </p:cNvPicPr>
          <p:nvPr/>
        </p:nvPicPr>
        <p:blipFill>
          <a:blip r:embed="rId2"/>
          <a:stretch>
            <a:fillRect/>
          </a:stretch>
        </p:blipFill>
        <p:spPr>
          <a:xfrm>
            <a:off x="3863752" y="3208649"/>
            <a:ext cx="5624047" cy="1082134"/>
          </a:xfrm>
          <a:prstGeom prst="rect">
            <a:avLst/>
          </a:prstGeom>
        </p:spPr>
      </p:pic>
      <p:sp>
        <p:nvSpPr>
          <p:cNvPr id="2" name="Date Placeholder 1"/>
          <p:cNvSpPr>
            <a:spLocks noGrp="1"/>
          </p:cNvSpPr>
          <p:nvPr>
            <p:ph type="dt" sz="half" idx="10"/>
          </p:nvPr>
        </p:nvSpPr>
        <p:spPr/>
        <p:txBody>
          <a:bodyPr/>
          <a:lstStyle/>
          <a:p>
            <a:fld id="{B376AE66-A6AC-45D5-8AD7-A970B8D57C13}"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5" name="Slide Number Placeholder 4"/>
          <p:cNvSpPr>
            <a:spLocks noGrp="1"/>
          </p:cNvSpPr>
          <p:nvPr>
            <p:ph type="sldNum" sz="quarter" idx="12"/>
          </p:nvPr>
        </p:nvSpPr>
        <p:spPr/>
        <p:txBody>
          <a:bodyPr/>
          <a:lstStyle/>
          <a:p>
            <a:fld id="{AE669347-E3B4-439D-9D1F-3479A370CD23}" type="slidenum">
              <a:rPr lang="en-IN" smtClean="0"/>
              <a:pPr/>
              <a:t>19</a:t>
            </a:fld>
            <a:endParaRPr lang="en-IN"/>
          </a:p>
        </p:txBody>
      </p:sp>
    </p:spTree>
    <p:extLst>
      <p:ext uri="{BB962C8B-B14F-4D97-AF65-F5344CB8AC3E}">
        <p14:creationId xmlns:p14="http://schemas.microsoft.com/office/powerpoint/2010/main" val="7221684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marL="457200" lvl="1" indent="0" algn="just">
              <a:lnSpc>
                <a:spcPct val="100000"/>
              </a:lnSpc>
              <a:buNone/>
            </a:pPr>
            <a:endParaRPr lang="en-IN" sz="2000" dirty="0">
              <a:latin typeface="Palatino Linotype" panose="02040502050505030304" pitchFamily="18" charset="0"/>
            </a:endParaRPr>
          </a:p>
        </p:txBody>
      </p:sp>
      <p:pic>
        <p:nvPicPr>
          <p:cNvPr id="4" name="Picture 3">
            <a:extLst>
              <a:ext uri="{FF2B5EF4-FFF2-40B4-BE49-F238E27FC236}">
                <a16:creationId xmlns:a16="http://schemas.microsoft.com/office/drawing/2014/main" xmlns="" id="{558B6228-0983-139C-67F9-BA4E800D421F}"/>
              </a:ext>
            </a:extLst>
          </p:cNvPr>
          <p:cNvPicPr>
            <a:picLocks noChangeAspect="1"/>
          </p:cNvPicPr>
          <p:nvPr/>
        </p:nvPicPr>
        <p:blipFill>
          <a:blip r:embed="rId2"/>
          <a:stretch>
            <a:fillRect/>
          </a:stretch>
        </p:blipFill>
        <p:spPr>
          <a:xfrm>
            <a:off x="2495600" y="2125867"/>
            <a:ext cx="8176969" cy="2606266"/>
          </a:xfrm>
          <a:prstGeom prst="rect">
            <a:avLst/>
          </a:prstGeom>
        </p:spPr>
      </p:pic>
      <p:sp>
        <p:nvSpPr>
          <p:cNvPr id="2" name="Date Placeholder 1"/>
          <p:cNvSpPr>
            <a:spLocks noGrp="1"/>
          </p:cNvSpPr>
          <p:nvPr>
            <p:ph type="dt" sz="half" idx="10"/>
          </p:nvPr>
        </p:nvSpPr>
        <p:spPr/>
        <p:txBody>
          <a:bodyPr/>
          <a:lstStyle/>
          <a:p>
            <a:fld id="{6A47A3B2-C4F6-4996-85F7-B9B5BFE8CCC2}" type="datetime1">
              <a:rPr lang="en-US" smtClean="0"/>
              <a:t>8/12/2024</a:t>
            </a:fld>
            <a:endParaRPr lang="en-IN"/>
          </a:p>
        </p:txBody>
      </p:sp>
      <p:sp>
        <p:nvSpPr>
          <p:cNvPr id="5" name="Footer Placeholder 4"/>
          <p:cNvSpPr>
            <a:spLocks noGrp="1"/>
          </p:cNvSpPr>
          <p:nvPr>
            <p:ph type="ftr" sz="quarter" idx="11"/>
          </p:nvPr>
        </p:nvSpPr>
        <p:spPr/>
        <p:txBody>
          <a:bodyPr/>
          <a:lstStyle/>
          <a:p>
            <a:r>
              <a:rPr lang="en-US"/>
              <a:t>21CSS201T - Computer Organization and Architecture</a:t>
            </a:r>
            <a:endParaRPr lang="en-IN"/>
          </a:p>
        </p:txBody>
      </p:sp>
      <p:sp>
        <p:nvSpPr>
          <p:cNvPr id="6" name="Slide Number Placeholder 5"/>
          <p:cNvSpPr>
            <a:spLocks noGrp="1"/>
          </p:cNvSpPr>
          <p:nvPr>
            <p:ph type="sldNum" sz="quarter" idx="12"/>
          </p:nvPr>
        </p:nvSpPr>
        <p:spPr/>
        <p:txBody>
          <a:bodyPr/>
          <a:lstStyle/>
          <a:p>
            <a:fld id="{AE669347-E3B4-439D-9D1F-3479A370CD23}" type="slidenum">
              <a:rPr lang="en-IN" smtClean="0"/>
              <a:pPr/>
              <a:t>20</a:t>
            </a:fld>
            <a:endParaRPr lang="en-IN"/>
          </a:p>
        </p:txBody>
      </p:sp>
    </p:spTree>
    <p:extLst>
      <p:ext uri="{BB962C8B-B14F-4D97-AF65-F5344CB8AC3E}">
        <p14:creationId xmlns:p14="http://schemas.microsoft.com/office/powerpoint/2010/main" val="3340502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marL="457200" lvl="1" indent="0" algn="just">
              <a:lnSpc>
                <a:spcPct val="100000"/>
              </a:lnSpc>
              <a:buNone/>
            </a:pPr>
            <a:endParaRPr lang="en-IN" sz="2000" dirty="0">
              <a:latin typeface="Palatino Linotype" panose="02040502050505030304" pitchFamily="18" charset="0"/>
            </a:endParaRPr>
          </a:p>
        </p:txBody>
      </p:sp>
      <p:pic>
        <p:nvPicPr>
          <p:cNvPr id="5" name="Picture 4">
            <a:extLst>
              <a:ext uri="{FF2B5EF4-FFF2-40B4-BE49-F238E27FC236}">
                <a16:creationId xmlns:a16="http://schemas.microsoft.com/office/drawing/2014/main" xmlns="" id="{06635077-278A-8BCD-BF8B-F24945519150}"/>
              </a:ext>
            </a:extLst>
          </p:cNvPr>
          <p:cNvPicPr>
            <a:picLocks noChangeAspect="1"/>
          </p:cNvPicPr>
          <p:nvPr/>
        </p:nvPicPr>
        <p:blipFill>
          <a:blip r:embed="rId2"/>
          <a:stretch>
            <a:fillRect/>
          </a:stretch>
        </p:blipFill>
        <p:spPr>
          <a:xfrm>
            <a:off x="1487488" y="1359173"/>
            <a:ext cx="8568952" cy="4781086"/>
          </a:xfrm>
          <a:prstGeom prst="rect">
            <a:avLst/>
          </a:prstGeom>
        </p:spPr>
      </p:pic>
      <p:sp>
        <p:nvSpPr>
          <p:cNvPr id="2" name="Date Placeholder 1"/>
          <p:cNvSpPr>
            <a:spLocks noGrp="1"/>
          </p:cNvSpPr>
          <p:nvPr>
            <p:ph type="dt" sz="half" idx="10"/>
          </p:nvPr>
        </p:nvSpPr>
        <p:spPr/>
        <p:txBody>
          <a:bodyPr/>
          <a:lstStyle/>
          <a:p>
            <a:fld id="{D6A5C69C-6952-48EB-B569-2CAA6ABA8D00}"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6" name="Slide Number Placeholder 5"/>
          <p:cNvSpPr>
            <a:spLocks noGrp="1"/>
          </p:cNvSpPr>
          <p:nvPr>
            <p:ph type="sldNum" sz="quarter" idx="12"/>
          </p:nvPr>
        </p:nvSpPr>
        <p:spPr/>
        <p:txBody>
          <a:bodyPr/>
          <a:lstStyle/>
          <a:p>
            <a:fld id="{AE669347-E3B4-439D-9D1F-3479A370CD23}" type="slidenum">
              <a:rPr lang="en-IN" smtClean="0"/>
              <a:pPr/>
              <a:t>21</a:t>
            </a:fld>
            <a:endParaRPr lang="en-IN"/>
          </a:p>
        </p:txBody>
      </p:sp>
    </p:spTree>
    <p:extLst>
      <p:ext uri="{BB962C8B-B14F-4D97-AF65-F5344CB8AC3E}">
        <p14:creationId xmlns:p14="http://schemas.microsoft.com/office/powerpoint/2010/main" val="1754187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marL="457200" lvl="1" indent="0" algn="just">
              <a:lnSpc>
                <a:spcPct val="100000"/>
              </a:lnSpc>
              <a:buNone/>
            </a:pPr>
            <a:endParaRPr lang="en-IN" sz="2000" dirty="0">
              <a:latin typeface="Palatino Linotype" panose="02040502050505030304" pitchFamily="18" charset="0"/>
            </a:endParaRPr>
          </a:p>
        </p:txBody>
      </p:sp>
      <p:pic>
        <p:nvPicPr>
          <p:cNvPr id="11" name="Picture 10">
            <a:extLst>
              <a:ext uri="{FF2B5EF4-FFF2-40B4-BE49-F238E27FC236}">
                <a16:creationId xmlns:a16="http://schemas.microsoft.com/office/drawing/2014/main" xmlns="" id="{10B0349A-B2AC-C994-7037-4774940D5DB1}"/>
              </a:ext>
            </a:extLst>
          </p:cNvPr>
          <p:cNvPicPr>
            <a:picLocks noChangeAspect="1"/>
          </p:cNvPicPr>
          <p:nvPr/>
        </p:nvPicPr>
        <p:blipFill>
          <a:blip r:embed="rId2"/>
          <a:stretch>
            <a:fillRect/>
          </a:stretch>
        </p:blipFill>
        <p:spPr>
          <a:xfrm>
            <a:off x="1631504" y="1263028"/>
            <a:ext cx="8682531" cy="5066771"/>
          </a:xfrm>
          <a:prstGeom prst="rect">
            <a:avLst/>
          </a:prstGeom>
        </p:spPr>
      </p:pic>
      <p:sp>
        <p:nvSpPr>
          <p:cNvPr id="2" name="Date Placeholder 1"/>
          <p:cNvSpPr>
            <a:spLocks noGrp="1"/>
          </p:cNvSpPr>
          <p:nvPr>
            <p:ph type="dt" sz="half" idx="10"/>
          </p:nvPr>
        </p:nvSpPr>
        <p:spPr/>
        <p:txBody>
          <a:bodyPr/>
          <a:lstStyle/>
          <a:p>
            <a:fld id="{791AD0E6-D434-4314-905A-E6F2A5D785F1}"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5" name="Slide Number Placeholder 4"/>
          <p:cNvSpPr>
            <a:spLocks noGrp="1"/>
          </p:cNvSpPr>
          <p:nvPr>
            <p:ph type="sldNum" sz="quarter" idx="12"/>
          </p:nvPr>
        </p:nvSpPr>
        <p:spPr/>
        <p:txBody>
          <a:bodyPr/>
          <a:lstStyle/>
          <a:p>
            <a:fld id="{AE669347-E3B4-439D-9D1F-3479A370CD23}" type="slidenum">
              <a:rPr lang="en-IN" smtClean="0"/>
              <a:pPr/>
              <a:t>22</a:t>
            </a:fld>
            <a:endParaRPr lang="en-IN"/>
          </a:p>
        </p:txBody>
      </p:sp>
    </p:spTree>
    <p:extLst>
      <p:ext uri="{BB962C8B-B14F-4D97-AF65-F5344CB8AC3E}">
        <p14:creationId xmlns:p14="http://schemas.microsoft.com/office/powerpoint/2010/main" val="665383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lvl="1" algn="just">
              <a:lnSpc>
                <a:spcPct val="100000"/>
              </a:lnSpc>
            </a:pPr>
            <a:endParaRPr lang="en-IN" sz="2000" dirty="0">
              <a:latin typeface="Palatino Linotype" panose="02040502050505030304" pitchFamily="18" charset="0"/>
            </a:endParaRPr>
          </a:p>
        </p:txBody>
      </p:sp>
      <p:pic>
        <p:nvPicPr>
          <p:cNvPr id="8" name="Picture 7">
            <a:extLst>
              <a:ext uri="{FF2B5EF4-FFF2-40B4-BE49-F238E27FC236}">
                <a16:creationId xmlns:a16="http://schemas.microsoft.com/office/drawing/2014/main" xmlns="" id="{718FC898-5431-0F40-D9AB-47B78FA791BB}"/>
              </a:ext>
            </a:extLst>
          </p:cNvPr>
          <p:cNvPicPr>
            <a:picLocks noChangeAspect="1"/>
          </p:cNvPicPr>
          <p:nvPr/>
        </p:nvPicPr>
        <p:blipFill>
          <a:blip r:embed="rId2"/>
          <a:stretch>
            <a:fillRect/>
          </a:stretch>
        </p:blipFill>
        <p:spPr>
          <a:xfrm>
            <a:off x="1631504" y="1234898"/>
            <a:ext cx="8420830" cy="5029636"/>
          </a:xfrm>
          <a:prstGeom prst="rect">
            <a:avLst/>
          </a:prstGeom>
        </p:spPr>
      </p:pic>
      <p:sp>
        <p:nvSpPr>
          <p:cNvPr id="2" name="Date Placeholder 1"/>
          <p:cNvSpPr>
            <a:spLocks noGrp="1"/>
          </p:cNvSpPr>
          <p:nvPr>
            <p:ph type="dt" sz="half" idx="10"/>
          </p:nvPr>
        </p:nvSpPr>
        <p:spPr/>
        <p:txBody>
          <a:bodyPr/>
          <a:lstStyle/>
          <a:p>
            <a:fld id="{0FD30846-69FD-454E-AE0A-D69656140457}"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5" name="Slide Number Placeholder 4"/>
          <p:cNvSpPr>
            <a:spLocks noGrp="1"/>
          </p:cNvSpPr>
          <p:nvPr>
            <p:ph type="sldNum" sz="quarter" idx="12"/>
          </p:nvPr>
        </p:nvSpPr>
        <p:spPr/>
        <p:txBody>
          <a:bodyPr/>
          <a:lstStyle/>
          <a:p>
            <a:fld id="{AE669347-E3B4-439D-9D1F-3479A370CD23}" type="slidenum">
              <a:rPr lang="en-IN" smtClean="0"/>
              <a:pPr/>
              <a:t>23</a:t>
            </a:fld>
            <a:endParaRPr lang="en-IN"/>
          </a:p>
        </p:txBody>
      </p:sp>
    </p:spTree>
    <p:extLst>
      <p:ext uri="{BB962C8B-B14F-4D97-AF65-F5344CB8AC3E}">
        <p14:creationId xmlns:p14="http://schemas.microsoft.com/office/powerpoint/2010/main" val="14137948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lvl="1" algn="just">
              <a:lnSpc>
                <a:spcPct val="100000"/>
              </a:lnSpc>
            </a:pPr>
            <a:endParaRPr lang="en-IN" sz="2000" dirty="0">
              <a:latin typeface="Palatino Linotype" panose="02040502050505030304" pitchFamily="18" charset="0"/>
            </a:endParaRPr>
          </a:p>
        </p:txBody>
      </p:sp>
      <p:pic>
        <p:nvPicPr>
          <p:cNvPr id="8" name="Picture 7">
            <a:extLst>
              <a:ext uri="{FF2B5EF4-FFF2-40B4-BE49-F238E27FC236}">
                <a16:creationId xmlns:a16="http://schemas.microsoft.com/office/drawing/2014/main" xmlns="" id="{094BBC45-250E-04D2-9AA2-8B1C1C8343D5}"/>
              </a:ext>
            </a:extLst>
          </p:cNvPr>
          <p:cNvPicPr>
            <a:picLocks noChangeAspect="1"/>
          </p:cNvPicPr>
          <p:nvPr/>
        </p:nvPicPr>
        <p:blipFill>
          <a:blip r:embed="rId2"/>
          <a:stretch>
            <a:fillRect/>
          </a:stretch>
        </p:blipFill>
        <p:spPr>
          <a:xfrm>
            <a:off x="2351584" y="1221446"/>
            <a:ext cx="7619522" cy="5102158"/>
          </a:xfrm>
          <a:prstGeom prst="rect">
            <a:avLst/>
          </a:prstGeom>
        </p:spPr>
      </p:pic>
      <p:sp>
        <p:nvSpPr>
          <p:cNvPr id="2" name="Date Placeholder 1"/>
          <p:cNvSpPr>
            <a:spLocks noGrp="1"/>
          </p:cNvSpPr>
          <p:nvPr>
            <p:ph type="dt" sz="half" idx="10"/>
          </p:nvPr>
        </p:nvSpPr>
        <p:spPr/>
        <p:txBody>
          <a:bodyPr/>
          <a:lstStyle/>
          <a:p>
            <a:fld id="{61F10B6B-048F-4ABE-B72E-0BE44E23AD65}"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5" name="Slide Number Placeholder 4"/>
          <p:cNvSpPr>
            <a:spLocks noGrp="1"/>
          </p:cNvSpPr>
          <p:nvPr>
            <p:ph type="sldNum" sz="quarter" idx="12"/>
          </p:nvPr>
        </p:nvSpPr>
        <p:spPr/>
        <p:txBody>
          <a:bodyPr/>
          <a:lstStyle/>
          <a:p>
            <a:fld id="{AE669347-E3B4-439D-9D1F-3479A370CD23}" type="slidenum">
              <a:rPr lang="en-IN" smtClean="0"/>
              <a:pPr/>
              <a:t>24</a:t>
            </a:fld>
            <a:endParaRPr lang="en-IN"/>
          </a:p>
        </p:txBody>
      </p:sp>
    </p:spTree>
    <p:extLst>
      <p:ext uri="{BB962C8B-B14F-4D97-AF65-F5344CB8AC3E}">
        <p14:creationId xmlns:p14="http://schemas.microsoft.com/office/powerpoint/2010/main" val="2810381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lvl="1" algn="just">
              <a:lnSpc>
                <a:spcPct val="100000"/>
              </a:lnSpc>
            </a:pPr>
            <a:endParaRPr lang="en-IN" sz="2000" dirty="0">
              <a:latin typeface="Palatino Linotype" panose="02040502050505030304" pitchFamily="18" charset="0"/>
            </a:endParaRPr>
          </a:p>
        </p:txBody>
      </p:sp>
      <p:sp>
        <p:nvSpPr>
          <p:cNvPr id="5" name="TextBox 4">
            <a:extLst>
              <a:ext uri="{FF2B5EF4-FFF2-40B4-BE49-F238E27FC236}">
                <a16:creationId xmlns:a16="http://schemas.microsoft.com/office/drawing/2014/main" xmlns="" id="{56BF61DB-FB7B-EAF9-C999-0E601F98A2C7}"/>
              </a:ext>
            </a:extLst>
          </p:cNvPr>
          <p:cNvSpPr txBox="1"/>
          <p:nvPr/>
        </p:nvSpPr>
        <p:spPr>
          <a:xfrm>
            <a:off x="1199456" y="1268760"/>
            <a:ext cx="9577064" cy="1200329"/>
          </a:xfrm>
          <a:prstGeom prst="rect">
            <a:avLst/>
          </a:prstGeom>
          <a:noFill/>
        </p:spPr>
        <p:txBody>
          <a:bodyPr wrap="square">
            <a:spAutoFit/>
          </a:bodyPr>
          <a:lstStyle/>
          <a:p>
            <a:pPr algn="just" eaLnBrk="0" hangingPunct="0"/>
            <a:r>
              <a:rPr lang="en-US" sz="1800" b="1" dirty="0">
                <a:latin typeface="Times New Roman" panose="02020603050405020304" pitchFamily="18" charset="0"/>
                <a:cs typeface="Times New Roman" panose="02020603050405020304" pitchFamily="18" charset="0"/>
              </a:rPr>
              <a:t>Registers</a:t>
            </a:r>
            <a:r>
              <a:rPr lang="en-US" sz="1800" dirty="0">
                <a:latin typeface="Times New Roman" panose="02020603050405020304" pitchFamily="18" charset="0"/>
                <a:cs typeface="Times New Roman" panose="02020603050405020304" pitchFamily="18" charset="0"/>
              </a:rPr>
              <a:t> </a:t>
            </a:r>
          </a:p>
          <a:p>
            <a:pPr algn="just" eaLnBrk="0" hangingPunct="0"/>
            <a:r>
              <a:rPr lang="en-US" sz="1800" dirty="0">
                <a:latin typeface="Times New Roman" panose="02020603050405020304" pitchFamily="18" charset="0"/>
                <a:cs typeface="Times New Roman" panose="02020603050405020304" pitchFamily="18" charset="0"/>
              </a:rPr>
              <a:t>Registers are fast stand-alone storage locations that hold data temporarily. Multiple registers are needed to facilitate the operation of the CPU. Some of these registers are </a:t>
            </a:r>
          </a:p>
          <a:p>
            <a:pPr algn="just" eaLnBrk="0" hangingPunct="0"/>
            <a:endParaRPr lang="en-US" sz="1800" dirty="0">
              <a:latin typeface="Times New Roman" panose="02020603050405020304" pitchFamily="18" charset="0"/>
              <a:cs typeface="Times New Roman" panose="02020603050405020304" pitchFamily="18" charset="0"/>
            </a:endParaRPr>
          </a:p>
        </p:txBody>
      </p:sp>
      <p:sp>
        <p:nvSpPr>
          <p:cNvPr id="6" name="Rectangle 4">
            <a:extLst>
              <a:ext uri="{FF2B5EF4-FFF2-40B4-BE49-F238E27FC236}">
                <a16:creationId xmlns:a16="http://schemas.microsoft.com/office/drawing/2014/main" xmlns="" id="{E27CC576-88B9-3400-74CD-200C0883BF8D}"/>
              </a:ext>
            </a:extLst>
          </p:cNvPr>
          <p:cNvSpPr>
            <a:spLocks noChangeArrowheads="1"/>
          </p:cNvSpPr>
          <p:nvPr/>
        </p:nvSpPr>
        <p:spPr bwMode="auto">
          <a:xfrm>
            <a:off x="1569504" y="2331744"/>
            <a:ext cx="8991600" cy="3970318"/>
          </a:xfrm>
          <a:prstGeom prst="rect">
            <a:avLst/>
          </a:prstGeom>
          <a:solidFill>
            <a:srgbClr val="CCFF99"/>
          </a:solidFill>
          <a:ln w="9525">
            <a:noFill/>
            <a:miter lim="800000"/>
            <a:headEnd/>
            <a:tailEnd/>
          </a:ln>
          <a:effectLst/>
        </p:spPr>
        <p:txBody>
          <a:bodyPr wrap="square">
            <a:spAutoFit/>
          </a:bodyPr>
          <a:lstStyle/>
          <a:p>
            <a:pPr algn="just" eaLnBrk="0" hangingPunct="0">
              <a:spcAft>
                <a:spcPct val="50000"/>
              </a:spcAft>
              <a:buFont typeface="Wingdings" pitchFamily="2" charset="2"/>
              <a:buChar char="q"/>
            </a:pPr>
            <a:r>
              <a:rPr lang="en-US" sz="2400" b="1" dirty="0">
                <a:solidFill>
                  <a:srgbClr val="660066"/>
                </a:solidFill>
              </a:rPr>
              <a:t> Two registers-MAR (Memory Address Register) and MDR (Memory Data Register) : To handle the data transfer between main memory and processor. MAR-Holds addresses, MDR-Holds  data</a:t>
            </a:r>
          </a:p>
          <a:p>
            <a:pPr algn="just" eaLnBrk="0" hangingPunct="0">
              <a:spcAft>
                <a:spcPct val="50000"/>
              </a:spcAft>
              <a:buFont typeface="Wingdings" pitchFamily="2" charset="2"/>
              <a:buChar char="q"/>
            </a:pPr>
            <a:r>
              <a:rPr lang="en-US" sz="2400" b="1" dirty="0">
                <a:solidFill>
                  <a:srgbClr val="660066"/>
                </a:solidFill>
              </a:rPr>
              <a:t> Instruction register (IR) : Hold the Instructions that is currently being executed</a:t>
            </a:r>
          </a:p>
          <a:p>
            <a:pPr algn="just" eaLnBrk="0" hangingPunct="0">
              <a:spcAft>
                <a:spcPct val="50000"/>
              </a:spcAft>
              <a:buFont typeface="Wingdings" pitchFamily="2" charset="2"/>
              <a:buChar char="q"/>
            </a:pPr>
            <a:r>
              <a:rPr lang="en-US" sz="2400" b="1" dirty="0">
                <a:solidFill>
                  <a:srgbClr val="660066"/>
                </a:solidFill>
              </a:rPr>
              <a:t> Program counter (PC) : Points to the next instructions that is to be fetched from memory</a:t>
            </a:r>
          </a:p>
          <a:p>
            <a:pPr algn="just" eaLnBrk="0" hangingPunct="0">
              <a:spcAft>
                <a:spcPct val="50000"/>
              </a:spcAft>
              <a:buFont typeface="Wingdings" pitchFamily="2" charset="2"/>
              <a:buChar char="q"/>
            </a:pPr>
            <a:r>
              <a:rPr lang="en-GB" sz="2400" b="1" dirty="0">
                <a:solidFill>
                  <a:schemeClr val="accent1">
                    <a:lumMod val="50000"/>
                  </a:schemeClr>
                </a:solidFill>
              </a:rPr>
              <a:t>General-purpose Registers: are used for holding data, intermediate results of operations. They are also known as scratch-pad registers.</a:t>
            </a:r>
            <a:endParaRPr lang="en-US" sz="2400" b="1" dirty="0">
              <a:solidFill>
                <a:schemeClr val="accent1">
                  <a:lumMod val="50000"/>
                </a:schemeClr>
              </a:solidFill>
            </a:endParaRPr>
          </a:p>
        </p:txBody>
      </p:sp>
      <p:sp>
        <p:nvSpPr>
          <p:cNvPr id="2" name="Date Placeholder 1"/>
          <p:cNvSpPr>
            <a:spLocks noGrp="1"/>
          </p:cNvSpPr>
          <p:nvPr>
            <p:ph type="dt" sz="half" idx="10"/>
          </p:nvPr>
        </p:nvSpPr>
        <p:spPr/>
        <p:txBody>
          <a:bodyPr/>
          <a:lstStyle/>
          <a:p>
            <a:fld id="{FC67A6B9-AA66-4986-93D6-229D3DCACA0A}"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7" name="Slide Number Placeholder 6"/>
          <p:cNvSpPr>
            <a:spLocks noGrp="1"/>
          </p:cNvSpPr>
          <p:nvPr>
            <p:ph type="sldNum" sz="quarter" idx="12"/>
          </p:nvPr>
        </p:nvSpPr>
        <p:spPr/>
        <p:txBody>
          <a:bodyPr/>
          <a:lstStyle/>
          <a:p>
            <a:fld id="{AE669347-E3B4-439D-9D1F-3479A370CD23}" type="slidenum">
              <a:rPr lang="en-IN" smtClean="0"/>
              <a:pPr/>
              <a:t>25</a:t>
            </a:fld>
            <a:endParaRPr lang="en-IN"/>
          </a:p>
        </p:txBody>
      </p:sp>
    </p:spTree>
    <p:extLst>
      <p:ext uri="{BB962C8B-B14F-4D97-AF65-F5344CB8AC3E}">
        <p14:creationId xmlns:p14="http://schemas.microsoft.com/office/powerpoint/2010/main" val="2899016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lvl="1" algn="just">
              <a:lnSpc>
                <a:spcPct val="100000"/>
              </a:lnSpc>
            </a:pPr>
            <a:endParaRPr lang="en-IN" sz="2000" dirty="0">
              <a:latin typeface="Palatino Linotype" panose="02040502050505030304" pitchFamily="18" charset="0"/>
            </a:endParaRPr>
          </a:p>
        </p:txBody>
      </p:sp>
      <p:pic>
        <p:nvPicPr>
          <p:cNvPr id="7" name="Picture 6">
            <a:extLst>
              <a:ext uri="{FF2B5EF4-FFF2-40B4-BE49-F238E27FC236}">
                <a16:creationId xmlns:a16="http://schemas.microsoft.com/office/drawing/2014/main" xmlns="" id="{A945A974-FC69-9610-6703-3C1C862E4C23}"/>
              </a:ext>
            </a:extLst>
          </p:cNvPr>
          <p:cNvPicPr>
            <a:picLocks noChangeAspect="1"/>
          </p:cNvPicPr>
          <p:nvPr/>
        </p:nvPicPr>
        <p:blipFill>
          <a:blip r:embed="rId2"/>
          <a:stretch>
            <a:fillRect/>
          </a:stretch>
        </p:blipFill>
        <p:spPr>
          <a:xfrm>
            <a:off x="2765916" y="1484784"/>
            <a:ext cx="6660167" cy="4746712"/>
          </a:xfrm>
          <a:prstGeom prst="rect">
            <a:avLst/>
          </a:prstGeom>
        </p:spPr>
      </p:pic>
      <p:sp>
        <p:nvSpPr>
          <p:cNvPr id="2" name="Date Placeholder 1"/>
          <p:cNvSpPr>
            <a:spLocks noGrp="1"/>
          </p:cNvSpPr>
          <p:nvPr>
            <p:ph type="dt" sz="half" idx="10"/>
          </p:nvPr>
        </p:nvSpPr>
        <p:spPr/>
        <p:txBody>
          <a:bodyPr/>
          <a:lstStyle/>
          <a:p>
            <a:fld id="{E2F11277-60FA-417A-A423-D8A19939112F}"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5" name="Slide Number Placeholder 4"/>
          <p:cNvSpPr>
            <a:spLocks noGrp="1"/>
          </p:cNvSpPr>
          <p:nvPr>
            <p:ph type="sldNum" sz="quarter" idx="12"/>
          </p:nvPr>
        </p:nvSpPr>
        <p:spPr/>
        <p:txBody>
          <a:bodyPr/>
          <a:lstStyle/>
          <a:p>
            <a:fld id="{AE669347-E3B4-439D-9D1F-3479A370CD23}" type="slidenum">
              <a:rPr lang="en-IN" smtClean="0"/>
              <a:pPr/>
              <a:t>26</a:t>
            </a:fld>
            <a:endParaRPr lang="en-IN"/>
          </a:p>
        </p:txBody>
      </p:sp>
    </p:spTree>
    <p:extLst>
      <p:ext uri="{BB962C8B-B14F-4D97-AF65-F5344CB8AC3E}">
        <p14:creationId xmlns:p14="http://schemas.microsoft.com/office/powerpoint/2010/main" val="2393995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lvl="1" algn="just">
              <a:lnSpc>
                <a:spcPct val="100000"/>
              </a:lnSpc>
            </a:pPr>
            <a:endParaRPr lang="en-IN" sz="2000" dirty="0">
              <a:latin typeface="Palatino Linotype" panose="02040502050505030304" pitchFamily="18" charset="0"/>
            </a:endParaRPr>
          </a:p>
        </p:txBody>
      </p:sp>
      <p:pic>
        <p:nvPicPr>
          <p:cNvPr id="8" name="Picture 7">
            <a:extLst>
              <a:ext uri="{FF2B5EF4-FFF2-40B4-BE49-F238E27FC236}">
                <a16:creationId xmlns:a16="http://schemas.microsoft.com/office/drawing/2014/main" xmlns="" id="{57347BCA-90F7-A764-0C54-BD199BEAAF77}"/>
              </a:ext>
            </a:extLst>
          </p:cNvPr>
          <p:cNvPicPr>
            <a:picLocks noChangeAspect="1"/>
          </p:cNvPicPr>
          <p:nvPr/>
        </p:nvPicPr>
        <p:blipFill>
          <a:blip r:embed="rId2"/>
          <a:stretch>
            <a:fillRect/>
          </a:stretch>
        </p:blipFill>
        <p:spPr>
          <a:xfrm>
            <a:off x="2279576" y="1340768"/>
            <a:ext cx="7818660" cy="4679198"/>
          </a:xfrm>
          <a:prstGeom prst="rect">
            <a:avLst/>
          </a:prstGeom>
        </p:spPr>
      </p:pic>
      <p:sp>
        <p:nvSpPr>
          <p:cNvPr id="2" name="Date Placeholder 1"/>
          <p:cNvSpPr>
            <a:spLocks noGrp="1"/>
          </p:cNvSpPr>
          <p:nvPr>
            <p:ph type="dt" sz="half" idx="10"/>
          </p:nvPr>
        </p:nvSpPr>
        <p:spPr/>
        <p:txBody>
          <a:bodyPr/>
          <a:lstStyle/>
          <a:p>
            <a:fld id="{F230600C-40FA-4A51-9B72-6E9EB61F092D}"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5" name="Slide Number Placeholder 4"/>
          <p:cNvSpPr>
            <a:spLocks noGrp="1"/>
          </p:cNvSpPr>
          <p:nvPr>
            <p:ph type="sldNum" sz="quarter" idx="12"/>
          </p:nvPr>
        </p:nvSpPr>
        <p:spPr/>
        <p:txBody>
          <a:bodyPr/>
          <a:lstStyle/>
          <a:p>
            <a:fld id="{AE669347-E3B4-439D-9D1F-3479A370CD23}" type="slidenum">
              <a:rPr lang="en-IN" smtClean="0"/>
              <a:pPr/>
              <a:t>27</a:t>
            </a:fld>
            <a:endParaRPr lang="en-IN"/>
          </a:p>
        </p:txBody>
      </p:sp>
    </p:spTree>
    <p:extLst>
      <p:ext uri="{BB962C8B-B14F-4D97-AF65-F5344CB8AC3E}">
        <p14:creationId xmlns:p14="http://schemas.microsoft.com/office/powerpoint/2010/main" val="2313440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lvl="1" algn="just">
              <a:lnSpc>
                <a:spcPct val="100000"/>
              </a:lnSpc>
            </a:pPr>
            <a:endParaRPr lang="en-IN" sz="2000" dirty="0">
              <a:latin typeface="Palatino Linotype" panose="02040502050505030304" pitchFamily="18" charset="0"/>
            </a:endParaRPr>
          </a:p>
        </p:txBody>
      </p:sp>
      <p:pic>
        <p:nvPicPr>
          <p:cNvPr id="5" name="Picture 4">
            <a:extLst>
              <a:ext uri="{FF2B5EF4-FFF2-40B4-BE49-F238E27FC236}">
                <a16:creationId xmlns:a16="http://schemas.microsoft.com/office/drawing/2014/main" xmlns="" id="{632D3D0F-FB33-18B0-9EAA-A84E6208BD48}"/>
              </a:ext>
            </a:extLst>
          </p:cNvPr>
          <p:cNvPicPr>
            <a:picLocks noChangeAspect="1"/>
          </p:cNvPicPr>
          <p:nvPr/>
        </p:nvPicPr>
        <p:blipFill>
          <a:blip r:embed="rId2"/>
          <a:stretch>
            <a:fillRect/>
          </a:stretch>
        </p:blipFill>
        <p:spPr>
          <a:xfrm>
            <a:off x="1912257" y="1208226"/>
            <a:ext cx="8367485" cy="5082980"/>
          </a:xfrm>
          <a:prstGeom prst="rect">
            <a:avLst/>
          </a:prstGeom>
        </p:spPr>
      </p:pic>
      <p:sp>
        <p:nvSpPr>
          <p:cNvPr id="2" name="Date Placeholder 1"/>
          <p:cNvSpPr>
            <a:spLocks noGrp="1"/>
          </p:cNvSpPr>
          <p:nvPr>
            <p:ph type="dt" sz="half" idx="10"/>
          </p:nvPr>
        </p:nvSpPr>
        <p:spPr/>
        <p:txBody>
          <a:bodyPr/>
          <a:lstStyle/>
          <a:p>
            <a:fld id="{4B9AA048-6625-48A3-A6B8-7E39BB2EEF8D}"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6" name="Slide Number Placeholder 5"/>
          <p:cNvSpPr>
            <a:spLocks noGrp="1"/>
          </p:cNvSpPr>
          <p:nvPr>
            <p:ph type="sldNum" sz="quarter" idx="12"/>
          </p:nvPr>
        </p:nvSpPr>
        <p:spPr/>
        <p:txBody>
          <a:bodyPr/>
          <a:lstStyle/>
          <a:p>
            <a:fld id="{AE669347-E3B4-439D-9D1F-3479A370CD23}" type="slidenum">
              <a:rPr lang="en-IN" smtClean="0"/>
              <a:pPr/>
              <a:t>28</a:t>
            </a:fld>
            <a:endParaRPr lang="en-IN"/>
          </a:p>
        </p:txBody>
      </p:sp>
    </p:spTree>
    <p:extLst>
      <p:ext uri="{BB962C8B-B14F-4D97-AF65-F5344CB8AC3E}">
        <p14:creationId xmlns:p14="http://schemas.microsoft.com/office/powerpoint/2010/main" val="547464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lvl="1" algn="just">
              <a:lnSpc>
                <a:spcPct val="100000"/>
              </a:lnSpc>
            </a:pPr>
            <a:endParaRPr lang="en-IN" sz="2000" dirty="0">
              <a:latin typeface="Palatino Linotype" panose="02040502050505030304" pitchFamily="18" charset="0"/>
            </a:endParaRPr>
          </a:p>
        </p:txBody>
      </p:sp>
      <p:pic>
        <p:nvPicPr>
          <p:cNvPr id="6" name="Picture 5">
            <a:extLst>
              <a:ext uri="{FF2B5EF4-FFF2-40B4-BE49-F238E27FC236}">
                <a16:creationId xmlns:a16="http://schemas.microsoft.com/office/drawing/2014/main" xmlns="" id="{188290F1-9F5D-89BA-0E51-1566FAB2EF5E}"/>
              </a:ext>
            </a:extLst>
          </p:cNvPr>
          <p:cNvPicPr>
            <a:picLocks noChangeAspect="1"/>
          </p:cNvPicPr>
          <p:nvPr/>
        </p:nvPicPr>
        <p:blipFill>
          <a:blip r:embed="rId2"/>
          <a:stretch>
            <a:fillRect/>
          </a:stretch>
        </p:blipFill>
        <p:spPr>
          <a:xfrm>
            <a:off x="1487488" y="1268760"/>
            <a:ext cx="8931414" cy="4686706"/>
          </a:xfrm>
          <a:prstGeom prst="rect">
            <a:avLst/>
          </a:prstGeom>
        </p:spPr>
      </p:pic>
      <p:sp>
        <p:nvSpPr>
          <p:cNvPr id="2" name="Date Placeholder 1"/>
          <p:cNvSpPr>
            <a:spLocks noGrp="1"/>
          </p:cNvSpPr>
          <p:nvPr>
            <p:ph type="dt" sz="half" idx="10"/>
          </p:nvPr>
        </p:nvSpPr>
        <p:spPr/>
        <p:txBody>
          <a:bodyPr/>
          <a:lstStyle/>
          <a:p>
            <a:fld id="{44B62821-163B-44AA-B130-7C3B1939C3CA}"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5" name="Slide Number Placeholder 4"/>
          <p:cNvSpPr>
            <a:spLocks noGrp="1"/>
          </p:cNvSpPr>
          <p:nvPr>
            <p:ph type="sldNum" sz="quarter" idx="12"/>
          </p:nvPr>
        </p:nvSpPr>
        <p:spPr/>
        <p:txBody>
          <a:bodyPr/>
          <a:lstStyle/>
          <a:p>
            <a:fld id="{AE669347-E3B4-439D-9D1F-3479A370CD23}" type="slidenum">
              <a:rPr lang="en-IN" smtClean="0"/>
              <a:pPr/>
              <a:t>29</a:t>
            </a:fld>
            <a:endParaRPr lang="en-IN"/>
          </a:p>
        </p:txBody>
      </p:sp>
    </p:spTree>
    <p:extLst>
      <p:ext uri="{BB962C8B-B14F-4D97-AF65-F5344CB8AC3E}">
        <p14:creationId xmlns:p14="http://schemas.microsoft.com/office/powerpoint/2010/main" val="35078031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A88D1CB-DF46-415D-93A1-5E9FB865DC4F}"/>
              </a:ext>
            </a:extLst>
          </p:cNvPr>
          <p:cNvSpPr>
            <a:spLocks noGrp="1"/>
          </p:cNvSpPr>
          <p:nvPr>
            <p:ph idx="1"/>
          </p:nvPr>
        </p:nvSpPr>
        <p:spPr>
          <a:xfrm>
            <a:off x="838200" y="1133934"/>
            <a:ext cx="10515600" cy="5231565"/>
          </a:xfrm>
          <a:ln w="38100">
            <a:solidFill>
              <a:schemeClr val="tx1"/>
            </a:solidFill>
          </a:ln>
        </p:spPr>
        <p:txBody>
          <a:bodyPr>
            <a:normAutofit/>
          </a:bodyPr>
          <a:lstStyle>
            <a:defPPr/>
          </a:lstStyle>
          <a:p>
            <a:pPr algn="just">
              <a:lnSpc>
                <a:spcPct val="100000"/>
              </a:lnSpc>
            </a:pPr>
            <a:endParaRPr lang="en-IN" sz="2400" dirty="0">
              <a:latin typeface="Palatino Linotype" panose="02040502050505030304" pitchFamily="18" charset="0"/>
            </a:endParaRPr>
          </a:p>
          <a:p>
            <a:pPr lvl="1" algn="just">
              <a:lnSpc>
                <a:spcPct val="100000"/>
              </a:lnSpc>
            </a:pPr>
            <a:endParaRPr lang="en-IN" sz="2000" dirty="0">
              <a:latin typeface="Palatino Linotype" panose="02040502050505030304" pitchFamily="18" charset="0"/>
            </a:endParaRPr>
          </a:p>
        </p:txBody>
      </p:sp>
      <p:pic>
        <p:nvPicPr>
          <p:cNvPr id="6" name="Picture 5">
            <a:extLst>
              <a:ext uri="{FF2B5EF4-FFF2-40B4-BE49-F238E27FC236}">
                <a16:creationId xmlns:a16="http://schemas.microsoft.com/office/drawing/2014/main" xmlns="" id="{7539A02E-22A1-F494-CFEA-4E1685AC3FE8}"/>
              </a:ext>
            </a:extLst>
          </p:cNvPr>
          <p:cNvPicPr>
            <a:picLocks noChangeAspect="1"/>
          </p:cNvPicPr>
          <p:nvPr/>
        </p:nvPicPr>
        <p:blipFill>
          <a:blip r:embed="rId2"/>
          <a:stretch>
            <a:fillRect/>
          </a:stretch>
        </p:blipFill>
        <p:spPr>
          <a:xfrm>
            <a:off x="1775520" y="1311104"/>
            <a:ext cx="8466554" cy="4877223"/>
          </a:xfrm>
          <a:prstGeom prst="rect">
            <a:avLst/>
          </a:prstGeom>
        </p:spPr>
      </p:pic>
      <p:sp>
        <p:nvSpPr>
          <p:cNvPr id="2" name="Date Placeholder 1"/>
          <p:cNvSpPr>
            <a:spLocks noGrp="1"/>
          </p:cNvSpPr>
          <p:nvPr>
            <p:ph type="dt" sz="half" idx="10"/>
          </p:nvPr>
        </p:nvSpPr>
        <p:spPr/>
        <p:txBody>
          <a:bodyPr/>
          <a:lstStyle/>
          <a:p>
            <a:fld id="{DA938C7B-55FA-4FA1-9AE5-3B2622A1EF7C}" type="datetime1">
              <a:rPr lang="en-US" smtClean="0"/>
              <a:t>8/12/2024</a:t>
            </a:fld>
            <a:endParaRPr lang="en-IN"/>
          </a:p>
        </p:txBody>
      </p:sp>
      <p:sp>
        <p:nvSpPr>
          <p:cNvPr id="4" name="Footer Placeholder 3"/>
          <p:cNvSpPr>
            <a:spLocks noGrp="1"/>
          </p:cNvSpPr>
          <p:nvPr>
            <p:ph type="ftr" sz="quarter" idx="11"/>
          </p:nvPr>
        </p:nvSpPr>
        <p:spPr/>
        <p:txBody>
          <a:bodyPr/>
          <a:lstStyle/>
          <a:p>
            <a:r>
              <a:rPr lang="en-US"/>
              <a:t>21CSS201T - Computer Organization and Architecture</a:t>
            </a:r>
            <a:endParaRPr lang="en-IN"/>
          </a:p>
        </p:txBody>
      </p:sp>
      <p:sp>
        <p:nvSpPr>
          <p:cNvPr id="5" name="Slide Number Placeholder 4"/>
          <p:cNvSpPr>
            <a:spLocks noGrp="1"/>
          </p:cNvSpPr>
          <p:nvPr>
            <p:ph type="sldNum" sz="quarter" idx="12"/>
          </p:nvPr>
        </p:nvSpPr>
        <p:spPr/>
        <p:txBody>
          <a:bodyPr/>
          <a:lstStyle/>
          <a:p>
            <a:fld id="{AE669347-E3B4-439D-9D1F-3479A370CD23}" type="slidenum">
              <a:rPr lang="en-IN" smtClean="0"/>
              <a:pPr/>
              <a:t>30</a:t>
            </a:fld>
            <a:endParaRPr lang="en-IN"/>
          </a:p>
        </p:txBody>
      </p:sp>
    </p:spTree>
    <p:extLst>
      <p:ext uri="{BB962C8B-B14F-4D97-AF65-F5344CB8AC3E}">
        <p14:creationId xmlns:p14="http://schemas.microsoft.com/office/powerpoint/2010/main" val="9741697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5"/>
          <p:cNvSpPr txBox="1">
            <a:spLocks noGrp="1"/>
          </p:cNvSpPr>
          <p:nvPr>
            <p:ph type="ctrTitle"/>
          </p:nvPr>
        </p:nvSpPr>
        <p:spPr>
          <a:xfrm>
            <a:off x="2209800" y="2492376"/>
            <a:ext cx="7772400" cy="147002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Times New Roman"/>
              <a:buNone/>
            </a:pPr>
            <a:r>
              <a:rPr lang="en-US" b="1">
                <a:latin typeface="Times New Roman"/>
                <a:ea typeface="Times New Roman"/>
                <a:cs typeface="Times New Roman"/>
                <a:sym typeface="Times New Roman"/>
              </a:rPr>
              <a:t>Bus Structures</a:t>
            </a:r>
            <a:endParaRPr/>
          </a:p>
        </p:txBody>
      </p:sp>
      <p:sp>
        <p:nvSpPr>
          <p:cNvPr id="414" name="Google Shape;414;p45"/>
          <p:cNvSpPr/>
          <p:nvPr/>
        </p:nvSpPr>
        <p:spPr>
          <a:xfrm>
            <a:off x="6553200" y="457200"/>
            <a:ext cx="1066800" cy="609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5" name="Google Shape;415;p45" descr="System bus - Wikipedia"/>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6" name="Google Shape;416;p45" descr="System bus - Wikipedia"/>
          <p:cNvSpPr/>
          <p:nvPr/>
        </p:nvSpPr>
        <p:spPr>
          <a:xfrm>
            <a:off x="1831975" y="7938"/>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7" name="Google Shape;417;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
        <p:nvSpPr>
          <p:cNvPr id="418" name="Google Shape;418;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431B19DF-6941-4D9C-9A42-256B9B3DBF6E}" type="datetime1">
              <a:rPr lang="en-US" smtClean="0"/>
              <a:t>8/12/2024</a:t>
            </a:fld>
            <a:endParaRPr dirty="0"/>
          </a:p>
        </p:txBody>
      </p:sp>
      <p:sp>
        <p:nvSpPr>
          <p:cNvPr id="419" name="Google Shape;419;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6"/>
          <p:cNvSpPr txBox="1"/>
          <p:nvPr/>
        </p:nvSpPr>
        <p:spPr>
          <a:xfrm>
            <a:off x="1550988" y="990601"/>
            <a:ext cx="8964613"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a:solidFill>
                  <a:srgbClr val="FF0000"/>
                </a:solidFill>
                <a:latin typeface="Times New Roman"/>
                <a:ea typeface="Times New Roman"/>
                <a:cs typeface="Times New Roman"/>
                <a:sym typeface="Times New Roman"/>
              </a:rPr>
              <a:t>Connecting CPU and memory</a:t>
            </a:r>
            <a:endParaRPr/>
          </a:p>
        </p:txBody>
      </p:sp>
      <p:sp>
        <p:nvSpPr>
          <p:cNvPr id="426" name="Google Shape;426;p46"/>
          <p:cNvSpPr/>
          <p:nvPr/>
        </p:nvSpPr>
        <p:spPr>
          <a:xfrm>
            <a:off x="1621631" y="1919198"/>
            <a:ext cx="8915400" cy="1373188"/>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800">
                <a:solidFill>
                  <a:schemeClr val="dk1"/>
                </a:solidFill>
                <a:latin typeface="Times New Roman"/>
                <a:ea typeface="Times New Roman"/>
                <a:cs typeface="Times New Roman"/>
                <a:sym typeface="Times New Roman"/>
              </a:rPr>
              <a:t>The CPU and memory are normally connected by three groups of connections, each called a </a:t>
            </a:r>
            <a:r>
              <a:rPr lang="en-US" sz="2800" b="1">
                <a:solidFill>
                  <a:schemeClr val="folHlink"/>
                </a:solidFill>
                <a:latin typeface="Times New Roman"/>
                <a:ea typeface="Times New Roman"/>
                <a:cs typeface="Times New Roman"/>
                <a:sym typeface="Times New Roman"/>
              </a:rPr>
              <a:t>bus</a:t>
            </a:r>
            <a:r>
              <a:rPr lang="en-US" sz="2800">
                <a:solidFill>
                  <a:schemeClr val="dk1"/>
                </a:solidFill>
                <a:latin typeface="Times New Roman"/>
                <a:ea typeface="Times New Roman"/>
                <a:cs typeface="Times New Roman"/>
                <a:sym typeface="Times New Roman"/>
              </a:rPr>
              <a:t>: </a:t>
            </a:r>
            <a:r>
              <a:rPr lang="en-US" sz="2800" i="1">
                <a:solidFill>
                  <a:schemeClr val="dk1"/>
                </a:solidFill>
                <a:latin typeface="Times New Roman"/>
                <a:ea typeface="Times New Roman"/>
                <a:cs typeface="Times New Roman"/>
                <a:sym typeface="Times New Roman"/>
              </a:rPr>
              <a:t>data bus</a:t>
            </a:r>
            <a:r>
              <a:rPr lang="en-US" sz="2800">
                <a:solidFill>
                  <a:schemeClr val="dk1"/>
                </a:solidFill>
                <a:latin typeface="Times New Roman"/>
                <a:ea typeface="Times New Roman"/>
                <a:cs typeface="Times New Roman"/>
                <a:sym typeface="Times New Roman"/>
              </a:rPr>
              <a:t>, </a:t>
            </a:r>
            <a:r>
              <a:rPr lang="en-US" sz="2800" i="1">
                <a:solidFill>
                  <a:schemeClr val="dk1"/>
                </a:solidFill>
                <a:latin typeface="Times New Roman"/>
                <a:ea typeface="Times New Roman"/>
                <a:cs typeface="Times New Roman"/>
                <a:sym typeface="Times New Roman"/>
              </a:rPr>
              <a:t>address bus</a:t>
            </a:r>
            <a:r>
              <a:rPr lang="en-US" sz="2800">
                <a:solidFill>
                  <a:schemeClr val="dk1"/>
                </a:solidFill>
                <a:latin typeface="Times New Roman"/>
                <a:ea typeface="Times New Roman"/>
                <a:cs typeface="Times New Roman"/>
                <a:sym typeface="Times New Roman"/>
              </a:rPr>
              <a:t> and </a:t>
            </a:r>
            <a:r>
              <a:rPr lang="en-US" sz="2800" i="1">
                <a:solidFill>
                  <a:schemeClr val="dk1"/>
                </a:solidFill>
                <a:latin typeface="Times New Roman"/>
                <a:ea typeface="Times New Roman"/>
                <a:cs typeface="Times New Roman"/>
                <a:sym typeface="Times New Roman"/>
              </a:rPr>
              <a:t>control bus</a:t>
            </a:r>
            <a:r>
              <a:rPr lang="en-US" sz="2800">
                <a:solidFill>
                  <a:schemeClr val="dk1"/>
                </a:solidFill>
                <a:latin typeface="Times New Roman"/>
                <a:ea typeface="Times New Roman"/>
                <a:cs typeface="Times New Roman"/>
                <a:sym typeface="Times New Roman"/>
              </a:rPr>
              <a:t> </a:t>
            </a:r>
            <a:endParaRPr/>
          </a:p>
        </p:txBody>
      </p:sp>
      <p:sp>
        <p:nvSpPr>
          <p:cNvPr id="427" name="Google Shape;427;p46"/>
          <p:cNvSpPr txBox="1"/>
          <p:nvPr/>
        </p:nvSpPr>
        <p:spPr>
          <a:xfrm>
            <a:off x="2590801" y="5943600"/>
            <a:ext cx="5527675"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folHlink"/>
                </a:solidFill>
                <a:latin typeface="Times New Roman"/>
                <a:ea typeface="Times New Roman"/>
                <a:cs typeface="Times New Roman"/>
                <a:sym typeface="Times New Roman"/>
              </a:rPr>
              <a:t>  </a:t>
            </a:r>
            <a:r>
              <a:rPr lang="en-US" sz="2000" b="1">
                <a:solidFill>
                  <a:schemeClr val="dk1"/>
                </a:solidFill>
                <a:latin typeface="Times New Roman"/>
                <a:ea typeface="Times New Roman"/>
                <a:cs typeface="Times New Roman"/>
                <a:sym typeface="Times New Roman"/>
              </a:rPr>
              <a:t>Connecting CPU and memory using three buses</a:t>
            </a:r>
            <a:endParaRPr/>
          </a:p>
        </p:txBody>
      </p:sp>
      <p:pic>
        <p:nvPicPr>
          <p:cNvPr id="428" name="Google Shape;428;p46"/>
          <p:cNvPicPr preferRelativeResize="0"/>
          <p:nvPr/>
        </p:nvPicPr>
        <p:blipFill rotWithShape="1">
          <a:blip r:embed="rId3">
            <a:alphaModFix/>
          </a:blip>
          <a:srcRect/>
          <a:stretch/>
        </p:blipFill>
        <p:spPr>
          <a:xfrm>
            <a:off x="1947864" y="3696238"/>
            <a:ext cx="8262937" cy="2323563"/>
          </a:xfrm>
          <a:prstGeom prst="rect">
            <a:avLst/>
          </a:prstGeom>
          <a:noFill/>
          <a:ln>
            <a:noFill/>
          </a:ln>
        </p:spPr>
      </p:pic>
      <p:sp>
        <p:nvSpPr>
          <p:cNvPr id="429" name="Google Shape;429;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
        <p:nvSpPr>
          <p:cNvPr id="430" name="Google Shape;430;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13C447FF-481D-4310-BA32-DB1A4A2EFA60}" type="datetime1">
              <a:rPr lang="en-US" smtClean="0"/>
              <a:t>8/12/2024</a:t>
            </a:fld>
            <a:endParaRPr/>
          </a:p>
        </p:txBody>
      </p:sp>
      <p:sp>
        <p:nvSpPr>
          <p:cNvPr id="431" name="Google Shape;431;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6">
                                            <p:txEl>
                                              <p:pRg st="0" end="0"/>
                                            </p:txEl>
                                          </p:spTgt>
                                        </p:tgtEl>
                                        <p:attrNameLst>
                                          <p:attrName>style.visibility</p:attrName>
                                        </p:attrNameLst>
                                      </p:cBhvr>
                                      <p:to>
                                        <p:strVal val="visible"/>
                                      </p:to>
                                    </p:set>
                                    <p:animEffect transition="in" filter="fade">
                                      <p:cBhvr>
                                        <p:cTn id="7" dur="500"/>
                                        <p:tgtEl>
                                          <p:spTgt spid="4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28"/>
                                        </p:tgtEl>
                                        <p:attrNameLst>
                                          <p:attrName>style.visibility</p:attrName>
                                        </p:attrNameLst>
                                      </p:cBhvr>
                                      <p:to>
                                        <p:strVal val="visible"/>
                                      </p:to>
                                    </p:set>
                                    <p:anim calcmode="lin" valueType="num">
                                      <p:cBhvr additive="base">
                                        <p:cTn id="12" dur="500"/>
                                        <p:tgtEl>
                                          <p:spTgt spid="4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7"/>
          <p:cNvSpPr/>
          <p:nvPr/>
        </p:nvSpPr>
        <p:spPr>
          <a:xfrm>
            <a:off x="1981200" y="990600"/>
            <a:ext cx="8077200" cy="612475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rgbClr val="FF0000"/>
                </a:solidFill>
                <a:latin typeface="Times New Roman"/>
                <a:ea typeface="Times New Roman"/>
                <a:cs typeface="Times New Roman"/>
                <a:sym typeface="Times New Roman"/>
              </a:rPr>
              <a:t>BUS STRUCTURE</a:t>
            </a:r>
            <a:endParaRPr/>
          </a:p>
          <a:p>
            <a:pPr marL="0" marR="0" lvl="0" indent="0" algn="l" rtl="0">
              <a:spcBef>
                <a:spcPts val="0"/>
              </a:spcBef>
              <a:spcAft>
                <a:spcPts val="0"/>
              </a:spcAft>
              <a:buNone/>
            </a:pPr>
            <a:endParaRPr sz="2000" b="1" u="sng">
              <a:solidFill>
                <a:schemeClr val="dk1"/>
              </a:solidFill>
              <a:latin typeface="Times New Roman"/>
              <a:ea typeface="Times New Roman"/>
              <a:cs typeface="Times New Roman"/>
              <a:sym typeface="Times New Roman"/>
            </a:endParaRPr>
          </a:p>
          <a:p>
            <a:pPr marL="0" marR="0" lvl="0" indent="-127000" algn="l" rtl="0">
              <a:spcBef>
                <a:spcPts val="0"/>
              </a:spcBef>
              <a:spcAft>
                <a:spcPts val="0"/>
              </a:spcAft>
              <a:buClr>
                <a:schemeClr val="dk1"/>
              </a:buClr>
              <a:buSzPts val="2000"/>
              <a:buFont typeface="Times New Roman"/>
              <a:buChar char="•"/>
            </a:pPr>
            <a:r>
              <a:rPr lang="en-US" sz="2000">
                <a:solidFill>
                  <a:schemeClr val="dk1"/>
                </a:solidFill>
                <a:latin typeface="Times New Roman"/>
                <a:ea typeface="Times New Roman"/>
                <a:cs typeface="Times New Roman"/>
                <a:sym typeface="Times New Roman"/>
              </a:rPr>
              <a:t>Group of wires which carries information form CPU to peripherals or vice – versa</a:t>
            </a:r>
            <a:endParaRPr/>
          </a:p>
          <a:p>
            <a:pPr marL="0" marR="0" lvl="0" indent="-127000" algn="l" rtl="0">
              <a:spcBef>
                <a:spcPts val="0"/>
              </a:spcBef>
              <a:spcAft>
                <a:spcPts val="0"/>
              </a:spcAft>
              <a:buClr>
                <a:schemeClr val="dk1"/>
              </a:buClr>
              <a:buSzPts val="2000"/>
              <a:buFont typeface="Times New Roman"/>
              <a:buChar char="•"/>
            </a:pPr>
            <a:r>
              <a:rPr lang="en-US" sz="2000" b="1">
                <a:solidFill>
                  <a:schemeClr val="dk1"/>
                </a:solidFill>
                <a:latin typeface="Times New Roman"/>
                <a:ea typeface="Times New Roman"/>
                <a:cs typeface="Times New Roman"/>
                <a:sym typeface="Times New Roman"/>
              </a:rPr>
              <a:t>Single bus structure</a:t>
            </a:r>
            <a:r>
              <a:rPr lang="en-US" sz="2000">
                <a:solidFill>
                  <a:schemeClr val="dk1"/>
                </a:solidFill>
                <a:latin typeface="Times New Roman"/>
                <a:ea typeface="Times New Roman"/>
                <a:cs typeface="Times New Roman"/>
                <a:sym typeface="Times New Roman"/>
              </a:rPr>
              <a:t>: Common bus used to communicate between peripherals and microprocessor</a:t>
            </a:r>
            <a:endParaRPr/>
          </a:p>
          <a:p>
            <a:pPr marL="0" marR="0" lvl="0" indent="0" algn="l" rtl="0">
              <a:spcBef>
                <a:spcPts val="0"/>
              </a:spcBef>
              <a:spcAft>
                <a:spcPts val="0"/>
              </a:spcAft>
              <a:buClr>
                <a:schemeClr val="dk1"/>
              </a:buClr>
              <a:buSzPts val="2000"/>
              <a:buFont typeface="Calibri"/>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000"/>
              <a:buFont typeface="Calibri"/>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000"/>
              <a:buFont typeface="Calibri"/>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000"/>
              <a:buFont typeface="Calibri"/>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000"/>
              <a:buFont typeface="Calibri"/>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000"/>
              <a:buFont typeface="Calibri"/>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000"/>
              <a:buFont typeface="Calibri"/>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000"/>
              <a:buFont typeface="Calibri"/>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000"/>
              <a:buFont typeface="Calibri"/>
              <a:buNone/>
            </a:pPr>
            <a:endParaRPr sz="20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   </a:t>
            </a:r>
            <a:endParaRPr/>
          </a:p>
          <a:p>
            <a:pPr marL="0" marR="0" lvl="0" indent="0" algn="l" rtl="0">
              <a:spcBef>
                <a:spcPts val="0"/>
              </a:spcBef>
              <a:spcAft>
                <a:spcPts val="0"/>
              </a:spcAft>
              <a:buNone/>
            </a:pPr>
            <a:r>
              <a:rPr lang="en-US" sz="2000">
                <a:solidFill>
                  <a:schemeClr val="dk1"/>
                </a:solidFill>
                <a:latin typeface="Times New Roman"/>
                <a:ea typeface="Times New Roman"/>
                <a:cs typeface="Times New Roman"/>
                <a:sym typeface="Times New Roman"/>
              </a:rPr>
              <a:t>                                           </a:t>
            </a:r>
            <a:r>
              <a:rPr lang="en-US" sz="2400" b="1">
                <a:solidFill>
                  <a:schemeClr val="dk1"/>
                </a:solidFill>
                <a:latin typeface="Times New Roman"/>
                <a:ea typeface="Times New Roman"/>
                <a:cs typeface="Times New Roman"/>
                <a:sym typeface="Times New Roman"/>
              </a:rPr>
              <a:t>Single Bus Structure</a:t>
            </a:r>
            <a:endParaRPr/>
          </a:p>
          <a:p>
            <a:pPr marL="0" marR="0" lvl="0" indent="0" algn="l" rtl="0">
              <a:spcBef>
                <a:spcPts val="0"/>
              </a:spcBef>
              <a:spcAft>
                <a:spcPts val="0"/>
              </a:spcAft>
              <a:buClr>
                <a:schemeClr val="dk1"/>
              </a:buClr>
              <a:buSzPts val="2000"/>
              <a:buFont typeface="Calibri"/>
              <a:buNone/>
            </a:pPr>
            <a:endParaRPr sz="20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000"/>
              <a:buFont typeface="Calibri"/>
              <a:buNone/>
            </a:pPr>
            <a:endParaRPr sz="2000">
              <a:solidFill>
                <a:schemeClr val="dk1"/>
              </a:solidFill>
              <a:latin typeface="Times New Roman"/>
              <a:ea typeface="Times New Roman"/>
              <a:cs typeface="Times New Roman"/>
              <a:sym typeface="Times New Roman"/>
            </a:endParaRPr>
          </a:p>
        </p:txBody>
      </p:sp>
      <p:grpSp>
        <p:nvGrpSpPr>
          <p:cNvPr id="437" name="Google Shape;437;p47"/>
          <p:cNvGrpSpPr/>
          <p:nvPr/>
        </p:nvGrpSpPr>
        <p:grpSpPr>
          <a:xfrm>
            <a:off x="2438400" y="3657601"/>
            <a:ext cx="7315200" cy="2270125"/>
            <a:chOff x="1980" y="5676"/>
            <a:chExt cx="8460" cy="3060"/>
          </a:xfrm>
        </p:grpSpPr>
        <p:sp>
          <p:nvSpPr>
            <p:cNvPr id="438" name="Google Shape;438;p47"/>
            <p:cNvSpPr/>
            <p:nvPr/>
          </p:nvSpPr>
          <p:spPr>
            <a:xfrm>
              <a:off x="1980" y="7116"/>
              <a:ext cx="8460" cy="1620"/>
            </a:xfrm>
            <a:prstGeom prst="leftRightArrow">
              <a:avLst>
                <a:gd name="adj1" fmla="val 38889"/>
                <a:gd name="adj2" fmla="val 44268"/>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9" name="Google Shape;439;p47"/>
            <p:cNvSpPr/>
            <p:nvPr/>
          </p:nvSpPr>
          <p:spPr>
            <a:xfrm>
              <a:off x="3060" y="5676"/>
              <a:ext cx="1080" cy="54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INPUT</a:t>
              </a:r>
              <a:endParaRPr/>
            </a:p>
          </p:txBody>
        </p:sp>
        <p:sp>
          <p:nvSpPr>
            <p:cNvPr id="440" name="Google Shape;440;p47"/>
            <p:cNvSpPr/>
            <p:nvPr/>
          </p:nvSpPr>
          <p:spPr>
            <a:xfrm>
              <a:off x="4320" y="5676"/>
              <a:ext cx="1800" cy="54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   MEMORY</a:t>
              </a:r>
              <a:endParaRPr/>
            </a:p>
          </p:txBody>
        </p:sp>
        <p:sp>
          <p:nvSpPr>
            <p:cNvPr id="441" name="Google Shape;441;p47"/>
            <p:cNvSpPr/>
            <p:nvPr/>
          </p:nvSpPr>
          <p:spPr>
            <a:xfrm>
              <a:off x="6300" y="5676"/>
              <a:ext cx="1800" cy="54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a:solidFill>
                    <a:schemeClr val="dk1"/>
                  </a:solidFill>
                  <a:latin typeface="Times New Roman"/>
                  <a:ea typeface="Times New Roman"/>
                  <a:cs typeface="Times New Roman"/>
                  <a:sym typeface="Times New Roman"/>
                </a:rPr>
                <a:t>PROCESSOR</a:t>
              </a:r>
              <a:endParaRPr/>
            </a:p>
          </p:txBody>
        </p:sp>
        <p:sp>
          <p:nvSpPr>
            <p:cNvPr id="442" name="Google Shape;442;p47"/>
            <p:cNvSpPr/>
            <p:nvPr/>
          </p:nvSpPr>
          <p:spPr>
            <a:xfrm>
              <a:off x="8280" y="5676"/>
              <a:ext cx="1440" cy="54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OUTPUT</a:t>
              </a:r>
              <a:endParaRPr/>
            </a:p>
          </p:txBody>
        </p:sp>
        <p:sp>
          <p:nvSpPr>
            <p:cNvPr id="443" name="Google Shape;443;p47"/>
            <p:cNvSpPr/>
            <p:nvPr/>
          </p:nvSpPr>
          <p:spPr>
            <a:xfrm>
              <a:off x="3240" y="6216"/>
              <a:ext cx="540" cy="1440"/>
            </a:xfrm>
            <a:prstGeom prst="downArrow">
              <a:avLst>
                <a:gd name="adj1" fmla="val 50000"/>
                <a:gd name="adj2" fmla="val 66667"/>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4" name="Google Shape;444;p47"/>
            <p:cNvSpPr/>
            <p:nvPr/>
          </p:nvSpPr>
          <p:spPr>
            <a:xfrm>
              <a:off x="5040" y="6216"/>
              <a:ext cx="360" cy="1440"/>
            </a:xfrm>
            <a:prstGeom prst="upDownArrow">
              <a:avLst>
                <a:gd name="adj1" fmla="val 50000"/>
                <a:gd name="adj2" fmla="val 80000"/>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5" name="Google Shape;445;p47"/>
            <p:cNvSpPr/>
            <p:nvPr/>
          </p:nvSpPr>
          <p:spPr>
            <a:xfrm>
              <a:off x="7020" y="6216"/>
              <a:ext cx="360" cy="1440"/>
            </a:xfrm>
            <a:prstGeom prst="upDownArrow">
              <a:avLst>
                <a:gd name="adj1" fmla="val 50000"/>
                <a:gd name="adj2" fmla="val 80000"/>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6" name="Google Shape;446;p47"/>
            <p:cNvSpPr/>
            <p:nvPr/>
          </p:nvSpPr>
          <p:spPr>
            <a:xfrm rot="10800000">
              <a:off x="8820" y="6216"/>
              <a:ext cx="540" cy="1440"/>
            </a:xfrm>
            <a:prstGeom prst="downArrow">
              <a:avLst>
                <a:gd name="adj1" fmla="val 50000"/>
                <a:gd name="adj2" fmla="val 66667"/>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447" name="Google Shape;447;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448" name="Google Shape;448;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35C78330-D116-4C8D-8AF7-BDC63AC2DA37}" type="datetime1">
              <a:rPr lang="en-US" smtClean="0"/>
              <a:t>8/12/2024</a:t>
            </a:fld>
            <a:endParaRPr/>
          </a:p>
        </p:txBody>
      </p:sp>
      <p:sp>
        <p:nvSpPr>
          <p:cNvPr id="449" name="Google Shape;449;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7"/>
                                        </p:tgtEl>
                                        <p:attrNameLst>
                                          <p:attrName>style.visibility</p:attrName>
                                        </p:attrNameLst>
                                      </p:cBhvr>
                                      <p:to>
                                        <p:strVal val="visible"/>
                                      </p:to>
                                    </p:set>
                                    <p:anim calcmode="lin" valueType="num">
                                      <p:cBhvr additive="base">
                                        <p:cTn id="7" dur="500"/>
                                        <p:tgtEl>
                                          <p:spTgt spid="4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8"/>
          <p:cNvSpPr txBox="1">
            <a:spLocks noGrp="1"/>
          </p:cNvSpPr>
          <p:nvPr>
            <p:ph type="title"/>
          </p:nvPr>
        </p:nvSpPr>
        <p:spPr>
          <a:xfrm>
            <a:off x="1981200" y="629816"/>
            <a:ext cx="82296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Drawbacks of the Single Bus Structure</a:t>
            </a:r>
            <a:endParaRPr sz="3200">
              <a:solidFill>
                <a:srgbClr val="FF0000"/>
              </a:solidFill>
              <a:latin typeface="Times New Roman"/>
              <a:ea typeface="Times New Roman"/>
              <a:cs typeface="Times New Roman"/>
              <a:sym typeface="Times New Roman"/>
            </a:endParaRPr>
          </a:p>
        </p:txBody>
      </p:sp>
      <p:sp>
        <p:nvSpPr>
          <p:cNvPr id="455" name="Google Shape;455;p48"/>
          <p:cNvSpPr txBox="1">
            <a:spLocks noGrp="1"/>
          </p:cNvSpPr>
          <p:nvPr>
            <p:ph type="body" idx="1"/>
          </p:nvPr>
        </p:nvSpPr>
        <p:spPr>
          <a:xfrm>
            <a:off x="1703512" y="1600201"/>
            <a:ext cx="8856984" cy="4525963"/>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The devices connected to a bus vary widely in their speed of operation. </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Some devices are relatively slow, such as printer and keyboard.</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Some devices are considerably fast, such as optical disks. </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Memory and processor units operate are the fastest parts of a computer.</a:t>
            </a:r>
            <a:endParaRPr/>
          </a:p>
          <a:p>
            <a:pPr marL="228600" lvl="0" indent="-228600" algn="just"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Efficient transfer mechanism thus is needed to cope with this problem.</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 A common approach is to include buffer registers with the devices to hold the information during transfers .</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 An another approach is to use two-bus structure and an additional transfer mechanism </a:t>
            </a:r>
            <a:endParaRPr/>
          </a:p>
        </p:txBody>
      </p:sp>
      <p:sp>
        <p:nvSpPr>
          <p:cNvPr id="456" name="Google Shape;456;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
        <p:nvSpPr>
          <p:cNvPr id="457" name="Google Shape;457;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54668B0E-3DB2-4617-B758-CB893722A84A}" type="datetime1">
              <a:rPr lang="en-US" smtClean="0"/>
              <a:t>8/12/2024</a:t>
            </a:fld>
            <a:endParaRPr/>
          </a:p>
        </p:txBody>
      </p:sp>
      <p:sp>
        <p:nvSpPr>
          <p:cNvPr id="458" name="Google Shape;458;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49"/>
          <p:cNvSpPr/>
          <p:nvPr/>
        </p:nvSpPr>
        <p:spPr>
          <a:xfrm>
            <a:off x="2057400" y="1295400"/>
            <a:ext cx="7848600" cy="2646878"/>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None/>
            </a:pPr>
            <a:r>
              <a:rPr lang="en-US" sz="2800">
                <a:solidFill>
                  <a:srgbClr val="FF0000"/>
                </a:solidFill>
                <a:latin typeface="Times New Roman"/>
                <a:ea typeface="Times New Roman"/>
                <a:cs typeface="Times New Roman"/>
                <a:sym typeface="Times New Roman"/>
              </a:rPr>
              <a:t>TWO BUS STRUCTURE:</a:t>
            </a:r>
            <a:endParaRPr/>
          </a:p>
          <a:p>
            <a:pPr marL="0" marR="0" lvl="0" indent="0" algn="just"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152400" algn="just" rtl="0">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 One bus can be used to fetch instruction other can be used to fetch data, required for execution. </a:t>
            </a:r>
            <a:endParaRPr/>
          </a:p>
          <a:p>
            <a:pPr marL="0" marR="0" lvl="0" indent="-152400" algn="just" rtl="0">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 bus is said to perform two distinct functions </a:t>
            </a:r>
            <a:endParaRPr/>
          </a:p>
          <a:p>
            <a:pPr marL="0" marR="0" lvl="0" indent="-152400" algn="just" rtl="0">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The main advantage of this structure is good operating speed but on account of more cost.</a:t>
            </a:r>
            <a:endParaRPr sz="2400">
              <a:solidFill>
                <a:schemeClr val="dk1"/>
              </a:solidFill>
              <a:latin typeface="Times New Roman"/>
              <a:ea typeface="Times New Roman"/>
              <a:cs typeface="Times New Roman"/>
              <a:sym typeface="Times New Roman"/>
            </a:endParaRPr>
          </a:p>
        </p:txBody>
      </p:sp>
      <p:pic>
        <p:nvPicPr>
          <p:cNvPr id="464" name="Google Shape;464;p49"/>
          <p:cNvPicPr preferRelativeResize="0"/>
          <p:nvPr/>
        </p:nvPicPr>
        <p:blipFill rotWithShape="1">
          <a:blip r:embed="rId3">
            <a:alphaModFix/>
          </a:blip>
          <a:srcRect/>
          <a:stretch/>
        </p:blipFill>
        <p:spPr>
          <a:xfrm>
            <a:off x="2351584" y="4236813"/>
            <a:ext cx="7992888" cy="2365586"/>
          </a:xfrm>
          <a:prstGeom prst="rect">
            <a:avLst/>
          </a:prstGeom>
          <a:noFill/>
          <a:ln>
            <a:noFill/>
          </a:ln>
        </p:spPr>
      </p:pic>
      <p:sp>
        <p:nvSpPr>
          <p:cNvPr id="465" name="Google Shape;465;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
        <p:nvSpPr>
          <p:cNvPr id="466" name="Google Shape;466;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71FADB8B-CA94-4751-8071-51BD4367CD40}" type="datetime1">
              <a:rPr lang="en-US" smtClean="0"/>
              <a:t>8/12/2024</a:t>
            </a:fld>
            <a:endParaRPr/>
          </a:p>
        </p:txBody>
      </p:sp>
      <p:sp>
        <p:nvSpPr>
          <p:cNvPr id="467" name="Google Shape;467;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4"/>
                                        </p:tgtEl>
                                        <p:attrNameLst>
                                          <p:attrName>style.visibility</p:attrName>
                                        </p:attrNameLst>
                                      </p:cBhvr>
                                      <p:to>
                                        <p:strVal val="visible"/>
                                      </p:to>
                                    </p:set>
                                    <p:animEffect transition="in" filter="fade">
                                      <p:cBhvr>
                                        <p:cTn id="7" dur="500"/>
                                        <p:tgtEl>
                                          <p:spTgt spid="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graphicFrame>
        <p:nvGraphicFramePr>
          <p:cNvPr id="472" name="Google Shape;472;p50"/>
          <p:cNvGraphicFramePr/>
          <p:nvPr/>
        </p:nvGraphicFramePr>
        <p:xfrm>
          <a:off x="7391400" y="1636713"/>
          <a:ext cx="2016950" cy="4297770"/>
        </p:xfrm>
        <a:graphic>
          <a:graphicData uri="http://schemas.openxmlformats.org/drawingml/2006/table">
            <a:tbl>
              <a:tblPr>
                <a:noFill/>
                <a:tableStyleId>{F0D5522F-2F3A-486E-AB3A-618C38F1D610}</a:tableStyleId>
              </a:tblPr>
              <a:tblGrid>
                <a:gridCol w="386500">
                  <a:extLst>
                    <a:ext uri="{9D8B030D-6E8A-4147-A177-3AD203B41FA5}">
                      <a16:colId xmlns:a16="http://schemas.microsoft.com/office/drawing/2014/main" xmlns="" val="20000"/>
                    </a:ext>
                  </a:extLst>
                </a:gridCol>
                <a:gridCol w="369325">
                  <a:extLst>
                    <a:ext uri="{9D8B030D-6E8A-4147-A177-3AD203B41FA5}">
                      <a16:colId xmlns:a16="http://schemas.microsoft.com/office/drawing/2014/main" xmlns="" val="20001"/>
                    </a:ext>
                  </a:extLst>
                </a:gridCol>
                <a:gridCol w="343550">
                  <a:extLst>
                    <a:ext uri="{9D8B030D-6E8A-4147-A177-3AD203B41FA5}">
                      <a16:colId xmlns:a16="http://schemas.microsoft.com/office/drawing/2014/main" xmlns="" val="20002"/>
                    </a:ext>
                  </a:extLst>
                </a:gridCol>
                <a:gridCol w="917575">
                  <a:extLst>
                    <a:ext uri="{9D8B030D-6E8A-4147-A177-3AD203B41FA5}">
                      <a16:colId xmlns:a16="http://schemas.microsoft.com/office/drawing/2014/main" xmlns="" val="20003"/>
                    </a:ext>
                  </a:extLst>
                </a:gridCol>
              </a:tblGrid>
              <a:tr h="360000">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A</a:t>
                      </a:r>
                      <a:r>
                        <a:rPr lang="en-US" sz="1200" b="0" i="0" u="none" strike="noStrike" cap="none" baseline="-25000">
                          <a:solidFill>
                            <a:schemeClr val="dk1"/>
                          </a:solidFill>
                          <a:latin typeface="Times New Roman"/>
                          <a:ea typeface="Times New Roman"/>
                          <a:cs typeface="Times New Roman"/>
                          <a:sym typeface="Times New Roman"/>
                        </a:rPr>
                        <a:t>2</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A</a:t>
                      </a:r>
                      <a:r>
                        <a:rPr lang="en-US" sz="1200" b="0" i="0" u="none" strike="noStrike" cap="none" baseline="-25000">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A</a:t>
                      </a:r>
                      <a:r>
                        <a:rPr lang="en-US" sz="1200" b="0" i="0" u="none" strike="noStrike" cap="none" baseline="-25000">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Selected location</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0"/>
                  </a:ext>
                </a:extLst>
              </a:tr>
              <a:tr h="216000">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r>
                        <a:rPr lang="en-US" sz="1200" b="0" i="0" u="none" strike="noStrike" cap="none" baseline="30000">
                          <a:solidFill>
                            <a:schemeClr val="dk1"/>
                          </a:solidFill>
                          <a:latin typeface="Times New Roman"/>
                          <a:ea typeface="Times New Roman"/>
                          <a:cs typeface="Times New Roman"/>
                          <a:sym typeface="Times New Roman"/>
                        </a:rPr>
                        <a:t>th</a:t>
                      </a:r>
                      <a:r>
                        <a:rPr lang="en-US" sz="1200" b="0" i="0" u="none" strike="noStrike" cap="none">
                          <a:solidFill>
                            <a:schemeClr val="dk1"/>
                          </a:solidFill>
                          <a:latin typeface="Times New Roman"/>
                          <a:ea typeface="Times New Roman"/>
                          <a:cs typeface="Times New Roman"/>
                          <a:sym typeface="Times New Roman"/>
                        </a:rPr>
                        <a:t> Location</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1"/>
                  </a:ext>
                </a:extLst>
              </a:tr>
              <a:tr h="216000">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r>
                        <a:rPr lang="en-US" sz="1200" b="0" i="0" u="none" strike="noStrike" cap="none" baseline="30000">
                          <a:solidFill>
                            <a:schemeClr val="dk1"/>
                          </a:solidFill>
                          <a:latin typeface="Times New Roman"/>
                          <a:ea typeface="Times New Roman"/>
                          <a:cs typeface="Times New Roman"/>
                          <a:sym typeface="Times New Roman"/>
                        </a:rPr>
                        <a:t>st</a:t>
                      </a:r>
                      <a:r>
                        <a:rPr lang="en-US" sz="1200" b="0" i="0" u="none" strike="noStrike" cap="none">
                          <a:solidFill>
                            <a:schemeClr val="dk1"/>
                          </a:solidFill>
                          <a:latin typeface="Times New Roman"/>
                          <a:ea typeface="Times New Roman"/>
                          <a:cs typeface="Times New Roman"/>
                          <a:sym typeface="Times New Roman"/>
                        </a:rPr>
                        <a:t> Location</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2"/>
                  </a:ext>
                </a:extLst>
              </a:tr>
              <a:tr h="408000">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endParaRPr sz="2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3"/>
                  </a:ext>
                </a:extLst>
              </a:tr>
              <a:tr h="408000">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endParaRPr sz="2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4"/>
                  </a:ext>
                </a:extLst>
              </a:tr>
              <a:tr h="408000">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endParaRPr sz="2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5"/>
                  </a:ext>
                </a:extLst>
              </a:tr>
              <a:tr h="408000">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endParaRPr sz="2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6"/>
                  </a:ext>
                </a:extLst>
              </a:tr>
              <a:tr h="408000">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0</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endParaRPr sz="2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7"/>
                  </a:ext>
                </a:extLst>
              </a:tr>
              <a:tr h="408000">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200"/>
                        <a:buFont typeface="Times New Roman"/>
                        <a:buNone/>
                      </a:pPr>
                      <a:r>
                        <a:rPr lang="en-US" sz="1200" b="0" i="0" u="none" strike="noStrike" cap="none">
                          <a:solidFill>
                            <a:schemeClr val="dk1"/>
                          </a:solidFill>
                          <a:latin typeface="Times New Roman"/>
                          <a:ea typeface="Times New Roman"/>
                          <a:cs typeface="Times New Roman"/>
                          <a:sym typeface="Times New Roman"/>
                        </a:rPr>
                        <a:t>1</a:t>
                      </a:r>
                      <a:endParaRPr sz="24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800"/>
                        <a:buFont typeface="Calibri"/>
                        <a:buNone/>
                      </a:pPr>
                      <a:endParaRPr sz="2800" b="0" i="0" u="none" strike="noStrike" cap="none">
                        <a:solidFill>
                          <a:schemeClr val="dk1"/>
                        </a:solidFill>
                        <a:latin typeface="Times New Roman"/>
                        <a:ea typeface="Times New Roman"/>
                        <a:cs typeface="Times New Roman"/>
                        <a:sym typeface="Times New Roman"/>
                      </a:endParaRPr>
                    </a:p>
                  </a:txBody>
                  <a:tcPr marL="91450" marR="91450" marT="45725" marB="45725">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8"/>
                  </a:ext>
                </a:extLst>
              </a:tr>
            </a:tbl>
          </a:graphicData>
        </a:graphic>
      </p:graphicFrame>
      <p:sp>
        <p:nvSpPr>
          <p:cNvPr id="473" name="Google Shape;473;p50"/>
          <p:cNvSpPr/>
          <p:nvPr/>
        </p:nvSpPr>
        <p:spPr>
          <a:xfrm>
            <a:off x="2514600" y="2895597"/>
            <a:ext cx="1447800" cy="15240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
        <p:nvSpPr>
          <p:cNvPr id="474" name="Google Shape;474;p50"/>
          <p:cNvSpPr/>
          <p:nvPr/>
        </p:nvSpPr>
        <p:spPr>
          <a:xfrm>
            <a:off x="5029200" y="2895597"/>
            <a:ext cx="1447800" cy="14478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b="1">
              <a:solidFill>
                <a:schemeClr val="dk1"/>
              </a:solidFill>
              <a:latin typeface="Calibri"/>
              <a:ea typeface="Calibri"/>
              <a:cs typeface="Calibri"/>
              <a:sym typeface="Calibri"/>
            </a:endParaRPr>
          </a:p>
        </p:txBody>
      </p:sp>
      <p:cxnSp>
        <p:nvCxnSpPr>
          <p:cNvPr id="475" name="Google Shape;475;p50"/>
          <p:cNvCxnSpPr/>
          <p:nvPr/>
        </p:nvCxnSpPr>
        <p:spPr>
          <a:xfrm>
            <a:off x="2895600" y="4419597"/>
            <a:ext cx="0" cy="1219200"/>
          </a:xfrm>
          <a:prstGeom prst="straightConnector1">
            <a:avLst/>
          </a:prstGeom>
          <a:noFill/>
          <a:ln w="9525" cap="flat" cmpd="sng">
            <a:solidFill>
              <a:schemeClr val="dk1"/>
            </a:solidFill>
            <a:prstDash val="solid"/>
            <a:round/>
            <a:headEnd type="none" w="med" len="med"/>
            <a:tailEnd type="none" w="med" len="med"/>
          </a:ln>
        </p:spPr>
      </p:cxnSp>
      <p:cxnSp>
        <p:nvCxnSpPr>
          <p:cNvPr id="476" name="Google Shape;476;p50"/>
          <p:cNvCxnSpPr/>
          <p:nvPr/>
        </p:nvCxnSpPr>
        <p:spPr>
          <a:xfrm>
            <a:off x="2895600" y="5638797"/>
            <a:ext cx="2743200" cy="0"/>
          </a:xfrm>
          <a:prstGeom prst="straightConnector1">
            <a:avLst/>
          </a:prstGeom>
          <a:noFill/>
          <a:ln w="9525" cap="flat" cmpd="sng">
            <a:solidFill>
              <a:schemeClr val="dk1"/>
            </a:solidFill>
            <a:prstDash val="solid"/>
            <a:round/>
            <a:headEnd type="none" w="med" len="med"/>
            <a:tailEnd type="none" w="med" len="med"/>
          </a:ln>
        </p:spPr>
      </p:cxnSp>
      <p:cxnSp>
        <p:nvCxnSpPr>
          <p:cNvPr id="477" name="Google Shape;477;p50"/>
          <p:cNvCxnSpPr/>
          <p:nvPr/>
        </p:nvCxnSpPr>
        <p:spPr>
          <a:xfrm rot="10800000">
            <a:off x="5638800" y="4343397"/>
            <a:ext cx="0" cy="1295400"/>
          </a:xfrm>
          <a:prstGeom prst="straightConnector1">
            <a:avLst/>
          </a:prstGeom>
          <a:noFill/>
          <a:ln w="9525" cap="flat" cmpd="sng">
            <a:solidFill>
              <a:schemeClr val="dk1"/>
            </a:solidFill>
            <a:prstDash val="solid"/>
            <a:round/>
            <a:headEnd type="none" w="med" len="med"/>
            <a:tailEnd type="none" w="med" len="med"/>
          </a:ln>
        </p:spPr>
      </p:cxnSp>
      <p:cxnSp>
        <p:nvCxnSpPr>
          <p:cNvPr id="478" name="Google Shape;478;p50"/>
          <p:cNvCxnSpPr/>
          <p:nvPr/>
        </p:nvCxnSpPr>
        <p:spPr>
          <a:xfrm>
            <a:off x="3352800" y="4419597"/>
            <a:ext cx="0" cy="838200"/>
          </a:xfrm>
          <a:prstGeom prst="straightConnector1">
            <a:avLst/>
          </a:prstGeom>
          <a:noFill/>
          <a:ln w="9525" cap="flat" cmpd="sng">
            <a:solidFill>
              <a:schemeClr val="dk1"/>
            </a:solidFill>
            <a:prstDash val="solid"/>
            <a:round/>
            <a:headEnd type="none" w="med" len="med"/>
            <a:tailEnd type="none" w="med" len="med"/>
          </a:ln>
        </p:spPr>
      </p:cxnSp>
      <p:cxnSp>
        <p:nvCxnSpPr>
          <p:cNvPr id="479" name="Google Shape;479;p50"/>
          <p:cNvCxnSpPr/>
          <p:nvPr/>
        </p:nvCxnSpPr>
        <p:spPr>
          <a:xfrm>
            <a:off x="3352800" y="5257797"/>
            <a:ext cx="2057400" cy="0"/>
          </a:xfrm>
          <a:prstGeom prst="straightConnector1">
            <a:avLst/>
          </a:prstGeom>
          <a:noFill/>
          <a:ln w="9525" cap="flat" cmpd="sng">
            <a:solidFill>
              <a:schemeClr val="dk1"/>
            </a:solidFill>
            <a:prstDash val="solid"/>
            <a:round/>
            <a:headEnd type="none" w="med" len="med"/>
            <a:tailEnd type="none" w="med" len="med"/>
          </a:ln>
        </p:spPr>
      </p:cxnSp>
      <p:cxnSp>
        <p:nvCxnSpPr>
          <p:cNvPr id="480" name="Google Shape;480;p50"/>
          <p:cNvCxnSpPr/>
          <p:nvPr/>
        </p:nvCxnSpPr>
        <p:spPr>
          <a:xfrm rot="10800000">
            <a:off x="5410200" y="4343397"/>
            <a:ext cx="0" cy="914400"/>
          </a:xfrm>
          <a:prstGeom prst="straightConnector1">
            <a:avLst/>
          </a:prstGeom>
          <a:noFill/>
          <a:ln w="9525" cap="flat" cmpd="sng">
            <a:solidFill>
              <a:schemeClr val="dk1"/>
            </a:solidFill>
            <a:prstDash val="solid"/>
            <a:round/>
            <a:headEnd type="none" w="med" len="med"/>
            <a:tailEnd type="none" w="med" len="med"/>
          </a:ln>
        </p:spPr>
      </p:cxnSp>
      <p:sp>
        <p:nvSpPr>
          <p:cNvPr id="481" name="Google Shape;481;p50"/>
          <p:cNvSpPr txBox="1"/>
          <p:nvPr/>
        </p:nvSpPr>
        <p:spPr>
          <a:xfrm>
            <a:off x="5562600" y="4800597"/>
            <a:ext cx="45720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libri"/>
                <a:ea typeface="Calibri"/>
                <a:cs typeface="Calibri"/>
                <a:sym typeface="Calibri"/>
              </a:rPr>
              <a:t>D0</a:t>
            </a:r>
            <a:endParaRPr/>
          </a:p>
        </p:txBody>
      </p:sp>
      <p:sp>
        <p:nvSpPr>
          <p:cNvPr id="482" name="Google Shape;482;p50"/>
          <p:cNvSpPr txBox="1"/>
          <p:nvPr/>
        </p:nvSpPr>
        <p:spPr>
          <a:xfrm>
            <a:off x="2514600" y="5029197"/>
            <a:ext cx="45720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libri"/>
                <a:ea typeface="Calibri"/>
                <a:cs typeface="Calibri"/>
                <a:sym typeface="Calibri"/>
              </a:rPr>
              <a:t>D0</a:t>
            </a:r>
            <a:endParaRPr/>
          </a:p>
        </p:txBody>
      </p:sp>
      <p:sp>
        <p:nvSpPr>
          <p:cNvPr id="483" name="Google Shape;483;p50"/>
          <p:cNvSpPr txBox="1"/>
          <p:nvPr/>
        </p:nvSpPr>
        <p:spPr>
          <a:xfrm>
            <a:off x="3048000" y="4952997"/>
            <a:ext cx="45720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libri"/>
                <a:ea typeface="Calibri"/>
                <a:cs typeface="Calibri"/>
                <a:sym typeface="Calibri"/>
              </a:rPr>
              <a:t>D7</a:t>
            </a:r>
            <a:endParaRPr/>
          </a:p>
        </p:txBody>
      </p:sp>
      <p:sp>
        <p:nvSpPr>
          <p:cNvPr id="484" name="Google Shape;484;p50"/>
          <p:cNvSpPr txBox="1"/>
          <p:nvPr/>
        </p:nvSpPr>
        <p:spPr>
          <a:xfrm>
            <a:off x="5105400" y="4876797"/>
            <a:ext cx="45720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libri"/>
                <a:ea typeface="Calibri"/>
                <a:cs typeface="Calibri"/>
                <a:sym typeface="Calibri"/>
              </a:rPr>
              <a:t>D7</a:t>
            </a:r>
            <a:endParaRPr/>
          </a:p>
        </p:txBody>
      </p:sp>
      <p:sp>
        <p:nvSpPr>
          <p:cNvPr id="485" name="Google Shape;485;p50"/>
          <p:cNvSpPr txBox="1"/>
          <p:nvPr/>
        </p:nvSpPr>
        <p:spPr>
          <a:xfrm>
            <a:off x="5181600" y="3428997"/>
            <a:ext cx="190500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libri"/>
                <a:ea typeface="Calibri"/>
                <a:cs typeface="Calibri"/>
                <a:sym typeface="Calibri"/>
              </a:rPr>
              <a:t>PROCESSOR</a:t>
            </a:r>
            <a:endParaRPr/>
          </a:p>
        </p:txBody>
      </p:sp>
      <p:sp>
        <p:nvSpPr>
          <p:cNvPr id="486" name="Google Shape;486;p50"/>
          <p:cNvSpPr txBox="1"/>
          <p:nvPr/>
        </p:nvSpPr>
        <p:spPr>
          <a:xfrm>
            <a:off x="5105400" y="3124198"/>
            <a:ext cx="609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RD</a:t>
            </a:r>
            <a:endParaRPr/>
          </a:p>
        </p:txBody>
      </p:sp>
      <p:cxnSp>
        <p:nvCxnSpPr>
          <p:cNvPr id="487" name="Google Shape;487;p50"/>
          <p:cNvCxnSpPr/>
          <p:nvPr/>
        </p:nvCxnSpPr>
        <p:spPr>
          <a:xfrm>
            <a:off x="5257800" y="3200397"/>
            <a:ext cx="228600" cy="0"/>
          </a:xfrm>
          <a:prstGeom prst="straightConnector1">
            <a:avLst/>
          </a:prstGeom>
          <a:noFill/>
          <a:ln w="9525" cap="flat" cmpd="sng">
            <a:solidFill>
              <a:schemeClr val="dk1"/>
            </a:solidFill>
            <a:prstDash val="solid"/>
            <a:round/>
            <a:headEnd type="none" w="med" len="med"/>
            <a:tailEnd type="none" w="med" len="med"/>
          </a:ln>
        </p:spPr>
      </p:cxnSp>
      <p:sp>
        <p:nvSpPr>
          <p:cNvPr id="488" name="Google Shape;488;p50"/>
          <p:cNvSpPr txBox="1"/>
          <p:nvPr/>
        </p:nvSpPr>
        <p:spPr>
          <a:xfrm>
            <a:off x="2514600" y="3200398"/>
            <a:ext cx="6096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CS</a:t>
            </a:r>
            <a:endParaRPr/>
          </a:p>
        </p:txBody>
      </p:sp>
      <p:cxnSp>
        <p:nvCxnSpPr>
          <p:cNvPr id="489" name="Google Shape;489;p50"/>
          <p:cNvCxnSpPr/>
          <p:nvPr/>
        </p:nvCxnSpPr>
        <p:spPr>
          <a:xfrm>
            <a:off x="2590800" y="3276597"/>
            <a:ext cx="304800" cy="0"/>
          </a:xfrm>
          <a:prstGeom prst="straightConnector1">
            <a:avLst/>
          </a:prstGeom>
          <a:noFill/>
          <a:ln w="9525" cap="flat" cmpd="sng">
            <a:solidFill>
              <a:schemeClr val="dk1"/>
            </a:solidFill>
            <a:prstDash val="solid"/>
            <a:round/>
            <a:headEnd type="none" w="med" len="med"/>
            <a:tailEnd type="none" w="med" len="med"/>
          </a:ln>
        </p:spPr>
      </p:cxnSp>
      <p:sp>
        <p:nvSpPr>
          <p:cNvPr id="490" name="Google Shape;490;p50"/>
          <p:cNvSpPr txBox="1"/>
          <p:nvPr/>
        </p:nvSpPr>
        <p:spPr>
          <a:xfrm>
            <a:off x="3352800" y="2971797"/>
            <a:ext cx="68580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chemeClr val="dk1"/>
                </a:solidFill>
                <a:latin typeface="Calibri"/>
                <a:ea typeface="Calibri"/>
                <a:cs typeface="Calibri"/>
                <a:sym typeface="Calibri"/>
              </a:rPr>
              <a:t>W/R</a:t>
            </a:r>
            <a:endParaRPr/>
          </a:p>
        </p:txBody>
      </p:sp>
      <p:sp>
        <p:nvSpPr>
          <p:cNvPr id="491" name="Google Shape;491;p50"/>
          <p:cNvSpPr txBox="1"/>
          <p:nvPr/>
        </p:nvSpPr>
        <p:spPr>
          <a:xfrm>
            <a:off x="3352800" y="3276597"/>
            <a:ext cx="533400" cy="915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A0</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A1</a:t>
            </a:r>
            <a:endParaRPr/>
          </a:p>
          <a:p>
            <a:pPr marL="0" marR="0" lvl="0" indent="0" algn="l" rtl="0">
              <a:spcBef>
                <a:spcPts val="0"/>
              </a:spcBef>
              <a:spcAft>
                <a:spcPts val="0"/>
              </a:spcAft>
              <a:buNone/>
            </a:pPr>
            <a:r>
              <a:rPr lang="en-US" sz="1800" b="1">
                <a:solidFill>
                  <a:schemeClr val="dk1"/>
                </a:solidFill>
                <a:latin typeface="Calibri"/>
                <a:ea typeface="Calibri"/>
                <a:cs typeface="Calibri"/>
                <a:sym typeface="Calibri"/>
              </a:rPr>
              <a:t>A2</a:t>
            </a:r>
            <a:endParaRPr/>
          </a:p>
        </p:txBody>
      </p:sp>
      <p:cxnSp>
        <p:nvCxnSpPr>
          <p:cNvPr id="492" name="Google Shape;492;p50"/>
          <p:cNvCxnSpPr/>
          <p:nvPr/>
        </p:nvCxnSpPr>
        <p:spPr>
          <a:xfrm rot="10800000">
            <a:off x="3962400" y="3428997"/>
            <a:ext cx="1066800" cy="0"/>
          </a:xfrm>
          <a:prstGeom prst="straightConnector1">
            <a:avLst/>
          </a:prstGeom>
          <a:noFill/>
          <a:ln w="9525" cap="flat" cmpd="sng">
            <a:solidFill>
              <a:schemeClr val="dk1"/>
            </a:solidFill>
            <a:prstDash val="solid"/>
            <a:round/>
            <a:headEnd type="none" w="med" len="med"/>
            <a:tailEnd type="triangle" w="med" len="med"/>
          </a:ln>
        </p:spPr>
      </p:cxnSp>
      <p:cxnSp>
        <p:nvCxnSpPr>
          <p:cNvPr id="493" name="Google Shape;493;p50"/>
          <p:cNvCxnSpPr/>
          <p:nvPr/>
        </p:nvCxnSpPr>
        <p:spPr>
          <a:xfrm rot="10800000">
            <a:off x="3962400" y="3428997"/>
            <a:ext cx="1066800" cy="0"/>
          </a:xfrm>
          <a:prstGeom prst="straightConnector1">
            <a:avLst/>
          </a:prstGeom>
          <a:noFill/>
          <a:ln w="9525" cap="flat" cmpd="sng">
            <a:solidFill>
              <a:schemeClr val="dk1"/>
            </a:solidFill>
            <a:prstDash val="solid"/>
            <a:round/>
            <a:headEnd type="none" w="med" len="med"/>
            <a:tailEnd type="triangle" w="med" len="med"/>
          </a:ln>
        </p:spPr>
      </p:cxnSp>
      <p:cxnSp>
        <p:nvCxnSpPr>
          <p:cNvPr id="494" name="Google Shape;494;p50"/>
          <p:cNvCxnSpPr/>
          <p:nvPr/>
        </p:nvCxnSpPr>
        <p:spPr>
          <a:xfrm rot="10800000">
            <a:off x="3962400" y="3733797"/>
            <a:ext cx="1066800" cy="0"/>
          </a:xfrm>
          <a:prstGeom prst="straightConnector1">
            <a:avLst/>
          </a:prstGeom>
          <a:noFill/>
          <a:ln w="9525" cap="flat" cmpd="sng">
            <a:solidFill>
              <a:schemeClr val="dk1"/>
            </a:solidFill>
            <a:prstDash val="solid"/>
            <a:round/>
            <a:headEnd type="none" w="med" len="med"/>
            <a:tailEnd type="triangle" w="med" len="med"/>
          </a:ln>
        </p:spPr>
      </p:cxnSp>
      <p:cxnSp>
        <p:nvCxnSpPr>
          <p:cNvPr id="495" name="Google Shape;495;p50"/>
          <p:cNvCxnSpPr/>
          <p:nvPr/>
        </p:nvCxnSpPr>
        <p:spPr>
          <a:xfrm rot="10800000">
            <a:off x="3962400" y="3962397"/>
            <a:ext cx="1066800" cy="0"/>
          </a:xfrm>
          <a:prstGeom prst="straightConnector1">
            <a:avLst/>
          </a:prstGeom>
          <a:noFill/>
          <a:ln w="9525" cap="flat" cmpd="sng">
            <a:solidFill>
              <a:schemeClr val="dk1"/>
            </a:solidFill>
            <a:prstDash val="solid"/>
            <a:round/>
            <a:headEnd type="none" w="med" len="med"/>
            <a:tailEnd type="triangle" w="med" len="med"/>
          </a:ln>
        </p:spPr>
      </p:cxnSp>
      <p:sp>
        <p:nvSpPr>
          <p:cNvPr id="496" name="Google Shape;496;p50"/>
          <p:cNvSpPr/>
          <p:nvPr/>
        </p:nvSpPr>
        <p:spPr>
          <a:xfrm>
            <a:off x="4495800" y="3200397"/>
            <a:ext cx="381000" cy="1066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
        <p:nvSpPr>
          <p:cNvPr id="497" name="Google Shape;497;p50"/>
          <p:cNvSpPr/>
          <p:nvPr/>
        </p:nvSpPr>
        <p:spPr>
          <a:xfrm>
            <a:off x="4267200" y="4952997"/>
            <a:ext cx="381000" cy="1066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
        <p:nvSpPr>
          <p:cNvPr id="498" name="Google Shape;498;p50"/>
          <p:cNvSpPr/>
          <p:nvPr/>
        </p:nvSpPr>
        <p:spPr>
          <a:xfrm>
            <a:off x="4495800" y="1904997"/>
            <a:ext cx="457200" cy="3048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
        <p:nvSpPr>
          <p:cNvPr id="499" name="Google Shape;499;p50"/>
          <p:cNvSpPr txBox="1"/>
          <p:nvPr/>
        </p:nvSpPr>
        <p:spPr>
          <a:xfrm>
            <a:off x="4876800" y="1600198"/>
            <a:ext cx="22098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CONTROL BUS</a:t>
            </a:r>
            <a:endParaRPr/>
          </a:p>
        </p:txBody>
      </p:sp>
      <p:sp>
        <p:nvSpPr>
          <p:cNvPr id="500" name="Google Shape;500;p50"/>
          <p:cNvSpPr txBox="1"/>
          <p:nvPr/>
        </p:nvSpPr>
        <p:spPr>
          <a:xfrm>
            <a:off x="4343400" y="4267198"/>
            <a:ext cx="19812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ADDRESS BUS</a:t>
            </a:r>
            <a:endParaRPr/>
          </a:p>
        </p:txBody>
      </p:sp>
      <p:sp>
        <p:nvSpPr>
          <p:cNvPr id="501" name="Google Shape;501;p50"/>
          <p:cNvSpPr txBox="1"/>
          <p:nvPr/>
        </p:nvSpPr>
        <p:spPr>
          <a:xfrm>
            <a:off x="4724400" y="5867398"/>
            <a:ext cx="1447800" cy="3667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DATA BUS</a:t>
            </a:r>
            <a:endParaRPr/>
          </a:p>
        </p:txBody>
      </p:sp>
      <p:cxnSp>
        <p:nvCxnSpPr>
          <p:cNvPr id="502" name="Google Shape;502;p50"/>
          <p:cNvCxnSpPr/>
          <p:nvPr/>
        </p:nvCxnSpPr>
        <p:spPr>
          <a:xfrm rot="10800000">
            <a:off x="5791200" y="1981197"/>
            <a:ext cx="0" cy="914400"/>
          </a:xfrm>
          <a:prstGeom prst="straightConnector1">
            <a:avLst/>
          </a:prstGeom>
          <a:noFill/>
          <a:ln w="9525" cap="flat" cmpd="sng">
            <a:solidFill>
              <a:schemeClr val="dk1"/>
            </a:solidFill>
            <a:prstDash val="solid"/>
            <a:round/>
            <a:headEnd type="none" w="med" len="med"/>
            <a:tailEnd type="none" w="med" len="med"/>
          </a:ln>
        </p:spPr>
      </p:cxnSp>
      <p:cxnSp>
        <p:nvCxnSpPr>
          <p:cNvPr id="503" name="Google Shape;503;p50"/>
          <p:cNvCxnSpPr/>
          <p:nvPr/>
        </p:nvCxnSpPr>
        <p:spPr>
          <a:xfrm rot="10800000">
            <a:off x="3352800" y="1981197"/>
            <a:ext cx="2438400" cy="0"/>
          </a:xfrm>
          <a:prstGeom prst="straightConnector1">
            <a:avLst/>
          </a:prstGeom>
          <a:noFill/>
          <a:ln w="9525" cap="flat" cmpd="sng">
            <a:solidFill>
              <a:schemeClr val="dk1"/>
            </a:solidFill>
            <a:prstDash val="solid"/>
            <a:round/>
            <a:headEnd type="none" w="med" len="med"/>
            <a:tailEnd type="none" w="med" len="med"/>
          </a:ln>
        </p:spPr>
      </p:cxnSp>
      <p:cxnSp>
        <p:nvCxnSpPr>
          <p:cNvPr id="504" name="Google Shape;504;p50"/>
          <p:cNvCxnSpPr/>
          <p:nvPr/>
        </p:nvCxnSpPr>
        <p:spPr>
          <a:xfrm>
            <a:off x="3352800" y="1981197"/>
            <a:ext cx="0" cy="914400"/>
          </a:xfrm>
          <a:prstGeom prst="straightConnector1">
            <a:avLst/>
          </a:prstGeom>
          <a:noFill/>
          <a:ln w="9525" cap="flat" cmpd="sng">
            <a:solidFill>
              <a:schemeClr val="dk1"/>
            </a:solidFill>
            <a:prstDash val="solid"/>
            <a:round/>
            <a:headEnd type="none" w="med" len="med"/>
            <a:tailEnd type="none" w="med" len="med"/>
          </a:ln>
        </p:spPr>
      </p:cxnSp>
      <p:sp>
        <p:nvSpPr>
          <p:cNvPr id="505" name="Google Shape;505;p50"/>
          <p:cNvSpPr txBox="1">
            <a:spLocks noGrp="1"/>
          </p:cNvSpPr>
          <p:nvPr>
            <p:ph type="body" idx="1"/>
          </p:nvPr>
        </p:nvSpPr>
        <p:spPr>
          <a:xfrm>
            <a:off x="1847528" y="980729"/>
            <a:ext cx="8363272" cy="537403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FF0000"/>
              </a:buClr>
              <a:buSzPts val="2000"/>
              <a:buNone/>
            </a:pPr>
            <a:r>
              <a:rPr lang="en-US" sz="2000">
                <a:solidFill>
                  <a:srgbClr val="FF0000"/>
                </a:solidFill>
                <a:latin typeface="Times New Roman"/>
                <a:ea typeface="Times New Roman"/>
                <a:cs typeface="Times New Roman"/>
                <a:sym typeface="Times New Roman"/>
              </a:rPr>
              <a:t>MULTI BUS STRUCTURE</a:t>
            </a:r>
            <a:endParaRPr/>
          </a:p>
          <a:p>
            <a:pPr marL="0" lvl="0" indent="0" algn="l" rtl="0">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To improve performance multi</a:t>
            </a:r>
            <a:r>
              <a:rPr lang="en-US" sz="2000" b="1">
                <a:latin typeface="Times New Roman"/>
                <a:ea typeface="Times New Roman"/>
                <a:cs typeface="Times New Roman"/>
                <a:sym typeface="Times New Roman"/>
              </a:rPr>
              <a:t> </a:t>
            </a:r>
            <a:r>
              <a:rPr lang="en-US" sz="2000">
                <a:latin typeface="Times New Roman"/>
                <a:ea typeface="Times New Roman"/>
                <a:cs typeface="Times New Roman"/>
                <a:sym typeface="Times New Roman"/>
              </a:rPr>
              <a:t>bus structure can be used.</a:t>
            </a:r>
            <a:endParaRPr/>
          </a:p>
          <a:p>
            <a:pPr marL="228600" lvl="0" indent="-228600" algn="l" rtl="0">
              <a:lnSpc>
                <a:spcPct val="90000"/>
              </a:lnSpc>
              <a:spcBef>
                <a:spcPts val="1000"/>
              </a:spcBef>
              <a:spcAft>
                <a:spcPts val="0"/>
              </a:spcAft>
              <a:buClr>
                <a:schemeClr val="dk1"/>
              </a:buClr>
              <a:buSzPts val="2000"/>
              <a:buNone/>
            </a:pPr>
            <a:endParaRPr sz="2000">
              <a:latin typeface="Times New Roman"/>
              <a:ea typeface="Times New Roman"/>
              <a:cs typeface="Times New Roman"/>
              <a:sym typeface="Times New Roman"/>
            </a:endParaRPr>
          </a:p>
        </p:txBody>
      </p:sp>
      <p:sp>
        <p:nvSpPr>
          <p:cNvPr id="506" name="Google Shape;506;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
        <p:nvSpPr>
          <p:cNvPr id="507" name="Google Shape;507;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EDF02514-4907-4333-9F07-D311954EB9A8}" type="datetime1">
              <a:rPr lang="en-US" smtClean="0"/>
              <a:t>8/12/2024</a:t>
            </a:fld>
            <a:endParaRPr/>
          </a:p>
        </p:txBody>
      </p:sp>
      <p:sp>
        <p:nvSpPr>
          <p:cNvPr id="508" name="Google Shape;508;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3"/>
                                        </p:tgtEl>
                                        <p:attrNameLst>
                                          <p:attrName>style.visibility</p:attrName>
                                        </p:attrNameLst>
                                      </p:cBhvr>
                                      <p:to>
                                        <p:strVal val="visible"/>
                                      </p:to>
                                    </p:set>
                                    <p:anim calcmode="lin" valueType="num">
                                      <p:cBhvr additive="base">
                                        <p:cTn id="7" dur="500"/>
                                        <p:tgtEl>
                                          <p:spTgt spid="473"/>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485"/>
                                        </p:tgtEl>
                                        <p:attrNameLst>
                                          <p:attrName>style.visibility</p:attrName>
                                        </p:attrNameLst>
                                      </p:cBhvr>
                                      <p:to>
                                        <p:strVal val="visible"/>
                                      </p:to>
                                    </p:set>
                                    <p:anim calcmode="lin" valueType="num">
                                      <p:cBhvr additive="base">
                                        <p:cTn id="10" dur="500"/>
                                        <p:tgtEl>
                                          <p:spTgt spid="485"/>
                                        </p:tgtEl>
                                        <p:attrNameLst>
                                          <p:attrName>ppt_y</p:attrName>
                                        </p:attrNameLst>
                                      </p:cBhvr>
                                      <p:tavLst>
                                        <p:tav tm="0">
                                          <p:val>
                                            <p:strVal val="#ppt_y+1"/>
                                          </p:val>
                                        </p:tav>
                                        <p:tav tm="100000">
                                          <p:val>
                                            <p:strVal val="#ppt_y"/>
                                          </p:val>
                                        </p:tav>
                                      </p:tavLst>
                                    </p:anim>
                                  </p:childTnLst>
                                </p:cTn>
                              </p:par>
                              <p:par>
                                <p:cTn id="11" presetID="2" presetClass="entr" presetSubtype="4" fill="hold" nodeType="withEffect">
                                  <p:stCondLst>
                                    <p:cond delay="0"/>
                                  </p:stCondLst>
                                  <p:childTnLst>
                                    <p:set>
                                      <p:cBhvr>
                                        <p:cTn id="12" dur="1" fill="hold">
                                          <p:stCondLst>
                                            <p:cond delay="0"/>
                                          </p:stCondLst>
                                        </p:cTn>
                                        <p:tgtEl>
                                          <p:spTgt spid="474"/>
                                        </p:tgtEl>
                                        <p:attrNameLst>
                                          <p:attrName>style.visibility</p:attrName>
                                        </p:attrNameLst>
                                      </p:cBhvr>
                                      <p:to>
                                        <p:strVal val="visible"/>
                                      </p:to>
                                    </p:set>
                                    <p:anim calcmode="lin" valueType="num">
                                      <p:cBhvr additive="base">
                                        <p:cTn id="13" dur="500"/>
                                        <p:tgtEl>
                                          <p:spTgt spid="474"/>
                                        </p:tgtEl>
                                        <p:attrNameLst>
                                          <p:attrName>ppt_y</p:attrName>
                                        </p:attrNameLst>
                                      </p:cBhvr>
                                      <p:tavLst>
                                        <p:tav tm="0">
                                          <p:val>
                                            <p:strVal val="#ppt_y+1"/>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486"/>
                                        </p:tgtEl>
                                        <p:attrNameLst>
                                          <p:attrName>style.visibility</p:attrName>
                                        </p:attrNameLst>
                                      </p:cBhvr>
                                      <p:to>
                                        <p:strVal val="visible"/>
                                      </p:to>
                                    </p:set>
                                    <p:anim calcmode="lin" valueType="num">
                                      <p:cBhvr additive="base">
                                        <p:cTn id="16" dur="500"/>
                                        <p:tgtEl>
                                          <p:spTgt spid="486"/>
                                        </p:tgtEl>
                                        <p:attrNameLst>
                                          <p:attrName>ppt_y</p:attrName>
                                        </p:attrNameLst>
                                      </p:cBhvr>
                                      <p:tavLst>
                                        <p:tav tm="0">
                                          <p:val>
                                            <p:strVal val="#ppt_y+1"/>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90"/>
                                        </p:tgtEl>
                                        <p:attrNameLst>
                                          <p:attrName>style.visibility</p:attrName>
                                        </p:attrNameLst>
                                      </p:cBhvr>
                                      <p:to>
                                        <p:strVal val="visible"/>
                                      </p:to>
                                    </p:set>
                                    <p:anim calcmode="lin" valueType="num">
                                      <p:cBhvr additive="base">
                                        <p:cTn id="19" dur="500"/>
                                        <p:tgtEl>
                                          <p:spTgt spid="490"/>
                                        </p:tgtEl>
                                        <p:attrNameLst>
                                          <p:attrName>ppt_y</p:attrName>
                                        </p:attrNameLst>
                                      </p:cBhvr>
                                      <p:tavLst>
                                        <p:tav tm="0">
                                          <p:val>
                                            <p:strVal val="#ppt_y+1"/>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489"/>
                                        </p:tgtEl>
                                        <p:attrNameLst>
                                          <p:attrName>style.visibility</p:attrName>
                                        </p:attrNameLst>
                                      </p:cBhvr>
                                      <p:to>
                                        <p:strVal val="visible"/>
                                      </p:to>
                                    </p:set>
                                    <p:anim calcmode="lin" valueType="num">
                                      <p:cBhvr additive="base">
                                        <p:cTn id="22" dur="500"/>
                                        <p:tgtEl>
                                          <p:spTgt spid="489"/>
                                        </p:tgtEl>
                                        <p:attrNameLst>
                                          <p:attrName>ppt_y</p:attrName>
                                        </p:attrNameLst>
                                      </p:cBhvr>
                                      <p:tavLst>
                                        <p:tav tm="0">
                                          <p:val>
                                            <p:strVal val="#ppt_y+1"/>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88"/>
                                        </p:tgtEl>
                                        <p:attrNameLst>
                                          <p:attrName>style.visibility</p:attrName>
                                        </p:attrNameLst>
                                      </p:cBhvr>
                                      <p:to>
                                        <p:strVal val="visible"/>
                                      </p:to>
                                    </p:set>
                                    <p:anim calcmode="lin" valueType="num">
                                      <p:cBhvr additive="base">
                                        <p:cTn id="25" dur="500"/>
                                        <p:tgtEl>
                                          <p:spTgt spid="488"/>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500"/>
                                        </p:tgtEl>
                                        <p:attrNameLst>
                                          <p:attrName>style.visibility</p:attrName>
                                        </p:attrNameLst>
                                      </p:cBhvr>
                                      <p:to>
                                        <p:strVal val="visible"/>
                                      </p:to>
                                    </p:set>
                                    <p:anim calcmode="lin" valueType="num">
                                      <p:cBhvr additive="base">
                                        <p:cTn id="30" dur="500"/>
                                        <p:tgtEl>
                                          <p:spTgt spid="500"/>
                                        </p:tgtEl>
                                        <p:attrNameLst>
                                          <p:attrName>ppt_y</p:attrName>
                                        </p:attrNameLst>
                                      </p:cBhvr>
                                      <p:tavLst>
                                        <p:tav tm="0">
                                          <p:val>
                                            <p:strVal val="#ppt_y+1"/>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96"/>
                                        </p:tgtEl>
                                        <p:attrNameLst>
                                          <p:attrName>style.visibility</p:attrName>
                                        </p:attrNameLst>
                                      </p:cBhvr>
                                      <p:to>
                                        <p:strVal val="visible"/>
                                      </p:to>
                                    </p:set>
                                    <p:anim calcmode="lin" valueType="num">
                                      <p:cBhvr additive="base">
                                        <p:cTn id="33" dur="500"/>
                                        <p:tgtEl>
                                          <p:spTgt spid="496"/>
                                        </p:tgtEl>
                                        <p:attrNameLst>
                                          <p:attrName>ppt_y</p:attrName>
                                        </p:attrNameLst>
                                      </p:cBhvr>
                                      <p:tavLst>
                                        <p:tav tm="0">
                                          <p:val>
                                            <p:strVal val="#ppt_y+1"/>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495"/>
                                        </p:tgtEl>
                                        <p:attrNameLst>
                                          <p:attrName>style.visibility</p:attrName>
                                        </p:attrNameLst>
                                      </p:cBhvr>
                                      <p:to>
                                        <p:strVal val="visible"/>
                                      </p:to>
                                    </p:set>
                                    <p:anim calcmode="lin" valueType="num">
                                      <p:cBhvr additive="base">
                                        <p:cTn id="36" dur="500"/>
                                        <p:tgtEl>
                                          <p:spTgt spid="495"/>
                                        </p:tgtEl>
                                        <p:attrNameLst>
                                          <p:attrName>ppt_y</p:attrName>
                                        </p:attrNameLst>
                                      </p:cBhvr>
                                      <p:tavLst>
                                        <p:tav tm="0">
                                          <p:val>
                                            <p:strVal val="#ppt_y+1"/>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94"/>
                                        </p:tgtEl>
                                        <p:attrNameLst>
                                          <p:attrName>style.visibility</p:attrName>
                                        </p:attrNameLst>
                                      </p:cBhvr>
                                      <p:to>
                                        <p:strVal val="visible"/>
                                      </p:to>
                                    </p:set>
                                    <p:anim calcmode="lin" valueType="num">
                                      <p:cBhvr additive="base">
                                        <p:cTn id="39" dur="500"/>
                                        <p:tgtEl>
                                          <p:spTgt spid="494"/>
                                        </p:tgtEl>
                                        <p:attrNameLst>
                                          <p:attrName>ppt_y</p:attrName>
                                        </p:attrNameLst>
                                      </p:cBhvr>
                                      <p:tavLst>
                                        <p:tav tm="0">
                                          <p:val>
                                            <p:strVal val="#ppt_y+1"/>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493"/>
                                        </p:tgtEl>
                                        <p:attrNameLst>
                                          <p:attrName>style.visibility</p:attrName>
                                        </p:attrNameLst>
                                      </p:cBhvr>
                                      <p:to>
                                        <p:strVal val="visible"/>
                                      </p:to>
                                    </p:set>
                                    <p:anim calcmode="lin" valueType="num">
                                      <p:cBhvr additive="base">
                                        <p:cTn id="42" dur="500"/>
                                        <p:tgtEl>
                                          <p:spTgt spid="493"/>
                                        </p:tgtEl>
                                        <p:attrNameLst>
                                          <p:attrName>ppt_y</p:attrName>
                                        </p:attrNameLst>
                                      </p:cBhvr>
                                      <p:tavLst>
                                        <p:tav tm="0">
                                          <p:val>
                                            <p:strVal val="#ppt_y+1"/>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91"/>
                                        </p:tgtEl>
                                        <p:attrNameLst>
                                          <p:attrName>style.visibility</p:attrName>
                                        </p:attrNameLst>
                                      </p:cBhvr>
                                      <p:to>
                                        <p:strVal val="visible"/>
                                      </p:to>
                                    </p:set>
                                    <p:anim calcmode="lin" valueType="num">
                                      <p:cBhvr additive="base">
                                        <p:cTn id="45" dur="500"/>
                                        <p:tgtEl>
                                          <p:spTgt spid="491"/>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478"/>
                                        </p:tgtEl>
                                        <p:attrNameLst>
                                          <p:attrName>style.visibility</p:attrName>
                                        </p:attrNameLst>
                                      </p:cBhvr>
                                      <p:to>
                                        <p:strVal val="visible"/>
                                      </p:to>
                                    </p:set>
                                    <p:anim calcmode="lin" valueType="num">
                                      <p:cBhvr additive="base">
                                        <p:cTn id="50" dur="500"/>
                                        <p:tgtEl>
                                          <p:spTgt spid="478"/>
                                        </p:tgtEl>
                                        <p:attrNameLst>
                                          <p:attrName>ppt_y</p:attrName>
                                        </p:attrNameLst>
                                      </p:cBhvr>
                                      <p:tavLst>
                                        <p:tav tm="0">
                                          <p:val>
                                            <p:strVal val="#ppt_y+1"/>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475"/>
                                        </p:tgtEl>
                                        <p:attrNameLst>
                                          <p:attrName>style.visibility</p:attrName>
                                        </p:attrNameLst>
                                      </p:cBhvr>
                                      <p:to>
                                        <p:strVal val="visible"/>
                                      </p:to>
                                    </p:set>
                                    <p:anim calcmode="lin" valueType="num">
                                      <p:cBhvr additive="base">
                                        <p:cTn id="53" dur="500"/>
                                        <p:tgtEl>
                                          <p:spTgt spid="475"/>
                                        </p:tgtEl>
                                        <p:attrNameLst>
                                          <p:attrName>ppt_y</p:attrName>
                                        </p:attrNameLst>
                                      </p:cBhvr>
                                      <p:tavLst>
                                        <p:tav tm="0">
                                          <p:val>
                                            <p:strVal val="#ppt_y+1"/>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476"/>
                                        </p:tgtEl>
                                        <p:attrNameLst>
                                          <p:attrName>style.visibility</p:attrName>
                                        </p:attrNameLst>
                                      </p:cBhvr>
                                      <p:to>
                                        <p:strVal val="visible"/>
                                      </p:to>
                                    </p:set>
                                    <p:anim calcmode="lin" valueType="num">
                                      <p:cBhvr additive="base">
                                        <p:cTn id="56" dur="500"/>
                                        <p:tgtEl>
                                          <p:spTgt spid="476"/>
                                        </p:tgtEl>
                                        <p:attrNameLst>
                                          <p:attrName>ppt_y</p:attrName>
                                        </p:attrNameLst>
                                      </p:cBhvr>
                                      <p:tavLst>
                                        <p:tav tm="0">
                                          <p:val>
                                            <p:strVal val="#ppt_y+1"/>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479"/>
                                        </p:tgtEl>
                                        <p:attrNameLst>
                                          <p:attrName>style.visibility</p:attrName>
                                        </p:attrNameLst>
                                      </p:cBhvr>
                                      <p:to>
                                        <p:strVal val="visible"/>
                                      </p:to>
                                    </p:set>
                                    <p:anim calcmode="lin" valueType="num">
                                      <p:cBhvr additive="base">
                                        <p:cTn id="59" dur="500"/>
                                        <p:tgtEl>
                                          <p:spTgt spid="479"/>
                                        </p:tgtEl>
                                        <p:attrNameLst>
                                          <p:attrName>ppt_y</p:attrName>
                                        </p:attrNameLst>
                                      </p:cBhvr>
                                      <p:tavLst>
                                        <p:tav tm="0">
                                          <p:val>
                                            <p:strVal val="#ppt_y+1"/>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497"/>
                                        </p:tgtEl>
                                        <p:attrNameLst>
                                          <p:attrName>style.visibility</p:attrName>
                                        </p:attrNameLst>
                                      </p:cBhvr>
                                      <p:to>
                                        <p:strVal val="visible"/>
                                      </p:to>
                                    </p:set>
                                    <p:anim calcmode="lin" valueType="num">
                                      <p:cBhvr additive="base">
                                        <p:cTn id="62" dur="500"/>
                                        <p:tgtEl>
                                          <p:spTgt spid="497"/>
                                        </p:tgtEl>
                                        <p:attrNameLst>
                                          <p:attrName>ppt_y</p:attrName>
                                        </p:attrNameLst>
                                      </p:cBhvr>
                                      <p:tavLst>
                                        <p:tav tm="0">
                                          <p:val>
                                            <p:strVal val="#ppt_y+1"/>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480"/>
                                        </p:tgtEl>
                                        <p:attrNameLst>
                                          <p:attrName>style.visibility</p:attrName>
                                        </p:attrNameLst>
                                      </p:cBhvr>
                                      <p:to>
                                        <p:strVal val="visible"/>
                                      </p:to>
                                    </p:set>
                                    <p:anim calcmode="lin" valueType="num">
                                      <p:cBhvr additive="base">
                                        <p:cTn id="65" dur="500"/>
                                        <p:tgtEl>
                                          <p:spTgt spid="480"/>
                                        </p:tgtEl>
                                        <p:attrNameLst>
                                          <p:attrName>ppt_y</p:attrName>
                                        </p:attrNameLst>
                                      </p:cBhvr>
                                      <p:tavLst>
                                        <p:tav tm="0">
                                          <p:val>
                                            <p:strVal val="#ppt_y+1"/>
                                          </p:val>
                                        </p:tav>
                                        <p:tav tm="100000">
                                          <p:val>
                                            <p:strVal val="#ppt_y"/>
                                          </p:val>
                                        </p:tav>
                                      </p:tavLst>
                                    </p:anim>
                                  </p:childTnLst>
                                </p:cTn>
                              </p:par>
                              <p:par>
                                <p:cTn id="66" presetID="2" presetClass="entr" presetSubtype="4" fill="hold" nodeType="withEffect">
                                  <p:stCondLst>
                                    <p:cond delay="0"/>
                                  </p:stCondLst>
                                  <p:childTnLst>
                                    <p:set>
                                      <p:cBhvr>
                                        <p:cTn id="67" dur="1" fill="hold">
                                          <p:stCondLst>
                                            <p:cond delay="0"/>
                                          </p:stCondLst>
                                        </p:cTn>
                                        <p:tgtEl>
                                          <p:spTgt spid="477"/>
                                        </p:tgtEl>
                                        <p:attrNameLst>
                                          <p:attrName>style.visibility</p:attrName>
                                        </p:attrNameLst>
                                      </p:cBhvr>
                                      <p:to>
                                        <p:strVal val="visible"/>
                                      </p:to>
                                    </p:set>
                                    <p:anim calcmode="lin" valueType="num">
                                      <p:cBhvr additive="base">
                                        <p:cTn id="68" dur="500"/>
                                        <p:tgtEl>
                                          <p:spTgt spid="477"/>
                                        </p:tgtEl>
                                        <p:attrNameLst>
                                          <p:attrName>ppt_y</p:attrName>
                                        </p:attrNameLst>
                                      </p:cBhvr>
                                      <p:tavLst>
                                        <p:tav tm="0">
                                          <p:val>
                                            <p:strVal val="#ppt_y+1"/>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501"/>
                                        </p:tgtEl>
                                        <p:attrNameLst>
                                          <p:attrName>style.visibility</p:attrName>
                                        </p:attrNameLst>
                                      </p:cBhvr>
                                      <p:to>
                                        <p:strVal val="visible"/>
                                      </p:to>
                                    </p:set>
                                    <p:anim calcmode="lin" valueType="num">
                                      <p:cBhvr additive="base">
                                        <p:cTn id="71" dur="500"/>
                                        <p:tgtEl>
                                          <p:spTgt spid="501"/>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498"/>
                                        </p:tgtEl>
                                        <p:attrNameLst>
                                          <p:attrName>style.visibility</p:attrName>
                                        </p:attrNameLst>
                                      </p:cBhvr>
                                      <p:to>
                                        <p:strVal val="visible"/>
                                      </p:to>
                                    </p:set>
                                    <p:anim calcmode="lin" valueType="num">
                                      <p:cBhvr additive="base">
                                        <p:cTn id="76" dur="500"/>
                                        <p:tgtEl>
                                          <p:spTgt spid="498"/>
                                        </p:tgtEl>
                                        <p:attrNameLst>
                                          <p:attrName>ppt_y</p:attrName>
                                        </p:attrNameLst>
                                      </p:cBhvr>
                                      <p:tavLst>
                                        <p:tav tm="0">
                                          <p:val>
                                            <p:strVal val="#ppt_y+1"/>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499"/>
                                        </p:tgtEl>
                                        <p:attrNameLst>
                                          <p:attrName>style.visibility</p:attrName>
                                        </p:attrNameLst>
                                      </p:cBhvr>
                                      <p:to>
                                        <p:strVal val="visible"/>
                                      </p:to>
                                    </p:set>
                                    <p:anim calcmode="lin" valueType="num">
                                      <p:cBhvr additive="base">
                                        <p:cTn id="79" dur="500"/>
                                        <p:tgtEl>
                                          <p:spTgt spid="499"/>
                                        </p:tgtEl>
                                        <p:attrNameLst>
                                          <p:attrName>ppt_y</p:attrName>
                                        </p:attrNameLst>
                                      </p:cBhvr>
                                      <p:tavLst>
                                        <p:tav tm="0">
                                          <p:val>
                                            <p:strVal val="#ppt_y+1"/>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502"/>
                                        </p:tgtEl>
                                        <p:attrNameLst>
                                          <p:attrName>style.visibility</p:attrName>
                                        </p:attrNameLst>
                                      </p:cBhvr>
                                      <p:to>
                                        <p:strVal val="visible"/>
                                      </p:to>
                                    </p:set>
                                    <p:anim calcmode="lin" valueType="num">
                                      <p:cBhvr additive="base">
                                        <p:cTn id="82" dur="500"/>
                                        <p:tgtEl>
                                          <p:spTgt spid="502"/>
                                        </p:tgtEl>
                                        <p:attrNameLst>
                                          <p:attrName>ppt_y</p:attrName>
                                        </p:attrNameLst>
                                      </p:cBhvr>
                                      <p:tavLst>
                                        <p:tav tm="0">
                                          <p:val>
                                            <p:strVal val="#ppt_y+1"/>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504"/>
                                        </p:tgtEl>
                                        <p:attrNameLst>
                                          <p:attrName>style.visibility</p:attrName>
                                        </p:attrNameLst>
                                      </p:cBhvr>
                                      <p:to>
                                        <p:strVal val="visible"/>
                                      </p:to>
                                    </p:set>
                                    <p:anim calcmode="lin" valueType="num">
                                      <p:cBhvr additive="base">
                                        <p:cTn id="85" dur="500"/>
                                        <p:tgtEl>
                                          <p:spTgt spid="504"/>
                                        </p:tgtEl>
                                        <p:attrNameLst>
                                          <p:attrName>ppt_y</p:attrName>
                                        </p:attrNameLst>
                                      </p:cBhvr>
                                      <p:tavLst>
                                        <p:tav tm="0">
                                          <p:val>
                                            <p:strVal val="#ppt_y+1"/>
                                          </p:val>
                                        </p:tav>
                                        <p:tav tm="100000">
                                          <p:val>
                                            <p:strVal val="#ppt_y"/>
                                          </p:val>
                                        </p:tav>
                                      </p:tavLst>
                                    </p:anim>
                                  </p:childTnLst>
                                </p:cTn>
                              </p:par>
                              <p:par>
                                <p:cTn id="86" presetID="2" presetClass="entr" presetSubtype="4" fill="hold" nodeType="withEffect">
                                  <p:stCondLst>
                                    <p:cond delay="0"/>
                                  </p:stCondLst>
                                  <p:childTnLst>
                                    <p:set>
                                      <p:cBhvr>
                                        <p:cTn id="87" dur="1" fill="hold">
                                          <p:stCondLst>
                                            <p:cond delay="0"/>
                                          </p:stCondLst>
                                        </p:cTn>
                                        <p:tgtEl>
                                          <p:spTgt spid="503"/>
                                        </p:tgtEl>
                                        <p:attrNameLst>
                                          <p:attrName>style.visibility</p:attrName>
                                        </p:attrNameLst>
                                      </p:cBhvr>
                                      <p:to>
                                        <p:strVal val="visible"/>
                                      </p:to>
                                    </p:set>
                                    <p:anim calcmode="lin" valueType="num">
                                      <p:cBhvr additive="base">
                                        <p:cTn id="88" dur="500"/>
                                        <p:tgtEl>
                                          <p:spTgt spid="50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1"/>
          <p:cNvSpPr/>
          <p:nvPr/>
        </p:nvSpPr>
        <p:spPr>
          <a:xfrm>
            <a:off x="1752600" y="1295401"/>
            <a:ext cx="8458200" cy="4893647"/>
          </a:xfrm>
          <a:prstGeom prst="rect">
            <a:avLst/>
          </a:prstGeom>
          <a:noFill/>
          <a:ln>
            <a:noFill/>
          </a:ln>
        </p:spPr>
        <p:txBody>
          <a:bodyPr spcFirstLastPara="1" wrap="square" lIns="91425" tIns="45700" rIns="91425" bIns="45700" anchor="t" anchorCtr="0">
            <a:noAutofit/>
          </a:bodyPr>
          <a:lstStyle/>
          <a:p>
            <a:pPr marL="0" marR="0" lvl="0" indent="-152400" algn="just" rtl="0">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2</a:t>
            </a:r>
            <a:r>
              <a:rPr lang="en-US" sz="2400" baseline="30000">
                <a:solidFill>
                  <a:schemeClr val="dk1"/>
                </a:solidFill>
                <a:latin typeface="Times New Roman"/>
                <a:ea typeface="Times New Roman"/>
                <a:cs typeface="Times New Roman"/>
                <a:sym typeface="Times New Roman"/>
              </a:rPr>
              <a:t>3</a:t>
            </a:r>
            <a:r>
              <a:rPr lang="en-US" sz="2400">
                <a:solidFill>
                  <a:schemeClr val="dk1"/>
                </a:solidFill>
                <a:latin typeface="Times New Roman"/>
                <a:ea typeface="Times New Roman"/>
                <a:cs typeface="Times New Roman"/>
                <a:sym typeface="Times New Roman"/>
              </a:rPr>
              <a:t> = 8 i.e. 3 address line is required to select 8 location</a:t>
            </a:r>
            <a:endParaRPr/>
          </a:p>
          <a:p>
            <a:pPr marL="0" marR="0" lvl="0" indent="0" algn="just"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152400" algn="just" rtl="0">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In general 2</a:t>
            </a:r>
            <a:r>
              <a:rPr lang="en-US" sz="2400" baseline="30000">
                <a:solidFill>
                  <a:schemeClr val="dk1"/>
                </a:solidFill>
                <a:latin typeface="Times New Roman"/>
                <a:ea typeface="Times New Roman"/>
                <a:cs typeface="Times New Roman"/>
                <a:sym typeface="Times New Roman"/>
              </a:rPr>
              <a:t>x</a:t>
            </a:r>
            <a:r>
              <a:rPr lang="en-US" sz="2400">
                <a:solidFill>
                  <a:schemeClr val="dk1"/>
                </a:solidFill>
                <a:latin typeface="Times New Roman"/>
                <a:ea typeface="Times New Roman"/>
                <a:cs typeface="Times New Roman"/>
                <a:sym typeface="Times New Roman"/>
              </a:rPr>
              <a:t> = n where x number of address lines (address bit) and n is number of location</a:t>
            </a:r>
            <a:endParaRPr/>
          </a:p>
          <a:p>
            <a:pPr marL="0" marR="0" lvl="0" indent="0" algn="just"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152400" algn="just" rtl="0">
              <a:spcBef>
                <a:spcPts val="0"/>
              </a:spcBef>
              <a:spcAft>
                <a:spcPts val="0"/>
              </a:spcAft>
              <a:buClr>
                <a:schemeClr val="dk1"/>
              </a:buClr>
              <a:buSzPts val="2400"/>
              <a:buFont typeface="Times New Roman"/>
              <a:buChar char="•"/>
            </a:pPr>
            <a:r>
              <a:rPr lang="en-US" sz="2400" b="1">
                <a:solidFill>
                  <a:schemeClr val="dk1"/>
                </a:solidFill>
                <a:latin typeface="Times New Roman"/>
                <a:ea typeface="Times New Roman"/>
                <a:cs typeface="Times New Roman"/>
                <a:sym typeface="Times New Roman"/>
              </a:rPr>
              <a:t>Address bus</a:t>
            </a:r>
            <a:r>
              <a:rPr lang="en-US" sz="2400">
                <a:solidFill>
                  <a:schemeClr val="dk1"/>
                </a:solidFill>
                <a:latin typeface="Times New Roman"/>
                <a:ea typeface="Times New Roman"/>
                <a:cs typeface="Times New Roman"/>
                <a:sym typeface="Times New Roman"/>
              </a:rPr>
              <a:t> : unidirectional : group of wires which carries address information bits form processor to peripherals (16,20,24 or more parallel signal lines) </a:t>
            </a:r>
            <a:endParaRPr sz="3200">
              <a:solidFill>
                <a:schemeClr val="dk1"/>
              </a:solidFill>
              <a:latin typeface="Times New Roman"/>
              <a:ea typeface="Times New Roman"/>
              <a:cs typeface="Times New Roman"/>
              <a:sym typeface="Times New Roman"/>
            </a:endParaRPr>
          </a:p>
          <a:p>
            <a:pPr marL="0" marR="0" lvl="0" indent="-152400" algn="just" rtl="0">
              <a:spcBef>
                <a:spcPts val="0"/>
              </a:spcBef>
              <a:spcAft>
                <a:spcPts val="0"/>
              </a:spcAft>
              <a:buClr>
                <a:schemeClr val="dk1"/>
              </a:buClr>
              <a:buSzPts val="2400"/>
              <a:buFont typeface="Times New Roman"/>
              <a:buChar char="•"/>
            </a:pPr>
            <a:r>
              <a:rPr lang="en-US" sz="2400" b="1">
                <a:solidFill>
                  <a:schemeClr val="dk1"/>
                </a:solidFill>
                <a:latin typeface="Times New Roman"/>
                <a:ea typeface="Times New Roman"/>
                <a:cs typeface="Times New Roman"/>
                <a:sym typeface="Times New Roman"/>
              </a:rPr>
              <a:t>Data bus</a:t>
            </a:r>
            <a:r>
              <a:rPr lang="en-US" sz="2400">
                <a:solidFill>
                  <a:schemeClr val="dk1"/>
                </a:solidFill>
                <a:latin typeface="Times New Roman"/>
                <a:ea typeface="Times New Roman"/>
                <a:cs typeface="Times New Roman"/>
                <a:sym typeface="Times New Roman"/>
              </a:rPr>
              <a:t>: bidirectional : group of wires which carries data information bit form processor to peripherals and vice – versa</a:t>
            </a:r>
            <a:endParaRPr/>
          </a:p>
          <a:p>
            <a:pPr marL="0" marR="0" lvl="0" indent="-152400" algn="just" rtl="0">
              <a:spcBef>
                <a:spcPts val="0"/>
              </a:spcBef>
              <a:spcAft>
                <a:spcPts val="0"/>
              </a:spcAft>
              <a:buClr>
                <a:schemeClr val="dk1"/>
              </a:buClr>
              <a:buSzPts val="2400"/>
              <a:buFont typeface="Times New Roman"/>
              <a:buChar char="•"/>
            </a:pPr>
            <a:r>
              <a:rPr lang="en-US" sz="2400" b="1">
                <a:solidFill>
                  <a:schemeClr val="dk1"/>
                </a:solidFill>
                <a:latin typeface="Times New Roman"/>
                <a:ea typeface="Times New Roman"/>
                <a:cs typeface="Times New Roman"/>
                <a:sym typeface="Times New Roman"/>
              </a:rPr>
              <a:t>Control bus</a:t>
            </a:r>
            <a:r>
              <a:rPr lang="en-US" sz="2400">
                <a:solidFill>
                  <a:schemeClr val="dk1"/>
                </a:solidFill>
                <a:latin typeface="Times New Roman"/>
                <a:ea typeface="Times New Roman"/>
                <a:cs typeface="Times New Roman"/>
                <a:sym typeface="Times New Roman"/>
              </a:rPr>
              <a:t>: bidirectional: group of wires which carries control signals form processor to peripherals and vice – versa</a:t>
            </a:r>
            <a:endParaRPr/>
          </a:p>
          <a:p>
            <a:pPr marL="0" marR="0" lvl="0" indent="0" algn="just"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514" name="Google Shape;51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
        <p:nvSpPr>
          <p:cNvPr id="515" name="Google Shape;515;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A62C4E0A-9F28-4731-B8B3-3BC62208F7E1}" type="datetime1">
              <a:rPr lang="en-US" smtClean="0"/>
              <a:t>8/12/2024</a:t>
            </a:fld>
            <a:endParaRPr/>
          </a:p>
        </p:txBody>
      </p:sp>
      <p:sp>
        <p:nvSpPr>
          <p:cNvPr id="516" name="Google Shape;516;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pic>
        <p:nvPicPr>
          <p:cNvPr id="521" name="Google Shape;521;p52"/>
          <p:cNvPicPr preferRelativeResize="0"/>
          <p:nvPr/>
        </p:nvPicPr>
        <p:blipFill rotWithShape="1">
          <a:blip r:embed="rId3">
            <a:alphaModFix/>
          </a:blip>
          <a:srcRect l="987" r="987" b="-121"/>
          <a:stretch/>
        </p:blipFill>
        <p:spPr>
          <a:xfrm>
            <a:off x="2063552" y="2242472"/>
            <a:ext cx="8147248" cy="3634800"/>
          </a:xfrm>
          <a:prstGeom prst="rect">
            <a:avLst/>
          </a:prstGeom>
          <a:noFill/>
          <a:ln>
            <a:noFill/>
          </a:ln>
        </p:spPr>
      </p:pic>
      <p:sp>
        <p:nvSpPr>
          <p:cNvPr id="522" name="Google Shape;522;p52"/>
          <p:cNvSpPr/>
          <p:nvPr/>
        </p:nvSpPr>
        <p:spPr>
          <a:xfrm rot="-27557" flipH="1">
            <a:off x="3071380" y="6125376"/>
            <a:ext cx="6071248" cy="3667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a:solidFill>
                  <a:schemeClr val="dk1"/>
                </a:solidFill>
                <a:latin typeface="Times New Roman"/>
                <a:ea typeface="Times New Roman"/>
                <a:cs typeface="Times New Roman"/>
                <a:sym typeface="Times New Roman"/>
              </a:rPr>
              <a:t>Single bus structure showing the details of connection</a:t>
            </a:r>
            <a:endParaRPr/>
          </a:p>
        </p:txBody>
      </p:sp>
      <p:sp>
        <p:nvSpPr>
          <p:cNvPr id="523" name="Google Shape;523;p52"/>
          <p:cNvSpPr txBox="1"/>
          <p:nvPr/>
        </p:nvSpPr>
        <p:spPr>
          <a:xfrm>
            <a:off x="1780971" y="1066801"/>
            <a:ext cx="8904751" cy="10156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Times New Roman"/>
                <a:ea typeface="Times New Roman"/>
                <a:cs typeface="Times New Roman"/>
                <a:sym typeface="Times New Roman"/>
              </a:rPr>
              <a:t>Figure below shows address, data and control bus and their connection with peripheral and microprocessor</a:t>
            </a:r>
            <a:endParaRPr/>
          </a:p>
          <a:p>
            <a:pPr marL="0" marR="0" lvl="0" indent="0" algn="l" rtl="0">
              <a:spcBef>
                <a:spcPts val="0"/>
              </a:spcBef>
              <a:spcAft>
                <a:spcPts val="0"/>
              </a:spcAft>
              <a:buNone/>
            </a:pPr>
            <a:endParaRPr sz="2000" b="1">
              <a:solidFill>
                <a:schemeClr val="dk1"/>
              </a:solidFill>
              <a:latin typeface="Times New Roman"/>
              <a:ea typeface="Times New Roman"/>
              <a:cs typeface="Times New Roman"/>
              <a:sym typeface="Times New Roman"/>
            </a:endParaRPr>
          </a:p>
        </p:txBody>
      </p:sp>
      <p:sp>
        <p:nvSpPr>
          <p:cNvPr id="524" name="Google Shape;524;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
        <p:nvSpPr>
          <p:cNvPr id="525" name="Google Shape;525;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B6DDE0A3-D0A6-4FB8-AF77-CE965D3BAE08}" type="datetime1">
              <a:rPr lang="en-US" smtClean="0"/>
              <a:t>8/12/2024</a:t>
            </a:fld>
            <a:endParaRPr/>
          </a:p>
        </p:txBody>
      </p:sp>
      <p:sp>
        <p:nvSpPr>
          <p:cNvPr id="526" name="Google Shape;526;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1"/>
                                        </p:tgtEl>
                                        <p:attrNameLst>
                                          <p:attrName>style.visibility</p:attrName>
                                        </p:attrNameLst>
                                      </p:cBhvr>
                                      <p:to>
                                        <p:strVal val="visible"/>
                                      </p:to>
                                    </p:set>
                                    <p:animEffect transition="in" filter="fade">
                                      <p:cBhvr>
                                        <p:cTn id="7" dur="2000"/>
                                        <p:tgtEl>
                                          <p:spTgt spid="5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53"/>
          <p:cNvSpPr txBox="1"/>
          <p:nvPr/>
        </p:nvSpPr>
        <p:spPr>
          <a:xfrm>
            <a:off x="623392" y="908720"/>
            <a:ext cx="11089232" cy="5472608"/>
          </a:xfrm>
          <a:prstGeom prst="rect">
            <a:avLst/>
          </a:prstGeom>
          <a:no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32" name="Google Shape;532;p53"/>
          <p:cNvSpPr txBox="1">
            <a:spLocks noGrp="1"/>
          </p:cNvSpPr>
          <p:nvPr>
            <p:ph type="ctrTitle"/>
          </p:nvPr>
        </p:nvSpPr>
        <p:spPr>
          <a:xfrm>
            <a:off x="684584" y="2564904"/>
            <a:ext cx="10595992" cy="2387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800"/>
              <a:buFont typeface="Palatino Linotype"/>
              <a:buNone/>
            </a:pPr>
            <a:r>
              <a:rPr lang="en-US" sz="4800" b="0" i="0" u="none" strike="noStrike" cap="none">
                <a:solidFill>
                  <a:schemeClr val="dk1"/>
                </a:solidFill>
                <a:latin typeface="Times New Roman"/>
                <a:ea typeface="Times New Roman"/>
                <a:cs typeface="Times New Roman"/>
                <a:sym typeface="Times New Roman"/>
              </a:rPr>
              <a:t>Memory Locations and Addresses</a:t>
            </a:r>
            <a:endParaRPr sz="4800" b="1" i="0" u="none" strike="noStrike" cap="none">
              <a:solidFill>
                <a:schemeClr val="dk1"/>
              </a:solidFill>
              <a:latin typeface="Times New Roman"/>
              <a:ea typeface="Times New Roman"/>
              <a:cs typeface="Times New Roman"/>
              <a:sym typeface="Times New Roman"/>
            </a:endParaRPr>
          </a:p>
        </p:txBody>
      </p:sp>
      <p:sp>
        <p:nvSpPr>
          <p:cNvPr id="533" name="Google Shape;533;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252BDFC6-32FB-4B04-8AA1-918F880E80A9}" type="datetime1">
              <a:rPr lang="en-US" smtClean="0"/>
              <a:t>8/12/2024</a:t>
            </a:fld>
            <a:endParaRPr/>
          </a:p>
        </p:txBody>
      </p:sp>
      <p:sp>
        <p:nvSpPr>
          <p:cNvPr id="534" name="Google Shape;534;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535" name="Google Shape;535;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54"/>
          <p:cNvSpPr txBox="1">
            <a:spLocks noGrp="1"/>
          </p:cNvSpPr>
          <p:nvPr>
            <p:ph type="title"/>
          </p:nvPr>
        </p:nvSpPr>
        <p:spPr>
          <a:xfrm>
            <a:off x="963084" y="254001"/>
            <a:ext cx="10295467" cy="4984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2400"/>
              <a:buFont typeface="Calibri"/>
              <a:buNone/>
            </a:pPr>
            <a:r>
              <a:rPr lang="en-US" sz="2400" b="1">
                <a:solidFill>
                  <a:srgbClr val="000000"/>
                </a:solidFill>
                <a:latin typeface="Times New Roman"/>
                <a:ea typeface="Times New Roman"/>
                <a:cs typeface="Times New Roman"/>
                <a:sym typeface="Times New Roman"/>
              </a:rPr>
              <a:t>MEMORY  HIERARCHY</a:t>
            </a:r>
            <a:endParaRPr>
              <a:latin typeface="Times New Roman"/>
              <a:ea typeface="Times New Roman"/>
              <a:cs typeface="Times New Roman"/>
              <a:sym typeface="Times New Roman"/>
            </a:endParaRPr>
          </a:p>
        </p:txBody>
      </p:sp>
      <p:sp>
        <p:nvSpPr>
          <p:cNvPr id="541" name="Google Shape;541;p54"/>
          <p:cNvSpPr/>
          <p:nvPr/>
        </p:nvSpPr>
        <p:spPr>
          <a:xfrm>
            <a:off x="869951" y="1036638"/>
            <a:ext cx="7607594" cy="588023"/>
          </a:xfrm>
          <a:prstGeom prst="rect">
            <a:avLst/>
          </a:prstGeom>
          <a:noFill/>
          <a:ln>
            <a:noFill/>
          </a:ln>
        </p:spPr>
        <p:txBody>
          <a:bodyPr spcFirstLastPara="1" wrap="square" lIns="90350" tIns="44275" rIns="90350" bIns="44275" anchor="t" anchorCtr="0">
            <a:noAutofit/>
          </a:bodyPr>
          <a:lstStyle/>
          <a:p>
            <a:pPr marL="0" marR="0" lvl="0" indent="0" algn="l" rtl="0">
              <a:lnSpc>
                <a:spcPct val="90000"/>
              </a:lnSpc>
              <a:spcBef>
                <a:spcPts val="0"/>
              </a:spcBef>
              <a:spcAft>
                <a:spcPts val="0"/>
              </a:spcAft>
              <a:buClr>
                <a:srgbClr val="000000"/>
              </a:buClr>
              <a:buSzPts val="1800"/>
              <a:buFont typeface="Arial"/>
              <a:buNone/>
            </a:pPr>
            <a:r>
              <a:rPr lang="en-US" sz="1800" b="1">
                <a:solidFill>
                  <a:srgbClr val="000000"/>
                </a:solidFill>
                <a:latin typeface="Times New Roman"/>
                <a:ea typeface="Times New Roman"/>
                <a:cs typeface="Times New Roman"/>
                <a:sym typeface="Times New Roman"/>
              </a:rPr>
              <a:t>Memory Hierarchy is to obtain the highest possible</a:t>
            </a:r>
            <a:endParaRPr sz="1800">
              <a:solidFill>
                <a:schemeClr val="dk1"/>
              </a:solidFill>
              <a:latin typeface="Times New Roman"/>
              <a:ea typeface="Times New Roman"/>
              <a:cs typeface="Times New Roman"/>
              <a:sym typeface="Times New Roman"/>
            </a:endParaRPr>
          </a:p>
          <a:p>
            <a:pPr marL="0" marR="0" lvl="0" indent="0" algn="l" rtl="0">
              <a:lnSpc>
                <a:spcPct val="90000"/>
              </a:lnSpc>
              <a:spcBef>
                <a:spcPts val="0"/>
              </a:spcBef>
              <a:spcAft>
                <a:spcPts val="0"/>
              </a:spcAft>
              <a:buClr>
                <a:srgbClr val="000000"/>
              </a:buClr>
              <a:buSzPts val="1800"/>
              <a:buFont typeface="Arial"/>
              <a:buNone/>
            </a:pPr>
            <a:r>
              <a:rPr lang="en-US" sz="1800" b="1">
                <a:solidFill>
                  <a:srgbClr val="000000"/>
                </a:solidFill>
                <a:latin typeface="Times New Roman"/>
                <a:ea typeface="Times New Roman"/>
                <a:cs typeface="Times New Roman"/>
                <a:sym typeface="Times New Roman"/>
              </a:rPr>
              <a:t>access speed while minimizing the total cost of the memory system</a:t>
            </a:r>
            <a:endParaRPr sz="1800">
              <a:solidFill>
                <a:schemeClr val="dk1"/>
              </a:solidFill>
              <a:latin typeface="Times New Roman"/>
              <a:ea typeface="Times New Roman"/>
              <a:cs typeface="Times New Roman"/>
              <a:sym typeface="Times New Roman"/>
            </a:endParaRPr>
          </a:p>
        </p:txBody>
      </p:sp>
      <p:sp>
        <p:nvSpPr>
          <p:cNvPr id="542" name="Google Shape;542;p54"/>
          <p:cNvSpPr/>
          <p:nvPr/>
        </p:nvSpPr>
        <p:spPr>
          <a:xfrm>
            <a:off x="719667" y="1001714"/>
            <a:ext cx="10227733" cy="623887"/>
          </a:xfrm>
          <a:prstGeom prst="rect">
            <a:avLst/>
          </a:prstGeom>
          <a:noFill/>
          <a:ln w="25550"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alibri"/>
              <a:buNone/>
            </a:pPr>
            <a:endParaRPr sz="2400">
              <a:solidFill>
                <a:schemeClr val="lt1"/>
              </a:solidFill>
              <a:latin typeface="Times New Roman"/>
              <a:ea typeface="Times New Roman"/>
              <a:cs typeface="Times New Roman"/>
              <a:sym typeface="Times New Roman"/>
            </a:endParaRPr>
          </a:p>
        </p:txBody>
      </p:sp>
      <p:pic>
        <p:nvPicPr>
          <p:cNvPr id="543" name="Google Shape;543;p54"/>
          <p:cNvPicPr preferRelativeResize="0"/>
          <p:nvPr/>
        </p:nvPicPr>
        <p:blipFill rotWithShape="1">
          <a:blip r:embed="rId3">
            <a:alphaModFix/>
          </a:blip>
          <a:srcRect/>
          <a:stretch/>
        </p:blipFill>
        <p:spPr>
          <a:xfrm>
            <a:off x="1898419" y="2060848"/>
            <a:ext cx="7870228" cy="4169494"/>
          </a:xfrm>
          <a:prstGeom prst="rect">
            <a:avLst/>
          </a:prstGeom>
          <a:noFill/>
          <a:ln>
            <a:noFill/>
          </a:ln>
        </p:spPr>
      </p:pic>
      <p:sp>
        <p:nvSpPr>
          <p:cNvPr id="544" name="Google Shape;544;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C0AAD12A-0F58-4573-93BD-B625179F5562}" type="datetime1">
              <a:rPr lang="en-US" smtClean="0"/>
              <a:t>8/12/2024</a:t>
            </a:fld>
            <a:endParaRPr/>
          </a:p>
        </p:txBody>
      </p:sp>
      <p:sp>
        <p:nvSpPr>
          <p:cNvPr id="545" name="Google Shape;545;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546" name="Google Shape;546;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5"/>
          <p:cNvSpPr txBox="1">
            <a:spLocks noGrp="1"/>
          </p:cNvSpPr>
          <p:nvPr>
            <p:ph type="title"/>
          </p:nvPr>
        </p:nvSpPr>
        <p:spPr>
          <a:xfrm>
            <a:off x="838200" y="305661"/>
            <a:ext cx="10515600" cy="63973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000"/>
              <a:buFont typeface="Calibri"/>
              <a:buNone/>
            </a:pPr>
            <a:r>
              <a:rPr lang="en-US" sz="4000" b="0" i="0" u="none" strike="noStrike" cap="none">
                <a:solidFill>
                  <a:schemeClr val="dk1"/>
                </a:solidFill>
                <a:latin typeface="Times New Roman"/>
                <a:ea typeface="Times New Roman"/>
                <a:cs typeface="Times New Roman"/>
                <a:sym typeface="Times New Roman"/>
              </a:rPr>
              <a:t>Memory Locations and Addresses</a:t>
            </a:r>
            <a:endParaRPr sz="4000" b="1" i="0" u="none" strike="noStrike" cap="none">
              <a:solidFill>
                <a:schemeClr val="dk1"/>
              </a:solidFill>
              <a:latin typeface="Times New Roman"/>
              <a:ea typeface="Times New Roman"/>
              <a:cs typeface="Times New Roman"/>
              <a:sym typeface="Times New Roman"/>
            </a:endParaRPr>
          </a:p>
        </p:txBody>
      </p:sp>
      <p:sp>
        <p:nvSpPr>
          <p:cNvPr id="552" name="Google Shape;552;p55"/>
          <p:cNvSpPr txBox="1">
            <a:spLocks noGrp="1"/>
          </p:cNvSpPr>
          <p:nvPr>
            <p:ph type="body" idx="1"/>
          </p:nvPr>
        </p:nvSpPr>
        <p:spPr>
          <a:xfrm>
            <a:off x="983432" y="1134611"/>
            <a:ext cx="11043271" cy="5231565"/>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t" anchorCtr="0">
            <a:normAutofit/>
          </a:bodyPr>
          <a:lstStyle/>
          <a:p>
            <a:pPr marL="228600" marR="0" lvl="0" indent="-76200" algn="just"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Palatino Linotype"/>
              <a:ea typeface="Palatino Linotype"/>
              <a:cs typeface="Palatino Linotype"/>
              <a:sym typeface="Palatino Linotype"/>
            </a:endParaRPr>
          </a:p>
          <a:p>
            <a:pPr marL="685800" marR="0" lvl="1" indent="-101600" algn="just" rtl="0">
              <a:lnSpc>
                <a:spcPct val="100000"/>
              </a:lnSpc>
              <a:spcBef>
                <a:spcPts val="500"/>
              </a:spcBef>
              <a:spcAft>
                <a:spcPts val="0"/>
              </a:spcAft>
              <a:buClr>
                <a:schemeClr val="dk1"/>
              </a:buClr>
              <a:buSzPts val="2000"/>
              <a:buFont typeface="Arial"/>
              <a:buNone/>
            </a:pPr>
            <a:endParaRPr sz="2000" b="0" i="0" u="none" strike="noStrike" cap="none">
              <a:solidFill>
                <a:schemeClr val="dk1"/>
              </a:solidFill>
              <a:latin typeface="Palatino Linotype"/>
              <a:ea typeface="Palatino Linotype"/>
              <a:cs typeface="Palatino Linotype"/>
              <a:sym typeface="Palatino Linotype"/>
            </a:endParaRPr>
          </a:p>
        </p:txBody>
      </p:sp>
      <p:sp>
        <p:nvSpPr>
          <p:cNvPr id="553" name="Google Shape;553;p55"/>
          <p:cNvSpPr/>
          <p:nvPr/>
        </p:nvSpPr>
        <p:spPr>
          <a:xfrm>
            <a:off x="983432" y="1268760"/>
            <a:ext cx="6048672" cy="4524315"/>
          </a:xfrm>
          <a:prstGeom prst="rect">
            <a:avLst/>
          </a:prstGeom>
          <a:noFill/>
          <a:ln>
            <a:noFill/>
          </a:ln>
        </p:spPr>
        <p:txBody>
          <a:bodyPr spcFirstLastPara="1" wrap="square" lIns="91425" tIns="45700" rIns="91425" bIns="45700" anchor="t" anchorCtr="0">
            <a:noAutofit/>
          </a:bodyPr>
          <a:lstStyle/>
          <a:p>
            <a:pPr marL="0" marR="0" lvl="0" indent="0" algn="just" rtl="0">
              <a:spcBef>
                <a:spcPts val="0"/>
              </a:spcBef>
              <a:spcAft>
                <a:spcPts val="0"/>
              </a:spcAft>
              <a:buClr>
                <a:schemeClr val="dk1"/>
              </a:buClr>
              <a:buSzPts val="3200"/>
              <a:buFont typeface="Times New Roman"/>
              <a:buNone/>
            </a:pPr>
            <a:r>
              <a:rPr lang="en-US" sz="3200">
                <a:solidFill>
                  <a:schemeClr val="dk1"/>
                </a:solidFill>
                <a:latin typeface="Times New Roman"/>
                <a:ea typeface="Times New Roman"/>
                <a:cs typeface="Times New Roman"/>
                <a:sym typeface="Times New Roman"/>
              </a:rPr>
              <a:t>Memory consists of many millions of storage cells, each of which can store 1 bit.</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3200"/>
              <a:buFont typeface="Times New Roman"/>
              <a:buNone/>
            </a:pPr>
            <a:r>
              <a:rPr lang="en-US" sz="3200">
                <a:solidFill>
                  <a:schemeClr val="dk1"/>
                </a:solidFill>
                <a:latin typeface="Times New Roman"/>
                <a:ea typeface="Times New Roman"/>
                <a:cs typeface="Times New Roman"/>
                <a:sym typeface="Times New Roman"/>
              </a:rPr>
              <a:t>Data is usually accessed in </a:t>
            </a:r>
            <a:r>
              <a:rPr lang="en-US" sz="3200" i="1">
                <a:solidFill>
                  <a:schemeClr val="dk1"/>
                </a:solidFill>
                <a:latin typeface="Times New Roman"/>
                <a:ea typeface="Times New Roman"/>
                <a:cs typeface="Times New Roman"/>
                <a:sym typeface="Times New Roman"/>
              </a:rPr>
              <a:t>n</a:t>
            </a:r>
            <a:r>
              <a:rPr lang="en-US" sz="3200">
                <a:solidFill>
                  <a:schemeClr val="dk1"/>
                </a:solidFill>
                <a:latin typeface="Times New Roman"/>
                <a:ea typeface="Times New Roman"/>
                <a:cs typeface="Times New Roman"/>
                <a:sym typeface="Times New Roman"/>
              </a:rPr>
              <a:t>-bit groups. </a:t>
            </a:r>
            <a:r>
              <a:rPr lang="en-US" sz="3200" i="1">
                <a:solidFill>
                  <a:schemeClr val="dk1"/>
                </a:solidFill>
                <a:latin typeface="Times New Roman"/>
                <a:ea typeface="Times New Roman"/>
                <a:cs typeface="Times New Roman"/>
                <a:sym typeface="Times New Roman"/>
              </a:rPr>
              <a:t>n</a:t>
            </a:r>
            <a:r>
              <a:rPr lang="en-US" sz="3200">
                <a:solidFill>
                  <a:schemeClr val="dk1"/>
                </a:solidFill>
                <a:latin typeface="Times New Roman"/>
                <a:ea typeface="Times New Roman"/>
                <a:cs typeface="Times New Roman"/>
                <a:sym typeface="Times New Roman"/>
              </a:rPr>
              <a:t> is called word length.</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3200"/>
              <a:buFont typeface="Times New Roman"/>
              <a:buNone/>
            </a:pPr>
            <a:r>
              <a:rPr lang="en-US" sz="3200">
                <a:solidFill>
                  <a:schemeClr val="dk1"/>
                </a:solidFill>
                <a:latin typeface="Times New Roman"/>
                <a:ea typeface="Times New Roman"/>
                <a:cs typeface="Times New Roman"/>
                <a:sym typeface="Times New Roman"/>
              </a:rPr>
              <a:t>The memory of a computer can be schematically represented as a collection of words as shown in Figure 1.</a:t>
            </a:r>
            <a:endParaRPr sz="3200">
              <a:solidFill>
                <a:schemeClr val="dk1"/>
              </a:solidFill>
              <a:latin typeface="Times New Roman"/>
              <a:ea typeface="Times New Roman"/>
              <a:cs typeface="Times New Roman"/>
              <a:sym typeface="Times New Roman"/>
            </a:endParaRPr>
          </a:p>
        </p:txBody>
      </p:sp>
      <p:grpSp>
        <p:nvGrpSpPr>
          <p:cNvPr id="554" name="Google Shape;554;p55"/>
          <p:cNvGrpSpPr/>
          <p:nvPr/>
        </p:nvGrpSpPr>
        <p:grpSpPr>
          <a:xfrm>
            <a:off x="7123214" y="1526796"/>
            <a:ext cx="4758257" cy="4136197"/>
            <a:chOff x="697" y="816"/>
            <a:chExt cx="3052" cy="4083"/>
          </a:xfrm>
        </p:grpSpPr>
        <p:sp>
          <p:nvSpPr>
            <p:cNvPr id="555" name="Google Shape;555;p55"/>
            <p:cNvSpPr/>
            <p:nvPr/>
          </p:nvSpPr>
          <p:spPr>
            <a:xfrm>
              <a:off x="3048" y="1364"/>
              <a:ext cx="701" cy="2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second word</a:t>
              </a:r>
              <a:endParaRPr sz="2400">
                <a:solidFill>
                  <a:schemeClr val="dk1"/>
                </a:solidFill>
                <a:latin typeface="Times New Roman"/>
                <a:ea typeface="Times New Roman"/>
                <a:cs typeface="Times New Roman"/>
                <a:sym typeface="Times New Roman"/>
              </a:endParaRPr>
            </a:p>
          </p:txBody>
        </p:sp>
        <p:cxnSp>
          <p:nvCxnSpPr>
            <p:cNvPr id="556" name="Google Shape;556;p55"/>
            <p:cNvCxnSpPr/>
            <p:nvPr/>
          </p:nvCxnSpPr>
          <p:spPr>
            <a:xfrm flipH="1">
              <a:off x="697" y="3011"/>
              <a:ext cx="1881" cy="1"/>
            </a:xfrm>
            <a:prstGeom prst="straightConnector1">
              <a:avLst/>
            </a:prstGeom>
            <a:noFill/>
            <a:ln w="20625" cap="flat" cmpd="sng">
              <a:solidFill>
                <a:srgbClr val="00FFFF"/>
              </a:solidFill>
              <a:prstDash val="solid"/>
              <a:round/>
              <a:headEnd type="none" w="sm" len="sm"/>
              <a:tailEnd type="none" w="sm" len="sm"/>
            </a:ln>
          </p:spPr>
        </p:cxnSp>
        <p:cxnSp>
          <p:nvCxnSpPr>
            <p:cNvPr id="557" name="Google Shape;557;p55"/>
            <p:cNvCxnSpPr/>
            <p:nvPr/>
          </p:nvCxnSpPr>
          <p:spPr>
            <a:xfrm flipH="1">
              <a:off x="697" y="1600"/>
              <a:ext cx="1881" cy="1"/>
            </a:xfrm>
            <a:prstGeom prst="straightConnector1">
              <a:avLst/>
            </a:prstGeom>
            <a:noFill/>
            <a:ln w="20625" cap="flat" cmpd="sng">
              <a:solidFill>
                <a:srgbClr val="00FFFF"/>
              </a:solidFill>
              <a:prstDash val="solid"/>
              <a:round/>
              <a:headEnd type="none" w="sm" len="sm"/>
              <a:tailEnd type="none" w="sm" len="sm"/>
            </a:ln>
          </p:spPr>
        </p:cxnSp>
        <p:sp>
          <p:nvSpPr>
            <p:cNvPr id="558" name="Google Shape;558;p55"/>
            <p:cNvSpPr/>
            <p:nvPr/>
          </p:nvSpPr>
          <p:spPr>
            <a:xfrm>
              <a:off x="710" y="881"/>
              <a:ext cx="78" cy="40"/>
            </a:xfrm>
            <a:custGeom>
              <a:avLst/>
              <a:gdLst/>
              <a:ahLst/>
              <a:cxnLst/>
              <a:rect l="l" t="t" r="r" b="b"/>
              <a:pathLst>
                <a:path w="6" h="3" extrusionOk="0">
                  <a:moveTo>
                    <a:pt x="6" y="0"/>
                  </a:moveTo>
                  <a:lnTo>
                    <a:pt x="0" y="1"/>
                  </a:lnTo>
                  <a:lnTo>
                    <a:pt x="6" y="3"/>
                  </a:lnTo>
                  <a:lnTo>
                    <a:pt x="6" y="1"/>
                  </a:lnTo>
                  <a:lnTo>
                    <a:pt x="6" y="0"/>
                  </a:lnTo>
                </a:path>
              </a:pathLst>
            </a:custGeom>
            <a:noFill/>
            <a:ln w="206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59" name="Google Shape;559;p55"/>
            <p:cNvSpPr/>
            <p:nvPr/>
          </p:nvSpPr>
          <p:spPr>
            <a:xfrm>
              <a:off x="710" y="881"/>
              <a:ext cx="78" cy="40"/>
            </a:xfrm>
            <a:custGeom>
              <a:avLst/>
              <a:gdLst/>
              <a:ahLst/>
              <a:cxnLst/>
              <a:rect l="l" t="t" r="r" b="b"/>
              <a:pathLst>
                <a:path w="78" h="40" extrusionOk="0">
                  <a:moveTo>
                    <a:pt x="78" y="0"/>
                  </a:moveTo>
                  <a:lnTo>
                    <a:pt x="0" y="13"/>
                  </a:lnTo>
                  <a:lnTo>
                    <a:pt x="78" y="40"/>
                  </a:lnTo>
                  <a:lnTo>
                    <a:pt x="78" y="13"/>
                  </a:lnTo>
                  <a:lnTo>
                    <a:pt x="78" y="0"/>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560" name="Google Shape;560;p55"/>
            <p:cNvCxnSpPr/>
            <p:nvPr/>
          </p:nvCxnSpPr>
          <p:spPr>
            <a:xfrm>
              <a:off x="772" y="894"/>
              <a:ext cx="630" cy="1"/>
            </a:xfrm>
            <a:prstGeom prst="straightConnector1">
              <a:avLst/>
            </a:prstGeom>
            <a:noFill/>
            <a:ln w="20625" cap="flat" cmpd="sng">
              <a:solidFill>
                <a:srgbClr val="000000"/>
              </a:solidFill>
              <a:prstDash val="solid"/>
              <a:round/>
              <a:headEnd type="none" w="sm" len="sm"/>
              <a:tailEnd type="none" w="sm" len="sm"/>
            </a:ln>
          </p:spPr>
        </p:cxnSp>
        <p:sp>
          <p:nvSpPr>
            <p:cNvPr id="561" name="Google Shape;561;p55"/>
            <p:cNvSpPr/>
            <p:nvPr/>
          </p:nvSpPr>
          <p:spPr>
            <a:xfrm>
              <a:off x="2497" y="881"/>
              <a:ext cx="79" cy="40"/>
            </a:xfrm>
            <a:custGeom>
              <a:avLst/>
              <a:gdLst/>
              <a:ahLst/>
              <a:cxnLst/>
              <a:rect l="l" t="t" r="r" b="b"/>
              <a:pathLst>
                <a:path w="6" h="3" extrusionOk="0">
                  <a:moveTo>
                    <a:pt x="0" y="3"/>
                  </a:moveTo>
                  <a:lnTo>
                    <a:pt x="6" y="1"/>
                  </a:lnTo>
                  <a:lnTo>
                    <a:pt x="0" y="0"/>
                  </a:lnTo>
                  <a:lnTo>
                    <a:pt x="0" y="1"/>
                  </a:lnTo>
                  <a:lnTo>
                    <a:pt x="0" y="3"/>
                  </a:lnTo>
                </a:path>
              </a:pathLst>
            </a:custGeom>
            <a:noFill/>
            <a:ln w="206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62" name="Google Shape;562;p55"/>
            <p:cNvSpPr/>
            <p:nvPr/>
          </p:nvSpPr>
          <p:spPr>
            <a:xfrm>
              <a:off x="2497" y="881"/>
              <a:ext cx="79" cy="40"/>
            </a:xfrm>
            <a:custGeom>
              <a:avLst/>
              <a:gdLst/>
              <a:ahLst/>
              <a:cxnLst/>
              <a:rect l="l" t="t" r="r" b="b"/>
              <a:pathLst>
                <a:path w="79" h="40" extrusionOk="0">
                  <a:moveTo>
                    <a:pt x="0" y="40"/>
                  </a:moveTo>
                  <a:lnTo>
                    <a:pt x="79" y="13"/>
                  </a:lnTo>
                  <a:lnTo>
                    <a:pt x="0" y="0"/>
                  </a:lnTo>
                  <a:lnTo>
                    <a:pt x="0" y="13"/>
                  </a:lnTo>
                  <a:lnTo>
                    <a:pt x="0" y="40"/>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563" name="Google Shape;563;p55"/>
            <p:cNvCxnSpPr/>
            <p:nvPr/>
          </p:nvCxnSpPr>
          <p:spPr>
            <a:xfrm flipH="1">
              <a:off x="1873" y="894"/>
              <a:ext cx="660" cy="1"/>
            </a:xfrm>
            <a:prstGeom prst="straightConnector1">
              <a:avLst/>
            </a:prstGeom>
            <a:noFill/>
            <a:ln w="20625" cap="flat" cmpd="sng">
              <a:solidFill>
                <a:srgbClr val="000000"/>
              </a:solidFill>
              <a:prstDash val="solid"/>
              <a:round/>
              <a:headEnd type="none" w="sm" len="sm"/>
              <a:tailEnd type="none" w="sm" len="sm"/>
            </a:ln>
          </p:spPr>
        </p:cxnSp>
        <p:cxnSp>
          <p:nvCxnSpPr>
            <p:cNvPr id="564" name="Google Shape;564;p55"/>
            <p:cNvCxnSpPr/>
            <p:nvPr/>
          </p:nvCxnSpPr>
          <p:spPr>
            <a:xfrm rot="10800000" flipH="1">
              <a:off x="697" y="855"/>
              <a:ext cx="1" cy="92"/>
            </a:xfrm>
            <a:prstGeom prst="straightConnector1">
              <a:avLst/>
            </a:prstGeom>
            <a:noFill/>
            <a:ln w="20625" cap="flat" cmpd="sng">
              <a:solidFill>
                <a:srgbClr val="000000"/>
              </a:solidFill>
              <a:prstDash val="solid"/>
              <a:round/>
              <a:headEnd type="none" w="sm" len="sm"/>
              <a:tailEnd type="none" w="sm" len="sm"/>
            </a:ln>
          </p:spPr>
        </p:cxnSp>
        <p:cxnSp>
          <p:nvCxnSpPr>
            <p:cNvPr id="565" name="Google Shape;565;p55"/>
            <p:cNvCxnSpPr/>
            <p:nvPr/>
          </p:nvCxnSpPr>
          <p:spPr>
            <a:xfrm rot="10800000" flipH="1">
              <a:off x="2578" y="855"/>
              <a:ext cx="1" cy="92"/>
            </a:xfrm>
            <a:prstGeom prst="straightConnector1">
              <a:avLst/>
            </a:prstGeom>
            <a:noFill/>
            <a:ln w="20625" cap="flat" cmpd="sng">
              <a:solidFill>
                <a:srgbClr val="000000"/>
              </a:solidFill>
              <a:prstDash val="solid"/>
              <a:round/>
              <a:headEnd type="none" w="sm" len="sm"/>
              <a:tailEnd type="none" w="sm" len="sm"/>
            </a:ln>
          </p:spPr>
        </p:cxnSp>
        <p:cxnSp>
          <p:nvCxnSpPr>
            <p:cNvPr id="566" name="Google Shape;566;p55"/>
            <p:cNvCxnSpPr/>
            <p:nvPr/>
          </p:nvCxnSpPr>
          <p:spPr>
            <a:xfrm flipH="1">
              <a:off x="697" y="1325"/>
              <a:ext cx="1881" cy="1"/>
            </a:xfrm>
            <a:prstGeom prst="straightConnector1">
              <a:avLst/>
            </a:prstGeom>
            <a:noFill/>
            <a:ln w="20625" cap="flat" cmpd="sng">
              <a:solidFill>
                <a:srgbClr val="00FFFF"/>
              </a:solidFill>
              <a:prstDash val="solid"/>
              <a:round/>
              <a:headEnd type="none" w="sm" len="sm"/>
              <a:tailEnd type="none" w="sm" len="sm"/>
            </a:ln>
          </p:spPr>
        </p:cxnSp>
        <p:sp>
          <p:nvSpPr>
            <p:cNvPr id="567" name="Google Shape;567;p55"/>
            <p:cNvSpPr/>
            <p:nvPr/>
          </p:nvSpPr>
          <p:spPr>
            <a:xfrm>
              <a:off x="3048" y="1090"/>
              <a:ext cx="501" cy="2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first word</a:t>
              </a:r>
              <a:endParaRPr sz="2400">
                <a:solidFill>
                  <a:schemeClr val="dk1"/>
                </a:solidFill>
                <a:latin typeface="Times New Roman"/>
                <a:ea typeface="Times New Roman"/>
                <a:cs typeface="Times New Roman"/>
                <a:sym typeface="Times New Roman"/>
              </a:endParaRPr>
            </a:p>
          </p:txBody>
        </p:sp>
        <p:cxnSp>
          <p:nvCxnSpPr>
            <p:cNvPr id="568" name="Google Shape;568;p55"/>
            <p:cNvCxnSpPr/>
            <p:nvPr/>
          </p:nvCxnSpPr>
          <p:spPr>
            <a:xfrm flipH="1">
              <a:off x="697" y="2710"/>
              <a:ext cx="1881" cy="1"/>
            </a:xfrm>
            <a:prstGeom prst="straightConnector1">
              <a:avLst/>
            </a:prstGeom>
            <a:noFill/>
            <a:ln w="20625" cap="flat" cmpd="sng">
              <a:solidFill>
                <a:srgbClr val="00FFFF"/>
              </a:solidFill>
              <a:prstDash val="solid"/>
              <a:round/>
              <a:headEnd type="none" w="sm" len="sm"/>
              <a:tailEnd type="none" w="sm" len="sm"/>
            </a:ln>
          </p:spPr>
        </p:cxnSp>
        <p:cxnSp>
          <p:nvCxnSpPr>
            <p:cNvPr id="569" name="Google Shape;569;p55"/>
            <p:cNvCxnSpPr/>
            <p:nvPr/>
          </p:nvCxnSpPr>
          <p:spPr>
            <a:xfrm flipH="1">
              <a:off x="697" y="4147"/>
              <a:ext cx="1881" cy="1"/>
            </a:xfrm>
            <a:prstGeom prst="straightConnector1">
              <a:avLst/>
            </a:prstGeom>
            <a:noFill/>
            <a:ln w="20625" cap="flat" cmpd="sng">
              <a:solidFill>
                <a:srgbClr val="00FFFF"/>
              </a:solidFill>
              <a:prstDash val="solid"/>
              <a:round/>
              <a:headEnd type="none" w="sm" len="sm"/>
              <a:tailEnd type="none" w="sm" len="sm"/>
            </a:ln>
          </p:spPr>
        </p:cxnSp>
        <p:sp>
          <p:nvSpPr>
            <p:cNvPr id="570" name="Google Shape;570;p55"/>
            <p:cNvSpPr/>
            <p:nvPr/>
          </p:nvSpPr>
          <p:spPr>
            <a:xfrm>
              <a:off x="697" y="1038"/>
              <a:ext cx="1881" cy="3383"/>
            </a:xfrm>
            <a:prstGeom prst="rect">
              <a:avLst/>
            </a:prstGeom>
            <a:noFill/>
            <a:ln w="20625" cap="flat" cmpd="sng">
              <a:solidFill>
                <a:srgbClr val="00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71" name="Google Shape;571;p55"/>
            <p:cNvSpPr/>
            <p:nvPr/>
          </p:nvSpPr>
          <p:spPr>
            <a:xfrm>
              <a:off x="1429" y="4656"/>
              <a:ext cx="1779" cy="24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600"/>
                <a:buFont typeface="Arial"/>
                <a:buNone/>
              </a:pPr>
              <a:r>
                <a:rPr lang="en-US" sz="1600">
                  <a:solidFill>
                    <a:srgbClr val="000000"/>
                  </a:solidFill>
                  <a:latin typeface="Arial"/>
                  <a:ea typeface="Arial"/>
                  <a:cs typeface="Arial"/>
                  <a:sym typeface="Arial"/>
                </a:rPr>
                <a:t>Figure 1  Main Memory words.</a:t>
              </a:r>
              <a:endParaRPr sz="2400">
                <a:solidFill>
                  <a:schemeClr val="dk1"/>
                </a:solidFill>
                <a:latin typeface="Times New Roman"/>
                <a:ea typeface="Times New Roman"/>
                <a:cs typeface="Times New Roman"/>
                <a:sym typeface="Times New Roman"/>
              </a:endParaRPr>
            </a:p>
          </p:txBody>
        </p:sp>
        <p:sp>
          <p:nvSpPr>
            <p:cNvPr id="572" name="Google Shape;572;p55"/>
            <p:cNvSpPr/>
            <p:nvPr/>
          </p:nvSpPr>
          <p:spPr>
            <a:xfrm>
              <a:off x="1494" y="816"/>
              <a:ext cx="69" cy="2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500"/>
                <a:buFont typeface="Arial"/>
                <a:buNone/>
              </a:pPr>
              <a:r>
                <a:rPr lang="en-US" sz="1500" i="1">
                  <a:solidFill>
                    <a:srgbClr val="000000"/>
                  </a:solidFill>
                  <a:latin typeface="Arial"/>
                  <a:ea typeface="Arial"/>
                  <a:cs typeface="Arial"/>
                  <a:sym typeface="Arial"/>
                </a:rPr>
                <a:t>n</a:t>
              </a:r>
              <a:endParaRPr sz="2400">
                <a:solidFill>
                  <a:schemeClr val="dk1"/>
                </a:solidFill>
                <a:latin typeface="Times New Roman"/>
                <a:ea typeface="Times New Roman"/>
                <a:cs typeface="Times New Roman"/>
                <a:sym typeface="Times New Roman"/>
              </a:endParaRPr>
            </a:p>
          </p:txBody>
        </p:sp>
        <p:sp>
          <p:nvSpPr>
            <p:cNvPr id="573" name="Google Shape;573;p55"/>
            <p:cNvSpPr/>
            <p:nvPr/>
          </p:nvSpPr>
          <p:spPr>
            <a:xfrm>
              <a:off x="1546" y="816"/>
              <a:ext cx="226" cy="2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 bits</a:t>
              </a:r>
              <a:endParaRPr sz="2400">
                <a:solidFill>
                  <a:schemeClr val="dk1"/>
                </a:solidFill>
                <a:latin typeface="Times New Roman"/>
                <a:ea typeface="Times New Roman"/>
                <a:cs typeface="Times New Roman"/>
                <a:sym typeface="Times New Roman"/>
              </a:endParaRPr>
            </a:p>
          </p:txBody>
        </p:sp>
        <p:sp>
          <p:nvSpPr>
            <p:cNvPr id="574" name="Google Shape;574;p55"/>
            <p:cNvSpPr/>
            <p:nvPr/>
          </p:nvSpPr>
          <p:spPr>
            <a:xfrm>
              <a:off x="3035" y="4186"/>
              <a:ext cx="495" cy="2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last word</a:t>
              </a:r>
              <a:endParaRPr sz="2400">
                <a:solidFill>
                  <a:schemeClr val="dk1"/>
                </a:solidFill>
                <a:latin typeface="Times New Roman"/>
                <a:ea typeface="Times New Roman"/>
                <a:cs typeface="Times New Roman"/>
                <a:sym typeface="Times New Roman"/>
              </a:endParaRPr>
            </a:p>
          </p:txBody>
        </p:sp>
        <p:sp>
          <p:nvSpPr>
            <p:cNvPr id="575" name="Google Shape;575;p55"/>
            <p:cNvSpPr/>
            <p:nvPr/>
          </p:nvSpPr>
          <p:spPr>
            <a:xfrm>
              <a:off x="3035" y="2788"/>
              <a:ext cx="28" cy="2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500"/>
                <a:buFont typeface="Arial"/>
                <a:buNone/>
              </a:pPr>
              <a:r>
                <a:rPr lang="en-US" sz="1500" i="1">
                  <a:solidFill>
                    <a:srgbClr val="000000"/>
                  </a:solidFill>
                  <a:latin typeface="Arial"/>
                  <a:ea typeface="Arial"/>
                  <a:cs typeface="Arial"/>
                  <a:sym typeface="Arial"/>
                </a:rPr>
                <a:t>i</a:t>
              </a:r>
              <a:endParaRPr sz="2400">
                <a:solidFill>
                  <a:schemeClr val="dk1"/>
                </a:solidFill>
                <a:latin typeface="Times New Roman"/>
                <a:ea typeface="Times New Roman"/>
                <a:cs typeface="Times New Roman"/>
                <a:sym typeface="Times New Roman"/>
              </a:endParaRPr>
            </a:p>
          </p:txBody>
        </p:sp>
        <p:sp>
          <p:nvSpPr>
            <p:cNvPr id="576" name="Google Shape;576;p55"/>
            <p:cNvSpPr/>
            <p:nvPr/>
          </p:nvSpPr>
          <p:spPr>
            <a:xfrm>
              <a:off x="3061" y="2788"/>
              <a:ext cx="439" cy="22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500"/>
                <a:buFont typeface="Arial"/>
                <a:buNone/>
              </a:pPr>
              <a:r>
                <a:rPr lang="en-US" sz="1500">
                  <a:solidFill>
                    <a:srgbClr val="000000"/>
                  </a:solidFill>
                  <a:latin typeface="Arial"/>
                  <a:ea typeface="Arial"/>
                  <a:cs typeface="Arial"/>
                  <a:sym typeface="Arial"/>
                </a:rPr>
                <a:t> th word</a:t>
              </a:r>
              <a:endParaRPr sz="2400">
                <a:solidFill>
                  <a:schemeClr val="dk1"/>
                </a:solidFill>
                <a:latin typeface="Times New Roman"/>
                <a:ea typeface="Times New Roman"/>
                <a:cs typeface="Times New Roman"/>
                <a:sym typeface="Times New Roman"/>
              </a:endParaRPr>
            </a:p>
          </p:txBody>
        </p:sp>
        <p:sp>
          <p:nvSpPr>
            <p:cNvPr id="577" name="Google Shape;577;p55"/>
            <p:cNvSpPr/>
            <p:nvPr/>
          </p:nvSpPr>
          <p:spPr>
            <a:xfrm>
              <a:off x="2852" y="2854"/>
              <a:ext cx="79" cy="26"/>
            </a:xfrm>
            <a:custGeom>
              <a:avLst/>
              <a:gdLst/>
              <a:ahLst/>
              <a:cxnLst/>
              <a:rect l="l" t="t" r="r" b="b"/>
              <a:pathLst>
                <a:path w="6" h="2" extrusionOk="0">
                  <a:moveTo>
                    <a:pt x="0" y="2"/>
                  </a:moveTo>
                  <a:lnTo>
                    <a:pt x="6" y="1"/>
                  </a:lnTo>
                  <a:lnTo>
                    <a:pt x="0" y="0"/>
                  </a:lnTo>
                  <a:lnTo>
                    <a:pt x="0" y="1"/>
                  </a:lnTo>
                  <a:lnTo>
                    <a:pt x="0" y="2"/>
                  </a:lnTo>
                </a:path>
              </a:pathLst>
            </a:custGeom>
            <a:noFill/>
            <a:ln w="206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78" name="Google Shape;578;p55"/>
            <p:cNvSpPr/>
            <p:nvPr/>
          </p:nvSpPr>
          <p:spPr>
            <a:xfrm>
              <a:off x="2852" y="2854"/>
              <a:ext cx="79" cy="26"/>
            </a:xfrm>
            <a:custGeom>
              <a:avLst/>
              <a:gdLst/>
              <a:ahLst/>
              <a:cxnLst/>
              <a:rect l="l" t="t" r="r" b="b"/>
              <a:pathLst>
                <a:path w="79" h="26" extrusionOk="0">
                  <a:moveTo>
                    <a:pt x="0" y="26"/>
                  </a:moveTo>
                  <a:lnTo>
                    <a:pt x="79" y="13"/>
                  </a:lnTo>
                  <a:lnTo>
                    <a:pt x="0" y="0"/>
                  </a:lnTo>
                  <a:lnTo>
                    <a:pt x="0" y="13"/>
                  </a:lnTo>
                  <a:lnTo>
                    <a:pt x="0" y="26"/>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579" name="Google Shape;579;p55"/>
            <p:cNvCxnSpPr/>
            <p:nvPr/>
          </p:nvCxnSpPr>
          <p:spPr>
            <a:xfrm flipH="1">
              <a:off x="2473" y="2867"/>
              <a:ext cx="379" cy="1"/>
            </a:xfrm>
            <a:prstGeom prst="straightConnector1">
              <a:avLst/>
            </a:prstGeom>
            <a:noFill/>
            <a:ln w="20625" cap="flat" cmpd="sng">
              <a:solidFill>
                <a:srgbClr val="000000"/>
              </a:solidFill>
              <a:prstDash val="solid"/>
              <a:round/>
              <a:headEnd type="none" w="sm" len="sm"/>
              <a:tailEnd type="none" w="sm" len="sm"/>
            </a:ln>
          </p:spPr>
        </p:cxnSp>
        <p:sp>
          <p:nvSpPr>
            <p:cNvPr id="580" name="Google Shape;580;p55"/>
            <p:cNvSpPr/>
            <p:nvPr/>
          </p:nvSpPr>
          <p:spPr>
            <a:xfrm>
              <a:off x="2852" y="1443"/>
              <a:ext cx="79" cy="39"/>
            </a:xfrm>
            <a:custGeom>
              <a:avLst/>
              <a:gdLst/>
              <a:ahLst/>
              <a:cxnLst/>
              <a:rect l="l" t="t" r="r" b="b"/>
              <a:pathLst>
                <a:path w="6" h="3" extrusionOk="0">
                  <a:moveTo>
                    <a:pt x="0" y="3"/>
                  </a:moveTo>
                  <a:lnTo>
                    <a:pt x="6" y="1"/>
                  </a:lnTo>
                  <a:lnTo>
                    <a:pt x="0" y="0"/>
                  </a:lnTo>
                  <a:lnTo>
                    <a:pt x="0" y="1"/>
                  </a:lnTo>
                  <a:lnTo>
                    <a:pt x="0" y="3"/>
                  </a:lnTo>
                </a:path>
              </a:pathLst>
            </a:custGeom>
            <a:noFill/>
            <a:ln w="206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81" name="Google Shape;581;p55"/>
            <p:cNvSpPr/>
            <p:nvPr/>
          </p:nvSpPr>
          <p:spPr>
            <a:xfrm>
              <a:off x="2852" y="1443"/>
              <a:ext cx="79" cy="39"/>
            </a:xfrm>
            <a:custGeom>
              <a:avLst/>
              <a:gdLst/>
              <a:ahLst/>
              <a:cxnLst/>
              <a:rect l="l" t="t" r="r" b="b"/>
              <a:pathLst>
                <a:path w="79" h="39" extrusionOk="0">
                  <a:moveTo>
                    <a:pt x="0" y="39"/>
                  </a:moveTo>
                  <a:lnTo>
                    <a:pt x="79" y="13"/>
                  </a:lnTo>
                  <a:lnTo>
                    <a:pt x="0" y="0"/>
                  </a:lnTo>
                  <a:lnTo>
                    <a:pt x="0" y="13"/>
                  </a:lnTo>
                  <a:lnTo>
                    <a:pt x="0" y="39"/>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582" name="Google Shape;582;p55"/>
            <p:cNvCxnSpPr/>
            <p:nvPr/>
          </p:nvCxnSpPr>
          <p:spPr>
            <a:xfrm flipH="1">
              <a:off x="2473" y="1456"/>
              <a:ext cx="379" cy="1"/>
            </a:xfrm>
            <a:prstGeom prst="straightConnector1">
              <a:avLst/>
            </a:prstGeom>
            <a:noFill/>
            <a:ln w="20625" cap="flat" cmpd="sng">
              <a:solidFill>
                <a:srgbClr val="000000"/>
              </a:solidFill>
              <a:prstDash val="solid"/>
              <a:round/>
              <a:headEnd type="none" w="sm" len="sm"/>
              <a:tailEnd type="none" w="sm" len="sm"/>
            </a:ln>
          </p:spPr>
        </p:cxnSp>
        <p:sp>
          <p:nvSpPr>
            <p:cNvPr id="583" name="Google Shape;583;p55"/>
            <p:cNvSpPr/>
            <p:nvPr/>
          </p:nvSpPr>
          <p:spPr>
            <a:xfrm>
              <a:off x="2852" y="1169"/>
              <a:ext cx="79" cy="26"/>
            </a:xfrm>
            <a:custGeom>
              <a:avLst/>
              <a:gdLst/>
              <a:ahLst/>
              <a:cxnLst/>
              <a:rect l="l" t="t" r="r" b="b"/>
              <a:pathLst>
                <a:path w="6" h="2" extrusionOk="0">
                  <a:moveTo>
                    <a:pt x="0" y="2"/>
                  </a:moveTo>
                  <a:lnTo>
                    <a:pt x="6" y="1"/>
                  </a:lnTo>
                  <a:lnTo>
                    <a:pt x="0" y="0"/>
                  </a:lnTo>
                  <a:lnTo>
                    <a:pt x="0" y="1"/>
                  </a:lnTo>
                  <a:lnTo>
                    <a:pt x="0" y="2"/>
                  </a:lnTo>
                </a:path>
              </a:pathLst>
            </a:custGeom>
            <a:noFill/>
            <a:ln w="206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84" name="Google Shape;584;p55"/>
            <p:cNvSpPr/>
            <p:nvPr/>
          </p:nvSpPr>
          <p:spPr>
            <a:xfrm>
              <a:off x="2852" y="1169"/>
              <a:ext cx="79" cy="26"/>
            </a:xfrm>
            <a:custGeom>
              <a:avLst/>
              <a:gdLst/>
              <a:ahLst/>
              <a:cxnLst/>
              <a:rect l="l" t="t" r="r" b="b"/>
              <a:pathLst>
                <a:path w="79" h="26" extrusionOk="0">
                  <a:moveTo>
                    <a:pt x="0" y="26"/>
                  </a:moveTo>
                  <a:lnTo>
                    <a:pt x="79" y="13"/>
                  </a:lnTo>
                  <a:lnTo>
                    <a:pt x="0" y="0"/>
                  </a:lnTo>
                  <a:lnTo>
                    <a:pt x="0" y="13"/>
                  </a:lnTo>
                  <a:lnTo>
                    <a:pt x="0" y="26"/>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585" name="Google Shape;585;p55"/>
            <p:cNvCxnSpPr/>
            <p:nvPr/>
          </p:nvCxnSpPr>
          <p:spPr>
            <a:xfrm flipH="1">
              <a:off x="2473" y="1182"/>
              <a:ext cx="379" cy="1"/>
            </a:xfrm>
            <a:prstGeom prst="straightConnector1">
              <a:avLst/>
            </a:prstGeom>
            <a:noFill/>
            <a:ln w="20625" cap="flat" cmpd="sng">
              <a:solidFill>
                <a:srgbClr val="000000"/>
              </a:solidFill>
              <a:prstDash val="solid"/>
              <a:round/>
              <a:headEnd type="none" w="sm" len="sm"/>
              <a:tailEnd type="none" w="sm" len="sm"/>
            </a:ln>
          </p:spPr>
        </p:cxnSp>
        <p:sp>
          <p:nvSpPr>
            <p:cNvPr id="586" name="Google Shape;586;p55"/>
            <p:cNvSpPr/>
            <p:nvPr/>
          </p:nvSpPr>
          <p:spPr>
            <a:xfrm>
              <a:off x="2852" y="4265"/>
              <a:ext cx="79" cy="39"/>
            </a:xfrm>
            <a:custGeom>
              <a:avLst/>
              <a:gdLst/>
              <a:ahLst/>
              <a:cxnLst/>
              <a:rect l="l" t="t" r="r" b="b"/>
              <a:pathLst>
                <a:path w="6" h="3" extrusionOk="0">
                  <a:moveTo>
                    <a:pt x="0" y="3"/>
                  </a:moveTo>
                  <a:lnTo>
                    <a:pt x="6" y="1"/>
                  </a:lnTo>
                  <a:lnTo>
                    <a:pt x="0" y="0"/>
                  </a:lnTo>
                  <a:lnTo>
                    <a:pt x="0" y="1"/>
                  </a:lnTo>
                  <a:lnTo>
                    <a:pt x="0" y="3"/>
                  </a:lnTo>
                </a:path>
              </a:pathLst>
            </a:custGeom>
            <a:noFill/>
            <a:ln w="206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
          <p:nvSpPr>
            <p:cNvPr id="587" name="Google Shape;587;p55"/>
            <p:cNvSpPr/>
            <p:nvPr/>
          </p:nvSpPr>
          <p:spPr>
            <a:xfrm>
              <a:off x="2852" y="4265"/>
              <a:ext cx="79" cy="39"/>
            </a:xfrm>
            <a:custGeom>
              <a:avLst/>
              <a:gdLst/>
              <a:ahLst/>
              <a:cxnLst/>
              <a:rect l="l" t="t" r="r" b="b"/>
              <a:pathLst>
                <a:path w="79" h="39" extrusionOk="0">
                  <a:moveTo>
                    <a:pt x="0" y="39"/>
                  </a:moveTo>
                  <a:lnTo>
                    <a:pt x="79" y="13"/>
                  </a:lnTo>
                  <a:lnTo>
                    <a:pt x="0" y="0"/>
                  </a:lnTo>
                  <a:lnTo>
                    <a:pt x="0" y="13"/>
                  </a:lnTo>
                  <a:lnTo>
                    <a:pt x="0" y="39"/>
                  </a:lnTo>
                  <a:close/>
                </a:path>
              </a:pathLst>
            </a:cu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588" name="Google Shape;588;p55"/>
            <p:cNvCxnSpPr/>
            <p:nvPr/>
          </p:nvCxnSpPr>
          <p:spPr>
            <a:xfrm flipH="1">
              <a:off x="2473" y="4278"/>
              <a:ext cx="379" cy="1"/>
            </a:xfrm>
            <a:prstGeom prst="straightConnector1">
              <a:avLst/>
            </a:prstGeom>
            <a:noFill/>
            <a:ln w="20625" cap="flat" cmpd="sng">
              <a:solidFill>
                <a:srgbClr val="000000"/>
              </a:solidFill>
              <a:prstDash val="solid"/>
              <a:round/>
              <a:headEnd type="none" w="sm" len="sm"/>
              <a:tailEnd type="none" w="sm" len="sm"/>
            </a:ln>
          </p:spPr>
        </p:cxnSp>
        <p:sp>
          <p:nvSpPr>
            <p:cNvPr id="589" name="Google Shape;589;p55"/>
            <p:cNvSpPr txBox="1"/>
            <p:nvPr/>
          </p:nvSpPr>
          <p:spPr>
            <a:xfrm>
              <a:off x="1536" y="1884"/>
              <a:ext cx="168" cy="1003"/>
            </a:xfrm>
            <a:prstGeom prst="rect">
              <a:avLst/>
            </a:prstGeom>
            <a:noFill/>
            <a:ln>
              <a:noFill/>
            </a:ln>
          </p:spPr>
          <p:txBody>
            <a:bodyPr spcFirstLastPara="1" wrap="square" lIns="91425" tIns="45700" rIns="91425" bIns="45700" anchor="t" anchorCtr="0">
              <a:spAutoFit/>
            </a:bodyPr>
            <a:lstStyle/>
            <a:p>
              <a:pPr marL="0" marR="0" lvl="0" indent="0" algn="l" rtl="0">
                <a:lnSpc>
                  <a:spcPct val="20000"/>
                </a:lnSpc>
                <a:spcBef>
                  <a:spcPts val="0"/>
                </a:spcBef>
                <a:spcAft>
                  <a:spcPts val="0"/>
                </a:spcAft>
                <a:buClr>
                  <a:schemeClr val="dk1"/>
                </a:buClr>
                <a:buSzPts val="2000"/>
                <a:buFont typeface="Calibri"/>
                <a:buNone/>
              </a:pP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1800">
                <a:solidFill>
                  <a:schemeClr val="dk1"/>
                </a:solidFill>
                <a:latin typeface="Calibri"/>
                <a:ea typeface="Calibri"/>
                <a:cs typeface="Calibri"/>
                <a:sym typeface="Calibri"/>
              </a:endParaRPr>
            </a:p>
            <a:p>
              <a:pPr marL="0" marR="0" lvl="0" indent="0" algn="l" rtl="0">
                <a:lnSpc>
                  <a:spcPct val="20000"/>
                </a:lnSpc>
                <a:spcBef>
                  <a:spcPts val="1000"/>
                </a:spcBef>
                <a:spcAft>
                  <a:spcPts val="0"/>
                </a:spcAft>
                <a:buClr>
                  <a:schemeClr val="dk1"/>
                </a:buClr>
                <a:buSzPts val="2000"/>
                <a:buFont typeface="Calibri"/>
                <a:buNone/>
              </a:pPr>
              <a:endParaRPr sz="2000">
                <a:solidFill>
                  <a:schemeClr val="dk1"/>
                </a:solidFill>
                <a:latin typeface="Arial"/>
                <a:ea typeface="Arial"/>
                <a:cs typeface="Arial"/>
                <a:sym typeface="Arial"/>
              </a:endParaRPr>
            </a:p>
          </p:txBody>
        </p:sp>
        <p:sp>
          <p:nvSpPr>
            <p:cNvPr id="590" name="Google Shape;590;p55"/>
            <p:cNvSpPr txBox="1"/>
            <p:nvPr/>
          </p:nvSpPr>
          <p:spPr>
            <a:xfrm>
              <a:off x="1548" y="3306"/>
              <a:ext cx="168" cy="1003"/>
            </a:xfrm>
            <a:prstGeom prst="rect">
              <a:avLst/>
            </a:prstGeom>
            <a:noFill/>
            <a:ln>
              <a:noFill/>
            </a:ln>
          </p:spPr>
          <p:txBody>
            <a:bodyPr spcFirstLastPara="1" wrap="square" lIns="91425" tIns="45700" rIns="91425" bIns="45700" anchor="t" anchorCtr="0">
              <a:spAutoFit/>
            </a:bodyPr>
            <a:lstStyle/>
            <a:p>
              <a:pPr marL="0" marR="0" lvl="0" indent="0" algn="l" rtl="0">
                <a:lnSpc>
                  <a:spcPct val="20000"/>
                </a:lnSpc>
                <a:spcBef>
                  <a:spcPts val="0"/>
                </a:spcBef>
                <a:spcAft>
                  <a:spcPts val="0"/>
                </a:spcAft>
                <a:buClr>
                  <a:schemeClr val="dk1"/>
                </a:buClr>
                <a:buSzPts val="2000"/>
                <a:buFont typeface="Calibri"/>
                <a:buNone/>
              </a:pP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1800">
                <a:solidFill>
                  <a:schemeClr val="dk1"/>
                </a:solidFill>
                <a:latin typeface="Calibri"/>
                <a:ea typeface="Calibri"/>
                <a:cs typeface="Calibri"/>
                <a:sym typeface="Calibri"/>
              </a:endParaRPr>
            </a:p>
            <a:p>
              <a:pPr marL="0" marR="0" lvl="0" indent="0" algn="l" rtl="0">
                <a:lnSpc>
                  <a:spcPct val="20000"/>
                </a:lnSpc>
                <a:spcBef>
                  <a:spcPts val="1000"/>
                </a:spcBef>
                <a:spcAft>
                  <a:spcPts val="0"/>
                </a:spcAft>
                <a:buClr>
                  <a:schemeClr val="dk1"/>
                </a:buClr>
                <a:buSzPts val="2000"/>
                <a:buFont typeface="Calibri"/>
                <a:buNone/>
              </a:pPr>
              <a:endParaRPr sz="2000">
                <a:solidFill>
                  <a:schemeClr val="dk1"/>
                </a:solidFill>
                <a:latin typeface="Arial"/>
                <a:ea typeface="Arial"/>
                <a:cs typeface="Arial"/>
                <a:sym typeface="Arial"/>
              </a:endParaRPr>
            </a:p>
          </p:txBody>
        </p:sp>
      </p:grpSp>
      <p:sp>
        <p:nvSpPr>
          <p:cNvPr id="591" name="Google Shape;591;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D5D26434-D8DA-4578-B113-B23D55026706}" type="datetime1">
              <a:rPr lang="en-US" smtClean="0"/>
              <a:t>8/12/2024</a:t>
            </a:fld>
            <a:endParaRPr/>
          </a:p>
        </p:txBody>
      </p:sp>
      <p:sp>
        <p:nvSpPr>
          <p:cNvPr id="592" name="Google Shape;592;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593" name="Google Shape;593;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4"/>
                                        </p:tgtEl>
                                        <p:attrNameLst>
                                          <p:attrName>style.visibility</p:attrName>
                                        </p:attrNameLst>
                                      </p:cBhvr>
                                      <p:to>
                                        <p:strVal val="visible"/>
                                      </p:to>
                                    </p:set>
                                    <p:animEffect transition="in" filter="fade">
                                      <p:cBhvr>
                                        <p:cTn id="7" dur="1000"/>
                                        <p:tgtEl>
                                          <p:spTgt spid="5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6"/>
          <p:cNvSpPr txBox="1"/>
          <p:nvPr/>
        </p:nvSpPr>
        <p:spPr>
          <a:xfrm>
            <a:off x="304801" y="939226"/>
            <a:ext cx="8305799"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3200"/>
              <a:buFont typeface="Calibri"/>
              <a:buNone/>
            </a:pPr>
            <a:r>
              <a:rPr lang="en-US" sz="3200" b="1">
                <a:solidFill>
                  <a:schemeClr val="dk1"/>
                </a:solidFill>
                <a:latin typeface="Calibri"/>
                <a:ea typeface="Calibri"/>
                <a:cs typeface="Calibri"/>
                <a:sym typeface="Calibri"/>
              </a:rPr>
              <a:t>  </a:t>
            </a:r>
            <a:r>
              <a:rPr lang="en-US" sz="3200" b="1">
                <a:solidFill>
                  <a:schemeClr val="dk1"/>
                </a:solidFill>
                <a:latin typeface="Times New Roman"/>
                <a:ea typeface="Times New Roman"/>
                <a:cs typeface="Times New Roman"/>
                <a:sym typeface="Times New Roman"/>
              </a:rPr>
              <a:t>MEMORY LOCATIONS AND ADDRESSES</a:t>
            </a:r>
            <a:endParaRPr sz="1800">
              <a:solidFill>
                <a:schemeClr val="dk1"/>
              </a:solidFill>
              <a:latin typeface="Times New Roman"/>
              <a:ea typeface="Times New Roman"/>
              <a:cs typeface="Times New Roman"/>
              <a:sym typeface="Times New Roman"/>
            </a:endParaRPr>
          </a:p>
        </p:txBody>
      </p:sp>
      <p:sp>
        <p:nvSpPr>
          <p:cNvPr id="600" name="Google Shape;600;p56"/>
          <p:cNvSpPr txBox="1"/>
          <p:nvPr/>
        </p:nvSpPr>
        <p:spPr>
          <a:xfrm>
            <a:off x="10972800" y="6400801"/>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Calibri"/>
              <a:buNone/>
            </a:pPr>
            <a:endParaRPr sz="1800" b="1">
              <a:solidFill>
                <a:schemeClr val="dk1"/>
              </a:solidFill>
              <a:latin typeface="Times New Roman"/>
              <a:ea typeface="Times New Roman"/>
              <a:cs typeface="Times New Roman"/>
              <a:sym typeface="Times New Roman"/>
            </a:endParaRPr>
          </a:p>
        </p:txBody>
      </p:sp>
      <p:sp>
        <p:nvSpPr>
          <p:cNvPr id="601" name="Google Shape;601;p56"/>
          <p:cNvSpPr/>
          <p:nvPr/>
        </p:nvSpPr>
        <p:spPr>
          <a:xfrm>
            <a:off x="355600" y="1774834"/>
            <a:ext cx="11480800" cy="341632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chemeClr val="folHlink"/>
              </a:buClr>
              <a:buSzPts val="2400"/>
              <a:buFont typeface="Calibri"/>
              <a:buChar char="•"/>
            </a:pPr>
            <a:r>
              <a:rPr lang="en-US" sz="2400" b="1">
                <a:solidFill>
                  <a:schemeClr val="folHlink"/>
                </a:solidFill>
                <a:latin typeface="Times New Roman"/>
                <a:ea typeface="Times New Roman"/>
                <a:cs typeface="Times New Roman"/>
                <a:sym typeface="Times New Roman"/>
              </a:rPr>
              <a:t>Main memory</a:t>
            </a:r>
            <a:r>
              <a:rPr lang="en-US" sz="2400">
                <a:solidFill>
                  <a:schemeClr val="dk1"/>
                </a:solidFill>
                <a:latin typeface="Times New Roman"/>
                <a:ea typeface="Times New Roman"/>
                <a:cs typeface="Times New Roman"/>
                <a:sym typeface="Times New Roman"/>
              </a:rPr>
              <a:t> is the second major subsystem in a computer. It consists of a collection of storage locations, each with a unique identifier, called an </a:t>
            </a:r>
            <a:r>
              <a:rPr lang="en-US" sz="2400" b="1">
                <a:solidFill>
                  <a:schemeClr val="folHlink"/>
                </a:solidFill>
                <a:latin typeface="Times New Roman"/>
                <a:ea typeface="Times New Roman"/>
                <a:cs typeface="Times New Roman"/>
                <a:sym typeface="Times New Roman"/>
              </a:rPr>
              <a:t>address</a:t>
            </a:r>
            <a:r>
              <a:rPr lang="en-US" sz="24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400"/>
              <a:buFont typeface="Times New Roman"/>
              <a:buNone/>
            </a:pPr>
            <a:r>
              <a:rPr lang="en-US" sz="24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400"/>
              <a:buFont typeface="Calibri"/>
              <a:buChar char="•"/>
            </a:pPr>
            <a:r>
              <a:rPr lang="en-US" sz="2400">
                <a:solidFill>
                  <a:schemeClr val="dk1"/>
                </a:solidFill>
                <a:latin typeface="Times New Roman"/>
                <a:ea typeface="Times New Roman"/>
                <a:cs typeface="Times New Roman"/>
                <a:sym typeface="Times New Roman"/>
              </a:rPr>
              <a:t>Data is transferred to and from memory in groups of bits called </a:t>
            </a:r>
            <a:r>
              <a:rPr lang="en-US" sz="2400" b="1">
                <a:solidFill>
                  <a:schemeClr val="folHlink"/>
                </a:solidFill>
                <a:latin typeface="Times New Roman"/>
                <a:ea typeface="Times New Roman"/>
                <a:cs typeface="Times New Roman"/>
                <a:sym typeface="Times New Roman"/>
              </a:rPr>
              <a:t>words</a:t>
            </a:r>
            <a:r>
              <a:rPr lang="en-US" sz="2400">
                <a:solidFill>
                  <a:schemeClr val="dk1"/>
                </a:solidFill>
                <a:latin typeface="Times New Roman"/>
                <a:ea typeface="Times New Roman"/>
                <a:cs typeface="Times New Roman"/>
                <a:sym typeface="Times New Roman"/>
              </a:rPr>
              <a:t>. A word can be a group of 8 bits, 16 bits, 32 bits or 64 bits (and growing). </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400"/>
              <a:buFont typeface="Calibri"/>
              <a:buNone/>
            </a:pPr>
            <a:endParaRPr sz="24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400"/>
              <a:buFont typeface="Calibri"/>
              <a:buChar char="•"/>
            </a:pPr>
            <a:r>
              <a:rPr lang="en-US" sz="2400">
                <a:solidFill>
                  <a:schemeClr val="dk1"/>
                </a:solidFill>
                <a:latin typeface="Times New Roman"/>
                <a:ea typeface="Times New Roman"/>
                <a:cs typeface="Times New Roman"/>
                <a:sym typeface="Times New Roman"/>
              </a:rPr>
              <a:t>If the word is 8 bits, it is referred to as a </a:t>
            </a:r>
            <a:r>
              <a:rPr lang="en-US" sz="2400" b="1">
                <a:solidFill>
                  <a:schemeClr val="folHlink"/>
                </a:solidFill>
                <a:latin typeface="Times New Roman"/>
                <a:ea typeface="Times New Roman"/>
                <a:cs typeface="Times New Roman"/>
                <a:sym typeface="Times New Roman"/>
              </a:rPr>
              <a:t>byte</a:t>
            </a:r>
            <a:r>
              <a:rPr lang="en-US" sz="2400">
                <a:solidFill>
                  <a:schemeClr val="dk1"/>
                </a:solidFill>
                <a:latin typeface="Times New Roman"/>
                <a:ea typeface="Times New Roman"/>
                <a:cs typeface="Times New Roman"/>
                <a:sym typeface="Times New Roman"/>
              </a:rPr>
              <a:t>. The term “byte” is so common in computer science that sometimes a 16-bit word is referred to as a 2-byte word, or a 32-bit word is referred to as a 4-byte word.</a:t>
            </a:r>
            <a:endParaRPr sz="1800">
              <a:solidFill>
                <a:schemeClr val="dk1"/>
              </a:solidFill>
              <a:latin typeface="Times New Roman"/>
              <a:ea typeface="Times New Roman"/>
              <a:cs typeface="Times New Roman"/>
              <a:sym typeface="Times New Roman"/>
            </a:endParaRPr>
          </a:p>
        </p:txBody>
      </p:sp>
      <p:sp>
        <p:nvSpPr>
          <p:cNvPr id="602" name="Google Shape;602;p56"/>
          <p:cNvSpPr/>
          <p:nvPr/>
        </p:nvSpPr>
        <p:spPr>
          <a:xfrm>
            <a:off x="6705600" y="457200"/>
            <a:ext cx="1422400" cy="609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603" name="Google Shape;603;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42</a:t>
            </a:fld>
            <a:endParaRPr/>
          </a:p>
        </p:txBody>
      </p:sp>
      <p:sp>
        <p:nvSpPr>
          <p:cNvPr id="604" name="Google Shape;604;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8F986E18-59E8-4FEA-AFA4-C604F59747B6}" type="datetime1">
              <a:rPr lang="en-US" smtClean="0"/>
              <a:t>8/12/2024</a:t>
            </a:fld>
            <a:endParaRPr/>
          </a:p>
        </p:txBody>
      </p:sp>
      <p:sp>
        <p:nvSpPr>
          <p:cNvPr id="605" name="Google Shape;605;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01">
                                            <p:txEl>
                                              <p:pRg st="0" end="0"/>
                                            </p:txEl>
                                          </p:spTgt>
                                        </p:tgtEl>
                                        <p:attrNameLst>
                                          <p:attrName>style.visibility</p:attrName>
                                        </p:attrNameLst>
                                      </p:cBhvr>
                                      <p:to>
                                        <p:strVal val="visible"/>
                                      </p:to>
                                    </p:set>
                                    <p:anim calcmode="lin" valueType="num">
                                      <p:cBhvr additive="base">
                                        <p:cTn id="7" dur="500"/>
                                        <p:tgtEl>
                                          <p:spTgt spid="60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01">
                                            <p:txEl>
                                              <p:pRg st="1" end="1"/>
                                            </p:txEl>
                                          </p:spTgt>
                                        </p:tgtEl>
                                        <p:attrNameLst>
                                          <p:attrName>style.visibility</p:attrName>
                                        </p:attrNameLst>
                                      </p:cBhvr>
                                      <p:to>
                                        <p:strVal val="visible"/>
                                      </p:to>
                                    </p:set>
                                    <p:anim calcmode="lin" valueType="num">
                                      <p:cBhvr additive="base">
                                        <p:cTn id="12" dur="500"/>
                                        <p:tgtEl>
                                          <p:spTgt spid="60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01">
                                            <p:txEl>
                                              <p:pRg st="2" end="2"/>
                                            </p:txEl>
                                          </p:spTgt>
                                        </p:tgtEl>
                                        <p:attrNameLst>
                                          <p:attrName>style.visibility</p:attrName>
                                        </p:attrNameLst>
                                      </p:cBhvr>
                                      <p:to>
                                        <p:strVal val="visible"/>
                                      </p:to>
                                    </p:set>
                                    <p:anim calcmode="lin" valueType="num">
                                      <p:cBhvr additive="base">
                                        <p:cTn id="17" dur="500"/>
                                        <p:tgtEl>
                                          <p:spTgt spid="60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01">
                                            <p:txEl>
                                              <p:pRg st="3" end="3"/>
                                            </p:txEl>
                                          </p:spTgt>
                                        </p:tgtEl>
                                        <p:attrNameLst>
                                          <p:attrName>style.visibility</p:attrName>
                                        </p:attrNameLst>
                                      </p:cBhvr>
                                      <p:to>
                                        <p:strVal val="visible"/>
                                      </p:to>
                                    </p:set>
                                    <p:anim calcmode="lin" valueType="num">
                                      <p:cBhvr additive="base">
                                        <p:cTn id="22" dur="500"/>
                                        <p:tgtEl>
                                          <p:spTgt spid="60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601">
                                            <p:txEl>
                                              <p:pRg st="4" end="4"/>
                                            </p:txEl>
                                          </p:spTgt>
                                        </p:tgtEl>
                                        <p:attrNameLst>
                                          <p:attrName>style.visibility</p:attrName>
                                        </p:attrNameLst>
                                      </p:cBhvr>
                                      <p:to>
                                        <p:strVal val="visible"/>
                                      </p:to>
                                    </p:set>
                                    <p:anim calcmode="lin" valueType="num">
                                      <p:cBhvr additive="base">
                                        <p:cTn id="27" dur="500"/>
                                        <p:tgtEl>
                                          <p:spTgt spid="60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57"/>
          <p:cNvSpPr txBox="1"/>
          <p:nvPr/>
        </p:nvSpPr>
        <p:spPr>
          <a:xfrm>
            <a:off x="4775200" y="5029201"/>
            <a:ext cx="462895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folHlink"/>
              </a:buClr>
              <a:buSzPts val="2400"/>
              <a:buFont typeface="Times New Roman"/>
              <a:buNone/>
            </a:pPr>
            <a:r>
              <a:rPr lang="en-US" sz="2400" b="1">
                <a:solidFill>
                  <a:schemeClr val="folHlink"/>
                </a:solidFill>
                <a:latin typeface="Times New Roman"/>
                <a:ea typeface="Times New Roman"/>
                <a:cs typeface="Times New Roman"/>
                <a:sym typeface="Times New Roman"/>
              </a:rPr>
              <a:t> </a:t>
            </a:r>
            <a:r>
              <a:rPr lang="en-US" sz="2000" b="1">
                <a:solidFill>
                  <a:schemeClr val="dk1"/>
                </a:solidFill>
                <a:latin typeface="Times New Roman"/>
                <a:ea typeface="Times New Roman"/>
                <a:cs typeface="Times New Roman"/>
                <a:sym typeface="Times New Roman"/>
              </a:rPr>
              <a:t>Main memory</a:t>
            </a:r>
            <a:endParaRPr sz="1800">
              <a:solidFill>
                <a:schemeClr val="dk1"/>
              </a:solidFill>
              <a:latin typeface="Calibri"/>
              <a:ea typeface="Calibri"/>
              <a:cs typeface="Calibri"/>
              <a:sym typeface="Calibri"/>
            </a:endParaRPr>
          </a:p>
        </p:txBody>
      </p:sp>
      <p:pic>
        <p:nvPicPr>
          <p:cNvPr id="612" name="Google Shape;612;p57"/>
          <p:cNvPicPr preferRelativeResize="0"/>
          <p:nvPr/>
        </p:nvPicPr>
        <p:blipFill rotWithShape="1">
          <a:blip r:embed="rId3">
            <a:alphaModFix/>
          </a:blip>
          <a:srcRect/>
          <a:stretch/>
        </p:blipFill>
        <p:spPr>
          <a:xfrm>
            <a:off x="203200" y="2311400"/>
            <a:ext cx="11626851" cy="2565400"/>
          </a:xfrm>
          <a:prstGeom prst="rect">
            <a:avLst/>
          </a:prstGeom>
          <a:noFill/>
          <a:ln>
            <a:noFill/>
          </a:ln>
        </p:spPr>
      </p:pic>
      <p:sp>
        <p:nvSpPr>
          <p:cNvPr id="613" name="Google Shape;613;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43</a:t>
            </a:fld>
            <a:endParaRPr/>
          </a:p>
        </p:txBody>
      </p:sp>
      <p:sp>
        <p:nvSpPr>
          <p:cNvPr id="614" name="Google Shape;614;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43587E23-3604-4226-BE38-28ED5FE30C95}" type="datetime1">
              <a:rPr lang="en-US" smtClean="0"/>
              <a:t>8/12/2024</a:t>
            </a:fld>
            <a:endParaRPr/>
          </a:p>
        </p:txBody>
      </p:sp>
      <p:sp>
        <p:nvSpPr>
          <p:cNvPr id="615" name="Google Shape;615;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2"/>
                                        </p:tgtEl>
                                        <p:attrNameLst>
                                          <p:attrName>style.visibility</p:attrName>
                                        </p:attrNameLst>
                                      </p:cBhvr>
                                      <p:to>
                                        <p:strVal val="visible"/>
                                      </p:to>
                                    </p:set>
                                    <p:animEffect transition="in" filter="fade">
                                      <p:cBhvr>
                                        <p:cTn id="7" dur="2000"/>
                                        <p:tgtEl>
                                          <p:spTgt spid="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pic>
        <p:nvPicPr>
          <p:cNvPr id="620" name="Google Shape;620;p58"/>
          <p:cNvPicPr preferRelativeResize="0"/>
          <p:nvPr/>
        </p:nvPicPr>
        <p:blipFill rotWithShape="1">
          <a:blip r:embed="rId3">
            <a:alphaModFix/>
          </a:blip>
          <a:srcRect/>
          <a:stretch/>
        </p:blipFill>
        <p:spPr>
          <a:xfrm>
            <a:off x="2999656" y="836712"/>
            <a:ext cx="6166619" cy="5035914"/>
          </a:xfrm>
          <a:prstGeom prst="rect">
            <a:avLst/>
          </a:prstGeom>
          <a:noFill/>
          <a:ln>
            <a:noFill/>
          </a:ln>
        </p:spPr>
      </p:pic>
      <p:sp>
        <p:nvSpPr>
          <p:cNvPr id="621" name="Google Shape;621;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34B100A9-F0A4-43F7-B348-9A5C68B17FE9}" type="datetime1">
              <a:rPr lang="en-US" smtClean="0"/>
              <a:t>8/12/2024</a:t>
            </a:fld>
            <a:endParaRPr/>
          </a:p>
        </p:txBody>
      </p:sp>
      <p:sp>
        <p:nvSpPr>
          <p:cNvPr id="622" name="Google Shape;622;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623" name="Google Shape;623;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59"/>
          <p:cNvSpPr txBox="1"/>
          <p:nvPr/>
        </p:nvSpPr>
        <p:spPr>
          <a:xfrm>
            <a:off x="191344" y="404664"/>
            <a:ext cx="12418484" cy="1066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3200"/>
              <a:buFont typeface="Calibri"/>
              <a:buNone/>
            </a:pPr>
            <a:endParaRPr sz="3200" b="1">
              <a:solidFill>
                <a:schemeClr val="hlink"/>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3200"/>
              <a:buFont typeface="Times New Roman"/>
              <a:buNone/>
            </a:pPr>
            <a:r>
              <a:rPr lang="en-US" sz="3200" b="1">
                <a:solidFill>
                  <a:schemeClr val="dk1"/>
                </a:solidFill>
                <a:latin typeface="Times New Roman"/>
                <a:ea typeface="Times New Roman"/>
                <a:cs typeface="Times New Roman"/>
                <a:sym typeface="Times New Roman"/>
              </a:rPr>
              <a:t>                               Address space</a:t>
            </a:r>
            <a:endParaRPr sz="1800">
              <a:solidFill>
                <a:schemeClr val="dk1"/>
              </a:solidFill>
              <a:latin typeface="Calibri"/>
              <a:ea typeface="Calibri"/>
              <a:cs typeface="Calibri"/>
              <a:sym typeface="Calibri"/>
            </a:endParaRPr>
          </a:p>
        </p:txBody>
      </p:sp>
      <p:sp>
        <p:nvSpPr>
          <p:cNvPr id="630" name="Google Shape;630;p59"/>
          <p:cNvSpPr/>
          <p:nvPr/>
        </p:nvSpPr>
        <p:spPr>
          <a:xfrm>
            <a:off x="457684" y="1412776"/>
            <a:ext cx="11276632" cy="3785652"/>
          </a:xfrm>
          <a:prstGeom prst="rect">
            <a:avLst/>
          </a:prstGeom>
          <a:solidFill>
            <a:schemeClr val="lt1"/>
          </a:solidFill>
          <a:ln>
            <a:noFill/>
          </a:ln>
        </p:spPr>
        <p:txBody>
          <a:bodyPr spcFirstLastPara="1" wrap="square" lIns="91425" tIns="45700" rIns="91425" bIns="45700" anchor="t" anchorCtr="0">
            <a:noAutofit/>
          </a:bodyPr>
          <a:lstStyle/>
          <a:p>
            <a:pPr marL="0" marR="0" lvl="0" indent="0" algn="just" rtl="0">
              <a:spcBef>
                <a:spcPts val="0"/>
              </a:spcBef>
              <a:spcAft>
                <a:spcPts val="0"/>
              </a:spcAft>
              <a:buClr>
                <a:schemeClr val="dk1"/>
              </a:buClr>
              <a:buSzPts val="2400"/>
              <a:buFont typeface="Calibri"/>
              <a:buNone/>
            </a:pPr>
            <a:endParaRPr sz="2400">
              <a:solidFill>
                <a:schemeClr val="dk1"/>
              </a:solidFill>
              <a:latin typeface="Calibri"/>
              <a:ea typeface="Calibri"/>
              <a:cs typeface="Calibri"/>
              <a:sym typeface="Calibri"/>
            </a:endParaRPr>
          </a:p>
          <a:p>
            <a:pPr marL="0" marR="0" lvl="0" indent="0" algn="just" rtl="0">
              <a:spcBef>
                <a:spcPts val="0"/>
              </a:spcBef>
              <a:spcAft>
                <a:spcPts val="0"/>
              </a:spcAft>
              <a:buClr>
                <a:schemeClr val="dk1"/>
              </a:buClr>
              <a:buSzPts val="2400"/>
              <a:buFont typeface="Calibri"/>
              <a:buChar char="•"/>
            </a:pPr>
            <a:r>
              <a:rPr lang="en-US" sz="2400">
                <a:solidFill>
                  <a:schemeClr val="dk1"/>
                </a:solidFill>
                <a:latin typeface="Times New Roman"/>
                <a:ea typeface="Times New Roman"/>
                <a:cs typeface="Times New Roman"/>
                <a:sym typeface="Times New Roman"/>
              </a:rPr>
              <a:t>To access a word in memory requires an identifier. Although programmers use a name to identify a word (or a collection of words), at the hardware level each word is identified by an address. </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400"/>
              <a:buFont typeface="Calibri"/>
              <a:buNone/>
            </a:pPr>
            <a:endParaRPr sz="24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400"/>
              <a:buFont typeface="Calibri"/>
              <a:buChar char="•"/>
            </a:pPr>
            <a:r>
              <a:rPr lang="en-US" sz="2400">
                <a:solidFill>
                  <a:schemeClr val="dk1"/>
                </a:solidFill>
                <a:latin typeface="Times New Roman"/>
                <a:ea typeface="Times New Roman"/>
                <a:cs typeface="Times New Roman"/>
                <a:sym typeface="Times New Roman"/>
              </a:rPr>
              <a:t>The total number of uniquely identifiable locations in memory is called the </a:t>
            </a:r>
            <a:r>
              <a:rPr lang="en-US" sz="2400" b="1">
                <a:solidFill>
                  <a:schemeClr val="folHlink"/>
                </a:solidFill>
                <a:latin typeface="Times New Roman"/>
                <a:ea typeface="Times New Roman"/>
                <a:cs typeface="Times New Roman"/>
                <a:sym typeface="Times New Roman"/>
              </a:rPr>
              <a:t>address space</a:t>
            </a:r>
            <a:r>
              <a:rPr lang="en-US" sz="2400">
                <a:solidFill>
                  <a:schemeClr val="dk1"/>
                </a:solidFill>
                <a:latin typeface="Times New Roman"/>
                <a:ea typeface="Times New Roman"/>
                <a:cs typeface="Times New Roman"/>
                <a:sym typeface="Times New Roman"/>
              </a:rPr>
              <a:t>. </a:t>
            </a:r>
            <a:endParaRPr sz="18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400"/>
              <a:buFont typeface="Calibri"/>
              <a:buNone/>
            </a:pPr>
            <a:endParaRPr sz="24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Clr>
                <a:schemeClr val="dk1"/>
              </a:buClr>
              <a:buSzPts val="2400"/>
              <a:buFont typeface="Calibri"/>
              <a:buChar char="•"/>
            </a:pPr>
            <a:r>
              <a:rPr lang="en-US" sz="2400">
                <a:solidFill>
                  <a:schemeClr val="dk1"/>
                </a:solidFill>
                <a:latin typeface="Times New Roman"/>
                <a:ea typeface="Times New Roman"/>
                <a:cs typeface="Times New Roman"/>
                <a:sym typeface="Times New Roman"/>
              </a:rPr>
              <a:t>For example, a memory with 64 kilobytes (16 address line required) and a word size of 1 byte has an address space that ranges from 0 to 65,535.</a:t>
            </a:r>
            <a:endParaRPr sz="1800">
              <a:solidFill>
                <a:schemeClr val="dk1"/>
              </a:solidFill>
              <a:latin typeface="Times New Roman"/>
              <a:ea typeface="Times New Roman"/>
              <a:cs typeface="Times New Roman"/>
              <a:sym typeface="Times New Roman"/>
            </a:endParaRPr>
          </a:p>
        </p:txBody>
      </p:sp>
      <p:sp>
        <p:nvSpPr>
          <p:cNvPr id="631" name="Google Shape;631;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45</a:t>
            </a:fld>
            <a:endParaRPr/>
          </a:p>
        </p:txBody>
      </p:sp>
      <p:sp>
        <p:nvSpPr>
          <p:cNvPr id="632" name="Google Shape;632;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52FEEACF-606B-4B18-AB8D-7D4F9DE8A422}" type="datetime1">
              <a:rPr lang="en-US" smtClean="0"/>
              <a:t>8/12/2024</a:t>
            </a:fld>
            <a:endParaRPr/>
          </a:p>
        </p:txBody>
      </p:sp>
      <p:sp>
        <p:nvSpPr>
          <p:cNvPr id="633" name="Google Shape;633;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pic>
        <p:nvPicPr>
          <p:cNvPr id="639" name="Google Shape;639;p60"/>
          <p:cNvPicPr preferRelativeResize="0"/>
          <p:nvPr/>
        </p:nvPicPr>
        <p:blipFill rotWithShape="1">
          <a:blip r:embed="rId3">
            <a:alphaModFix/>
          </a:blip>
          <a:srcRect/>
          <a:stretch/>
        </p:blipFill>
        <p:spPr>
          <a:xfrm>
            <a:off x="997162" y="692696"/>
            <a:ext cx="10354733" cy="4032250"/>
          </a:xfrm>
          <a:prstGeom prst="rect">
            <a:avLst/>
          </a:prstGeom>
          <a:noFill/>
          <a:ln>
            <a:noFill/>
          </a:ln>
        </p:spPr>
      </p:pic>
      <p:sp>
        <p:nvSpPr>
          <p:cNvPr id="640" name="Google Shape;640;p60"/>
          <p:cNvSpPr/>
          <p:nvPr/>
        </p:nvSpPr>
        <p:spPr>
          <a:xfrm>
            <a:off x="508000" y="4869160"/>
            <a:ext cx="11176000" cy="954107"/>
          </a:xfrm>
          <a:prstGeom prst="rect">
            <a:avLst/>
          </a:prstGeom>
          <a:solidFill>
            <a:srgbClr val="99FF33"/>
          </a:solidFill>
          <a:ln w="76200" cap="flat" cmpd="sng">
            <a:solidFill>
              <a:srgbClr val="00CC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2800"/>
              <a:buFont typeface="Times New Roman"/>
              <a:buNone/>
            </a:pPr>
            <a:r>
              <a:rPr lang="en-US" sz="2800" b="1">
                <a:solidFill>
                  <a:schemeClr val="dk1"/>
                </a:solidFill>
                <a:latin typeface="Times New Roman"/>
                <a:ea typeface="Times New Roman"/>
                <a:cs typeface="Times New Roman"/>
                <a:sym typeface="Times New Roman"/>
              </a:rPr>
              <a:t>Memory addresses are defined using unsigned</a:t>
            </a:r>
            <a:br>
              <a:rPr lang="en-US" sz="2800" b="1">
                <a:solidFill>
                  <a:schemeClr val="dk1"/>
                </a:solidFill>
                <a:latin typeface="Times New Roman"/>
                <a:ea typeface="Times New Roman"/>
                <a:cs typeface="Times New Roman"/>
                <a:sym typeface="Times New Roman"/>
              </a:rPr>
            </a:br>
            <a:r>
              <a:rPr lang="en-US" sz="2800" b="1">
                <a:solidFill>
                  <a:schemeClr val="dk1"/>
                </a:solidFill>
                <a:latin typeface="Times New Roman"/>
                <a:ea typeface="Times New Roman"/>
                <a:cs typeface="Times New Roman"/>
                <a:sym typeface="Times New Roman"/>
              </a:rPr>
              <a:t>binary integers.</a:t>
            </a:r>
            <a:endParaRPr sz="1800">
              <a:solidFill>
                <a:schemeClr val="dk1"/>
              </a:solidFill>
              <a:latin typeface="Calibri"/>
              <a:ea typeface="Calibri"/>
              <a:cs typeface="Calibri"/>
              <a:sym typeface="Calibri"/>
            </a:endParaRPr>
          </a:p>
        </p:txBody>
      </p:sp>
      <p:sp>
        <p:nvSpPr>
          <p:cNvPr id="641" name="Google Shape;641;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46</a:t>
            </a:fld>
            <a:endParaRPr/>
          </a:p>
        </p:txBody>
      </p:sp>
      <p:sp>
        <p:nvSpPr>
          <p:cNvPr id="642" name="Google Shape;642;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524264E5-E827-4678-BCA1-60DCCF29E9EF}" type="datetime1">
              <a:rPr lang="en-US" smtClean="0"/>
              <a:t>8/12/2024</a:t>
            </a:fld>
            <a:endParaRPr/>
          </a:p>
        </p:txBody>
      </p:sp>
      <p:sp>
        <p:nvSpPr>
          <p:cNvPr id="643" name="Google Shape;643;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9"/>
                                        </p:tgtEl>
                                        <p:attrNameLst>
                                          <p:attrName>style.visibility</p:attrName>
                                        </p:attrNameLst>
                                      </p:cBhvr>
                                      <p:to>
                                        <p:strVal val="visible"/>
                                      </p:to>
                                    </p:set>
                                    <p:animEffect transition="in" filter="fade">
                                      <p:cBhvr>
                                        <p:cTn id="7" dur="2000"/>
                                        <p:tgtEl>
                                          <p:spTgt spid="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61"/>
          <p:cNvSpPr txBox="1"/>
          <p:nvPr/>
        </p:nvSpPr>
        <p:spPr>
          <a:xfrm>
            <a:off x="476211" y="1000109"/>
            <a:ext cx="1462260" cy="430887"/>
          </a:xfrm>
          <a:prstGeom prst="rect">
            <a:avLst/>
          </a:prstGeom>
          <a:solidFill>
            <a:schemeClr val="folHlink"/>
          </a:solid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2200"/>
              <a:buFont typeface="Times New Roman"/>
              <a:buNone/>
            </a:pPr>
            <a:r>
              <a:rPr lang="en-US" sz="2200" b="1">
                <a:solidFill>
                  <a:schemeClr val="lt1"/>
                </a:solidFill>
                <a:latin typeface="Times New Roman"/>
                <a:ea typeface="Times New Roman"/>
                <a:cs typeface="Times New Roman"/>
                <a:sym typeface="Times New Roman"/>
              </a:rPr>
              <a:t>Example 1</a:t>
            </a:r>
            <a:endParaRPr sz="2200" b="1" i="1">
              <a:solidFill>
                <a:schemeClr val="lt1"/>
              </a:solidFill>
              <a:latin typeface="Times New Roman"/>
              <a:ea typeface="Times New Roman"/>
              <a:cs typeface="Times New Roman"/>
              <a:sym typeface="Times New Roman"/>
            </a:endParaRPr>
          </a:p>
        </p:txBody>
      </p:sp>
      <p:sp>
        <p:nvSpPr>
          <p:cNvPr id="650" name="Google Shape;650;p61"/>
          <p:cNvSpPr/>
          <p:nvPr/>
        </p:nvSpPr>
        <p:spPr>
          <a:xfrm>
            <a:off x="476211" y="1571613"/>
            <a:ext cx="10972800" cy="769441"/>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A computer has 32 MB (megabytes) of memory. How many bits are needed to address any single byte in memory?</a:t>
            </a:r>
            <a:endParaRPr sz="1800">
              <a:solidFill>
                <a:schemeClr val="dk1"/>
              </a:solidFill>
              <a:latin typeface="Calibri"/>
              <a:ea typeface="Calibri"/>
              <a:cs typeface="Calibri"/>
              <a:sym typeface="Calibri"/>
            </a:endParaRPr>
          </a:p>
        </p:txBody>
      </p:sp>
      <p:sp>
        <p:nvSpPr>
          <p:cNvPr id="651" name="Google Shape;651;p61"/>
          <p:cNvSpPr/>
          <p:nvPr/>
        </p:nvSpPr>
        <p:spPr>
          <a:xfrm>
            <a:off x="380960" y="2357430"/>
            <a:ext cx="10972800" cy="1107996"/>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chemeClr val="folHlink"/>
              </a:buClr>
              <a:buSzPts val="2200"/>
              <a:buFont typeface="Times New Roman"/>
              <a:buNone/>
            </a:pPr>
            <a:r>
              <a:rPr lang="en-US" sz="2200" b="1">
                <a:solidFill>
                  <a:schemeClr val="folHlink"/>
                </a:solidFill>
                <a:latin typeface="Times New Roman"/>
                <a:ea typeface="Times New Roman"/>
                <a:cs typeface="Times New Roman"/>
                <a:sym typeface="Times New Roman"/>
              </a:rPr>
              <a:t>Solution</a:t>
            </a:r>
            <a:endParaRPr sz="1800">
              <a:solidFill>
                <a:schemeClr val="dk1"/>
              </a:solidFill>
              <a:latin typeface="Calibri"/>
              <a:ea typeface="Calibri"/>
              <a:cs typeface="Calibri"/>
              <a:sym typeface="Calibri"/>
            </a:endParaRPr>
          </a:p>
          <a:p>
            <a:pPr marL="0" marR="0" lvl="0" indent="0" algn="just" rtl="0">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The memory address space is 32 MB, or 2</a:t>
            </a:r>
            <a:r>
              <a:rPr lang="en-US" sz="2200" baseline="30000">
                <a:solidFill>
                  <a:schemeClr val="dk1"/>
                </a:solidFill>
                <a:latin typeface="Times New Roman"/>
                <a:ea typeface="Times New Roman"/>
                <a:cs typeface="Times New Roman"/>
                <a:sym typeface="Times New Roman"/>
              </a:rPr>
              <a:t>25</a:t>
            </a:r>
            <a:r>
              <a:rPr lang="en-US" sz="2200">
                <a:solidFill>
                  <a:schemeClr val="dk1"/>
                </a:solidFill>
                <a:latin typeface="Times New Roman"/>
                <a:ea typeface="Times New Roman"/>
                <a:cs typeface="Times New Roman"/>
                <a:sym typeface="Times New Roman"/>
              </a:rPr>
              <a:t> (2</a:t>
            </a:r>
            <a:r>
              <a:rPr lang="en-US" sz="2200" baseline="30000">
                <a:solidFill>
                  <a:schemeClr val="dk1"/>
                </a:solidFill>
                <a:latin typeface="Times New Roman"/>
                <a:ea typeface="Times New Roman"/>
                <a:cs typeface="Times New Roman"/>
                <a:sym typeface="Times New Roman"/>
              </a:rPr>
              <a:t>5</a:t>
            </a:r>
            <a:r>
              <a:rPr lang="en-US" sz="2200">
                <a:solidFill>
                  <a:schemeClr val="dk1"/>
                </a:solidFill>
                <a:latin typeface="Times New Roman"/>
                <a:ea typeface="Times New Roman"/>
                <a:cs typeface="Times New Roman"/>
                <a:sym typeface="Times New Roman"/>
              </a:rPr>
              <a:t> × 2</a:t>
            </a:r>
            <a:r>
              <a:rPr lang="en-US" sz="2200" baseline="30000">
                <a:solidFill>
                  <a:schemeClr val="dk1"/>
                </a:solidFill>
                <a:latin typeface="Times New Roman"/>
                <a:ea typeface="Times New Roman"/>
                <a:cs typeface="Times New Roman"/>
                <a:sym typeface="Times New Roman"/>
              </a:rPr>
              <a:t>20</a:t>
            </a:r>
            <a:r>
              <a:rPr lang="en-US" sz="2200">
                <a:solidFill>
                  <a:schemeClr val="dk1"/>
                </a:solidFill>
                <a:latin typeface="Times New Roman"/>
                <a:ea typeface="Times New Roman"/>
                <a:cs typeface="Times New Roman"/>
                <a:sym typeface="Times New Roman"/>
              </a:rPr>
              <a:t>). This means that we need log</a:t>
            </a:r>
            <a:r>
              <a:rPr lang="en-US" sz="2200" baseline="-25000">
                <a:solidFill>
                  <a:schemeClr val="dk1"/>
                </a:solidFill>
                <a:latin typeface="Times New Roman"/>
                <a:ea typeface="Times New Roman"/>
                <a:cs typeface="Times New Roman"/>
                <a:sym typeface="Times New Roman"/>
              </a:rPr>
              <a:t>2</a:t>
            </a:r>
            <a:r>
              <a:rPr lang="en-US" sz="2200">
                <a:solidFill>
                  <a:schemeClr val="dk1"/>
                </a:solidFill>
                <a:latin typeface="Times New Roman"/>
                <a:ea typeface="Times New Roman"/>
                <a:cs typeface="Times New Roman"/>
                <a:sym typeface="Times New Roman"/>
              </a:rPr>
              <a:t> 2</a:t>
            </a:r>
            <a:r>
              <a:rPr lang="en-US" sz="2200" baseline="30000">
                <a:solidFill>
                  <a:schemeClr val="dk1"/>
                </a:solidFill>
                <a:latin typeface="Times New Roman"/>
                <a:ea typeface="Times New Roman"/>
                <a:cs typeface="Times New Roman"/>
                <a:sym typeface="Times New Roman"/>
              </a:rPr>
              <a:t>25</a:t>
            </a:r>
            <a:r>
              <a:rPr lang="en-US" sz="2200">
                <a:solidFill>
                  <a:schemeClr val="dk1"/>
                </a:solidFill>
                <a:latin typeface="Times New Roman"/>
                <a:ea typeface="Times New Roman"/>
                <a:cs typeface="Times New Roman"/>
                <a:sym typeface="Times New Roman"/>
              </a:rPr>
              <a:t>, or </a:t>
            </a:r>
            <a:r>
              <a:rPr lang="en-US" sz="2200" b="1">
                <a:solidFill>
                  <a:schemeClr val="hlink"/>
                </a:solidFill>
                <a:latin typeface="Times New Roman"/>
                <a:ea typeface="Times New Roman"/>
                <a:cs typeface="Times New Roman"/>
                <a:sym typeface="Times New Roman"/>
              </a:rPr>
              <a:t>25 bits</a:t>
            </a:r>
            <a:r>
              <a:rPr lang="en-US" sz="2200">
                <a:solidFill>
                  <a:schemeClr val="dk1"/>
                </a:solidFill>
                <a:latin typeface="Times New Roman"/>
                <a:ea typeface="Times New Roman"/>
                <a:cs typeface="Times New Roman"/>
                <a:sym typeface="Times New Roman"/>
              </a:rPr>
              <a:t>, to address each byte.</a:t>
            </a:r>
            <a:endParaRPr sz="1800">
              <a:solidFill>
                <a:schemeClr val="dk1"/>
              </a:solidFill>
              <a:latin typeface="Calibri"/>
              <a:ea typeface="Calibri"/>
              <a:cs typeface="Calibri"/>
              <a:sym typeface="Calibri"/>
            </a:endParaRPr>
          </a:p>
        </p:txBody>
      </p:sp>
      <p:sp>
        <p:nvSpPr>
          <p:cNvPr id="652" name="Google Shape;652;p61"/>
          <p:cNvSpPr txBox="1"/>
          <p:nvPr/>
        </p:nvSpPr>
        <p:spPr>
          <a:xfrm>
            <a:off x="380960" y="3643315"/>
            <a:ext cx="1462260" cy="430887"/>
          </a:xfrm>
          <a:prstGeom prst="rect">
            <a:avLst/>
          </a:prstGeom>
          <a:solidFill>
            <a:schemeClr val="folHlink"/>
          </a:solid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2200"/>
              <a:buFont typeface="Times New Roman"/>
              <a:buNone/>
            </a:pPr>
            <a:r>
              <a:rPr lang="en-US" sz="2200" b="1">
                <a:solidFill>
                  <a:schemeClr val="lt1"/>
                </a:solidFill>
                <a:latin typeface="Times New Roman"/>
                <a:ea typeface="Times New Roman"/>
                <a:cs typeface="Times New Roman"/>
                <a:sym typeface="Times New Roman"/>
              </a:rPr>
              <a:t>Example 2</a:t>
            </a:r>
            <a:endParaRPr sz="2200" b="1" i="1">
              <a:solidFill>
                <a:schemeClr val="lt1"/>
              </a:solidFill>
              <a:latin typeface="Times New Roman"/>
              <a:ea typeface="Times New Roman"/>
              <a:cs typeface="Times New Roman"/>
              <a:sym typeface="Times New Roman"/>
            </a:endParaRPr>
          </a:p>
        </p:txBody>
      </p:sp>
      <p:sp>
        <p:nvSpPr>
          <p:cNvPr id="653" name="Google Shape;653;p61"/>
          <p:cNvSpPr/>
          <p:nvPr/>
        </p:nvSpPr>
        <p:spPr>
          <a:xfrm>
            <a:off x="350318" y="4163561"/>
            <a:ext cx="10972800" cy="769441"/>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A computer has 128 MB of memory. Each word in this computer is eight bytes. How many bits are needed to address any single word in memory?</a:t>
            </a:r>
            <a:endParaRPr sz="1800">
              <a:solidFill>
                <a:schemeClr val="dk1"/>
              </a:solidFill>
              <a:latin typeface="Calibri"/>
              <a:ea typeface="Calibri"/>
              <a:cs typeface="Calibri"/>
              <a:sym typeface="Calibri"/>
            </a:endParaRPr>
          </a:p>
        </p:txBody>
      </p:sp>
      <p:sp>
        <p:nvSpPr>
          <p:cNvPr id="654" name="Google Shape;654;p61"/>
          <p:cNvSpPr/>
          <p:nvPr/>
        </p:nvSpPr>
        <p:spPr>
          <a:xfrm>
            <a:off x="307169" y="4875419"/>
            <a:ext cx="10972800" cy="1446550"/>
          </a:xfrm>
          <a:prstGeom prst="rect">
            <a:avLst/>
          </a:prstGeom>
          <a:noFill/>
          <a:ln>
            <a:noFill/>
          </a:ln>
        </p:spPr>
        <p:txBody>
          <a:bodyPr spcFirstLastPara="1" wrap="square" lIns="91425" tIns="45700" rIns="91425" bIns="45700" anchor="ctr" anchorCtr="0">
            <a:noAutofit/>
          </a:bodyPr>
          <a:lstStyle/>
          <a:p>
            <a:pPr marL="0" marR="0" lvl="0" indent="0" algn="just" rtl="0">
              <a:spcBef>
                <a:spcPts val="0"/>
              </a:spcBef>
              <a:spcAft>
                <a:spcPts val="0"/>
              </a:spcAft>
              <a:buClr>
                <a:schemeClr val="folHlink"/>
              </a:buClr>
              <a:buSzPts val="2200"/>
              <a:buFont typeface="Times New Roman"/>
              <a:buNone/>
            </a:pPr>
            <a:r>
              <a:rPr lang="en-US" sz="2200" b="1">
                <a:solidFill>
                  <a:schemeClr val="folHlink"/>
                </a:solidFill>
                <a:latin typeface="Times New Roman"/>
                <a:ea typeface="Times New Roman"/>
                <a:cs typeface="Times New Roman"/>
                <a:sym typeface="Times New Roman"/>
              </a:rPr>
              <a:t>Solution</a:t>
            </a:r>
            <a:endParaRPr sz="1800">
              <a:solidFill>
                <a:schemeClr val="dk1"/>
              </a:solidFill>
              <a:latin typeface="Calibri"/>
              <a:ea typeface="Calibri"/>
              <a:cs typeface="Calibri"/>
              <a:sym typeface="Calibri"/>
            </a:endParaRPr>
          </a:p>
          <a:p>
            <a:pPr marL="0" marR="0" lvl="0" indent="0" algn="just" rtl="0">
              <a:spcBef>
                <a:spcPts val="0"/>
              </a:spcBef>
              <a:spcAft>
                <a:spcPts val="0"/>
              </a:spcAft>
              <a:buClr>
                <a:schemeClr val="dk1"/>
              </a:buClr>
              <a:buSzPts val="2200"/>
              <a:buFont typeface="Times New Roman"/>
              <a:buNone/>
            </a:pPr>
            <a:r>
              <a:rPr lang="en-US" sz="2200">
                <a:solidFill>
                  <a:schemeClr val="dk1"/>
                </a:solidFill>
                <a:latin typeface="Times New Roman"/>
                <a:ea typeface="Times New Roman"/>
                <a:cs typeface="Times New Roman"/>
                <a:sym typeface="Times New Roman"/>
              </a:rPr>
              <a:t>The memory address space is 128 MB, which means 2</a:t>
            </a:r>
            <a:r>
              <a:rPr lang="en-US" sz="2200" baseline="30000">
                <a:solidFill>
                  <a:schemeClr val="dk1"/>
                </a:solidFill>
                <a:latin typeface="Times New Roman"/>
                <a:ea typeface="Times New Roman"/>
                <a:cs typeface="Times New Roman"/>
                <a:sym typeface="Times New Roman"/>
              </a:rPr>
              <a:t>27</a:t>
            </a:r>
            <a:r>
              <a:rPr lang="en-US" sz="2200">
                <a:solidFill>
                  <a:schemeClr val="dk1"/>
                </a:solidFill>
                <a:latin typeface="Times New Roman"/>
                <a:ea typeface="Times New Roman"/>
                <a:cs typeface="Times New Roman"/>
                <a:sym typeface="Times New Roman"/>
              </a:rPr>
              <a:t>. However, each word is eight (2</a:t>
            </a:r>
            <a:r>
              <a:rPr lang="en-US" sz="2200" baseline="30000">
                <a:solidFill>
                  <a:schemeClr val="dk1"/>
                </a:solidFill>
                <a:latin typeface="Times New Roman"/>
                <a:ea typeface="Times New Roman"/>
                <a:cs typeface="Times New Roman"/>
                <a:sym typeface="Times New Roman"/>
              </a:rPr>
              <a:t>3</a:t>
            </a:r>
            <a:r>
              <a:rPr lang="en-US" sz="2200">
                <a:solidFill>
                  <a:schemeClr val="dk1"/>
                </a:solidFill>
                <a:latin typeface="Times New Roman"/>
                <a:ea typeface="Times New Roman"/>
                <a:cs typeface="Times New Roman"/>
                <a:sym typeface="Times New Roman"/>
              </a:rPr>
              <a:t>) bytes, which means that we have 2</a:t>
            </a:r>
            <a:r>
              <a:rPr lang="en-US" sz="2200" baseline="30000">
                <a:solidFill>
                  <a:schemeClr val="dk1"/>
                </a:solidFill>
                <a:latin typeface="Times New Roman"/>
                <a:ea typeface="Times New Roman"/>
                <a:cs typeface="Times New Roman"/>
                <a:sym typeface="Times New Roman"/>
              </a:rPr>
              <a:t>24</a:t>
            </a:r>
            <a:r>
              <a:rPr lang="en-US" sz="2200">
                <a:solidFill>
                  <a:schemeClr val="dk1"/>
                </a:solidFill>
                <a:latin typeface="Times New Roman"/>
                <a:ea typeface="Times New Roman"/>
                <a:cs typeface="Times New Roman"/>
                <a:sym typeface="Times New Roman"/>
              </a:rPr>
              <a:t> words. This means that we need log</a:t>
            </a:r>
            <a:r>
              <a:rPr lang="en-US" sz="2200" baseline="-25000">
                <a:solidFill>
                  <a:schemeClr val="dk1"/>
                </a:solidFill>
                <a:latin typeface="Times New Roman"/>
                <a:ea typeface="Times New Roman"/>
                <a:cs typeface="Times New Roman"/>
                <a:sym typeface="Times New Roman"/>
              </a:rPr>
              <a:t>2</a:t>
            </a:r>
            <a:r>
              <a:rPr lang="en-US" sz="2200">
                <a:solidFill>
                  <a:schemeClr val="dk1"/>
                </a:solidFill>
                <a:latin typeface="Times New Roman"/>
                <a:ea typeface="Times New Roman"/>
                <a:cs typeface="Times New Roman"/>
                <a:sym typeface="Times New Roman"/>
              </a:rPr>
              <a:t> 2</a:t>
            </a:r>
            <a:r>
              <a:rPr lang="en-US" sz="2200" baseline="30000">
                <a:solidFill>
                  <a:schemeClr val="dk1"/>
                </a:solidFill>
                <a:latin typeface="Times New Roman"/>
                <a:ea typeface="Times New Roman"/>
                <a:cs typeface="Times New Roman"/>
                <a:sym typeface="Times New Roman"/>
              </a:rPr>
              <a:t>24</a:t>
            </a:r>
            <a:r>
              <a:rPr lang="en-US" sz="2200">
                <a:solidFill>
                  <a:schemeClr val="dk1"/>
                </a:solidFill>
                <a:latin typeface="Times New Roman"/>
                <a:ea typeface="Times New Roman"/>
                <a:cs typeface="Times New Roman"/>
                <a:sym typeface="Times New Roman"/>
              </a:rPr>
              <a:t>, or </a:t>
            </a:r>
            <a:r>
              <a:rPr lang="en-US" sz="2200" b="1">
                <a:solidFill>
                  <a:schemeClr val="hlink"/>
                </a:solidFill>
                <a:latin typeface="Times New Roman"/>
                <a:ea typeface="Times New Roman"/>
                <a:cs typeface="Times New Roman"/>
                <a:sym typeface="Times New Roman"/>
              </a:rPr>
              <a:t>24 bits</a:t>
            </a:r>
            <a:r>
              <a:rPr lang="en-US" sz="2200">
                <a:solidFill>
                  <a:schemeClr val="dk1"/>
                </a:solidFill>
                <a:latin typeface="Times New Roman"/>
                <a:ea typeface="Times New Roman"/>
                <a:cs typeface="Times New Roman"/>
                <a:sym typeface="Times New Roman"/>
              </a:rPr>
              <a:t>, to address each word.</a:t>
            </a:r>
            <a:endParaRPr sz="1800">
              <a:solidFill>
                <a:schemeClr val="dk1"/>
              </a:solidFill>
              <a:latin typeface="Calibri"/>
              <a:ea typeface="Calibri"/>
              <a:cs typeface="Calibri"/>
              <a:sym typeface="Calibri"/>
            </a:endParaRPr>
          </a:p>
        </p:txBody>
      </p:sp>
      <p:sp>
        <p:nvSpPr>
          <p:cNvPr id="655" name="Google Shape;655;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47</a:t>
            </a:fld>
            <a:endParaRPr/>
          </a:p>
        </p:txBody>
      </p:sp>
      <p:sp>
        <p:nvSpPr>
          <p:cNvPr id="656" name="Google Shape;656;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46A2B2B5-B1F0-44BC-8BFB-693CD872FDA0}" type="datetime1">
              <a:rPr lang="en-US" smtClean="0"/>
              <a:t>8/12/2024</a:t>
            </a:fld>
            <a:endParaRPr/>
          </a:p>
        </p:txBody>
      </p:sp>
      <p:sp>
        <p:nvSpPr>
          <p:cNvPr id="657" name="Google Shape;657;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62"/>
          <p:cNvSpPr txBox="1">
            <a:spLocks noGrp="1"/>
          </p:cNvSpPr>
          <p:nvPr>
            <p:ph type="title"/>
          </p:nvPr>
        </p:nvSpPr>
        <p:spPr>
          <a:xfrm>
            <a:off x="2135560" y="404664"/>
            <a:ext cx="109728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latin typeface="Times New Roman"/>
                <a:ea typeface="Times New Roman"/>
                <a:cs typeface="Times New Roman"/>
                <a:sym typeface="Times New Roman"/>
              </a:rPr>
              <a:t>MEMORY OPERATIONS</a:t>
            </a:r>
            <a:endParaRPr b="1">
              <a:latin typeface="Times New Roman"/>
              <a:ea typeface="Times New Roman"/>
              <a:cs typeface="Times New Roman"/>
              <a:sym typeface="Times New Roman"/>
            </a:endParaRPr>
          </a:p>
        </p:txBody>
      </p:sp>
      <p:sp>
        <p:nvSpPr>
          <p:cNvPr id="663" name="Google Shape;663;p62"/>
          <p:cNvSpPr txBox="1">
            <a:spLocks noGrp="1"/>
          </p:cNvSpPr>
          <p:nvPr>
            <p:ph type="body" idx="1"/>
          </p:nvPr>
        </p:nvSpPr>
        <p:spPr>
          <a:xfrm>
            <a:off x="609600" y="1547664"/>
            <a:ext cx="10972800" cy="45259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Today, </a:t>
            </a:r>
            <a:r>
              <a:rPr lang="en-US" sz="2400" b="1">
                <a:solidFill>
                  <a:schemeClr val="folHlink"/>
                </a:solidFill>
                <a:latin typeface="Times New Roman"/>
                <a:ea typeface="Times New Roman"/>
                <a:cs typeface="Times New Roman"/>
                <a:sym typeface="Times New Roman"/>
              </a:rPr>
              <a:t>general-purpose computers</a:t>
            </a:r>
            <a:r>
              <a:rPr lang="en-US" sz="2400">
                <a:latin typeface="Times New Roman"/>
                <a:ea typeface="Times New Roman"/>
                <a:cs typeface="Times New Roman"/>
                <a:sym typeface="Times New Roman"/>
              </a:rPr>
              <a:t> use a set of instructions called a </a:t>
            </a:r>
            <a:r>
              <a:rPr lang="en-US" sz="2400" b="1">
                <a:solidFill>
                  <a:schemeClr val="folHlink"/>
                </a:solidFill>
                <a:latin typeface="Times New Roman"/>
                <a:ea typeface="Times New Roman"/>
                <a:cs typeface="Times New Roman"/>
                <a:sym typeface="Times New Roman"/>
              </a:rPr>
              <a:t>program</a:t>
            </a:r>
            <a:r>
              <a:rPr lang="en-US" sz="2400">
                <a:latin typeface="Times New Roman"/>
                <a:ea typeface="Times New Roman"/>
                <a:cs typeface="Times New Roman"/>
                <a:sym typeface="Times New Roman"/>
              </a:rPr>
              <a:t> to process data.</a:t>
            </a:r>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A computer executes the program to create output data from input data</a:t>
            </a:r>
            <a:endParaRPr/>
          </a:p>
          <a:p>
            <a:pPr marL="228600" lvl="0" indent="-228600" algn="l" rtl="0">
              <a:lnSpc>
                <a:spcPct val="90000"/>
              </a:lnSpc>
              <a:spcBef>
                <a:spcPts val="1000"/>
              </a:spcBef>
              <a:spcAft>
                <a:spcPts val="0"/>
              </a:spcAft>
              <a:buClr>
                <a:schemeClr val="dk1"/>
              </a:buClr>
              <a:buSzPts val="2400"/>
              <a:buFont typeface="Calibri"/>
              <a:buNone/>
            </a:pPr>
            <a:endParaRPr sz="24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Both program instructions and data operands are stored in memory</a:t>
            </a:r>
            <a:endParaRPr/>
          </a:p>
          <a:p>
            <a:pPr marL="228600" lvl="0" indent="-228600" algn="l" rtl="0">
              <a:lnSpc>
                <a:spcPct val="90000"/>
              </a:lnSpc>
              <a:spcBef>
                <a:spcPts val="1000"/>
              </a:spcBef>
              <a:spcAft>
                <a:spcPts val="0"/>
              </a:spcAft>
              <a:buClr>
                <a:schemeClr val="dk1"/>
              </a:buClr>
              <a:buSzPts val="2400"/>
              <a:buFont typeface="Calibri"/>
              <a:buNone/>
            </a:pPr>
            <a:endParaRPr sz="24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Two basic operations requires in memory access</a:t>
            </a:r>
            <a:endParaRPr/>
          </a:p>
          <a:p>
            <a:pPr marL="1143000" lvl="2" indent="-228600" algn="l" rtl="0">
              <a:lnSpc>
                <a:spcPct val="90000"/>
              </a:lnSpc>
              <a:spcBef>
                <a:spcPts val="500"/>
              </a:spcBef>
              <a:spcAft>
                <a:spcPts val="0"/>
              </a:spcAft>
              <a:buClr>
                <a:schemeClr val="dk1"/>
              </a:buClr>
              <a:buSzPts val="2000"/>
              <a:buChar char="•"/>
            </a:pPr>
            <a:r>
              <a:rPr lang="en-US" b="1">
                <a:latin typeface="Times New Roman"/>
                <a:ea typeface="Times New Roman"/>
                <a:cs typeface="Times New Roman"/>
                <a:sym typeface="Times New Roman"/>
              </a:rPr>
              <a:t>Load operation  (Read or Fetch)</a:t>
            </a:r>
            <a:r>
              <a:rPr lang="en-US">
                <a:latin typeface="Times New Roman"/>
                <a:ea typeface="Times New Roman"/>
                <a:cs typeface="Times New Roman"/>
                <a:sym typeface="Times New Roman"/>
              </a:rPr>
              <a:t>-Contents of specified memory location are read by processor</a:t>
            </a:r>
            <a:endParaRPr/>
          </a:p>
          <a:p>
            <a:pPr marL="1143000" lvl="2" indent="-228600" algn="l" rtl="0">
              <a:lnSpc>
                <a:spcPct val="90000"/>
              </a:lnSpc>
              <a:spcBef>
                <a:spcPts val="500"/>
              </a:spcBef>
              <a:spcAft>
                <a:spcPts val="0"/>
              </a:spcAft>
              <a:buClr>
                <a:schemeClr val="dk1"/>
              </a:buClr>
              <a:buSzPts val="2000"/>
              <a:buChar char="•"/>
            </a:pPr>
            <a:r>
              <a:rPr lang="en-US" b="1">
                <a:latin typeface="Times New Roman"/>
                <a:ea typeface="Times New Roman"/>
                <a:cs typeface="Times New Roman"/>
                <a:sym typeface="Times New Roman"/>
              </a:rPr>
              <a:t>Store operation  (Write)- </a:t>
            </a:r>
            <a:r>
              <a:rPr lang="en-US">
                <a:latin typeface="Times New Roman"/>
                <a:ea typeface="Times New Roman"/>
                <a:cs typeface="Times New Roman"/>
                <a:sym typeface="Times New Roman"/>
              </a:rPr>
              <a:t>Data from the processor is stored in specified memory location</a:t>
            </a:r>
            <a:endParaRPr/>
          </a:p>
        </p:txBody>
      </p:sp>
      <p:sp>
        <p:nvSpPr>
          <p:cNvPr id="664" name="Google Shape;664;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48</a:t>
            </a:fld>
            <a:endParaRPr/>
          </a:p>
        </p:txBody>
      </p:sp>
      <p:sp>
        <p:nvSpPr>
          <p:cNvPr id="665" name="Google Shape;665;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7ABF830C-722F-4636-A174-C79F518E96CD}" type="datetime1">
              <a:rPr lang="en-US" smtClean="0"/>
              <a:t>8/12/2024</a:t>
            </a:fld>
            <a:endParaRPr/>
          </a:p>
        </p:txBody>
      </p:sp>
      <p:sp>
        <p:nvSpPr>
          <p:cNvPr id="666" name="Google Shape;666;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63"/>
          <p:cNvSpPr txBox="1">
            <a:spLocks noGrp="1"/>
          </p:cNvSpPr>
          <p:nvPr>
            <p:ph type="title"/>
          </p:nvPr>
        </p:nvSpPr>
        <p:spPr>
          <a:xfrm>
            <a:off x="609600" y="990600"/>
            <a:ext cx="109728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Times New Roman"/>
                <a:ea typeface="Times New Roman"/>
                <a:cs typeface="Times New Roman"/>
                <a:sym typeface="Times New Roman"/>
              </a:rPr>
              <a:t>Assignment of Byte Address</a:t>
            </a:r>
            <a:endParaRPr>
              <a:latin typeface="Times New Roman"/>
              <a:ea typeface="Times New Roman"/>
              <a:cs typeface="Times New Roman"/>
              <a:sym typeface="Times New Roman"/>
            </a:endParaRPr>
          </a:p>
        </p:txBody>
      </p:sp>
      <p:sp>
        <p:nvSpPr>
          <p:cNvPr id="672" name="Google Shape;672;p63"/>
          <p:cNvSpPr txBox="1">
            <a:spLocks noGrp="1"/>
          </p:cNvSpPr>
          <p:nvPr>
            <p:ph type="body" idx="1"/>
          </p:nvPr>
        </p:nvSpPr>
        <p:spPr>
          <a:xfrm>
            <a:off x="609600" y="2316163"/>
            <a:ext cx="10972800" cy="452596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b="1">
                <a:latin typeface="Times New Roman"/>
                <a:ea typeface="Times New Roman"/>
                <a:cs typeface="Times New Roman"/>
                <a:sym typeface="Times New Roman"/>
              </a:rPr>
              <a:t>Big</a:t>
            </a:r>
            <a:r>
              <a:rPr lang="en-US">
                <a:latin typeface="Times New Roman"/>
                <a:ea typeface="Times New Roman"/>
                <a:cs typeface="Times New Roman"/>
                <a:sym typeface="Times New Roman"/>
              </a:rPr>
              <a:t>-</a:t>
            </a:r>
            <a:r>
              <a:rPr lang="en-US" b="1">
                <a:latin typeface="Times New Roman"/>
                <a:ea typeface="Times New Roman"/>
                <a:cs typeface="Times New Roman"/>
                <a:sym typeface="Times New Roman"/>
              </a:rPr>
              <a:t>endian</a:t>
            </a:r>
            <a:r>
              <a:rPr lang="en-US">
                <a:latin typeface="Times New Roman"/>
                <a:ea typeface="Times New Roman"/>
                <a:cs typeface="Times New Roman"/>
                <a:sym typeface="Times New Roman"/>
              </a:rPr>
              <a:t> and </a:t>
            </a:r>
            <a:r>
              <a:rPr lang="en-US" b="1">
                <a:latin typeface="Times New Roman"/>
                <a:ea typeface="Times New Roman"/>
                <a:cs typeface="Times New Roman"/>
                <a:sym typeface="Times New Roman"/>
              </a:rPr>
              <a:t>little</a:t>
            </a:r>
            <a:r>
              <a:rPr lang="en-US">
                <a:latin typeface="Times New Roman"/>
                <a:ea typeface="Times New Roman"/>
                <a:cs typeface="Times New Roman"/>
                <a:sym typeface="Times New Roman"/>
              </a:rPr>
              <a:t>-</a:t>
            </a:r>
            <a:r>
              <a:rPr lang="en-US" b="1">
                <a:latin typeface="Times New Roman"/>
                <a:ea typeface="Times New Roman"/>
                <a:cs typeface="Times New Roman"/>
                <a:sym typeface="Times New Roman"/>
              </a:rPr>
              <a:t>endian</a:t>
            </a:r>
            <a:r>
              <a:rPr lang="en-US">
                <a:latin typeface="Times New Roman"/>
                <a:ea typeface="Times New Roman"/>
                <a:cs typeface="Times New Roman"/>
                <a:sym typeface="Times New Roman"/>
              </a:rPr>
              <a:t> are terms that describe the order in which a sequence of bytes are stored in computer </a:t>
            </a:r>
            <a:r>
              <a:rPr lang="en-US" b="1">
                <a:latin typeface="Times New Roman"/>
                <a:ea typeface="Times New Roman"/>
                <a:cs typeface="Times New Roman"/>
                <a:sym typeface="Times New Roman"/>
              </a:rPr>
              <a:t>memory</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Big</a:t>
            </a:r>
            <a:r>
              <a:rPr lang="en-US">
                <a:latin typeface="Times New Roman"/>
                <a:ea typeface="Times New Roman"/>
                <a:cs typeface="Times New Roman"/>
                <a:sym typeface="Times New Roman"/>
              </a:rPr>
              <a:t>-</a:t>
            </a:r>
            <a:r>
              <a:rPr lang="en-US" b="1">
                <a:latin typeface="Times New Roman"/>
                <a:ea typeface="Times New Roman"/>
                <a:cs typeface="Times New Roman"/>
                <a:sym typeface="Times New Roman"/>
              </a:rPr>
              <a:t>endian</a:t>
            </a:r>
            <a:r>
              <a:rPr lang="en-US">
                <a:latin typeface="Times New Roman"/>
                <a:ea typeface="Times New Roman"/>
                <a:cs typeface="Times New Roman"/>
                <a:sym typeface="Times New Roman"/>
              </a:rPr>
              <a:t> is an order in which the "</a:t>
            </a:r>
            <a:r>
              <a:rPr lang="en-US" b="1">
                <a:latin typeface="Times New Roman"/>
                <a:ea typeface="Times New Roman"/>
                <a:cs typeface="Times New Roman"/>
                <a:sym typeface="Times New Roman"/>
              </a:rPr>
              <a:t>big</a:t>
            </a:r>
            <a:r>
              <a:rPr lang="en-US">
                <a:latin typeface="Times New Roman"/>
                <a:ea typeface="Times New Roman"/>
                <a:cs typeface="Times New Roman"/>
                <a:sym typeface="Times New Roman"/>
              </a:rPr>
              <a:t>end" (most significant value in the sequence) is stored first (at the lowest storage address).</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Char char="•"/>
            </a:pPr>
            <a:r>
              <a:rPr lang="en-US" b="1">
                <a:latin typeface="Times New Roman"/>
                <a:ea typeface="Times New Roman"/>
                <a:cs typeface="Times New Roman"/>
                <a:sym typeface="Times New Roman"/>
              </a:rPr>
              <a:t>Little</a:t>
            </a:r>
            <a:r>
              <a:rPr lang="en-US">
                <a:latin typeface="Times New Roman"/>
                <a:ea typeface="Times New Roman"/>
                <a:cs typeface="Times New Roman"/>
                <a:sym typeface="Times New Roman"/>
              </a:rPr>
              <a:t>-</a:t>
            </a:r>
            <a:r>
              <a:rPr lang="en-US" b="1">
                <a:latin typeface="Times New Roman"/>
                <a:ea typeface="Times New Roman"/>
                <a:cs typeface="Times New Roman"/>
                <a:sym typeface="Times New Roman"/>
              </a:rPr>
              <a:t>endian</a:t>
            </a:r>
            <a:r>
              <a:rPr lang="en-US">
                <a:latin typeface="Times New Roman"/>
                <a:ea typeface="Times New Roman"/>
                <a:cs typeface="Times New Roman"/>
                <a:sym typeface="Times New Roman"/>
              </a:rPr>
              <a:t> is an order in which the “</a:t>
            </a:r>
            <a:r>
              <a:rPr lang="en-US" b="1">
                <a:latin typeface="Times New Roman"/>
                <a:ea typeface="Times New Roman"/>
                <a:cs typeface="Times New Roman"/>
                <a:sym typeface="Times New Roman"/>
              </a:rPr>
              <a:t>Little </a:t>
            </a:r>
            <a:r>
              <a:rPr lang="en-US">
                <a:latin typeface="Times New Roman"/>
                <a:ea typeface="Times New Roman"/>
                <a:cs typeface="Times New Roman"/>
                <a:sym typeface="Times New Roman"/>
              </a:rPr>
              <a:t>end" (least significant value in the sequence) is stored first (at the lowest storage address).</a:t>
            </a:r>
            <a:endParaRPr>
              <a:latin typeface="Times New Roman"/>
              <a:ea typeface="Times New Roman"/>
              <a:cs typeface="Times New Roman"/>
              <a:sym typeface="Times New Roman"/>
            </a:endParaRPr>
          </a:p>
        </p:txBody>
      </p:sp>
      <p:sp>
        <p:nvSpPr>
          <p:cNvPr id="673" name="Google Shape;673;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49</a:t>
            </a:fld>
            <a:endParaRPr/>
          </a:p>
        </p:txBody>
      </p:sp>
      <p:sp>
        <p:nvSpPr>
          <p:cNvPr id="674" name="Google Shape;674;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D0B47A6A-1A09-4705-8BE1-66FD14A96B1B}" type="datetime1">
              <a:rPr lang="en-US" smtClean="0"/>
              <a:t>8/12/2024</a:t>
            </a:fld>
            <a:endParaRPr/>
          </a:p>
        </p:txBody>
      </p:sp>
      <p:sp>
        <p:nvSpPr>
          <p:cNvPr id="675" name="Google Shape;675;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pic>
        <p:nvPicPr>
          <p:cNvPr id="680" name="Google Shape;680;p64"/>
          <p:cNvPicPr preferRelativeResize="0"/>
          <p:nvPr/>
        </p:nvPicPr>
        <p:blipFill rotWithShape="1">
          <a:blip r:embed="rId3">
            <a:alphaModFix/>
          </a:blip>
          <a:srcRect/>
          <a:stretch/>
        </p:blipFill>
        <p:spPr>
          <a:xfrm>
            <a:off x="1524000" y="1819275"/>
            <a:ext cx="9144000" cy="3219450"/>
          </a:xfrm>
          <a:prstGeom prst="rect">
            <a:avLst/>
          </a:prstGeom>
          <a:noFill/>
          <a:ln>
            <a:noFill/>
          </a:ln>
        </p:spPr>
      </p:pic>
      <p:sp>
        <p:nvSpPr>
          <p:cNvPr id="681" name="Google Shape;681;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50</a:t>
            </a:fld>
            <a:endParaRPr/>
          </a:p>
        </p:txBody>
      </p:sp>
      <p:sp>
        <p:nvSpPr>
          <p:cNvPr id="682" name="Google Shape;682;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AEDEF3AC-5A72-4664-ADB6-DFF49F944656}" type="datetime1">
              <a:rPr lang="en-US" smtClean="0"/>
              <a:t>8/12/2024</a:t>
            </a:fld>
            <a:endParaRPr/>
          </a:p>
        </p:txBody>
      </p:sp>
      <p:sp>
        <p:nvSpPr>
          <p:cNvPr id="683" name="Google Shape;683;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65"/>
          <p:cNvSpPr txBox="1">
            <a:spLocks noGrp="1"/>
          </p:cNvSpPr>
          <p:nvPr>
            <p:ph type="title"/>
          </p:nvPr>
        </p:nvSpPr>
        <p:spPr>
          <a:xfrm>
            <a:off x="609600" y="685800"/>
            <a:ext cx="109728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Times New Roman"/>
                <a:ea typeface="Times New Roman"/>
                <a:cs typeface="Times New Roman"/>
                <a:sym typeface="Times New Roman"/>
              </a:rPr>
              <a:t>Assignment of byte addresses</a:t>
            </a:r>
            <a:endParaRPr>
              <a:latin typeface="Times New Roman"/>
              <a:ea typeface="Times New Roman"/>
              <a:cs typeface="Times New Roman"/>
              <a:sym typeface="Times New Roman"/>
            </a:endParaRPr>
          </a:p>
        </p:txBody>
      </p:sp>
      <p:sp>
        <p:nvSpPr>
          <p:cNvPr id="689" name="Google Shape;689;p65"/>
          <p:cNvSpPr txBox="1">
            <a:spLocks noGrp="1"/>
          </p:cNvSpPr>
          <p:nvPr>
            <p:ph type="body" idx="1"/>
          </p:nvPr>
        </p:nvSpPr>
        <p:spPr>
          <a:xfrm>
            <a:off x="406400" y="2011363"/>
            <a:ext cx="11785600" cy="452596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80000"/>
              </a:lnSpc>
              <a:spcBef>
                <a:spcPts val="0"/>
              </a:spcBef>
              <a:spcAft>
                <a:spcPts val="0"/>
              </a:spcAft>
              <a:buClr>
                <a:schemeClr val="dk1"/>
              </a:buClr>
              <a:buSzPct val="100000"/>
              <a:buChar char="•"/>
            </a:pPr>
            <a:r>
              <a:rPr lang="en-US" sz="2000"/>
              <a:t> </a:t>
            </a:r>
            <a:r>
              <a:rPr lang="en-US" sz="2800">
                <a:latin typeface="Times New Roman"/>
                <a:ea typeface="Times New Roman"/>
                <a:cs typeface="Times New Roman"/>
                <a:sym typeface="Times New Roman"/>
              </a:rPr>
              <a:t>Little Endian (e.g., in DEC, Intel)</a:t>
            </a:r>
            <a:endParaRPr>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ct val="100000"/>
              <a:buFont typeface="Calibri"/>
              <a:buNone/>
            </a:pPr>
            <a:r>
              <a:rPr lang="en-US" sz="2800">
                <a:latin typeface="Times New Roman"/>
                <a:ea typeface="Times New Roman"/>
                <a:cs typeface="Times New Roman"/>
                <a:sym typeface="Times New Roman"/>
              </a:rPr>
              <a:t>	» low order byte stored at lowest address</a:t>
            </a:r>
            <a:endParaRPr>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ct val="100000"/>
              <a:buFont typeface="Calibri"/>
              <a:buNone/>
            </a:pPr>
            <a:r>
              <a:rPr lang="en-US" sz="2800">
                <a:latin typeface="Times New Roman"/>
                <a:ea typeface="Times New Roman"/>
                <a:cs typeface="Times New Roman"/>
                <a:sym typeface="Times New Roman"/>
              </a:rPr>
              <a:t>	» byte0 byte1 byte2 byte3</a:t>
            </a:r>
            <a:endParaRPr>
              <a:latin typeface="Times New Roman"/>
              <a:ea typeface="Times New Roman"/>
              <a:cs typeface="Times New Roman"/>
              <a:sym typeface="Times New Roman"/>
            </a:endParaRPr>
          </a:p>
          <a:p>
            <a:pPr marL="228600" lvl="0" indent="-64135" algn="l" rtl="0">
              <a:lnSpc>
                <a:spcPct val="80000"/>
              </a:lnSpc>
              <a:spcBef>
                <a:spcPts val="1000"/>
              </a:spcBef>
              <a:spcAft>
                <a:spcPts val="0"/>
              </a:spcAft>
              <a:buClr>
                <a:schemeClr val="dk1"/>
              </a:buClr>
              <a:buSzPct val="100000"/>
              <a:buNone/>
            </a:pPr>
            <a:endParaRPr sz="2800">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ct val="100000"/>
              <a:buChar char="•"/>
            </a:pPr>
            <a:r>
              <a:rPr lang="en-US" sz="2800">
                <a:latin typeface="Times New Roman"/>
                <a:ea typeface="Times New Roman"/>
                <a:cs typeface="Times New Roman"/>
                <a:sym typeface="Times New Roman"/>
              </a:rPr>
              <a:t>Eg: 46,78,96,54 (32 bit data)</a:t>
            </a:r>
            <a:endParaRPr>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ct val="100000"/>
              <a:buChar char="•"/>
            </a:pPr>
            <a:r>
              <a:rPr lang="en-US" sz="2000">
                <a:latin typeface="Times New Roman"/>
                <a:ea typeface="Times New Roman"/>
                <a:cs typeface="Times New Roman"/>
                <a:sym typeface="Times New Roman"/>
              </a:rPr>
              <a:t>H BYTE		L BYTE</a:t>
            </a:r>
            <a:endParaRPr>
              <a:latin typeface="Times New Roman"/>
              <a:ea typeface="Times New Roman"/>
              <a:cs typeface="Times New Roman"/>
              <a:sym typeface="Times New Roman"/>
            </a:endParaRPr>
          </a:p>
          <a:p>
            <a:pPr marL="228600" lvl="0" indent="-111125" algn="l" rtl="0">
              <a:lnSpc>
                <a:spcPct val="80000"/>
              </a:lnSpc>
              <a:spcBef>
                <a:spcPts val="1000"/>
              </a:spcBef>
              <a:spcAft>
                <a:spcPts val="0"/>
              </a:spcAft>
              <a:buClr>
                <a:schemeClr val="dk1"/>
              </a:buClr>
              <a:buSzPct val="100000"/>
              <a:buNone/>
            </a:pPr>
            <a:endParaRPr sz="2000">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ct val="100000"/>
              <a:buChar char="•"/>
            </a:pPr>
            <a:r>
              <a:rPr lang="en-US" sz="2000">
                <a:latin typeface="Times New Roman"/>
                <a:ea typeface="Times New Roman"/>
                <a:cs typeface="Times New Roman"/>
                <a:sym typeface="Times New Roman"/>
              </a:rPr>
              <a:t>8000</a:t>
            </a:r>
            <a:endParaRPr>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ct val="100000"/>
              <a:buChar char="•"/>
            </a:pPr>
            <a:r>
              <a:rPr lang="en-US" sz="2000">
                <a:latin typeface="Times New Roman"/>
                <a:ea typeface="Times New Roman"/>
                <a:cs typeface="Times New Roman"/>
                <a:sym typeface="Times New Roman"/>
              </a:rPr>
              <a:t>8001	</a:t>
            </a:r>
            <a:endParaRPr>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ct val="100000"/>
              <a:buChar char="•"/>
            </a:pPr>
            <a:r>
              <a:rPr lang="en-US" sz="2000">
                <a:latin typeface="Times New Roman"/>
                <a:ea typeface="Times New Roman"/>
                <a:cs typeface="Times New Roman"/>
                <a:sym typeface="Times New Roman"/>
              </a:rPr>
              <a:t>8002</a:t>
            </a:r>
            <a:endParaRPr>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ct val="100000"/>
              <a:buChar char="•"/>
            </a:pPr>
            <a:r>
              <a:rPr lang="en-US" sz="2000">
                <a:latin typeface="Times New Roman"/>
                <a:ea typeface="Times New Roman"/>
                <a:cs typeface="Times New Roman"/>
                <a:sym typeface="Times New Roman"/>
              </a:rPr>
              <a:t>8003</a:t>
            </a:r>
            <a:endParaRPr sz="2000">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ct val="100000"/>
              <a:buChar char="•"/>
            </a:pPr>
            <a:r>
              <a:rPr lang="en-US" sz="2000">
                <a:latin typeface="Times New Roman"/>
                <a:ea typeface="Times New Roman"/>
                <a:cs typeface="Times New Roman"/>
                <a:sym typeface="Times New Roman"/>
              </a:rPr>
              <a:t>8004</a:t>
            </a:r>
            <a:r>
              <a:rPr lang="en-US" sz="2000"/>
              <a:t/>
            </a:r>
            <a:br>
              <a:rPr lang="en-US" sz="2000"/>
            </a:br>
            <a:endParaRPr sz="2000"/>
          </a:p>
          <a:p>
            <a:pPr marL="228600" lvl="0" indent="-228600" algn="l" rtl="0">
              <a:lnSpc>
                <a:spcPct val="80000"/>
              </a:lnSpc>
              <a:spcBef>
                <a:spcPts val="1000"/>
              </a:spcBef>
              <a:spcAft>
                <a:spcPts val="0"/>
              </a:spcAft>
              <a:buClr>
                <a:schemeClr val="dk1"/>
              </a:buClr>
              <a:buSzPct val="100000"/>
              <a:buFont typeface="Calibri"/>
              <a:buNone/>
            </a:pPr>
            <a:endParaRPr sz="2000"/>
          </a:p>
        </p:txBody>
      </p:sp>
      <p:graphicFrame>
        <p:nvGraphicFramePr>
          <p:cNvPr id="690" name="Google Shape;690;p65"/>
          <p:cNvGraphicFramePr/>
          <p:nvPr/>
        </p:nvGraphicFramePr>
        <p:xfrm>
          <a:off x="4165600" y="4297362"/>
          <a:ext cx="914400" cy="1981250"/>
        </p:xfrm>
        <a:graphic>
          <a:graphicData uri="http://schemas.openxmlformats.org/drawingml/2006/table">
            <a:tbl>
              <a:tblPr>
                <a:noFill/>
                <a:tableStyleId>{F0D5522F-2F3A-486E-AB3A-618C38F1D610}</a:tableStyleId>
              </a:tblPr>
              <a:tblGrid>
                <a:gridCol w="914400">
                  <a:extLst>
                    <a:ext uri="{9D8B030D-6E8A-4147-A177-3AD203B41FA5}">
                      <a16:colId xmlns:a16="http://schemas.microsoft.com/office/drawing/2014/main" xmlns="" val="20000"/>
                    </a:ext>
                  </a:extLst>
                </a:gridCol>
              </a:tblGrid>
              <a:tr h="180975">
                <a:tc>
                  <a:txBody>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54</a:t>
                      </a:r>
                      <a:endParaRPr sz="1800" u="none" strike="noStrike" cap="none"/>
                    </a:p>
                  </a:txBody>
                  <a:tcPr marL="121925" marR="121925"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0"/>
                  </a:ext>
                </a:extLst>
              </a:tr>
              <a:tr h="190500">
                <a:tc>
                  <a:txBody>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96</a:t>
                      </a:r>
                      <a:endParaRPr sz="1800" u="none" strike="noStrike" cap="none"/>
                    </a:p>
                  </a:txBody>
                  <a:tcPr marL="121925" marR="121925"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1"/>
                  </a:ext>
                </a:extLst>
              </a:tr>
              <a:tr h="190500">
                <a:tc>
                  <a:txBody>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78</a:t>
                      </a:r>
                      <a:endParaRPr sz="1800" u="none" strike="noStrike" cap="none"/>
                    </a:p>
                  </a:txBody>
                  <a:tcPr marL="121925" marR="121925"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2"/>
                  </a:ext>
                </a:extLst>
              </a:tr>
              <a:tr h="190500">
                <a:tc>
                  <a:txBody>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46</a:t>
                      </a:r>
                      <a:endParaRPr sz="1800" u="none" strike="noStrike" cap="none"/>
                    </a:p>
                  </a:txBody>
                  <a:tcPr marL="121925" marR="121925"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xmlns="" val="10003"/>
                  </a:ext>
                </a:extLst>
              </a:tr>
              <a:tr h="368300">
                <a:tc>
                  <a:txBody>
                    <a:bodyPr/>
                    <a:lstStyle/>
                    <a:p>
                      <a:pPr marL="0" marR="0" lvl="0" indent="0" algn="l" rtl="0">
                        <a:lnSpc>
                          <a:spcPct val="100000"/>
                        </a:lnSpc>
                        <a:spcBef>
                          <a:spcPts val="0"/>
                        </a:spcBef>
                        <a:spcAft>
                          <a:spcPts val="0"/>
                        </a:spcAft>
                        <a:buClr>
                          <a:schemeClr val="dk1"/>
                        </a:buClr>
                        <a:buSzPts val="2800"/>
                        <a:buFont typeface="Arial"/>
                        <a:buNone/>
                      </a:pPr>
                      <a:r>
                        <a:rPr lang="en-US" sz="2800" b="0" i="0" u="none" strike="noStrike" cap="none">
                          <a:solidFill>
                            <a:schemeClr val="dk1"/>
                          </a:solidFill>
                          <a:latin typeface="Arial"/>
                          <a:ea typeface="Arial"/>
                          <a:cs typeface="Arial"/>
                          <a:sym typeface="Arial"/>
                        </a:rPr>
                        <a:t>|</a:t>
                      </a:r>
                      <a:endParaRPr sz="1800" u="none" strike="noStrike" cap="none"/>
                    </a:p>
                  </a:txBody>
                  <a:tcPr marL="121925" marR="121925" marT="45725" marB="45725">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xmlns="" val="10004"/>
                  </a:ext>
                </a:extLst>
              </a:tr>
            </a:tbl>
          </a:graphicData>
        </a:graphic>
      </p:graphicFrame>
      <p:cxnSp>
        <p:nvCxnSpPr>
          <p:cNvPr id="691" name="Google Shape;691;p65"/>
          <p:cNvCxnSpPr/>
          <p:nvPr/>
        </p:nvCxnSpPr>
        <p:spPr>
          <a:xfrm rot="10800000">
            <a:off x="2336800" y="4297362"/>
            <a:ext cx="1625600" cy="0"/>
          </a:xfrm>
          <a:prstGeom prst="straightConnector1">
            <a:avLst/>
          </a:prstGeom>
          <a:noFill/>
          <a:ln w="9525" cap="flat" cmpd="sng">
            <a:solidFill>
              <a:schemeClr val="dk1"/>
            </a:solidFill>
            <a:prstDash val="solid"/>
            <a:round/>
            <a:headEnd type="none" w="sm" len="sm"/>
            <a:tailEnd type="triangle" w="med" len="med"/>
          </a:ln>
        </p:spPr>
      </p:cxnSp>
      <p:sp>
        <p:nvSpPr>
          <p:cNvPr id="692" name="Google Shape;692;p65"/>
          <p:cNvSpPr txBox="1">
            <a:spLocks noGrp="1"/>
          </p:cNvSpPr>
          <p:nvPr>
            <p:ph type="sldNum" idx="12"/>
          </p:nvPr>
        </p:nvSpPr>
        <p:spPr>
          <a:xfrm>
            <a:off x="8737600" y="6245225"/>
            <a:ext cx="2844800" cy="476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51</a:t>
            </a:fld>
            <a:endParaRPr/>
          </a:p>
        </p:txBody>
      </p:sp>
      <p:sp>
        <p:nvSpPr>
          <p:cNvPr id="693" name="Google Shape;693;p65"/>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888888"/>
              </a:buClr>
              <a:buSzPts val="1400"/>
              <a:buFont typeface="Calibri"/>
              <a:buNone/>
            </a:pPr>
            <a:fld id="{EE30EA19-360E-4710-8E73-361155EB6BB9}" type="datetime1">
              <a:rPr lang="en-US" smtClean="0"/>
              <a:t>8/12/2024</a:t>
            </a:fld>
            <a:endParaRPr/>
          </a:p>
        </p:txBody>
      </p:sp>
      <p:sp>
        <p:nvSpPr>
          <p:cNvPr id="694" name="Google Shape;694;p6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888888"/>
              </a:buClr>
              <a:buSzPts val="1400"/>
              <a:buFont typeface="Calibri"/>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9">
                                            <p:txEl>
                                              <p:pRg st="0" end="0"/>
                                            </p:txEl>
                                          </p:spTgt>
                                        </p:tgtEl>
                                        <p:attrNameLst>
                                          <p:attrName>style.visibility</p:attrName>
                                        </p:attrNameLst>
                                      </p:cBhvr>
                                      <p:to>
                                        <p:strVal val="visible"/>
                                      </p:to>
                                    </p:set>
                                    <p:animEffect transition="in" filter="fade">
                                      <p:cBhvr>
                                        <p:cTn id="7" dur="500"/>
                                        <p:tgtEl>
                                          <p:spTgt spid="6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89">
                                            <p:txEl>
                                              <p:pRg st="1" end="1"/>
                                            </p:txEl>
                                          </p:spTgt>
                                        </p:tgtEl>
                                        <p:attrNameLst>
                                          <p:attrName>style.visibility</p:attrName>
                                        </p:attrNameLst>
                                      </p:cBhvr>
                                      <p:to>
                                        <p:strVal val="visible"/>
                                      </p:to>
                                    </p:set>
                                    <p:animEffect transition="in" filter="fade">
                                      <p:cBhvr>
                                        <p:cTn id="12" dur="500"/>
                                        <p:tgtEl>
                                          <p:spTgt spid="6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89">
                                            <p:txEl>
                                              <p:pRg st="2" end="2"/>
                                            </p:txEl>
                                          </p:spTgt>
                                        </p:tgtEl>
                                        <p:attrNameLst>
                                          <p:attrName>style.visibility</p:attrName>
                                        </p:attrNameLst>
                                      </p:cBhvr>
                                      <p:to>
                                        <p:strVal val="visible"/>
                                      </p:to>
                                    </p:set>
                                    <p:animEffect transition="in" filter="fade">
                                      <p:cBhvr>
                                        <p:cTn id="17" dur="500"/>
                                        <p:tgtEl>
                                          <p:spTgt spid="6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89">
                                            <p:txEl>
                                              <p:pRg st="3" end="3"/>
                                            </p:txEl>
                                          </p:spTgt>
                                        </p:tgtEl>
                                        <p:attrNameLst>
                                          <p:attrName>style.visibility</p:attrName>
                                        </p:attrNameLst>
                                      </p:cBhvr>
                                      <p:to>
                                        <p:strVal val="visible"/>
                                      </p:to>
                                    </p:set>
                                    <p:animEffect transition="in" filter="fade">
                                      <p:cBhvr>
                                        <p:cTn id="22" dur="500"/>
                                        <p:tgtEl>
                                          <p:spTgt spid="6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89">
                                            <p:txEl>
                                              <p:pRg st="4" end="4"/>
                                            </p:txEl>
                                          </p:spTgt>
                                        </p:tgtEl>
                                        <p:attrNameLst>
                                          <p:attrName>style.visibility</p:attrName>
                                        </p:attrNameLst>
                                      </p:cBhvr>
                                      <p:to>
                                        <p:strVal val="visible"/>
                                      </p:to>
                                    </p:set>
                                    <p:animEffect transition="in" filter="fade">
                                      <p:cBhvr>
                                        <p:cTn id="27" dur="500"/>
                                        <p:tgtEl>
                                          <p:spTgt spid="68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89">
                                            <p:txEl>
                                              <p:pRg st="5" end="5"/>
                                            </p:txEl>
                                          </p:spTgt>
                                        </p:tgtEl>
                                        <p:attrNameLst>
                                          <p:attrName>style.visibility</p:attrName>
                                        </p:attrNameLst>
                                      </p:cBhvr>
                                      <p:to>
                                        <p:strVal val="visible"/>
                                      </p:to>
                                    </p:set>
                                    <p:animEffect transition="in" filter="fade">
                                      <p:cBhvr>
                                        <p:cTn id="32" dur="500"/>
                                        <p:tgtEl>
                                          <p:spTgt spid="68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89">
                                            <p:txEl>
                                              <p:pRg st="6" end="6"/>
                                            </p:txEl>
                                          </p:spTgt>
                                        </p:tgtEl>
                                        <p:attrNameLst>
                                          <p:attrName>style.visibility</p:attrName>
                                        </p:attrNameLst>
                                      </p:cBhvr>
                                      <p:to>
                                        <p:strVal val="visible"/>
                                      </p:to>
                                    </p:set>
                                    <p:animEffect transition="in" filter="fade">
                                      <p:cBhvr>
                                        <p:cTn id="37" dur="500"/>
                                        <p:tgtEl>
                                          <p:spTgt spid="68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89">
                                            <p:txEl>
                                              <p:pRg st="7" end="7"/>
                                            </p:txEl>
                                          </p:spTgt>
                                        </p:tgtEl>
                                        <p:attrNameLst>
                                          <p:attrName>style.visibility</p:attrName>
                                        </p:attrNameLst>
                                      </p:cBhvr>
                                      <p:to>
                                        <p:strVal val="visible"/>
                                      </p:to>
                                    </p:set>
                                    <p:animEffect transition="in" filter="fade">
                                      <p:cBhvr>
                                        <p:cTn id="42" dur="500"/>
                                        <p:tgtEl>
                                          <p:spTgt spid="68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89">
                                            <p:txEl>
                                              <p:pRg st="8" end="8"/>
                                            </p:txEl>
                                          </p:spTgt>
                                        </p:tgtEl>
                                        <p:attrNameLst>
                                          <p:attrName>style.visibility</p:attrName>
                                        </p:attrNameLst>
                                      </p:cBhvr>
                                      <p:to>
                                        <p:strVal val="visible"/>
                                      </p:to>
                                    </p:set>
                                    <p:animEffect transition="in" filter="fade">
                                      <p:cBhvr>
                                        <p:cTn id="47" dur="500"/>
                                        <p:tgtEl>
                                          <p:spTgt spid="68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89">
                                            <p:txEl>
                                              <p:pRg st="9" end="9"/>
                                            </p:txEl>
                                          </p:spTgt>
                                        </p:tgtEl>
                                        <p:attrNameLst>
                                          <p:attrName>style.visibility</p:attrName>
                                        </p:attrNameLst>
                                      </p:cBhvr>
                                      <p:to>
                                        <p:strVal val="visible"/>
                                      </p:to>
                                    </p:set>
                                    <p:animEffect transition="in" filter="fade">
                                      <p:cBhvr>
                                        <p:cTn id="52" dur="500"/>
                                        <p:tgtEl>
                                          <p:spTgt spid="68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89">
                                            <p:txEl>
                                              <p:pRg st="10" end="10"/>
                                            </p:txEl>
                                          </p:spTgt>
                                        </p:tgtEl>
                                        <p:attrNameLst>
                                          <p:attrName>style.visibility</p:attrName>
                                        </p:attrNameLst>
                                      </p:cBhvr>
                                      <p:to>
                                        <p:strVal val="visible"/>
                                      </p:to>
                                    </p:set>
                                    <p:animEffect transition="in" filter="fade">
                                      <p:cBhvr>
                                        <p:cTn id="57" dur="500"/>
                                        <p:tgtEl>
                                          <p:spTgt spid="68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89">
                                            <p:txEl>
                                              <p:pRg st="11" end="11"/>
                                            </p:txEl>
                                          </p:spTgt>
                                        </p:tgtEl>
                                        <p:attrNameLst>
                                          <p:attrName>style.visibility</p:attrName>
                                        </p:attrNameLst>
                                      </p:cBhvr>
                                      <p:to>
                                        <p:strVal val="visible"/>
                                      </p:to>
                                    </p:set>
                                    <p:animEffect transition="in" filter="fade">
                                      <p:cBhvr>
                                        <p:cTn id="62" dur="500"/>
                                        <p:tgtEl>
                                          <p:spTgt spid="68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89">
                                            <p:txEl>
                                              <p:pRg st="12" end="12"/>
                                            </p:txEl>
                                          </p:spTgt>
                                        </p:tgtEl>
                                        <p:attrNameLst>
                                          <p:attrName>style.visibility</p:attrName>
                                        </p:attrNameLst>
                                      </p:cBhvr>
                                      <p:to>
                                        <p:strVal val="visible"/>
                                      </p:to>
                                    </p:set>
                                    <p:animEffect transition="in" filter="fade">
                                      <p:cBhvr>
                                        <p:cTn id="67" dur="500"/>
                                        <p:tgtEl>
                                          <p:spTgt spid="689">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690"/>
                                        </p:tgtEl>
                                        <p:attrNameLst>
                                          <p:attrName>style.visibility</p:attrName>
                                        </p:attrNameLst>
                                      </p:cBhvr>
                                      <p:to>
                                        <p:strVal val="visible"/>
                                      </p:to>
                                    </p:set>
                                    <p:anim calcmode="lin" valueType="num">
                                      <p:cBhvr additive="base">
                                        <p:cTn id="72" dur="500"/>
                                        <p:tgtEl>
                                          <p:spTgt spid="6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66"/>
          <p:cNvSpPr txBox="1">
            <a:spLocks noGrp="1"/>
          </p:cNvSpPr>
          <p:nvPr>
            <p:ph type="title"/>
          </p:nvPr>
        </p:nvSpPr>
        <p:spPr>
          <a:xfrm>
            <a:off x="609600" y="777875"/>
            <a:ext cx="109728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Times New Roman"/>
                <a:ea typeface="Times New Roman"/>
                <a:cs typeface="Times New Roman"/>
                <a:sym typeface="Times New Roman"/>
              </a:rPr>
              <a:t>Big Endian</a:t>
            </a:r>
            <a:endParaRPr>
              <a:latin typeface="Times New Roman"/>
              <a:ea typeface="Times New Roman"/>
              <a:cs typeface="Times New Roman"/>
              <a:sym typeface="Times New Roman"/>
            </a:endParaRPr>
          </a:p>
        </p:txBody>
      </p:sp>
      <p:sp>
        <p:nvSpPr>
          <p:cNvPr id="700" name="Google Shape;700;p66"/>
          <p:cNvSpPr txBox="1">
            <a:spLocks noGrp="1"/>
          </p:cNvSpPr>
          <p:nvPr>
            <p:ph type="body" idx="1"/>
          </p:nvPr>
        </p:nvSpPr>
        <p:spPr>
          <a:xfrm>
            <a:off x="609600" y="2103438"/>
            <a:ext cx="10972800" cy="452596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Big Endian (e.g., in IBM, Motorolla, Sun, HP)</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Font typeface="Calibri"/>
              <a:buNone/>
            </a:pPr>
            <a:r>
              <a:rPr lang="en-US">
                <a:latin typeface="Times New Roman"/>
                <a:ea typeface="Times New Roman"/>
                <a:cs typeface="Times New Roman"/>
                <a:sym typeface="Times New Roman"/>
              </a:rPr>
              <a:t>	» high order byte stored at lowest address</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Font typeface="Calibri"/>
              <a:buNone/>
            </a:pPr>
            <a:r>
              <a:rPr lang="en-US">
                <a:latin typeface="Times New Roman"/>
                <a:ea typeface="Times New Roman"/>
                <a:cs typeface="Times New Roman"/>
                <a:sym typeface="Times New Roman"/>
              </a:rPr>
              <a:t>	» byte3 byte2 byte1 byte0</a:t>
            </a:r>
            <a:endParaRPr>
              <a:latin typeface="Times New Roman"/>
              <a:ea typeface="Times New Roman"/>
              <a:cs typeface="Times New Roman"/>
              <a:sym typeface="Times New Roman"/>
            </a:endParaRPr>
          </a:p>
          <a:p>
            <a:pPr marL="228600" lvl="0" indent="-508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 Programmers/protocols should be careful when transferring binary data between Big Endian and Little Endian machines</a:t>
            </a:r>
            <a:endParaRPr>
              <a:latin typeface="Times New Roman"/>
              <a:ea typeface="Times New Roman"/>
              <a:cs typeface="Times New Roman"/>
              <a:sym typeface="Times New Roman"/>
            </a:endParaRPr>
          </a:p>
          <a:p>
            <a:pPr marL="228600" lvl="0" indent="-50800" algn="just"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701" name="Google Shape;701;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52</a:t>
            </a:fld>
            <a:endParaRPr/>
          </a:p>
        </p:txBody>
      </p:sp>
      <p:sp>
        <p:nvSpPr>
          <p:cNvPr id="702" name="Google Shape;702;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A1DAAF3B-39DF-448D-91F0-0D7FEB5C001C}" type="datetime1">
              <a:rPr lang="en-US" smtClean="0"/>
              <a:t>8/12/2024</a:t>
            </a:fld>
            <a:endParaRPr/>
          </a:p>
        </p:txBody>
      </p:sp>
      <p:sp>
        <p:nvSpPr>
          <p:cNvPr id="703" name="Google Shape;703;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67"/>
          <p:cNvSpPr txBox="1">
            <a:spLocks noGrp="1"/>
          </p:cNvSpPr>
          <p:nvPr>
            <p:ph type="title" idx="4294967295"/>
          </p:nvPr>
        </p:nvSpPr>
        <p:spPr>
          <a:xfrm>
            <a:off x="0" y="685800"/>
            <a:ext cx="116840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Times New Roman"/>
                <a:ea typeface="Times New Roman"/>
                <a:cs typeface="Times New Roman"/>
                <a:sym typeface="Times New Roman"/>
              </a:rPr>
              <a:t>Big-Endian and Little-Endian Assignments</a:t>
            </a:r>
            <a:endParaRPr>
              <a:latin typeface="Times New Roman"/>
              <a:ea typeface="Times New Roman"/>
              <a:cs typeface="Times New Roman"/>
              <a:sym typeface="Times New Roman"/>
            </a:endParaRPr>
          </a:p>
        </p:txBody>
      </p:sp>
      <p:sp>
        <p:nvSpPr>
          <p:cNvPr id="711" name="Google Shape;711;p67"/>
          <p:cNvSpPr/>
          <p:nvPr/>
        </p:nvSpPr>
        <p:spPr>
          <a:xfrm>
            <a:off x="2330451" y="2976563"/>
            <a:ext cx="3196167" cy="3116262"/>
          </a:xfrm>
          <a:prstGeom prst="rect">
            <a:avLst/>
          </a:prstGeom>
          <a:noFill/>
          <a:ln w="19050" cap="flat" cmpd="sng">
            <a:solidFill>
              <a:srgbClr val="00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712" name="Google Shape;712;p67"/>
          <p:cNvCxnSpPr/>
          <p:nvPr/>
        </p:nvCxnSpPr>
        <p:spPr>
          <a:xfrm flipH="1">
            <a:off x="2330451" y="3448050"/>
            <a:ext cx="3196167" cy="1588"/>
          </a:xfrm>
          <a:prstGeom prst="straightConnector1">
            <a:avLst/>
          </a:prstGeom>
          <a:noFill/>
          <a:ln w="19050" cap="flat" cmpd="sng">
            <a:solidFill>
              <a:srgbClr val="00FFFF"/>
            </a:solidFill>
            <a:prstDash val="solid"/>
            <a:round/>
            <a:headEnd type="none" w="sm" len="sm"/>
            <a:tailEnd type="none" w="sm" len="sm"/>
          </a:ln>
        </p:spPr>
      </p:cxnSp>
      <p:cxnSp>
        <p:nvCxnSpPr>
          <p:cNvPr id="713" name="Google Shape;713;p67"/>
          <p:cNvCxnSpPr/>
          <p:nvPr/>
        </p:nvCxnSpPr>
        <p:spPr>
          <a:xfrm flipH="1">
            <a:off x="2330451" y="3940175"/>
            <a:ext cx="3196167" cy="1588"/>
          </a:xfrm>
          <a:prstGeom prst="straightConnector1">
            <a:avLst/>
          </a:prstGeom>
          <a:noFill/>
          <a:ln w="19050" cap="flat" cmpd="sng">
            <a:solidFill>
              <a:srgbClr val="00FFFF"/>
            </a:solidFill>
            <a:prstDash val="solid"/>
            <a:round/>
            <a:headEnd type="none" w="sm" len="sm"/>
            <a:tailEnd type="none" w="sm" len="sm"/>
          </a:ln>
        </p:spPr>
      </p:cxnSp>
      <p:cxnSp>
        <p:nvCxnSpPr>
          <p:cNvPr id="714" name="Google Shape;714;p67"/>
          <p:cNvCxnSpPr/>
          <p:nvPr/>
        </p:nvCxnSpPr>
        <p:spPr>
          <a:xfrm rot="10800000" flipH="1">
            <a:off x="3134785" y="2976563"/>
            <a:ext cx="2116" cy="963612"/>
          </a:xfrm>
          <a:prstGeom prst="straightConnector1">
            <a:avLst/>
          </a:prstGeom>
          <a:noFill/>
          <a:ln w="19050" cap="flat" cmpd="sng">
            <a:solidFill>
              <a:srgbClr val="00FFFF"/>
            </a:solidFill>
            <a:prstDash val="solid"/>
            <a:round/>
            <a:headEnd type="none" w="sm" len="sm"/>
            <a:tailEnd type="none" w="sm" len="sm"/>
          </a:ln>
        </p:spPr>
      </p:cxnSp>
      <p:cxnSp>
        <p:nvCxnSpPr>
          <p:cNvPr id="715" name="Google Shape;715;p67"/>
          <p:cNvCxnSpPr/>
          <p:nvPr/>
        </p:nvCxnSpPr>
        <p:spPr>
          <a:xfrm rot="10800000" flipH="1">
            <a:off x="3915834" y="2976563"/>
            <a:ext cx="2117" cy="963612"/>
          </a:xfrm>
          <a:prstGeom prst="straightConnector1">
            <a:avLst/>
          </a:prstGeom>
          <a:noFill/>
          <a:ln w="19050" cap="flat" cmpd="sng">
            <a:solidFill>
              <a:srgbClr val="00FFFF"/>
            </a:solidFill>
            <a:prstDash val="solid"/>
            <a:round/>
            <a:headEnd type="none" w="sm" len="sm"/>
            <a:tailEnd type="none" w="sm" len="sm"/>
          </a:ln>
        </p:spPr>
      </p:cxnSp>
      <p:cxnSp>
        <p:nvCxnSpPr>
          <p:cNvPr id="716" name="Google Shape;716;p67"/>
          <p:cNvCxnSpPr/>
          <p:nvPr/>
        </p:nvCxnSpPr>
        <p:spPr>
          <a:xfrm rot="10800000" flipH="1">
            <a:off x="4722285" y="2976563"/>
            <a:ext cx="2116" cy="963612"/>
          </a:xfrm>
          <a:prstGeom prst="straightConnector1">
            <a:avLst/>
          </a:prstGeom>
          <a:noFill/>
          <a:ln w="19050" cap="flat" cmpd="sng">
            <a:solidFill>
              <a:srgbClr val="00FFFF"/>
            </a:solidFill>
            <a:prstDash val="solid"/>
            <a:round/>
            <a:headEnd type="none" w="sm" len="sm"/>
            <a:tailEnd type="none" w="sm" len="sm"/>
          </a:ln>
        </p:spPr>
      </p:cxnSp>
      <p:cxnSp>
        <p:nvCxnSpPr>
          <p:cNvPr id="717" name="Google Shape;717;p67"/>
          <p:cNvCxnSpPr/>
          <p:nvPr/>
        </p:nvCxnSpPr>
        <p:spPr>
          <a:xfrm flipH="1">
            <a:off x="2330451" y="5621339"/>
            <a:ext cx="3196167" cy="1587"/>
          </a:xfrm>
          <a:prstGeom prst="straightConnector1">
            <a:avLst/>
          </a:prstGeom>
          <a:noFill/>
          <a:ln w="19050" cap="flat" cmpd="sng">
            <a:solidFill>
              <a:srgbClr val="00FFFF"/>
            </a:solidFill>
            <a:prstDash val="solid"/>
            <a:round/>
            <a:headEnd type="none" w="sm" len="sm"/>
            <a:tailEnd type="none" w="sm" len="sm"/>
          </a:ln>
        </p:spPr>
      </p:cxnSp>
      <p:cxnSp>
        <p:nvCxnSpPr>
          <p:cNvPr id="718" name="Google Shape;718;p67"/>
          <p:cNvCxnSpPr/>
          <p:nvPr/>
        </p:nvCxnSpPr>
        <p:spPr>
          <a:xfrm rot="10800000" flipH="1">
            <a:off x="3134785" y="5621339"/>
            <a:ext cx="2116" cy="471487"/>
          </a:xfrm>
          <a:prstGeom prst="straightConnector1">
            <a:avLst/>
          </a:prstGeom>
          <a:noFill/>
          <a:ln w="19050" cap="flat" cmpd="sng">
            <a:solidFill>
              <a:srgbClr val="00FFFF"/>
            </a:solidFill>
            <a:prstDash val="solid"/>
            <a:round/>
            <a:headEnd type="none" w="sm" len="sm"/>
            <a:tailEnd type="none" w="sm" len="sm"/>
          </a:ln>
        </p:spPr>
      </p:cxnSp>
      <p:cxnSp>
        <p:nvCxnSpPr>
          <p:cNvPr id="719" name="Google Shape;719;p67"/>
          <p:cNvCxnSpPr/>
          <p:nvPr/>
        </p:nvCxnSpPr>
        <p:spPr>
          <a:xfrm rot="10800000" flipH="1">
            <a:off x="3915834" y="5621339"/>
            <a:ext cx="2117" cy="471487"/>
          </a:xfrm>
          <a:prstGeom prst="straightConnector1">
            <a:avLst/>
          </a:prstGeom>
          <a:noFill/>
          <a:ln w="19050" cap="flat" cmpd="sng">
            <a:solidFill>
              <a:srgbClr val="00FFFF"/>
            </a:solidFill>
            <a:prstDash val="solid"/>
            <a:round/>
            <a:headEnd type="none" w="sm" len="sm"/>
            <a:tailEnd type="none" w="sm" len="sm"/>
          </a:ln>
        </p:spPr>
      </p:cxnSp>
      <p:cxnSp>
        <p:nvCxnSpPr>
          <p:cNvPr id="720" name="Google Shape;720;p67"/>
          <p:cNvCxnSpPr/>
          <p:nvPr/>
        </p:nvCxnSpPr>
        <p:spPr>
          <a:xfrm rot="10800000" flipH="1">
            <a:off x="4722285" y="5621339"/>
            <a:ext cx="2116" cy="471487"/>
          </a:xfrm>
          <a:prstGeom prst="straightConnector1">
            <a:avLst/>
          </a:prstGeom>
          <a:noFill/>
          <a:ln w="19050" cap="flat" cmpd="sng">
            <a:solidFill>
              <a:srgbClr val="00FFFF"/>
            </a:solidFill>
            <a:prstDash val="solid"/>
            <a:round/>
            <a:headEnd type="none" w="sm" len="sm"/>
            <a:tailEnd type="none" w="sm" len="sm"/>
          </a:ln>
        </p:spPr>
      </p:cxnSp>
      <p:sp>
        <p:nvSpPr>
          <p:cNvPr id="721" name="Google Shape;721;p67"/>
          <p:cNvSpPr/>
          <p:nvPr/>
        </p:nvSpPr>
        <p:spPr>
          <a:xfrm>
            <a:off x="2480734"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22" name="Google Shape;722;p67"/>
          <p:cNvSpPr/>
          <p:nvPr/>
        </p:nvSpPr>
        <p:spPr>
          <a:xfrm>
            <a:off x="2605617" y="5695950"/>
            <a:ext cx="64120"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000"/>
              <a:buFont typeface="Arial"/>
              <a:buNone/>
            </a:pPr>
            <a:r>
              <a:rPr lang="en-US" sz="1000" i="1">
                <a:solidFill>
                  <a:srgbClr val="000000"/>
                </a:solidFill>
                <a:latin typeface="Arial"/>
                <a:ea typeface="Arial"/>
                <a:cs typeface="Arial"/>
                <a:sym typeface="Arial"/>
              </a:rPr>
              <a:t>k</a:t>
            </a:r>
            <a:endParaRPr sz="2400">
              <a:solidFill>
                <a:schemeClr val="dk1"/>
              </a:solidFill>
              <a:latin typeface="Times New Roman"/>
              <a:ea typeface="Times New Roman"/>
              <a:cs typeface="Times New Roman"/>
              <a:sym typeface="Times New Roman"/>
            </a:endParaRPr>
          </a:p>
        </p:txBody>
      </p:sp>
      <p:sp>
        <p:nvSpPr>
          <p:cNvPr id="723" name="Google Shape;723;p67"/>
          <p:cNvSpPr/>
          <p:nvPr/>
        </p:nvSpPr>
        <p:spPr>
          <a:xfrm>
            <a:off x="2857501"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4</a:t>
            </a:r>
            <a:endParaRPr sz="2400">
              <a:solidFill>
                <a:schemeClr val="dk1"/>
              </a:solidFill>
              <a:latin typeface="Times New Roman"/>
              <a:ea typeface="Times New Roman"/>
              <a:cs typeface="Times New Roman"/>
              <a:sym typeface="Times New Roman"/>
            </a:endParaRPr>
          </a:p>
        </p:txBody>
      </p:sp>
      <p:sp>
        <p:nvSpPr>
          <p:cNvPr id="724" name="Google Shape;724;p67"/>
          <p:cNvSpPr/>
          <p:nvPr/>
        </p:nvSpPr>
        <p:spPr>
          <a:xfrm>
            <a:off x="2707217" y="5772150"/>
            <a:ext cx="5610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t>
            </a:r>
            <a:endParaRPr sz="2400">
              <a:solidFill>
                <a:schemeClr val="dk1"/>
              </a:solidFill>
              <a:latin typeface="Times New Roman"/>
              <a:ea typeface="Times New Roman"/>
              <a:cs typeface="Times New Roman"/>
              <a:sym typeface="Times New Roman"/>
            </a:endParaRPr>
          </a:p>
        </p:txBody>
      </p:sp>
      <p:sp>
        <p:nvSpPr>
          <p:cNvPr id="725" name="Google Shape;725;p67"/>
          <p:cNvSpPr/>
          <p:nvPr/>
        </p:nvSpPr>
        <p:spPr>
          <a:xfrm>
            <a:off x="3287185"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26" name="Google Shape;726;p67"/>
          <p:cNvSpPr/>
          <p:nvPr/>
        </p:nvSpPr>
        <p:spPr>
          <a:xfrm>
            <a:off x="3412067" y="5695950"/>
            <a:ext cx="64120"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000"/>
              <a:buFont typeface="Arial"/>
              <a:buNone/>
            </a:pPr>
            <a:r>
              <a:rPr lang="en-US" sz="1000" i="1">
                <a:solidFill>
                  <a:srgbClr val="000000"/>
                </a:solidFill>
                <a:latin typeface="Arial"/>
                <a:ea typeface="Arial"/>
                <a:cs typeface="Arial"/>
                <a:sym typeface="Arial"/>
              </a:rPr>
              <a:t>k</a:t>
            </a:r>
            <a:endParaRPr sz="2400">
              <a:solidFill>
                <a:schemeClr val="dk1"/>
              </a:solidFill>
              <a:latin typeface="Times New Roman"/>
              <a:ea typeface="Times New Roman"/>
              <a:cs typeface="Times New Roman"/>
              <a:sym typeface="Times New Roman"/>
            </a:endParaRPr>
          </a:p>
        </p:txBody>
      </p:sp>
      <p:sp>
        <p:nvSpPr>
          <p:cNvPr id="727" name="Google Shape;727;p67"/>
          <p:cNvSpPr/>
          <p:nvPr/>
        </p:nvSpPr>
        <p:spPr>
          <a:xfrm>
            <a:off x="3663951"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3</a:t>
            </a:r>
            <a:endParaRPr sz="2400">
              <a:solidFill>
                <a:schemeClr val="dk1"/>
              </a:solidFill>
              <a:latin typeface="Times New Roman"/>
              <a:ea typeface="Times New Roman"/>
              <a:cs typeface="Times New Roman"/>
              <a:sym typeface="Times New Roman"/>
            </a:endParaRPr>
          </a:p>
        </p:txBody>
      </p:sp>
      <p:sp>
        <p:nvSpPr>
          <p:cNvPr id="728" name="Google Shape;728;p67"/>
          <p:cNvSpPr/>
          <p:nvPr/>
        </p:nvSpPr>
        <p:spPr>
          <a:xfrm>
            <a:off x="3513667" y="5772150"/>
            <a:ext cx="5610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t>
            </a:r>
            <a:endParaRPr sz="2400">
              <a:solidFill>
                <a:schemeClr val="dk1"/>
              </a:solidFill>
              <a:latin typeface="Times New Roman"/>
              <a:ea typeface="Times New Roman"/>
              <a:cs typeface="Times New Roman"/>
              <a:sym typeface="Times New Roman"/>
            </a:endParaRPr>
          </a:p>
        </p:txBody>
      </p:sp>
      <p:sp>
        <p:nvSpPr>
          <p:cNvPr id="729" name="Google Shape;729;p67"/>
          <p:cNvSpPr/>
          <p:nvPr/>
        </p:nvSpPr>
        <p:spPr>
          <a:xfrm>
            <a:off x="4091518"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30" name="Google Shape;730;p67"/>
          <p:cNvSpPr/>
          <p:nvPr/>
        </p:nvSpPr>
        <p:spPr>
          <a:xfrm>
            <a:off x="4193117" y="5695950"/>
            <a:ext cx="64120"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000"/>
              <a:buFont typeface="Arial"/>
              <a:buNone/>
            </a:pPr>
            <a:r>
              <a:rPr lang="en-US" sz="1000" i="1">
                <a:solidFill>
                  <a:srgbClr val="000000"/>
                </a:solidFill>
                <a:latin typeface="Arial"/>
                <a:ea typeface="Arial"/>
                <a:cs typeface="Arial"/>
                <a:sym typeface="Arial"/>
              </a:rPr>
              <a:t>k</a:t>
            </a:r>
            <a:endParaRPr sz="2400">
              <a:solidFill>
                <a:schemeClr val="dk1"/>
              </a:solidFill>
              <a:latin typeface="Times New Roman"/>
              <a:ea typeface="Times New Roman"/>
              <a:cs typeface="Times New Roman"/>
              <a:sym typeface="Times New Roman"/>
            </a:endParaRPr>
          </a:p>
        </p:txBody>
      </p:sp>
      <p:sp>
        <p:nvSpPr>
          <p:cNvPr id="731" name="Google Shape;731;p67"/>
          <p:cNvSpPr/>
          <p:nvPr/>
        </p:nvSpPr>
        <p:spPr>
          <a:xfrm>
            <a:off x="4470401"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32" name="Google Shape;732;p67"/>
          <p:cNvSpPr/>
          <p:nvPr/>
        </p:nvSpPr>
        <p:spPr>
          <a:xfrm>
            <a:off x="4292601" y="5772150"/>
            <a:ext cx="5610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t>
            </a:r>
            <a:endParaRPr sz="2400">
              <a:solidFill>
                <a:schemeClr val="dk1"/>
              </a:solidFill>
              <a:latin typeface="Times New Roman"/>
              <a:ea typeface="Times New Roman"/>
              <a:cs typeface="Times New Roman"/>
              <a:sym typeface="Times New Roman"/>
            </a:endParaRPr>
          </a:p>
        </p:txBody>
      </p:sp>
      <p:sp>
        <p:nvSpPr>
          <p:cNvPr id="733" name="Google Shape;733;p67"/>
          <p:cNvSpPr/>
          <p:nvPr/>
        </p:nvSpPr>
        <p:spPr>
          <a:xfrm>
            <a:off x="4872567"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34" name="Google Shape;734;p67"/>
          <p:cNvSpPr/>
          <p:nvPr/>
        </p:nvSpPr>
        <p:spPr>
          <a:xfrm>
            <a:off x="4997451" y="5695950"/>
            <a:ext cx="64120"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000"/>
              <a:buFont typeface="Arial"/>
              <a:buNone/>
            </a:pPr>
            <a:r>
              <a:rPr lang="en-US" sz="1000" i="1">
                <a:solidFill>
                  <a:srgbClr val="000000"/>
                </a:solidFill>
                <a:latin typeface="Arial"/>
                <a:ea typeface="Arial"/>
                <a:cs typeface="Arial"/>
                <a:sym typeface="Arial"/>
              </a:rPr>
              <a:t>k</a:t>
            </a:r>
            <a:endParaRPr sz="2400">
              <a:solidFill>
                <a:schemeClr val="dk1"/>
              </a:solidFill>
              <a:latin typeface="Times New Roman"/>
              <a:ea typeface="Times New Roman"/>
              <a:cs typeface="Times New Roman"/>
              <a:sym typeface="Times New Roman"/>
            </a:endParaRPr>
          </a:p>
        </p:txBody>
      </p:sp>
      <p:sp>
        <p:nvSpPr>
          <p:cNvPr id="735" name="Google Shape;735;p67"/>
          <p:cNvSpPr/>
          <p:nvPr/>
        </p:nvSpPr>
        <p:spPr>
          <a:xfrm>
            <a:off x="5274734"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1</a:t>
            </a:r>
            <a:endParaRPr sz="2400">
              <a:solidFill>
                <a:schemeClr val="dk1"/>
              </a:solidFill>
              <a:latin typeface="Times New Roman"/>
              <a:ea typeface="Times New Roman"/>
              <a:cs typeface="Times New Roman"/>
              <a:sym typeface="Times New Roman"/>
            </a:endParaRPr>
          </a:p>
        </p:txBody>
      </p:sp>
      <p:sp>
        <p:nvSpPr>
          <p:cNvPr id="736" name="Google Shape;736;p67"/>
          <p:cNvSpPr/>
          <p:nvPr/>
        </p:nvSpPr>
        <p:spPr>
          <a:xfrm>
            <a:off x="5099051" y="5772150"/>
            <a:ext cx="5610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t>
            </a:r>
            <a:endParaRPr sz="2400">
              <a:solidFill>
                <a:schemeClr val="dk1"/>
              </a:solidFill>
              <a:latin typeface="Times New Roman"/>
              <a:ea typeface="Times New Roman"/>
              <a:cs typeface="Times New Roman"/>
              <a:sym typeface="Times New Roman"/>
            </a:endParaRPr>
          </a:p>
        </p:txBody>
      </p:sp>
      <p:sp>
        <p:nvSpPr>
          <p:cNvPr id="737" name="Google Shape;737;p67"/>
          <p:cNvSpPr/>
          <p:nvPr/>
        </p:nvSpPr>
        <p:spPr>
          <a:xfrm>
            <a:off x="6081185"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38" name="Google Shape;738;p67"/>
          <p:cNvSpPr/>
          <p:nvPr/>
        </p:nvSpPr>
        <p:spPr>
          <a:xfrm>
            <a:off x="6206066" y="5695950"/>
            <a:ext cx="64120"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000"/>
              <a:buFont typeface="Arial"/>
              <a:buNone/>
            </a:pPr>
            <a:r>
              <a:rPr lang="en-US" sz="1000" i="1">
                <a:solidFill>
                  <a:srgbClr val="000000"/>
                </a:solidFill>
                <a:latin typeface="Arial"/>
                <a:ea typeface="Arial"/>
                <a:cs typeface="Arial"/>
                <a:sym typeface="Arial"/>
              </a:rPr>
              <a:t>k</a:t>
            </a:r>
            <a:endParaRPr sz="2400">
              <a:solidFill>
                <a:schemeClr val="dk1"/>
              </a:solidFill>
              <a:latin typeface="Times New Roman"/>
              <a:ea typeface="Times New Roman"/>
              <a:cs typeface="Times New Roman"/>
              <a:sym typeface="Times New Roman"/>
            </a:endParaRPr>
          </a:p>
        </p:txBody>
      </p:sp>
      <p:sp>
        <p:nvSpPr>
          <p:cNvPr id="739" name="Google Shape;739;p67"/>
          <p:cNvSpPr/>
          <p:nvPr/>
        </p:nvSpPr>
        <p:spPr>
          <a:xfrm>
            <a:off x="6483351"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4</a:t>
            </a:r>
            <a:endParaRPr sz="2400">
              <a:solidFill>
                <a:schemeClr val="dk1"/>
              </a:solidFill>
              <a:latin typeface="Times New Roman"/>
              <a:ea typeface="Times New Roman"/>
              <a:cs typeface="Times New Roman"/>
              <a:sym typeface="Times New Roman"/>
            </a:endParaRPr>
          </a:p>
        </p:txBody>
      </p:sp>
      <p:sp>
        <p:nvSpPr>
          <p:cNvPr id="740" name="Google Shape;740;p67"/>
          <p:cNvSpPr/>
          <p:nvPr/>
        </p:nvSpPr>
        <p:spPr>
          <a:xfrm>
            <a:off x="6307667" y="5772150"/>
            <a:ext cx="5610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t>
            </a:r>
            <a:endParaRPr sz="2400">
              <a:solidFill>
                <a:schemeClr val="dk1"/>
              </a:solidFill>
              <a:latin typeface="Times New Roman"/>
              <a:ea typeface="Times New Roman"/>
              <a:cs typeface="Times New Roman"/>
              <a:sym typeface="Times New Roman"/>
            </a:endParaRPr>
          </a:p>
        </p:txBody>
      </p:sp>
      <p:sp>
        <p:nvSpPr>
          <p:cNvPr id="741" name="Google Shape;741;p67"/>
          <p:cNvSpPr/>
          <p:nvPr/>
        </p:nvSpPr>
        <p:spPr>
          <a:xfrm>
            <a:off x="1600201"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42" name="Google Shape;742;p67"/>
          <p:cNvSpPr/>
          <p:nvPr/>
        </p:nvSpPr>
        <p:spPr>
          <a:xfrm>
            <a:off x="1725084" y="5695950"/>
            <a:ext cx="64120"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000"/>
              <a:buFont typeface="Arial"/>
              <a:buNone/>
            </a:pPr>
            <a:r>
              <a:rPr lang="en-US" sz="1000" i="1">
                <a:solidFill>
                  <a:srgbClr val="000000"/>
                </a:solidFill>
                <a:latin typeface="Arial"/>
                <a:ea typeface="Arial"/>
                <a:cs typeface="Arial"/>
                <a:sym typeface="Arial"/>
              </a:rPr>
              <a:t>k</a:t>
            </a:r>
            <a:endParaRPr sz="2400">
              <a:solidFill>
                <a:schemeClr val="dk1"/>
              </a:solidFill>
              <a:latin typeface="Times New Roman"/>
              <a:ea typeface="Times New Roman"/>
              <a:cs typeface="Times New Roman"/>
              <a:sym typeface="Times New Roman"/>
            </a:endParaRPr>
          </a:p>
        </p:txBody>
      </p:sp>
      <p:sp>
        <p:nvSpPr>
          <p:cNvPr id="743" name="Google Shape;743;p67"/>
          <p:cNvSpPr/>
          <p:nvPr/>
        </p:nvSpPr>
        <p:spPr>
          <a:xfrm>
            <a:off x="1976967"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4</a:t>
            </a:r>
            <a:endParaRPr sz="2400">
              <a:solidFill>
                <a:schemeClr val="dk1"/>
              </a:solidFill>
              <a:latin typeface="Times New Roman"/>
              <a:ea typeface="Times New Roman"/>
              <a:cs typeface="Times New Roman"/>
              <a:sym typeface="Times New Roman"/>
            </a:endParaRPr>
          </a:p>
        </p:txBody>
      </p:sp>
      <p:sp>
        <p:nvSpPr>
          <p:cNvPr id="744" name="Google Shape;744;p67"/>
          <p:cNvSpPr/>
          <p:nvPr/>
        </p:nvSpPr>
        <p:spPr>
          <a:xfrm>
            <a:off x="1826684" y="5772150"/>
            <a:ext cx="5610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t>
            </a:r>
            <a:endParaRPr sz="2400">
              <a:solidFill>
                <a:schemeClr val="dk1"/>
              </a:solidFill>
              <a:latin typeface="Times New Roman"/>
              <a:ea typeface="Times New Roman"/>
              <a:cs typeface="Times New Roman"/>
              <a:sym typeface="Times New Roman"/>
            </a:endParaRPr>
          </a:p>
        </p:txBody>
      </p:sp>
      <p:sp>
        <p:nvSpPr>
          <p:cNvPr id="745" name="Google Shape;745;p67"/>
          <p:cNvSpPr/>
          <p:nvPr/>
        </p:nvSpPr>
        <p:spPr>
          <a:xfrm>
            <a:off x="2656418" y="3090864"/>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0</a:t>
            </a:r>
            <a:endParaRPr sz="2400">
              <a:solidFill>
                <a:schemeClr val="dk1"/>
              </a:solidFill>
              <a:latin typeface="Times New Roman"/>
              <a:ea typeface="Times New Roman"/>
              <a:cs typeface="Times New Roman"/>
              <a:sym typeface="Times New Roman"/>
            </a:endParaRPr>
          </a:p>
        </p:txBody>
      </p:sp>
      <p:sp>
        <p:nvSpPr>
          <p:cNvPr id="746" name="Google Shape;746;p67"/>
          <p:cNvSpPr/>
          <p:nvPr/>
        </p:nvSpPr>
        <p:spPr>
          <a:xfrm>
            <a:off x="3462867" y="3090864"/>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1</a:t>
            </a:r>
            <a:endParaRPr sz="2400">
              <a:solidFill>
                <a:schemeClr val="dk1"/>
              </a:solidFill>
              <a:latin typeface="Times New Roman"/>
              <a:ea typeface="Times New Roman"/>
              <a:cs typeface="Times New Roman"/>
              <a:sym typeface="Times New Roman"/>
            </a:endParaRPr>
          </a:p>
        </p:txBody>
      </p:sp>
      <p:sp>
        <p:nvSpPr>
          <p:cNvPr id="747" name="Google Shape;747;p67"/>
          <p:cNvSpPr/>
          <p:nvPr/>
        </p:nvSpPr>
        <p:spPr>
          <a:xfrm>
            <a:off x="4267201" y="3090864"/>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48" name="Google Shape;748;p67"/>
          <p:cNvSpPr/>
          <p:nvPr/>
        </p:nvSpPr>
        <p:spPr>
          <a:xfrm>
            <a:off x="5073651" y="3090864"/>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3</a:t>
            </a:r>
            <a:endParaRPr sz="2400">
              <a:solidFill>
                <a:schemeClr val="dk1"/>
              </a:solidFill>
              <a:latin typeface="Times New Roman"/>
              <a:ea typeface="Times New Roman"/>
              <a:cs typeface="Times New Roman"/>
              <a:sym typeface="Times New Roman"/>
            </a:endParaRPr>
          </a:p>
        </p:txBody>
      </p:sp>
      <p:sp>
        <p:nvSpPr>
          <p:cNvPr id="749" name="Google Shape;749;p67"/>
          <p:cNvSpPr/>
          <p:nvPr/>
        </p:nvSpPr>
        <p:spPr>
          <a:xfrm>
            <a:off x="2656418" y="358140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4</a:t>
            </a:r>
            <a:endParaRPr sz="2400">
              <a:solidFill>
                <a:schemeClr val="dk1"/>
              </a:solidFill>
              <a:latin typeface="Times New Roman"/>
              <a:ea typeface="Times New Roman"/>
              <a:cs typeface="Times New Roman"/>
              <a:sym typeface="Times New Roman"/>
            </a:endParaRPr>
          </a:p>
        </p:txBody>
      </p:sp>
      <p:sp>
        <p:nvSpPr>
          <p:cNvPr id="750" name="Google Shape;750;p67"/>
          <p:cNvSpPr/>
          <p:nvPr/>
        </p:nvSpPr>
        <p:spPr>
          <a:xfrm>
            <a:off x="3462867" y="358140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5</a:t>
            </a:r>
            <a:endParaRPr sz="2400">
              <a:solidFill>
                <a:schemeClr val="dk1"/>
              </a:solidFill>
              <a:latin typeface="Times New Roman"/>
              <a:ea typeface="Times New Roman"/>
              <a:cs typeface="Times New Roman"/>
              <a:sym typeface="Times New Roman"/>
            </a:endParaRPr>
          </a:p>
        </p:txBody>
      </p:sp>
      <p:sp>
        <p:nvSpPr>
          <p:cNvPr id="751" name="Google Shape;751;p67"/>
          <p:cNvSpPr/>
          <p:nvPr/>
        </p:nvSpPr>
        <p:spPr>
          <a:xfrm>
            <a:off x="4267201" y="358140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6</a:t>
            </a:r>
            <a:endParaRPr sz="2400">
              <a:solidFill>
                <a:schemeClr val="dk1"/>
              </a:solidFill>
              <a:latin typeface="Times New Roman"/>
              <a:ea typeface="Times New Roman"/>
              <a:cs typeface="Times New Roman"/>
              <a:sym typeface="Times New Roman"/>
            </a:endParaRPr>
          </a:p>
        </p:txBody>
      </p:sp>
      <p:sp>
        <p:nvSpPr>
          <p:cNvPr id="752" name="Google Shape;752;p67"/>
          <p:cNvSpPr/>
          <p:nvPr/>
        </p:nvSpPr>
        <p:spPr>
          <a:xfrm>
            <a:off x="5073651" y="358140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7</a:t>
            </a:r>
            <a:endParaRPr sz="2400">
              <a:solidFill>
                <a:schemeClr val="dk1"/>
              </a:solidFill>
              <a:latin typeface="Times New Roman"/>
              <a:ea typeface="Times New Roman"/>
              <a:cs typeface="Times New Roman"/>
              <a:sym typeface="Times New Roman"/>
            </a:endParaRPr>
          </a:p>
        </p:txBody>
      </p:sp>
      <p:sp>
        <p:nvSpPr>
          <p:cNvPr id="753" name="Google Shape;753;p67"/>
          <p:cNvSpPr/>
          <p:nvPr/>
        </p:nvSpPr>
        <p:spPr>
          <a:xfrm>
            <a:off x="6432551" y="3090864"/>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0</a:t>
            </a:r>
            <a:endParaRPr sz="2400">
              <a:solidFill>
                <a:schemeClr val="dk1"/>
              </a:solidFill>
              <a:latin typeface="Times New Roman"/>
              <a:ea typeface="Times New Roman"/>
              <a:cs typeface="Times New Roman"/>
              <a:sym typeface="Times New Roman"/>
            </a:endParaRPr>
          </a:p>
        </p:txBody>
      </p:sp>
      <p:sp>
        <p:nvSpPr>
          <p:cNvPr id="754" name="Google Shape;754;p67"/>
          <p:cNvSpPr/>
          <p:nvPr/>
        </p:nvSpPr>
        <p:spPr>
          <a:xfrm>
            <a:off x="1775884" y="3090864"/>
            <a:ext cx="139462"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 0</a:t>
            </a:r>
            <a:endParaRPr sz="2400">
              <a:solidFill>
                <a:schemeClr val="dk1"/>
              </a:solidFill>
              <a:latin typeface="Times New Roman"/>
              <a:ea typeface="Times New Roman"/>
              <a:cs typeface="Times New Roman"/>
              <a:sym typeface="Times New Roman"/>
            </a:endParaRPr>
          </a:p>
        </p:txBody>
      </p:sp>
      <p:sp>
        <p:nvSpPr>
          <p:cNvPr id="755" name="Google Shape;755;p67"/>
          <p:cNvSpPr/>
          <p:nvPr/>
        </p:nvSpPr>
        <p:spPr>
          <a:xfrm>
            <a:off x="1826685" y="358140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4</a:t>
            </a:r>
            <a:endParaRPr sz="2400">
              <a:solidFill>
                <a:schemeClr val="dk1"/>
              </a:solidFill>
              <a:latin typeface="Times New Roman"/>
              <a:ea typeface="Times New Roman"/>
              <a:cs typeface="Times New Roman"/>
              <a:sym typeface="Times New Roman"/>
            </a:endParaRPr>
          </a:p>
        </p:txBody>
      </p:sp>
      <p:sp>
        <p:nvSpPr>
          <p:cNvPr id="756" name="Google Shape;756;p67"/>
          <p:cNvSpPr/>
          <p:nvPr/>
        </p:nvSpPr>
        <p:spPr>
          <a:xfrm>
            <a:off x="6811434" y="2976563"/>
            <a:ext cx="3221567" cy="3116262"/>
          </a:xfrm>
          <a:prstGeom prst="rect">
            <a:avLst/>
          </a:prstGeom>
          <a:noFill/>
          <a:ln w="19050" cap="flat" cmpd="sng">
            <a:solidFill>
              <a:srgbClr val="00FFF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cxnSp>
        <p:nvCxnSpPr>
          <p:cNvPr id="757" name="Google Shape;757;p67"/>
          <p:cNvCxnSpPr/>
          <p:nvPr/>
        </p:nvCxnSpPr>
        <p:spPr>
          <a:xfrm flipH="1">
            <a:off x="6811434" y="3448050"/>
            <a:ext cx="3221567" cy="1588"/>
          </a:xfrm>
          <a:prstGeom prst="straightConnector1">
            <a:avLst/>
          </a:prstGeom>
          <a:noFill/>
          <a:ln w="19050" cap="flat" cmpd="sng">
            <a:solidFill>
              <a:srgbClr val="00FFFF"/>
            </a:solidFill>
            <a:prstDash val="solid"/>
            <a:round/>
            <a:headEnd type="none" w="sm" len="sm"/>
            <a:tailEnd type="none" w="sm" len="sm"/>
          </a:ln>
        </p:spPr>
      </p:cxnSp>
      <p:cxnSp>
        <p:nvCxnSpPr>
          <p:cNvPr id="758" name="Google Shape;758;p67"/>
          <p:cNvCxnSpPr/>
          <p:nvPr/>
        </p:nvCxnSpPr>
        <p:spPr>
          <a:xfrm flipH="1">
            <a:off x="6811434" y="3940175"/>
            <a:ext cx="3221567" cy="1588"/>
          </a:xfrm>
          <a:prstGeom prst="straightConnector1">
            <a:avLst/>
          </a:prstGeom>
          <a:noFill/>
          <a:ln w="19050" cap="flat" cmpd="sng">
            <a:solidFill>
              <a:srgbClr val="00FFFF"/>
            </a:solidFill>
            <a:prstDash val="solid"/>
            <a:round/>
            <a:headEnd type="none" w="sm" len="sm"/>
            <a:tailEnd type="none" w="sm" len="sm"/>
          </a:ln>
        </p:spPr>
      </p:cxnSp>
      <p:cxnSp>
        <p:nvCxnSpPr>
          <p:cNvPr id="759" name="Google Shape;759;p67"/>
          <p:cNvCxnSpPr/>
          <p:nvPr/>
        </p:nvCxnSpPr>
        <p:spPr>
          <a:xfrm rot="10800000" flipH="1">
            <a:off x="7615767" y="2976563"/>
            <a:ext cx="2117" cy="963612"/>
          </a:xfrm>
          <a:prstGeom prst="straightConnector1">
            <a:avLst/>
          </a:prstGeom>
          <a:noFill/>
          <a:ln w="19050" cap="flat" cmpd="sng">
            <a:solidFill>
              <a:srgbClr val="00FFFF"/>
            </a:solidFill>
            <a:prstDash val="solid"/>
            <a:round/>
            <a:headEnd type="none" w="sm" len="sm"/>
            <a:tailEnd type="none" w="sm" len="sm"/>
          </a:ln>
        </p:spPr>
      </p:cxnSp>
      <p:cxnSp>
        <p:nvCxnSpPr>
          <p:cNvPr id="760" name="Google Shape;760;p67"/>
          <p:cNvCxnSpPr/>
          <p:nvPr/>
        </p:nvCxnSpPr>
        <p:spPr>
          <a:xfrm rot="10800000" flipH="1">
            <a:off x="8422218" y="2976563"/>
            <a:ext cx="2116" cy="963612"/>
          </a:xfrm>
          <a:prstGeom prst="straightConnector1">
            <a:avLst/>
          </a:prstGeom>
          <a:noFill/>
          <a:ln w="19050" cap="flat" cmpd="sng">
            <a:solidFill>
              <a:srgbClr val="00FFFF"/>
            </a:solidFill>
            <a:prstDash val="solid"/>
            <a:round/>
            <a:headEnd type="none" w="sm" len="sm"/>
            <a:tailEnd type="none" w="sm" len="sm"/>
          </a:ln>
        </p:spPr>
      </p:cxnSp>
      <p:cxnSp>
        <p:nvCxnSpPr>
          <p:cNvPr id="761" name="Google Shape;761;p67"/>
          <p:cNvCxnSpPr/>
          <p:nvPr/>
        </p:nvCxnSpPr>
        <p:spPr>
          <a:xfrm rot="10800000" flipH="1">
            <a:off x="9228667" y="2976563"/>
            <a:ext cx="2117" cy="963612"/>
          </a:xfrm>
          <a:prstGeom prst="straightConnector1">
            <a:avLst/>
          </a:prstGeom>
          <a:noFill/>
          <a:ln w="19050" cap="flat" cmpd="sng">
            <a:solidFill>
              <a:srgbClr val="00FFFF"/>
            </a:solidFill>
            <a:prstDash val="solid"/>
            <a:round/>
            <a:headEnd type="none" w="sm" len="sm"/>
            <a:tailEnd type="none" w="sm" len="sm"/>
          </a:ln>
        </p:spPr>
      </p:cxnSp>
      <p:cxnSp>
        <p:nvCxnSpPr>
          <p:cNvPr id="762" name="Google Shape;762;p67"/>
          <p:cNvCxnSpPr/>
          <p:nvPr/>
        </p:nvCxnSpPr>
        <p:spPr>
          <a:xfrm flipH="1">
            <a:off x="6811434" y="5621339"/>
            <a:ext cx="3221567" cy="1587"/>
          </a:xfrm>
          <a:prstGeom prst="straightConnector1">
            <a:avLst/>
          </a:prstGeom>
          <a:noFill/>
          <a:ln w="19050" cap="flat" cmpd="sng">
            <a:solidFill>
              <a:srgbClr val="00FFFF"/>
            </a:solidFill>
            <a:prstDash val="solid"/>
            <a:round/>
            <a:headEnd type="none" w="sm" len="sm"/>
            <a:tailEnd type="none" w="sm" len="sm"/>
          </a:ln>
        </p:spPr>
      </p:cxnSp>
      <p:cxnSp>
        <p:nvCxnSpPr>
          <p:cNvPr id="763" name="Google Shape;763;p67"/>
          <p:cNvCxnSpPr/>
          <p:nvPr/>
        </p:nvCxnSpPr>
        <p:spPr>
          <a:xfrm rot="10800000" flipH="1">
            <a:off x="7615767" y="5621339"/>
            <a:ext cx="2117" cy="471487"/>
          </a:xfrm>
          <a:prstGeom prst="straightConnector1">
            <a:avLst/>
          </a:prstGeom>
          <a:noFill/>
          <a:ln w="19050" cap="flat" cmpd="sng">
            <a:solidFill>
              <a:srgbClr val="00FFFF"/>
            </a:solidFill>
            <a:prstDash val="solid"/>
            <a:round/>
            <a:headEnd type="none" w="sm" len="sm"/>
            <a:tailEnd type="none" w="sm" len="sm"/>
          </a:ln>
        </p:spPr>
      </p:cxnSp>
      <p:cxnSp>
        <p:nvCxnSpPr>
          <p:cNvPr id="764" name="Google Shape;764;p67"/>
          <p:cNvCxnSpPr/>
          <p:nvPr/>
        </p:nvCxnSpPr>
        <p:spPr>
          <a:xfrm rot="10800000" flipH="1">
            <a:off x="8422218" y="5621339"/>
            <a:ext cx="2116" cy="471487"/>
          </a:xfrm>
          <a:prstGeom prst="straightConnector1">
            <a:avLst/>
          </a:prstGeom>
          <a:noFill/>
          <a:ln w="19050" cap="flat" cmpd="sng">
            <a:solidFill>
              <a:srgbClr val="00FFFF"/>
            </a:solidFill>
            <a:prstDash val="solid"/>
            <a:round/>
            <a:headEnd type="none" w="sm" len="sm"/>
            <a:tailEnd type="none" w="sm" len="sm"/>
          </a:ln>
        </p:spPr>
      </p:cxnSp>
      <p:cxnSp>
        <p:nvCxnSpPr>
          <p:cNvPr id="765" name="Google Shape;765;p67"/>
          <p:cNvCxnSpPr/>
          <p:nvPr/>
        </p:nvCxnSpPr>
        <p:spPr>
          <a:xfrm rot="10800000" flipH="1">
            <a:off x="9228667" y="5621339"/>
            <a:ext cx="2117" cy="471487"/>
          </a:xfrm>
          <a:prstGeom prst="straightConnector1">
            <a:avLst/>
          </a:prstGeom>
          <a:noFill/>
          <a:ln w="19050" cap="flat" cmpd="sng">
            <a:solidFill>
              <a:srgbClr val="00FFFF"/>
            </a:solidFill>
            <a:prstDash val="solid"/>
            <a:round/>
            <a:headEnd type="none" w="sm" len="sm"/>
            <a:tailEnd type="none" w="sm" len="sm"/>
          </a:ln>
        </p:spPr>
      </p:cxnSp>
      <p:sp>
        <p:nvSpPr>
          <p:cNvPr id="766" name="Google Shape;766;p67"/>
          <p:cNvSpPr/>
          <p:nvPr/>
        </p:nvSpPr>
        <p:spPr>
          <a:xfrm>
            <a:off x="6987118"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67" name="Google Shape;767;p67"/>
          <p:cNvSpPr/>
          <p:nvPr/>
        </p:nvSpPr>
        <p:spPr>
          <a:xfrm>
            <a:off x="7088717" y="5695950"/>
            <a:ext cx="64120"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000"/>
              <a:buFont typeface="Arial"/>
              <a:buNone/>
            </a:pPr>
            <a:r>
              <a:rPr lang="en-US" sz="1000" i="1">
                <a:solidFill>
                  <a:srgbClr val="000000"/>
                </a:solidFill>
                <a:latin typeface="Arial"/>
                <a:ea typeface="Arial"/>
                <a:cs typeface="Arial"/>
                <a:sym typeface="Arial"/>
              </a:rPr>
              <a:t>k</a:t>
            </a:r>
            <a:endParaRPr sz="2400">
              <a:solidFill>
                <a:schemeClr val="dk1"/>
              </a:solidFill>
              <a:latin typeface="Times New Roman"/>
              <a:ea typeface="Times New Roman"/>
              <a:cs typeface="Times New Roman"/>
              <a:sym typeface="Times New Roman"/>
            </a:endParaRPr>
          </a:p>
        </p:txBody>
      </p:sp>
      <p:sp>
        <p:nvSpPr>
          <p:cNvPr id="768" name="Google Shape;768;p67"/>
          <p:cNvSpPr/>
          <p:nvPr/>
        </p:nvSpPr>
        <p:spPr>
          <a:xfrm>
            <a:off x="7363885"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1</a:t>
            </a:r>
            <a:endParaRPr sz="2400">
              <a:solidFill>
                <a:schemeClr val="dk1"/>
              </a:solidFill>
              <a:latin typeface="Times New Roman"/>
              <a:ea typeface="Times New Roman"/>
              <a:cs typeface="Times New Roman"/>
              <a:sym typeface="Times New Roman"/>
            </a:endParaRPr>
          </a:p>
        </p:txBody>
      </p:sp>
      <p:sp>
        <p:nvSpPr>
          <p:cNvPr id="769" name="Google Shape;769;p67"/>
          <p:cNvSpPr/>
          <p:nvPr/>
        </p:nvSpPr>
        <p:spPr>
          <a:xfrm>
            <a:off x="7188201" y="5772150"/>
            <a:ext cx="5610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t>
            </a:r>
            <a:endParaRPr sz="2400">
              <a:solidFill>
                <a:schemeClr val="dk1"/>
              </a:solidFill>
              <a:latin typeface="Times New Roman"/>
              <a:ea typeface="Times New Roman"/>
              <a:cs typeface="Times New Roman"/>
              <a:sym typeface="Times New Roman"/>
            </a:endParaRPr>
          </a:p>
        </p:txBody>
      </p:sp>
      <p:sp>
        <p:nvSpPr>
          <p:cNvPr id="770" name="Google Shape;770;p67"/>
          <p:cNvSpPr/>
          <p:nvPr/>
        </p:nvSpPr>
        <p:spPr>
          <a:xfrm>
            <a:off x="7768167"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71" name="Google Shape;771;p67"/>
          <p:cNvSpPr/>
          <p:nvPr/>
        </p:nvSpPr>
        <p:spPr>
          <a:xfrm>
            <a:off x="7893051" y="5695950"/>
            <a:ext cx="64120"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000"/>
              <a:buFont typeface="Arial"/>
              <a:buNone/>
            </a:pPr>
            <a:r>
              <a:rPr lang="en-US" sz="1000" i="1">
                <a:solidFill>
                  <a:srgbClr val="000000"/>
                </a:solidFill>
                <a:latin typeface="Arial"/>
                <a:ea typeface="Arial"/>
                <a:cs typeface="Arial"/>
                <a:sym typeface="Arial"/>
              </a:rPr>
              <a:t>k</a:t>
            </a:r>
            <a:endParaRPr sz="2400">
              <a:solidFill>
                <a:schemeClr val="dk1"/>
              </a:solidFill>
              <a:latin typeface="Times New Roman"/>
              <a:ea typeface="Times New Roman"/>
              <a:cs typeface="Times New Roman"/>
              <a:sym typeface="Times New Roman"/>
            </a:endParaRPr>
          </a:p>
        </p:txBody>
      </p:sp>
      <p:sp>
        <p:nvSpPr>
          <p:cNvPr id="772" name="Google Shape;772;p67"/>
          <p:cNvSpPr/>
          <p:nvPr/>
        </p:nvSpPr>
        <p:spPr>
          <a:xfrm>
            <a:off x="8170334"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73" name="Google Shape;773;p67"/>
          <p:cNvSpPr/>
          <p:nvPr/>
        </p:nvSpPr>
        <p:spPr>
          <a:xfrm>
            <a:off x="7994651" y="5772150"/>
            <a:ext cx="5610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t>
            </a:r>
            <a:endParaRPr sz="2400">
              <a:solidFill>
                <a:schemeClr val="dk1"/>
              </a:solidFill>
              <a:latin typeface="Times New Roman"/>
              <a:ea typeface="Times New Roman"/>
              <a:cs typeface="Times New Roman"/>
              <a:sym typeface="Times New Roman"/>
            </a:endParaRPr>
          </a:p>
        </p:txBody>
      </p:sp>
      <p:sp>
        <p:nvSpPr>
          <p:cNvPr id="774" name="Google Shape;774;p67"/>
          <p:cNvSpPr/>
          <p:nvPr/>
        </p:nvSpPr>
        <p:spPr>
          <a:xfrm>
            <a:off x="8572501"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75" name="Google Shape;775;p67"/>
          <p:cNvSpPr/>
          <p:nvPr/>
        </p:nvSpPr>
        <p:spPr>
          <a:xfrm>
            <a:off x="8699500" y="5695950"/>
            <a:ext cx="64120"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000"/>
              <a:buFont typeface="Arial"/>
              <a:buNone/>
            </a:pPr>
            <a:r>
              <a:rPr lang="en-US" sz="1000" i="1">
                <a:solidFill>
                  <a:srgbClr val="000000"/>
                </a:solidFill>
                <a:latin typeface="Arial"/>
                <a:ea typeface="Arial"/>
                <a:cs typeface="Arial"/>
                <a:sym typeface="Arial"/>
              </a:rPr>
              <a:t>k</a:t>
            </a:r>
            <a:endParaRPr sz="2400">
              <a:solidFill>
                <a:schemeClr val="dk1"/>
              </a:solidFill>
              <a:latin typeface="Times New Roman"/>
              <a:ea typeface="Times New Roman"/>
              <a:cs typeface="Times New Roman"/>
              <a:sym typeface="Times New Roman"/>
            </a:endParaRPr>
          </a:p>
        </p:txBody>
      </p:sp>
      <p:sp>
        <p:nvSpPr>
          <p:cNvPr id="776" name="Google Shape;776;p67"/>
          <p:cNvSpPr/>
          <p:nvPr/>
        </p:nvSpPr>
        <p:spPr>
          <a:xfrm>
            <a:off x="8951385"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3</a:t>
            </a:r>
            <a:endParaRPr sz="2400">
              <a:solidFill>
                <a:schemeClr val="dk1"/>
              </a:solidFill>
              <a:latin typeface="Times New Roman"/>
              <a:ea typeface="Times New Roman"/>
              <a:cs typeface="Times New Roman"/>
              <a:sym typeface="Times New Roman"/>
            </a:endParaRPr>
          </a:p>
        </p:txBody>
      </p:sp>
      <p:sp>
        <p:nvSpPr>
          <p:cNvPr id="777" name="Google Shape;777;p67"/>
          <p:cNvSpPr/>
          <p:nvPr/>
        </p:nvSpPr>
        <p:spPr>
          <a:xfrm>
            <a:off x="8798984" y="5772150"/>
            <a:ext cx="5610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t>
            </a:r>
            <a:endParaRPr sz="2400">
              <a:solidFill>
                <a:schemeClr val="dk1"/>
              </a:solidFill>
              <a:latin typeface="Times New Roman"/>
              <a:ea typeface="Times New Roman"/>
              <a:cs typeface="Times New Roman"/>
              <a:sym typeface="Times New Roman"/>
            </a:endParaRPr>
          </a:p>
        </p:txBody>
      </p:sp>
      <p:sp>
        <p:nvSpPr>
          <p:cNvPr id="778" name="Google Shape;778;p67"/>
          <p:cNvSpPr/>
          <p:nvPr/>
        </p:nvSpPr>
        <p:spPr>
          <a:xfrm>
            <a:off x="9378951"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79" name="Google Shape;779;p67"/>
          <p:cNvSpPr/>
          <p:nvPr/>
        </p:nvSpPr>
        <p:spPr>
          <a:xfrm>
            <a:off x="9503833" y="5695950"/>
            <a:ext cx="64120"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000"/>
              <a:buFont typeface="Arial"/>
              <a:buNone/>
            </a:pPr>
            <a:r>
              <a:rPr lang="en-US" sz="1000" i="1">
                <a:solidFill>
                  <a:srgbClr val="000000"/>
                </a:solidFill>
                <a:latin typeface="Arial"/>
                <a:ea typeface="Arial"/>
                <a:cs typeface="Arial"/>
                <a:sym typeface="Arial"/>
              </a:rPr>
              <a:t>k</a:t>
            </a:r>
            <a:endParaRPr sz="2400">
              <a:solidFill>
                <a:schemeClr val="dk1"/>
              </a:solidFill>
              <a:latin typeface="Times New Roman"/>
              <a:ea typeface="Times New Roman"/>
              <a:cs typeface="Times New Roman"/>
              <a:sym typeface="Times New Roman"/>
            </a:endParaRPr>
          </a:p>
        </p:txBody>
      </p:sp>
      <p:sp>
        <p:nvSpPr>
          <p:cNvPr id="780" name="Google Shape;780;p67"/>
          <p:cNvSpPr/>
          <p:nvPr/>
        </p:nvSpPr>
        <p:spPr>
          <a:xfrm>
            <a:off x="9755718" y="577215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4</a:t>
            </a:r>
            <a:endParaRPr sz="2400">
              <a:solidFill>
                <a:schemeClr val="dk1"/>
              </a:solidFill>
              <a:latin typeface="Times New Roman"/>
              <a:ea typeface="Times New Roman"/>
              <a:cs typeface="Times New Roman"/>
              <a:sym typeface="Times New Roman"/>
            </a:endParaRPr>
          </a:p>
        </p:txBody>
      </p:sp>
      <p:sp>
        <p:nvSpPr>
          <p:cNvPr id="781" name="Google Shape;781;p67"/>
          <p:cNvSpPr/>
          <p:nvPr/>
        </p:nvSpPr>
        <p:spPr>
          <a:xfrm>
            <a:off x="9605434" y="5772150"/>
            <a:ext cx="5610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t>
            </a:r>
            <a:endParaRPr sz="2400">
              <a:solidFill>
                <a:schemeClr val="dk1"/>
              </a:solidFill>
              <a:latin typeface="Times New Roman"/>
              <a:ea typeface="Times New Roman"/>
              <a:cs typeface="Times New Roman"/>
              <a:sym typeface="Times New Roman"/>
            </a:endParaRPr>
          </a:p>
        </p:txBody>
      </p:sp>
      <p:sp>
        <p:nvSpPr>
          <p:cNvPr id="782" name="Google Shape;782;p67"/>
          <p:cNvSpPr/>
          <p:nvPr/>
        </p:nvSpPr>
        <p:spPr>
          <a:xfrm>
            <a:off x="7162801" y="3090864"/>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3</a:t>
            </a:r>
            <a:endParaRPr sz="2400">
              <a:solidFill>
                <a:schemeClr val="dk1"/>
              </a:solidFill>
              <a:latin typeface="Times New Roman"/>
              <a:ea typeface="Times New Roman"/>
              <a:cs typeface="Times New Roman"/>
              <a:sym typeface="Times New Roman"/>
            </a:endParaRPr>
          </a:p>
        </p:txBody>
      </p:sp>
      <p:sp>
        <p:nvSpPr>
          <p:cNvPr id="783" name="Google Shape;783;p67"/>
          <p:cNvSpPr/>
          <p:nvPr/>
        </p:nvSpPr>
        <p:spPr>
          <a:xfrm>
            <a:off x="7969251" y="3090864"/>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2</a:t>
            </a:r>
            <a:endParaRPr sz="2400">
              <a:solidFill>
                <a:schemeClr val="dk1"/>
              </a:solidFill>
              <a:latin typeface="Times New Roman"/>
              <a:ea typeface="Times New Roman"/>
              <a:cs typeface="Times New Roman"/>
              <a:sym typeface="Times New Roman"/>
            </a:endParaRPr>
          </a:p>
        </p:txBody>
      </p:sp>
      <p:sp>
        <p:nvSpPr>
          <p:cNvPr id="784" name="Google Shape;784;p67"/>
          <p:cNvSpPr/>
          <p:nvPr/>
        </p:nvSpPr>
        <p:spPr>
          <a:xfrm>
            <a:off x="8750301" y="3090864"/>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1</a:t>
            </a:r>
            <a:endParaRPr sz="2400">
              <a:solidFill>
                <a:schemeClr val="dk1"/>
              </a:solidFill>
              <a:latin typeface="Times New Roman"/>
              <a:ea typeface="Times New Roman"/>
              <a:cs typeface="Times New Roman"/>
              <a:sym typeface="Times New Roman"/>
            </a:endParaRPr>
          </a:p>
        </p:txBody>
      </p:sp>
      <p:sp>
        <p:nvSpPr>
          <p:cNvPr id="785" name="Google Shape;785;p67"/>
          <p:cNvSpPr/>
          <p:nvPr/>
        </p:nvSpPr>
        <p:spPr>
          <a:xfrm>
            <a:off x="9554634" y="3090864"/>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0</a:t>
            </a:r>
            <a:endParaRPr sz="2400">
              <a:solidFill>
                <a:schemeClr val="dk1"/>
              </a:solidFill>
              <a:latin typeface="Times New Roman"/>
              <a:ea typeface="Times New Roman"/>
              <a:cs typeface="Times New Roman"/>
              <a:sym typeface="Times New Roman"/>
            </a:endParaRPr>
          </a:p>
        </p:txBody>
      </p:sp>
      <p:sp>
        <p:nvSpPr>
          <p:cNvPr id="786" name="Google Shape;786;p67"/>
          <p:cNvSpPr/>
          <p:nvPr/>
        </p:nvSpPr>
        <p:spPr>
          <a:xfrm>
            <a:off x="7162801" y="358140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7</a:t>
            </a:r>
            <a:endParaRPr sz="2400">
              <a:solidFill>
                <a:schemeClr val="dk1"/>
              </a:solidFill>
              <a:latin typeface="Times New Roman"/>
              <a:ea typeface="Times New Roman"/>
              <a:cs typeface="Times New Roman"/>
              <a:sym typeface="Times New Roman"/>
            </a:endParaRPr>
          </a:p>
        </p:txBody>
      </p:sp>
      <p:sp>
        <p:nvSpPr>
          <p:cNvPr id="787" name="Google Shape;787;p67"/>
          <p:cNvSpPr/>
          <p:nvPr/>
        </p:nvSpPr>
        <p:spPr>
          <a:xfrm>
            <a:off x="7969251" y="358140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6</a:t>
            </a:r>
            <a:endParaRPr sz="2400">
              <a:solidFill>
                <a:schemeClr val="dk1"/>
              </a:solidFill>
              <a:latin typeface="Times New Roman"/>
              <a:ea typeface="Times New Roman"/>
              <a:cs typeface="Times New Roman"/>
              <a:sym typeface="Times New Roman"/>
            </a:endParaRPr>
          </a:p>
        </p:txBody>
      </p:sp>
      <p:sp>
        <p:nvSpPr>
          <p:cNvPr id="788" name="Google Shape;788;p67"/>
          <p:cNvSpPr/>
          <p:nvPr/>
        </p:nvSpPr>
        <p:spPr>
          <a:xfrm>
            <a:off x="8750301" y="358140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5</a:t>
            </a:r>
            <a:endParaRPr sz="2400">
              <a:solidFill>
                <a:schemeClr val="dk1"/>
              </a:solidFill>
              <a:latin typeface="Times New Roman"/>
              <a:ea typeface="Times New Roman"/>
              <a:cs typeface="Times New Roman"/>
              <a:sym typeface="Times New Roman"/>
            </a:endParaRPr>
          </a:p>
        </p:txBody>
      </p:sp>
      <p:sp>
        <p:nvSpPr>
          <p:cNvPr id="789" name="Google Shape;789;p67"/>
          <p:cNvSpPr/>
          <p:nvPr/>
        </p:nvSpPr>
        <p:spPr>
          <a:xfrm>
            <a:off x="9554634" y="358140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4</a:t>
            </a:r>
            <a:endParaRPr sz="2400">
              <a:solidFill>
                <a:schemeClr val="dk1"/>
              </a:solidFill>
              <a:latin typeface="Times New Roman"/>
              <a:ea typeface="Times New Roman"/>
              <a:cs typeface="Times New Roman"/>
              <a:sym typeface="Times New Roman"/>
            </a:endParaRPr>
          </a:p>
        </p:txBody>
      </p:sp>
      <p:sp>
        <p:nvSpPr>
          <p:cNvPr id="790" name="Google Shape;790;p67"/>
          <p:cNvSpPr/>
          <p:nvPr/>
        </p:nvSpPr>
        <p:spPr>
          <a:xfrm>
            <a:off x="7842251" y="2674939"/>
            <a:ext cx="97462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Byte address</a:t>
            </a:r>
            <a:endParaRPr sz="2400">
              <a:solidFill>
                <a:schemeClr val="dk1"/>
              </a:solidFill>
              <a:latin typeface="Times New Roman"/>
              <a:ea typeface="Times New Roman"/>
              <a:cs typeface="Times New Roman"/>
              <a:sym typeface="Times New Roman"/>
            </a:endParaRPr>
          </a:p>
        </p:txBody>
      </p:sp>
      <p:sp>
        <p:nvSpPr>
          <p:cNvPr id="791" name="Google Shape;791;p67"/>
          <p:cNvSpPr/>
          <p:nvPr/>
        </p:nvSpPr>
        <p:spPr>
          <a:xfrm>
            <a:off x="3335867" y="2674939"/>
            <a:ext cx="974626"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Byte address</a:t>
            </a:r>
            <a:endParaRPr sz="2400">
              <a:solidFill>
                <a:schemeClr val="dk1"/>
              </a:solidFill>
              <a:latin typeface="Times New Roman"/>
              <a:ea typeface="Times New Roman"/>
              <a:cs typeface="Times New Roman"/>
              <a:sym typeface="Times New Roman"/>
            </a:endParaRPr>
          </a:p>
        </p:txBody>
      </p:sp>
      <p:sp>
        <p:nvSpPr>
          <p:cNvPr id="792" name="Google Shape;792;p67"/>
          <p:cNvSpPr/>
          <p:nvPr/>
        </p:nvSpPr>
        <p:spPr>
          <a:xfrm>
            <a:off x="2605618" y="6356221"/>
            <a:ext cx="1950855"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Helvetica Neue"/>
              <a:buNone/>
            </a:pPr>
            <a:r>
              <a:rPr lang="en-US" sz="1300">
                <a:solidFill>
                  <a:srgbClr val="000000"/>
                </a:solidFill>
                <a:latin typeface="Helvetica Neue"/>
                <a:ea typeface="Helvetica Neue"/>
                <a:cs typeface="Helvetica Neue"/>
                <a:sym typeface="Helvetica Neue"/>
              </a:rPr>
              <a:t>(a) Big-endian assignment</a:t>
            </a:r>
            <a:endParaRPr sz="2400">
              <a:solidFill>
                <a:schemeClr val="dk1"/>
              </a:solidFill>
              <a:latin typeface="Times New Roman"/>
              <a:ea typeface="Times New Roman"/>
              <a:cs typeface="Times New Roman"/>
              <a:sym typeface="Times New Roman"/>
            </a:endParaRPr>
          </a:p>
        </p:txBody>
      </p:sp>
      <p:sp>
        <p:nvSpPr>
          <p:cNvPr id="793" name="Google Shape;793;p67"/>
          <p:cNvSpPr/>
          <p:nvPr/>
        </p:nvSpPr>
        <p:spPr>
          <a:xfrm>
            <a:off x="7036098" y="6372908"/>
            <a:ext cx="2063065"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Helvetica Neue"/>
              <a:buNone/>
            </a:pPr>
            <a:r>
              <a:rPr lang="en-US" sz="1300">
                <a:solidFill>
                  <a:srgbClr val="000000"/>
                </a:solidFill>
                <a:latin typeface="Helvetica Neue"/>
                <a:ea typeface="Helvetica Neue"/>
                <a:cs typeface="Helvetica Neue"/>
                <a:sym typeface="Helvetica Neue"/>
              </a:rPr>
              <a:t>(b) Little-endian assignment</a:t>
            </a:r>
            <a:endParaRPr sz="2400">
              <a:solidFill>
                <a:schemeClr val="dk1"/>
              </a:solidFill>
              <a:latin typeface="Times New Roman"/>
              <a:ea typeface="Times New Roman"/>
              <a:cs typeface="Times New Roman"/>
              <a:sym typeface="Times New Roman"/>
            </a:endParaRPr>
          </a:p>
        </p:txBody>
      </p:sp>
      <p:sp>
        <p:nvSpPr>
          <p:cNvPr id="794" name="Google Shape;794;p67"/>
          <p:cNvSpPr/>
          <p:nvPr/>
        </p:nvSpPr>
        <p:spPr>
          <a:xfrm>
            <a:off x="6432551" y="3581400"/>
            <a:ext cx="9297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4</a:t>
            </a:r>
            <a:endParaRPr sz="2400">
              <a:solidFill>
                <a:schemeClr val="dk1"/>
              </a:solidFill>
              <a:latin typeface="Times New Roman"/>
              <a:ea typeface="Times New Roman"/>
              <a:cs typeface="Times New Roman"/>
              <a:sym typeface="Times New Roman"/>
            </a:endParaRPr>
          </a:p>
        </p:txBody>
      </p:sp>
      <p:sp>
        <p:nvSpPr>
          <p:cNvPr id="795" name="Google Shape;795;p67"/>
          <p:cNvSpPr/>
          <p:nvPr/>
        </p:nvSpPr>
        <p:spPr>
          <a:xfrm>
            <a:off x="1600201" y="2447925"/>
            <a:ext cx="15709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W</a:t>
            </a:r>
            <a:endParaRPr sz="2400">
              <a:solidFill>
                <a:schemeClr val="dk1"/>
              </a:solidFill>
              <a:latin typeface="Times New Roman"/>
              <a:ea typeface="Times New Roman"/>
              <a:cs typeface="Times New Roman"/>
              <a:sym typeface="Times New Roman"/>
            </a:endParaRPr>
          </a:p>
        </p:txBody>
      </p:sp>
      <p:sp>
        <p:nvSpPr>
          <p:cNvPr id="796" name="Google Shape;796;p67"/>
          <p:cNvSpPr/>
          <p:nvPr/>
        </p:nvSpPr>
        <p:spPr>
          <a:xfrm>
            <a:off x="1801284" y="2447925"/>
            <a:ext cx="242054"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ord</a:t>
            </a:r>
            <a:endParaRPr sz="2400">
              <a:solidFill>
                <a:schemeClr val="dk1"/>
              </a:solidFill>
              <a:latin typeface="Times New Roman"/>
              <a:ea typeface="Times New Roman"/>
              <a:cs typeface="Times New Roman"/>
              <a:sym typeface="Times New Roman"/>
            </a:endParaRPr>
          </a:p>
        </p:txBody>
      </p:sp>
      <p:sp>
        <p:nvSpPr>
          <p:cNvPr id="797" name="Google Shape;797;p67"/>
          <p:cNvSpPr/>
          <p:nvPr/>
        </p:nvSpPr>
        <p:spPr>
          <a:xfrm>
            <a:off x="1524001" y="2655889"/>
            <a:ext cx="594715" cy="20005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300"/>
              <a:buFont typeface="Arial"/>
              <a:buNone/>
            </a:pPr>
            <a:r>
              <a:rPr lang="en-US" sz="1300">
                <a:solidFill>
                  <a:srgbClr val="000000"/>
                </a:solidFill>
                <a:latin typeface="Arial"/>
                <a:ea typeface="Arial"/>
                <a:cs typeface="Arial"/>
                <a:sym typeface="Arial"/>
              </a:rPr>
              <a:t>address</a:t>
            </a:r>
            <a:endParaRPr sz="2400">
              <a:solidFill>
                <a:schemeClr val="dk1"/>
              </a:solidFill>
              <a:latin typeface="Times New Roman"/>
              <a:ea typeface="Times New Roman"/>
              <a:cs typeface="Times New Roman"/>
              <a:sym typeface="Times New Roman"/>
            </a:endParaRPr>
          </a:p>
        </p:txBody>
      </p:sp>
      <p:sp>
        <p:nvSpPr>
          <p:cNvPr id="798" name="Google Shape;798;p67"/>
          <p:cNvSpPr txBox="1"/>
          <p:nvPr/>
        </p:nvSpPr>
        <p:spPr>
          <a:xfrm>
            <a:off x="8288867" y="4340225"/>
            <a:ext cx="355600" cy="1015663"/>
          </a:xfrm>
          <a:prstGeom prst="rect">
            <a:avLst/>
          </a:prstGeom>
          <a:noFill/>
          <a:ln>
            <a:noFill/>
          </a:ln>
        </p:spPr>
        <p:txBody>
          <a:bodyPr spcFirstLastPara="1" wrap="square" lIns="91425" tIns="45700" rIns="91425" bIns="45700" anchor="t" anchorCtr="0">
            <a:spAutoFit/>
          </a:bodyPr>
          <a:lstStyle/>
          <a:p>
            <a:pPr marL="0" marR="0" lvl="0" indent="0" algn="l" rtl="0">
              <a:lnSpc>
                <a:spcPct val="20000"/>
              </a:lnSpc>
              <a:spcBef>
                <a:spcPts val="0"/>
              </a:spcBef>
              <a:spcAft>
                <a:spcPts val="0"/>
              </a:spcAft>
              <a:buClr>
                <a:schemeClr val="dk1"/>
              </a:buClr>
              <a:buSzPts val="2000"/>
              <a:buFont typeface="Calibri"/>
              <a:buNone/>
            </a:pP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1800">
              <a:solidFill>
                <a:schemeClr val="dk1"/>
              </a:solidFill>
              <a:latin typeface="Calibri"/>
              <a:ea typeface="Calibri"/>
              <a:cs typeface="Calibri"/>
              <a:sym typeface="Calibri"/>
            </a:endParaRPr>
          </a:p>
          <a:p>
            <a:pPr marL="0" marR="0" lvl="0" indent="0" algn="l" rtl="0">
              <a:lnSpc>
                <a:spcPct val="20000"/>
              </a:lnSpc>
              <a:spcBef>
                <a:spcPts val="1000"/>
              </a:spcBef>
              <a:spcAft>
                <a:spcPts val="0"/>
              </a:spcAft>
              <a:buClr>
                <a:schemeClr val="dk1"/>
              </a:buClr>
              <a:buSzPts val="2000"/>
              <a:buFont typeface="Calibri"/>
              <a:buNone/>
            </a:pPr>
            <a:endParaRPr sz="2000">
              <a:solidFill>
                <a:schemeClr val="dk1"/>
              </a:solidFill>
              <a:latin typeface="Arial"/>
              <a:ea typeface="Arial"/>
              <a:cs typeface="Arial"/>
              <a:sym typeface="Arial"/>
            </a:endParaRPr>
          </a:p>
        </p:txBody>
      </p:sp>
      <p:sp>
        <p:nvSpPr>
          <p:cNvPr id="799" name="Google Shape;799;p67"/>
          <p:cNvSpPr txBox="1"/>
          <p:nvPr/>
        </p:nvSpPr>
        <p:spPr>
          <a:xfrm>
            <a:off x="3691467" y="4340225"/>
            <a:ext cx="355600" cy="1015663"/>
          </a:xfrm>
          <a:prstGeom prst="rect">
            <a:avLst/>
          </a:prstGeom>
          <a:noFill/>
          <a:ln>
            <a:noFill/>
          </a:ln>
        </p:spPr>
        <p:txBody>
          <a:bodyPr spcFirstLastPara="1" wrap="square" lIns="91425" tIns="45700" rIns="91425" bIns="45700" anchor="t" anchorCtr="0">
            <a:spAutoFit/>
          </a:bodyPr>
          <a:lstStyle/>
          <a:p>
            <a:pPr marL="0" marR="0" lvl="0" indent="0" algn="l" rtl="0">
              <a:lnSpc>
                <a:spcPct val="20000"/>
              </a:lnSpc>
              <a:spcBef>
                <a:spcPts val="0"/>
              </a:spcBef>
              <a:spcAft>
                <a:spcPts val="0"/>
              </a:spcAft>
              <a:buClr>
                <a:schemeClr val="dk1"/>
              </a:buClr>
              <a:buSzPts val="2000"/>
              <a:buFont typeface="Calibri"/>
              <a:buNone/>
            </a:pP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marL="0" marR="0" lvl="0" indent="0" algn="l" rtl="0">
              <a:lnSpc>
                <a:spcPct val="20000"/>
              </a:lnSpc>
              <a:spcBef>
                <a:spcPts val="1000"/>
              </a:spcBef>
              <a:spcAft>
                <a:spcPts val="0"/>
              </a:spcAft>
              <a:buClr>
                <a:schemeClr val="dk1"/>
              </a:buClr>
              <a:buSzPts val="2000"/>
              <a:buFont typeface="Arial"/>
              <a:buNone/>
            </a:pPr>
            <a:r>
              <a:rPr lang="en-US" sz="2000">
                <a:solidFill>
                  <a:schemeClr val="dk1"/>
                </a:solidFill>
                <a:latin typeface="Arial"/>
                <a:ea typeface="Arial"/>
                <a:cs typeface="Arial"/>
                <a:sym typeface="Arial"/>
              </a:rPr>
              <a:t>•</a:t>
            </a:r>
            <a:endParaRPr sz="1800">
              <a:solidFill>
                <a:schemeClr val="dk1"/>
              </a:solidFill>
              <a:latin typeface="Calibri"/>
              <a:ea typeface="Calibri"/>
              <a:cs typeface="Calibri"/>
              <a:sym typeface="Calibri"/>
            </a:endParaRPr>
          </a:p>
          <a:p>
            <a:pPr marL="0" marR="0" lvl="0" indent="0" algn="l" rtl="0">
              <a:lnSpc>
                <a:spcPct val="20000"/>
              </a:lnSpc>
              <a:spcBef>
                <a:spcPts val="1000"/>
              </a:spcBef>
              <a:spcAft>
                <a:spcPts val="0"/>
              </a:spcAft>
              <a:buClr>
                <a:schemeClr val="dk1"/>
              </a:buClr>
              <a:buSzPts val="2000"/>
              <a:buFont typeface="Calibri"/>
              <a:buNone/>
            </a:pPr>
            <a:endParaRPr sz="2000">
              <a:solidFill>
                <a:schemeClr val="dk1"/>
              </a:solidFill>
              <a:latin typeface="Arial"/>
              <a:ea typeface="Arial"/>
              <a:cs typeface="Arial"/>
              <a:sym typeface="Arial"/>
            </a:endParaRPr>
          </a:p>
        </p:txBody>
      </p:sp>
      <p:sp>
        <p:nvSpPr>
          <p:cNvPr id="800" name="Google Shape;800;p67"/>
          <p:cNvSpPr/>
          <p:nvPr/>
        </p:nvSpPr>
        <p:spPr>
          <a:xfrm>
            <a:off x="3972197" y="6540477"/>
            <a:ext cx="3034485" cy="30777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2000"/>
              <a:buFont typeface="Arial"/>
              <a:buNone/>
            </a:pPr>
            <a:r>
              <a:rPr lang="en-US" sz="2000">
                <a:solidFill>
                  <a:srgbClr val="000000"/>
                </a:solidFill>
                <a:latin typeface="Arial"/>
                <a:ea typeface="Arial"/>
                <a:cs typeface="Arial"/>
                <a:sym typeface="Arial"/>
              </a:rPr>
              <a:t>Byte and word addressing.</a:t>
            </a:r>
            <a:endParaRPr sz="3600">
              <a:solidFill>
                <a:schemeClr val="dk1"/>
              </a:solidFill>
              <a:latin typeface="Times New Roman"/>
              <a:ea typeface="Times New Roman"/>
              <a:cs typeface="Times New Roman"/>
              <a:sym typeface="Times New Roman"/>
            </a:endParaRPr>
          </a:p>
        </p:txBody>
      </p:sp>
      <p:sp>
        <p:nvSpPr>
          <p:cNvPr id="801" name="Google Shape;801;p67"/>
          <p:cNvSpPr txBox="1"/>
          <p:nvPr/>
        </p:nvSpPr>
        <p:spPr>
          <a:xfrm>
            <a:off x="914400" y="1600201"/>
            <a:ext cx="9753600" cy="63094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1400"/>
              <a:buFont typeface="Times New Roman"/>
              <a:buNone/>
            </a:pPr>
            <a:r>
              <a:rPr lang="en-US" sz="1400">
                <a:solidFill>
                  <a:schemeClr val="dk2"/>
                </a:solidFill>
                <a:latin typeface="Times New Roman"/>
                <a:ea typeface="Times New Roman"/>
                <a:cs typeface="Times New Roman"/>
                <a:sym typeface="Times New Roman"/>
              </a:rPr>
              <a:t>Big-Endian: lower byte addresses are used for the most significant bytes of the word</a:t>
            </a:r>
            <a:endParaRPr sz="1800">
              <a:solidFill>
                <a:schemeClr val="dk1"/>
              </a:solidFill>
              <a:latin typeface="Times New Roman"/>
              <a:ea typeface="Times New Roman"/>
              <a:cs typeface="Times New Roman"/>
              <a:sym typeface="Times New Roman"/>
            </a:endParaRPr>
          </a:p>
          <a:p>
            <a:pPr marL="0" marR="0" lvl="0" indent="0" algn="l" rtl="0">
              <a:spcBef>
                <a:spcPts val="700"/>
              </a:spcBef>
              <a:spcAft>
                <a:spcPts val="0"/>
              </a:spcAft>
              <a:buClr>
                <a:schemeClr val="dk2"/>
              </a:buClr>
              <a:buSzPts val="1400"/>
              <a:buFont typeface="Times New Roman"/>
              <a:buNone/>
            </a:pPr>
            <a:r>
              <a:rPr lang="en-US" sz="1400">
                <a:solidFill>
                  <a:schemeClr val="dk2"/>
                </a:solidFill>
                <a:latin typeface="Times New Roman"/>
                <a:ea typeface="Times New Roman"/>
                <a:cs typeface="Times New Roman"/>
                <a:sym typeface="Times New Roman"/>
              </a:rPr>
              <a:t>Little-Endian: opposite ordering. lower byte addresses are used for the less significant bytes of the word</a:t>
            </a:r>
            <a:endParaRPr sz="1400">
              <a:solidFill>
                <a:schemeClr val="dk2"/>
              </a:solidFill>
              <a:latin typeface="Times New Roman"/>
              <a:ea typeface="Times New Roman"/>
              <a:cs typeface="Times New Roman"/>
              <a:sym typeface="Times New Roman"/>
            </a:endParaRPr>
          </a:p>
        </p:txBody>
      </p:sp>
      <p:sp>
        <p:nvSpPr>
          <p:cNvPr id="802" name="Google Shape;802;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53</a:t>
            </a:fld>
            <a:endParaRPr/>
          </a:p>
        </p:txBody>
      </p:sp>
      <p:sp>
        <p:nvSpPr>
          <p:cNvPr id="803" name="Google Shape;803;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2571526A-D42A-4E95-A992-2676339490FD}" type="datetime1">
              <a:rPr lang="en-US" smtClean="0"/>
              <a:t>8/12/2024</a:t>
            </a:fld>
            <a:endParaRPr/>
          </a:p>
        </p:txBody>
      </p:sp>
      <p:sp>
        <p:nvSpPr>
          <p:cNvPr id="804" name="Google Shape;804;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0"/>
                                        </p:tgtEl>
                                        <p:attrNameLst>
                                          <p:attrName>style.visibility</p:attrName>
                                        </p:attrNameLst>
                                      </p:cBhvr>
                                      <p:to>
                                        <p:strVal val="visible"/>
                                      </p:to>
                                    </p:set>
                                    <p:animEffect transition="in" filter="fade">
                                      <p:cBhvr>
                                        <p:cTn id="7" dur="500"/>
                                        <p:tgtEl>
                                          <p:spTgt spid="710"/>
                                        </p:tgtEl>
                                      </p:cBhvr>
                                    </p:animEffect>
                                  </p:childTnLst>
                                </p:cTn>
                              </p:par>
                              <p:par>
                                <p:cTn id="8" presetID="10" presetClass="entr" presetSubtype="0" fill="hold" nodeType="withEffect">
                                  <p:stCondLst>
                                    <p:cond delay="0"/>
                                  </p:stCondLst>
                                  <p:childTnLst>
                                    <p:set>
                                      <p:cBhvr>
                                        <p:cTn id="9" dur="1" fill="hold">
                                          <p:stCondLst>
                                            <p:cond delay="0"/>
                                          </p:stCondLst>
                                        </p:cTn>
                                        <p:tgtEl>
                                          <p:spTgt spid="711"/>
                                        </p:tgtEl>
                                        <p:attrNameLst>
                                          <p:attrName>style.visibility</p:attrName>
                                        </p:attrNameLst>
                                      </p:cBhvr>
                                      <p:to>
                                        <p:strVal val="visible"/>
                                      </p:to>
                                    </p:set>
                                    <p:animEffect transition="in" filter="fade">
                                      <p:cBhvr>
                                        <p:cTn id="10" dur="500"/>
                                        <p:tgtEl>
                                          <p:spTgt spid="711"/>
                                        </p:tgtEl>
                                      </p:cBhvr>
                                    </p:animEffect>
                                  </p:childTnLst>
                                </p:cTn>
                              </p:par>
                              <p:par>
                                <p:cTn id="11" presetID="10" presetClass="entr" presetSubtype="0" fill="hold" nodeType="withEffect">
                                  <p:stCondLst>
                                    <p:cond delay="0"/>
                                  </p:stCondLst>
                                  <p:childTnLst>
                                    <p:set>
                                      <p:cBhvr>
                                        <p:cTn id="12" dur="1" fill="hold">
                                          <p:stCondLst>
                                            <p:cond delay="0"/>
                                          </p:stCondLst>
                                        </p:cTn>
                                        <p:tgtEl>
                                          <p:spTgt spid="712"/>
                                        </p:tgtEl>
                                        <p:attrNameLst>
                                          <p:attrName>style.visibility</p:attrName>
                                        </p:attrNameLst>
                                      </p:cBhvr>
                                      <p:to>
                                        <p:strVal val="visible"/>
                                      </p:to>
                                    </p:set>
                                    <p:animEffect transition="in" filter="fade">
                                      <p:cBhvr>
                                        <p:cTn id="13" dur="500"/>
                                        <p:tgtEl>
                                          <p:spTgt spid="712"/>
                                        </p:tgtEl>
                                      </p:cBhvr>
                                    </p:animEffect>
                                  </p:childTnLst>
                                </p:cTn>
                              </p:par>
                              <p:par>
                                <p:cTn id="14" presetID="10" presetClass="entr" presetSubtype="0" fill="hold" nodeType="withEffect">
                                  <p:stCondLst>
                                    <p:cond delay="0"/>
                                  </p:stCondLst>
                                  <p:childTnLst>
                                    <p:set>
                                      <p:cBhvr>
                                        <p:cTn id="15" dur="1" fill="hold">
                                          <p:stCondLst>
                                            <p:cond delay="0"/>
                                          </p:stCondLst>
                                        </p:cTn>
                                        <p:tgtEl>
                                          <p:spTgt spid="713"/>
                                        </p:tgtEl>
                                        <p:attrNameLst>
                                          <p:attrName>style.visibility</p:attrName>
                                        </p:attrNameLst>
                                      </p:cBhvr>
                                      <p:to>
                                        <p:strVal val="visible"/>
                                      </p:to>
                                    </p:set>
                                    <p:animEffect transition="in" filter="fade">
                                      <p:cBhvr>
                                        <p:cTn id="16" dur="500"/>
                                        <p:tgtEl>
                                          <p:spTgt spid="713"/>
                                        </p:tgtEl>
                                      </p:cBhvr>
                                    </p:animEffect>
                                  </p:childTnLst>
                                </p:cTn>
                              </p:par>
                              <p:par>
                                <p:cTn id="17" presetID="10" presetClass="entr" presetSubtype="0" fill="hold" nodeType="withEffect">
                                  <p:stCondLst>
                                    <p:cond delay="0"/>
                                  </p:stCondLst>
                                  <p:childTnLst>
                                    <p:set>
                                      <p:cBhvr>
                                        <p:cTn id="18" dur="1" fill="hold">
                                          <p:stCondLst>
                                            <p:cond delay="0"/>
                                          </p:stCondLst>
                                        </p:cTn>
                                        <p:tgtEl>
                                          <p:spTgt spid="714"/>
                                        </p:tgtEl>
                                        <p:attrNameLst>
                                          <p:attrName>style.visibility</p:attrName>
                                        </p:attrNameLst>
                                      </p:cBhvr>
                                      <p:to>
                                        <p:strVal val="visible"/>
                                      </p:to>
                                    </p:set>
                                    <p:animEffect transition="in" filter="fade">
                                      <p:cBhvr>
                                        <p:cTn id="19" dur="500"/>
                                        <p:tgtEl>
                                          <p:spTgt spid="714"/>
                                        </p:tgtEl>
                                      </p:cBhvr>
                                    </p:animEffect>
                                  </p:childTnLst>
                                </p:cTn>
                              </p:par>
                              <p:par>
                                <p:cTn id="20" presetID="10" presetClass="entr" presetSubtype="0" fill="hold" nodeType="withEffect">
                                  <p:stCondLst>
                                    <p:cond delay="0"/>
                                  </p:stCondLst>
                                  <p:childTnLst>
                                    <p:set>
                                      <p:cBhvr>
                                        <p:cTn id="21" dur="1" fill="hold">
                                          <p:stCondLst>
                                            <p:cond delay="0"/>
                                          </p:stCondLst>
                                        </p:cTn>
                                        <p:tgtEl>
                                          <p:spTgt spid="715"/>
                                        </p:tgtEl>
                                        <p:attrNameLst>
                                          <p:attrName>style.visibility</p:attrName>
                                        </p:attrNameLst>
                                      </p:cBhvr>
                                      <p:to>
                                        <p:strVal val="visible"/>
                                      </p:to>
                                    </p:set>
                                    <p:animEffect transition="in" filter="fade">
                                      <p:cBhvr>
                                        <p:cTn id="22" dur="500"/>
                                        <p:tgtEl>
                                          <p:spTgt spid="715"/>
                                        </p:tgtEl>
                                      </p:cBhvr>
                                    </p:animEffect>
                                  </p:childTnLst>
                                </p:cTn>
                              </p:par>
                              <p:par>
                                <p:cTn id="23" presetID="10" presetClass="entr" presetSubtype="0" fill="hold" nodeType="withEffect">
                                  <p:stCondLst>
                                    <p:cond delay="0"/>
                                  </p:stCondLst>
                                  <p:childTnLst>
                                    <p:set>
                                      <p:cBhvr>
                                        <p:cTn id="24" dur="1" fill="hold">
                                          <p:stCondLst>
                                            <p:cond delay="0"/>
                                          </p:stCondLst>
                                        </p:cTn>
                                        <p:tgtEl>
                                          <p:spTgt spid="716"/>
                                        </p:tgtEl>
                                        <p:attrNameLst>
                                          <p:attrName>style.visibility</p:attrName>
                                        </p:attrNameLst>
                                      </p:cBhvr>
                                      <p:to>
                                        <p:strVal val="visible"/>
                                      </p:to>
                                    </p:set>
                                    <p:animEffect transition="in" filter="fade">
                                      <p:cBhvr>
                                        <p:cTn id="25" dur="500"/>
                                        <p:tgtEl>
                                          <p:spTgt spid="716"/>
                                        </p:tgtEl>
                                      </p:cBhvr>
                                    </p:animEffect>
                                  </p:childTnLst>
                                </p:cTn>
                              </p:par>
                              <p:par>
                                <p:cTn id="26" presetID="10" presetClass="entr" presetSubtype="0" fill="hold" nodeType="withEffect">
                                  <p:stCondLst>
                                    <p:cond delay="0"/>
                                  </p:stCondLst>
                                  <p:childTnLst>
                                    <p:set>
                                      <p:cBhvr>
                                        <p:cTn id="27" dur="1" fill="hold">
                                          <p:stCondLst>
                                            <p:cond delay="0"/>
                                          </p:stCondLst>
                                        </p:cTn>
                                        <p:tgtEl>
                                          <p:spTgt spid="717"/>
                                        </p:tgtEl>
                                        <p:attrNameLst>
                                          <p:attrName>style.visibility</p:attrName>
                                        </p:attrNameLst>
                                      </p:cBhvr>
                                      <p:to>
                                        <p:strVal val="visible"/>
                                      </p:to>
                                    </p:set>
                                    <p:animEffect transition="in" filter="fade">
                                      <p:cBhvr>
                                        <p:cTn id="28" dur="500"/>
                                        <p:tgtEl>
                                          <p:spTgt spid="717"/>
                                        </p:tgtEl>
                                      </p:cBhvr>
                                    </p:animEffect>
                                  </p:childTnLst>
                                </p:cTn>
                              </p:par>
                              <p:par>
                                <p:cTn id="29" presetID="10" presetClass="entr" presetSubtype="0" fill="hold" nodeType="withEffect">
                                  <p:stCondLst>
                                    <p:cond delay="0"/>
                                  </p:stCondLst>
                                  <p:childTnLst>
                                    <p:set>
                                      <p:cBhvr>
                                        <p:cTn id="30" dur="1" fill="hold">
                                          <p:stCondLst>
                                            <p:cond delay="0"/>
                                          </p:stCondLst>
                                        </p:cTn>
                                        <p:tgtEl>
                                          <p:spTgt spid="718"/>
                                        </p:tgtEl>
                                        <p:attrNameLst>
                                          <p:attrName>style.visibility</p:attrName>
                                        </p:attrNameLst>
                                      </p:cBhvr>
                                      <p:to>
                                        <p:strVal val="visible"/>
                                      </p:to>
                                    </p:set>
                                    <p:animEffect transition="in" filter="fade">
                                      <p:cBhvr>
                                        <p:cTn id="31" dur="500"/>
                                        <p:tgtEl>
                                          <p:spTgt spid="718"/>
                                        </p:tgtEl>
                                      </p:cBhvr>
                                    </p:animEffect>
                                  </p:childTnLst>
                                </p:cTn>
                              </p:par>
                              <p:par>
                                <p:cTn id="32" presetID="10" presetClass="entr" presetSubtype="0" fill="hold" nodeType="withEffect">
                                  <p:stCondLst>
                                    <p:cond delay="0"/>
                                  </p:stCondLst>
                                  <p:childTnLst>
                                    <p:set>
                                      <p:cBhvr>
                                        <p:cTn id="33" dur="1" fill="hold">
                                          <p:stCondLst>
                                            <p:cond delay="0"/>
                                          </p:stCondLst>
                                        </p:cTn>
                                        <p:tgtEl>
                                          <p:spTgt spid="719"/>
                                        </p:tgtEl>
                                        <p:attrNameLst>
                                          <p:attrName>style.visibility</p:attrName>
                                        </p:attrNameLst>
                                      </p:cBhvr>
                                      <p:to>
                                        <p:strVal val="visible"/>
                                      </p:to>
                                    </p:set>
                                    <p:animEffect transition="in" filter="fade">
                                      <p:cBhvr>
                                        <p:cTn id="34" dur="500"/>
                                        <p:tgtEl>
                                          <p:spTgt spid="719"/>
                                        </p:tgtEl>
                                      </p:cBhvr>
                                    </p:animEffect>
                                  </p:childTnLst>
                                </p:cTn>
                              </p:par>
                              <p:par>
                                <p:cTn id="35" presetID="10" presetClass="entr" presetSubtype="0" fill="hold" nodeType="withEffect">
                                  <p:stCondLst>
                                    <p:cond delay="0"/>
                                  </p:stCondLst>
                                  <p:childTnLst>
                                    <p:set>
                                      <p:cBhvr>
                                        <p:cTn id="36" dur="1" fill="hold">
                                          <p:stCondLst>
                                            <p:cond delay="0"/>
                                          </p:stCondLst>
                                        </p:cTn>
                                        <p:tgtEl>
                                          <p:spTgt spid="720"/>
                                        </p:tgtEl>
                                        <p:attrNameLst>
                                          <p:attrName>style.visibility</p:attrName>
                                        </p:attrNameLst>
                                      </p:cBhvr>
                                      <p:to>
                                        <p:strVal val="visible"/>
                                      </p:to>
                                    </p:set>
                                    <p:animEffect transition="in" filter="fade">
                                      <p:cBhvr>
                                        <p:cTn id="37" dur="500"/>
                                        <p:tgtEl>
                                          <p:spTgt spid="720"/>
                                        </p:tgtEl>
                                      </p:cBhvr>
                                    </p:animEffect>
                                  </p:childTnLst>
                                </p:cTn>
                              </p:par>
                              <p:par>
                                <p:cTn id="38" presetID="10" presetClass="entr" presetSubtype="0" fill="hold" nodeType="withEffect">
                                  <p:stCondLst>
                                    <p:cond delay="0"/>
                                  </p:stCondLst>
                                  <p:childTnLst>
                                    <p:set>
                                      <p:cBhvr>
                                        <p:cTn id="39" dur="1" fill="hold">
                                          <p:stCondLst>
                                            <p:cond delay="0"/>
                                          </p:stCondLst>
                                        </p:cTn>
                                        <p:tgtEl>
                                          <p:spTgt spid="721"/>
                                        </p:tgtEl>
                                        <p:attrNameLst>
                                          <p:attrName>style.visibility</p:attrName>
                                        </p:attrNameLst>
                                      </p:cBhvr>
                                      <p:to>
                                        <p:strVal val="visible"/>
                                      </p:to>
                                    </p:set>
                                    <p:animEffect transition="in" filter="fade">
                                      <p:cBhvr>
                                        <p:cTn id="40" dur="500"/>
                                        <p:tgtEl>
                                          <p:spTgt spid="721"/>
                                        </p:tgtEl>
                                      </p:cBhvr>
                                    </p:animEffect>
                                  </p:childTnLst>
                                </p:cTn>
                              </p:par>
                              <p:par>
                                <p:cTn id="41" presetID="10" presetClass="entr" presetSubtype="0" fill="hold" nodeType="withEffect">
                                  <p:stCondLst>
                                    <p:cond delay="0"/>
                                  </p:stCondLst>
                                  <p:childTnLst>
                                    <p:set>
                                      <p:cBhvr>
                                        <p:cTn id="42" dur="1" fill="hold">
                                          <p:stCondLst>
                                            <p:cond delay="0"/>
                                          </p:stCondLst>
                                        </p:cTn>
                                        <p:tgtEl>
                                          <p:spTgt spid="722"/>
                                        </p:tgtEl>
                                        <p:attrNameLst>
                                          <p:attrName>style.visibility</p:attrName>
                                        </p:attrNameLst>
                                      </p:cBhvr>
                                      <p:to>
                                        <p:strVal val="visible"/>
                                      </p:to>
                                    </p:set>
                                    <p:animEffect transition="in" filter="fade">
                                      <p:cBhvr>
                                        <p:cTn id="43" dur="500"/>
                                        <p:tgtEl>
                                          <p:spTgt spid="722"/>
                                        </p:tgtEl>
                                      </p:cBhvr>
                                    </p:animEffect>
                                  </p:childTnLst>
                                </p:cTn>
                              </p:par>
                              <p:par>
                                <p:cTn id="44" presetID="10" presetClass="entr" presetSubtype="0" fill="hold" nodeType="withEffect">
                                  <p:stCondLst>
                                    <p:cond delay="0"/>
                                  </p:stCondLst>
                                  <p:childTnLst>
                                    <p:set>
                                      <p:cBhvr>
                                        <p:cTn id="45" dur="1" fill="hold">
                                          <p:stCondLst>
                                            <p:cond delay="0"/>
                                          </p:stCondLst>
                                        </p:cTn>
                                        <p:tgtEl>
                                          <p:spTgt spid="723"/>
                                        </p:tgtEl>
                                        <p:attrNameLst>
                                          <p:attrName>style.visibility</p:attrName>
                                        </p:attrNameLst>
                                      </p:cBhvr>
                                      <p:to>
                                        <p:strVal val="visible"/>
                                      </p:to>
                                    </p:set>
                                    <p:animEffect transition="in" filter="fade">
                                      <p:cBhvr>
                                        <p:cTn id="46" dur="500"/>
                                        <p:tgtEl>
                                          <p:spTgt spid="723"/>
                                        </p:tgtEl>
                                      </p:cBhvr>
                                    </p:animEffect>
                                  </p:childTnLst>
                                </p:cTn>
                              </p:par>
                              <p:par>
                                <p:cTn id="47" presetID="10" presetClass="entr" presetSubtype="0" fill="hold" nodeType="withEffect">
                                  <p:stCondLst>
                                    <p:cond delay="0"/>
                                  </p:stCondLst>
                                  <p:childTnLst>
                                    <p:set>
                                      <p:cBhvr>
                                        <p:cTn id="48" dur="1" fill="hold">
                                          <p:stCondLst>
                                            <p:cond delay="0"/>
                                          </p:stCondLst>
                                        </p:cTn>
                                        <p:tgtEl>
                                          <p:spTgt spid="724"/>
                                        </p:tgtEl>
                                        <p:attrNameLst>
                                          <p:attrName>style.visibility</p:attrName>
                                        </p:attrNameLst>
                                      </p:cBhvr>
                                      <p:to>
                                        <p:strVal val="visible"/>
                                      </p:to>
                                    </p:set>
                                    <p:animEffect transition="in" filter="fade">
                                      <p:cBhvr>
                                        <p:cTn id="49" dur="500"/>
                                        <p:tgtEl>
                                          <p:spTgt spid="724"/>
                                        </p:tgtEl>
                                      </p:cBhvr>
                                    </p:animEffect>
                                  </p:childTnLst>
                                </p:cTn>
                              </p:par>
                              <p:par>
                                <p:cTn id="50" presetID="10" presetClass="entr" presetSubtype="0" fill="hold" nodeType="withEffect">
                                  <p:stCondLst>
                                    <p:cond delay="0"/>
                                  </p:stCondLst>
                                  <p:childTnLst>
                                    <p:set>
                                      <p:cBhvr>
                                        <p:cTn id="51" dur="1" fill="hold">
                                          <p:stCondLst>
                                            <p:cond delay="0"/>
                                          </p:stCondLst>
                                        </p:cTn>
                                        <p:tgtEl>
                                          <p:spTgt spid="725"/>
                                        </p:tgtEl>
                                        <p:attrNameLst>
                                          <p:attrName>style.visibility</p:attrName>
                                        </p:attrNameLst>
                                      </p:cBhvr>
                                      <p:to>
                                        <p:strVal val="visible"/>
                                      </p:to>
                                    </p:set>
                                    <p:animEffect transition="in" filter="fade">
                                      <p:cBhvr>
                                        <p:cTn id="52" dur="500"/>
                                        <p:tgtEl>
                                          <p:spTgt spid="725"/>
                                        </p:tgtEl>
                                      </p:cBhvr>
                                    </p:animEffect>
                                  </p:childTnLst>
                                </p:cTn>
                              </p:par>
                              <p:par>
                                <p:cTn id="53" presetID="10" presetClass="entr" presetSubtype="0" fill="hold" nodeType="withEffect">
                                  <p:stCondLst>
                                    <p:cond delay="0"/>
                                  </p:stCondLst>
                                  <p:childTnLst>
                                    <p:set>
                                      <p:cBhvr>
                                        <p:cTn id="54" dur="1" fill="hold">
                                          <p:stCondLst>
                                            <p:cond delay="0"/>
                                          </p:stCondLst>
                                        </p:cTn>
                                        <p:tgtEl>
                                          <p:spTgt spid="726"/>
                                        </p:tgtEl>
                                        <p:attrNameLst>
                                          <p:attrName>style.visibility</p:attrName>
                                        </p:attrNameLst>
                                      </p:cBhvr>
                                      <p:to>
                                        <p:strVal val="visible"/>
                                      </p:to>
                                    </p:set>
                                    <p:animEffect transition="in" filter="fade">
                                      <p:cBhvr>
                                        <p:cTn id="55" dur="500"/>
                                        <p:tgtEl>
                                          <p:spTgt spid="726"/>
                                        </p:tgtEl>
                                      </p:cBhvr>
                                    </p:animEffect>
                                  </p:childTnLst>
                                </p:cTn>
                              </p:par>
                              <p:par>
                                <p:cTn id="56" presetID="10" presetClass="entr" presetSubtype="0" fill="hold" nodeType="withEffect">
                                  <p:stCondLst>
                                    <p:cond delay="0"/>
                                  </p:stCondLst>
                                  <p:childTnLst>
                                    <p:set>
                                      <p:cBhvr>
                                        <p:cTn id="57" dur="1" fill="hold">
                                          <p:stCondLst>
                                            <p:cond delay="0"/>
                                          </p:stCondLst>
                                        </p:cTn>
                                        <p:tgtEl>
                                          <p:spTgt spid="727"/>
                                        </p:tgtEl>
                                        <p:attrNameLst>
                                          <p:attrName>style.visibility</p:attrName>
                                        </p:attrNameLst>
                                      </p:cBhvr>
                                      <p:to>
                                        <p:strVal val="visible"/>
                                      </p:to>
                                    </p:set>
                                    <p:animEffect transition="in" filter="fade">
                                      <p:cBhvr>
                                        <p:cTn id="58" dur="500"/>
                                        <p:tgtEl>
                                          <p:spTgt spid="727"/>
                                        </p:tgtEl>
                                      </p:cBhvr>
                                    </p:animEffect>
                                  </p:childTnLst>
                                </p:cTn>
                              </p:par>
                              <p:par>
                                <p:cTn id="59" presetID="10" presetClass="entr" presetSubtype="0" fill="hold" nodeType="withEffect">
                                  <p:stCondLst>
                                    <p:cond delay="0"/>
                                  </p:stCondLst>
                                  <p:childTnLst>
                                    <p:set>
                                      <p:cBhvr>
                                        <p:cTn id="60" dur="1" fill="hold">
                                          <p:stCondLst>
                                            <p:cond delay="0"/>
                                          </p:stCondLst>
                                        </p:cTn>
                                        <p:tgtEl>
                                          <p:spTgt spid="728"/>
                                        </p:tgtEl>
                                        <p:attrNameLst>
                                          <p:attrName>style.visibility</p:attrName>
                                        </p:attrNameLst>
                                      </p:cBhvr>
                                      <p:to>
                                        <p:strVal val="visible"/>
                                      </p:to>
                                    </p:set>
                                    <p:animEffect transition="in" filter="fade">
                                      <p:cBhvr>
                                        <p:cTn id="61" dur="500"/>
                                        <p:tgtEl>
                                          <p:spTgt spid="728"/>
                                        </p:tgtEl>
                                      </p:cBhvr>
                                    </p:animEffect>
                                  </p:childTnLst>
                                </p:cTn>
                              </p:par>
                              <p:par>
                                <p:cTn id="62" presetID="10" presetClass="entr" presetSubtype="0" fill="hold" nodeType="withEffect">
                                  <p:stCondLst>
                                    <p:cond delay="0"/>
                                  </p:stCondLst>
                                  <p:childTnLst>
                                    <p:set>
                                      <p:cBhvr>
                                        <p:cTn id="63" dur="1" fill="hold">
                                          <p:stCondLst>
                                            <p:cond delay="0"/>
                                          </p:stCondLst>
                                        </p:cTn>
                                        <p:tgtEl>
                                          <p:spTgt spid="729"/>
                                        </p:tgtEl>
                                        <p:attrNameLst>
                                          <p:attrName>style.visibility</p:attrName>
                                        </p:attrNameLst>
                                      </p:cBhvr>
                                      <p:to>
                                        <p:strVal val="visible"/>
                                      </p:to>
                                    </p:set>
                                    <p:animEffect transition="in" filter="fade">
                                      <p:cBhvr>
                                        <p:cTn id="64" dur="500"/>
                                        <p:tgtEl>
                                          <p:spTgt spid="729"/>
                                        </p:tgtEl>
                                      </p:cBhvr>
                                    </p:animEffect>
                                  </p:childTnLst>
                                </p:cTn>
                              </p:par>
                              <p:par>
                                <p:cTn id="65" presetID="10" presetClass="entr" presetSubtype="0" fill="hold" nodeType="withEffect">
                                  <p:stCondLst>
                                    <p:cond delay="0"/>
                                  </p:stCondLst>
                                  <p:childTnLst>
                                    <p:set>
                                      <p:cBhvr>
                                        <p:cTn id="66" dur="1" fill="hold">
                                          <p:stCondLst>
                                            <p:cond delay="0"/>
                                          </p:stCondLst>
                                        </p:cTn>
                                        <p:tgtEl>
                                          <p:spTgt spid="730"/>
                                        </p:tgtEl>
                                        <p:attrNameLst>
                                          <p:attrName>style.visibility</p:attrName>
                                        </p:attrNameLst>
                                      </p:cBhvr>
                                      <p:to>
                                        <p:strVal val="visible"/>
                                      </p:to>
                                    </p:set>
                                    <p:animEffect transition="in" filter="fade">
                                      <p:cBhvr>
                                        <p:cTn id="67" dur="500"/>
                                        <p:tgtEl>
                                          <p:spTgt spid="730"/>
                                        </p:tgtEl>
                                      </p:cBhvr>
                                    </p:animEffect>
                                  </p:childTnLst>
                                </p:cTn>
                              </p:par>
                              <p:par>
                                <p:cTn id="68" presetID="10" presetClass="entr" presetSubtype="0" fill="hold" nodeType="withEffect">
                                  <p:stCondLst>
                                    <p:cond delay="0"/>
                                  </p:stCondLst>
                                  <p:childTnLst>
                                    <p:set>
                                      <p:cBhvr>
                                        <p:cTn id="69" dur="1" fill="hold">
                                          <p:stCondLst>
                                            <p:cond delay="0"/>
                                          </p:stCondLst>
                                        </p:cTn>
                                        <p:tgtEl>
                                          <p:spTgt spid="731"/>
                                        </p:tgtEl>
                                        <p:attrNameLst>
                                          <p:attrName>style.visibility</p:attrName>
                                        </p:attrNameLst>
                                      </p:cBhvr>
                                      <p:to>
                                        <p:strVal val="visible"/>
                                      </p:to>
                                    </p:set>
                                    <p:animEffect transition="in" filter="fade">
                                      <p:cBhvr>
                                        <p:cTn id="70" dur="500"/>
                                        <p:tgtEl>
                                          <p:spTgt spid="731"/>
                                        </p:tgtEl>
                                      </p:cBhvr>
                                    </p:animEffect>
                                  </p:childTnLst>
                                </p:cTn>
                              </p:par>
                              <p:par>
                                <p:cTn id="71" presetID="10" presetClass="entr" presetSubtype="0" fill="hold" nodeType="withEffect">
                                  <p:stCondLst>
                                    <p:cond delay="0"/>
                                  </p:stCondLst>
                                  <p:childTnLst>
                                    <p:set>
                                      <p:cBhvr>
                                        <p:cTn id="72" dur="1" fill="hold">
                                          <p:stCondLst>
                                            <p:cond delay="0"/>
                                          </p:stCondLst>
                                        </p:cTn>
                                        <p:tgtEl>
                                          <p:spTgt spid="732"/>
                                        </p:tgtEl>
                                        <p:attrNameLst>
                                          <p:attrName>style.visibility</p:attrName>
                                        </p:attrNameLst>
                                      </p:cBhvr>
                                      <p:to>
                                        <p:strVal val="visible"/>
                                      </p:to>
                                    </p:set>
                                    <p:animEffect transition="in" filter="fade">
                                      <p:cBhvr>
                                        <p:cTn id="73" dur="500"/>
                                        <p:tgtEl>
                                          <p:spTgt spid="732"/>
                                        </p:tgtEl>
                                      </p:cBhvr>
                                    </p:animEffect>
                                  </p:childTnLst>
                                </p:cTn>
                              </p:par>
                              <p:par>
                                <p:cTn id="74" presetID="10" presetClass="entr" presetSubtype="0" fill="hold" nodeType="withEffect">
                                  <p:stCondLst>
                                    <p:cond delay="0"/>
                                  </p:stCondLst>
                                  <p:childTnLst>
                                    <p:set>
                                      <p:cBhvr>
                                        <p:cTn id="75" dur="1" fill="hold">
                                          <p:stCondLst>
                                            <p:cond delay="0"/>
                                          </p:stCondLst>
                                        </p:cTn>
                                        <p:tgtEl>
                                          <p:spTgt spid="733"/>
                                        </p:tgtEl>
                                        <p:attrNameLst>
                                          <p:attrName>style.visibility</p:attrName>
                                        </p:attrNameLst>
                                      </p:cBhvr>
                                      <p:to>
                                        <p:strVal val="visible"/>
                                      </p:to>
                                    </p:set>
                                    <p:animEffect transition="in" filter="fade">
                                      <p:cBhvr>
                                        <p:cTn id="76" dur="500"/>
                                        <p:tgtEl>
                                          <p:spTgt spid="733"/>
                                        </p:tgtEl>
                                      </p:cBhvr>
                                    </p:animEffect>
                                  </p:childTnLst>
                                </p:cTn>
                              </p:par>
                              <p:par>
                                <p:cTn id="77" presetID="10" presetClass="entr" presetSubtype="0" fill="hold" nodeType="withEffect">
                                  <p:stCondLst>
                                    <p:cond delay="0"/>
                                  </p:stCondLst>
                                  <p:childTnLst>
                                    <p:set>
                                      <p:cBhvr>
                                        <p:cTn id="78" dur="1" fill="hold">
                                          <p:stCondLst>
                                            <p:cond delay="0"/>
                                          </p:stCondLst>
                                        </p:cTn>
                                        <p:tgtEl>
                                          <p:spTgt spid="734"/>
                                        </p:tgtEl>
                                        <p:attrNameLst>
                                          <p:attrName>style.visibility</p:attrName>
                                        </p:attrNameLst>
                                      </p:cBhvr>
                                      <p:to>
                                        <p:strVal val="visible"/>
                                      </p:to>
                                    </p:set>
                                    <p:animEffect transition="in" filter="fade">
                                      <p:cBhvr>
                                        <p:cTn id="79" dur="500"/>
                                        <p:tgtEl>
                                          <p:spTgt spid="734"/>
                                        </p:tgtEl>
                                      </p:cBhvr>
                                    </p:animEffect>
                                  </p:childTnLst>
                                </p:cTn>
                              </p:par>
                              <p:par>
                                <p:cTn id="80" presetID="10" presetClass="entr" presetSubtype="0" fill="hold" nodeType="withEffect">
                                  <p:stCondLst>
                                    <p:cond delay="0"/>
                                  </p:stCondLst>
                                  <p:childTnLst>
                                    <p:set>
                                      <p:cBhvr>
                                        <p:cTn id="81" dur="1" fill="hold">
                                          <p:stCondLst>
                                            <p:cond delay="0"/>
                                          </p:stCondLst>
                                        </p:cTn>
                                        <p:tgtEl>
                                          <p:spTgt spid="735"/>
                                        </p:tgtEl>
                                        <p:attrNameLst>
                                          <p:attrName>style.visibility</p:attrName>
                                        </p:attrNameLst>
                                      </p:cBhvr>
                                      <p:to>
                                        <p:strVal val="visible"/>
                                      </p:to>
                                    </p:set>
                                    <p:animEffect transition="in" filter="fade">
                                      <p:cBhvr>
                                        <p:cTn id="82" dur="500"/>
                                        <p:tgtEl>
                                          <p:spTgt spid="735"/>
                                        </p:tgtEl>
                                      </p:cBhvr>
                                    </p:animEffect>
                                  </p:childTnLst>
                                </p:cTn>
                              </p:par>
                              <p:par>
                                <p:cTn id="83" presetID="10" presetClass="entr" presetSubtype="0" fill="hold" nodeType="withEffect">
                                  <p:stCondLst>
                                    <p:cond delay="0"/>
                                  </p:stCondLst>
                                  <p:childTnLst>
                                    <p:set>
                                      <p:cBhvr>
                                        <p:cTn id="84" dur="1" fill="hold">
                                          <p:stCondLst>
                                            <p:cond delay="0"/>
                                          </p:stCondLst>
                                        </p:cTn>
                                        <p:tgtEl>
                                          <p:spTgt spid="736"/>
                                        </p:tgtEl>
                                        <p:attrNameLst>
                                          <p:attrName>style.visibility</p:attrName>
                                        </p:attrNameLst>
                                      </p:cBhvr>
                                      <p:to>
                                        <p:strVal val="visible"/>
                                      </p:to>
                                    </p:set>
                                    <p:animEffect transition="in" filter="fade">
                                      <p:cBhvr>
                                        <p:cTn id="85" dur="500"/>
                                        <p:tgtEl>
                                          <p:spTgt spid="736"/>
                                        </p:tgtEl>
                                      </p:cBhvr>
                                    </p:animEffect>
                                  </p:childTnLst>
                                </p:cTn>
                              </p:par>
                              <p:par>
                                <p:cTn id="86" presetID="10" presetClass="entr" presetSubtype="0" fill="hold" nodeType="withEffect">
                                  <p:stCondLst>
                                    <p:cond delay="0"/>
                                  </p:stCondLst>
                                  <p:childTnLst>
                                    <p:set>
                                      <p:cBhvr>
                                        <p:cTn id="87" dur="1" fill="hold">
                                          <p:stCondLst>
                                            <p:cond delay="0"/>
                                          </p:stCondLst>
                                        </p:cTn>
                                        <p:tgtEl>
                                          <p:spTgt spid="737"/>
                                        </p:tgtEl>
                                        <p:attrNameLst>
                                          <p:attrName>style.visibility</p:attrName>
                                        </p:attrNameLst>
                                      </p:cBhvr>
                                      <p:to>
                                        <p:strVal val="visible"/>
                                      </p:to>
                                    </p:set>
                                    <p:animEffect transition="in" filter="fade">
                                      <p:cBhvr>
                                        <p:cTn id="88" dur="500"/>
                                        <p:tgtEl>
                                          <p:spTgt spid="737"/>
                                        </p:tgtEl>
                                      </p:cBhvr>
                                    </p:animEffect>
                                  </p:childTnLst>
                                </p:cTn>
                              </p:par>
                              <p:par>
                                <p:cTn id="89" presetID="10" presetClass="entr" presetSubtype="0" fill="hold" nodeType="withEffect">
                                  <p:stCondLst>
                                    <p:cond delay="0"/>
                                  </p:stCondLst>
                                  <p:childTnLst>
                                    <p:set>
                                      <p:cBhvr>
                                        <p:cTn id="90" dur="1" fill="hold">
                                          <p:stCondLst>
                                            <p:cond delay="0"/>
                                          </p:stCondLst>
                                        </p:cTn>
                                        <p:tgtEl>
                                          <p:spTgt spid="738"/>
                                        </p:tgtEl>
                                        <p:attrNameLst>
                                          <p:attrName>style.visibility</p:attrName>
                                        </p:attrNameLst>
                                      </p:cBhvr>
                                      <p:to>
                                        <p:strVal val="visible"/>
                                      </p:to>
                                    </p:set>
                                    <p:animEffect transition="in" filter="fade">
                                      <p:cBhvr>
                                        <p:cTn id="91" dur="500"/>
                                        <p:tgtEl>
                                          <p:spTgt spid="738"/>
                                        </p:tgtEl>
                                      </p:cBhvr>
                                    </p:animEffect>
                                  </p:childTnLst>
                                </p:cTn>
                              </p:par>
                              <p:par>
                                <p:cTn id="92" presetID="10" presetClass="entr" presetSubtype="0" fill="hold" nodeType="withEffect">
                                  <p:stCondLst>
                                    <p:cond delay="0"/>
                                  </p:stCondLst>
                                  <p:childTnLst>
                                    <p:set>
                                      <p:cBhvr>
                                        <p:cTn id="93" dur="1" fill="hold">
                                          <p:stCondLst>
                                            <p:cond delay="0"/>
                                          </p:stCondLst>
                                        </p:cTn>
                                        <p:tgtEl>
                                          <p:spTgt spid="739"/>
                                        </p:tgtEl>
                                        <p:attrNameLst>
                                          <p:attrName>style.visibility</p:attrName>
                                        </p:attrNameLst>
                                      </p:cBhvr>
                                      <p:to>
                                        <p:strVal val="visible"/>
                                      </p:to>
                                    </p:set>
                                    <p:animEffect transition="in" filter="fade">
                                      <p:cBhvr>
                                        <p:cTn id="94" dur="500"/>
                                        <p:tgtEl>
                                          <p:spTgt spid="739"/>
                                        </p:tgtEl>
                                      </p:cBhvr>
                                    </p:animEffect>
                                  </p:childTnLst>
                                </p:cTn>
                              </p:par>
                              <p:par>
                                <p:cTn id="95" presetID="10" presetClass="entr" presetSubtype="0" fill="hold" nodeType="withEffect">
                                  <p:stCondLst>
                                    <p:cond delay="0"/>
                                  </p:stCondLst>
                                  <p:childTnLst>
                                    <p:set>
                                      <p:cBhvr>
                                        <p:cTn id="96" dur="1" fill="hold">
                                          <p:stCondLst>
                                            <p:cond delay="0"/>
                                          </p:stCondLst>
                                        </p:cTn>
                                        <p:tgtEl>
                                          <p:spTgt spid="740"/>
                                        </p:tgtEl>
                                        <p:attrNameLst>
                                          <p:attrName>style.visibility</p:attrName>
                                        </p:attrNameLst>
                                      </p:cBhvr>
                                      <p:to>
                                        <p:strVal val="visible"/>
                                      </p:to>
                                    </p:set>
                                    <p:animEffect transition="in" filter="fade">
                                      <p:cBhvr>
                                        <p:cTn id="97" dur="500"/>
                                        <p:tgtEl>
                                          <p:spTgt spid="740"/>
                                        </p:tgtEl>
                                      </p:cBhvr>
                                    </p:animEffect>
                                  </p:childTnLst>
                                </p:cTn>
                              </p:par>
                              <p:par>
                                <p:cTn id="98" presetID="10" presetClass="entr" presetSubtype="0" fill="hold" nodeType="withEffect">
                                  <p:stCondLst>
                                    <p:cond delay="0"/>
                                  </p:stCondLst>
                                  <p:childTnLst>
                                    <p:set>
                                      <p:cBhvr>
                                        <p:cTn id="99" dur="1" fill="hold">
                                          <p:stCondLst>
                                            <p:cond delay="0"/>
                                          </p:stCondLst>
                                        </p:cTn>
                                        <p:tgtEl>
                                          <p:spTgt spid="741"/>
                                        </p:tgtEl>
                                        <p:attrNameLst>
                                          <p:attrName>style.visibility</p:attrName>
                                        </p:attrNameLst>
                                      </p:cBhvr>
                                      <p:to>
                                        <p:strVal val="visible"/>
                                      </p:to>
                                    </p:set>
                                    <p:animEffect transition="in" filter="fade">
                                      <p:cBhvr>
                                        <p:cTn id="100" dur="500"/>
                                        <p:tgtEl>
                                          <p:spTgt spid="741"/>
                                        </p:tgtEl>
                                      </p:cBhvr>
                                    </p:animEffect>
                                  </p:childTnLst>
                                </p:cTn>
                              </p:par>
                              <p:par>
                                <p:cTn id="101" presetID="10" presetClass="entr" presetSubtype="0" fill="hold" nodeType="withEffect">
                                  <p:stCondLst>
                                    <p:cond delay="0"/>
                                  </p:stCondLst>
                                  <p:childTnLst>
                                    <p:set>
                                      <p:cBhvr>
                                        <p:cTn id="102" dur="1" fill="hold">
                                          <p:stCondLst>
                                            <p:cond delay="0"/>
                                          </p:stCondLst>
                                        </p:cTn>
                                        <p:tgtEl>
                                          <p:spTgt spid="742"/>
                                        </p:tgtEl>
                                        <p:attrNameLst>
                                          <p:attrName>style.visibility</p:attrName>
                                        </p:attrNameLst>
                                      </p:cBhvr>
                                      <p:to>
                                        <p:strVal val="visible"/>
                                      </p:to>
                                    </p:set>
                                    <p:animEffect transition="in" filter="fade">
                                      <p:cBhvr>
                                        <p:cTn id="103" dur="500"/>
                                        <p:tgtEl>
                                          <p:spTgt spid="742"/>
                                        </p:tgtEl>
                                      </p:cBhvr>
                                    </p:animEffect>
                                  </p:childTnLst>
                                </p:cTn>
                              </p:par>
                              <p:par>
                                <p:cTn id="104" presetID="10" presetClass="entr" presetSubtype="0" fill="hold" nodeType="withEffect">
                                  <p:stCondLst>
                                    <p:cond delay="0"/>
                                  </p:stCondLst>
                                  <p:childTnLst>
                                    <p:set>
                                      <p:cBhvr>
                                        <p:cTn id="105" dur="1" fill="hold">
                                          <p:stCondLst>
                                            <p:cond delay="0"/>
                                          </p:stCondLst>
                                        </p:cTn>
                                        <p:tgtEl>
                                          <p:spTgt spid="743"/>
                                        </p:tgtEl>
                                        <p:attrNameLst>
                                          <p:attrName>style.visibility</p:attrName>
                                        </p:attrNameLst>
                                      </p:cBhvr>
                                      <p:to>
                                        <p:strVal val="visible"/>
                                      </p:to>
                                    </p:set>
                                    <p:animEffect transition="in" filter="fade">
                                      <p:cBhvr>
                                        <p:cTn id="106" dur="500"/>
                                        <p:tgtEl>
                                          <p:spTgt spid="743"/>
                                        </p:tgtEl>
                                      </p:cBhvr>
                                    </p:animEffect>
                                  </p:childTnLst>
                                </p:cTn>
                              </p:par>
                              <p:par>
                                <p:cTn id="107" presetID="10" presetClass="entr" presetSubtype="0" fill="hold" nodeType="withEffect">
                                  <p:stCondLst>
                                    <p:cond delay="0"/>
                                  </p:stCondLst>
                                  <p:childTnLst>
                                    <p:set>
                                      <p:cBhvr>
                                        <p:cTn id="108" dur="1" fill="hold">
                                          <p:stCondLst>
                                            <p:cond delay="0"/>
                                          </p:stCondLst>
                                        </p:cTn>
                                        <p:tgtEl>
                                          <p:spTgt spid="744"/>
                                        </p:tgtEl>
                                        <p:attrNameLst>
                                          <p:attrName>style.visibility</p:attrName>
                                        </p:attrNameLst>
                                      </p:cBhvr>
                                      <p:to>
                                        <p:strVal val="visible"/>
                                      </p:to>
                                    </p:set>
                                    <p:animEffect transition="in" filter="fade">
                                      <p:cBhvr>
                                        <p:cTn id="109" dur="500"/>
                                        <p:tgtEl>
                                          <p:spTgt spid="744"/>
                                        </p:tgtEl>
                                      </p:cBhvr>
                                    </p:animEffect>
                                  </p:childTnLst>
                                </p:cTn>
                              </p:par>
                              <p:par>
                                <p:cTn id="110" presetID="10" presetClass="entr" presetSubtype="0" fill="hold" nodeType="withEffect">
                                  <p:stCondLst>
                                    <p:cond delay="0"/>
                                  </p:stCondLst>
                                  <p:childTnLst>
                                    <p:set>
                                      <p:cBhvr>
                                        <p:cTn id="111" dur="1" fill="hold">
                                          <p:stCondLst>
                                            <p:cond delay="0"/>
                                          </p:stCondLst>
                                        </p:cTn>
                                        <p:tgtEl>
                                          <p:spTgt spid="745"/>
                                        </p:tgtEl>
                                        <p:attrNameLst>
                                          <p:attrName>style.visibility</p:attrName>
                                        </p:attrNameLst>
                                      </p:cBhvr>
                                      <p:to>
                                        <p:strVal val="visible"/>
                                      </p:to>
                                    </p:set>
                                    <p:animEffect transition="in" filter="fade">
                                      <p:cBhvr>
                                        <p:cTn id="112" dur="500"/>
                                        <p:tgtEl>
                                          <p:spTgt spid="745"/>
                                        </p:tgtEl>
                                      </p:cBhvr>
                                    </p:animEffect>
                                  </p:childTnLst>
                                </p:cTn>
                              </p:par>
                              <p:par>
                                <p:cTn id="113" presetID="10" presetClass="entr" presetSubtype="0" fill="hold" nodeType="withEffect">
                                  <p:stCondLst>
                                    <p:cond delay="0"/>
                                  </p:stCondLst>
                                  <p:childTnLst>
                                    <p:set>
                                      <p:cBhvr>
                                        <p:cTn id="114" dur="1" fill="hold">
                                          <p:stCondLst>
                                            <p:cond delay="0"/>
                                          </p:stCondLst>
                                        </p:cTn>
                                        <p:tgtEl>
                                          <p:spTgt spid="746"/>
                                        </p:tgtEl>
                                        <p:attrNameLst>
                                          <p:attrName>style.visibility</p:attrName>
                                        </p:attrNameLst>
                                      </p:cBhvr>
                                      <p:to>
                                        <p:strVal val="visible"/>
                                      </p:to>
                                    </p:set>
                                    <p:animEffect transition="in" filter="fade">
                                      <p:cBhvr>
                                        <p:cTn id="115" dur="500"/>
                                        <p:tgtEl>
                                          <p:spTgt spid="746"/>
                                        </p:tgtEl>
                                      </p:cBhvr>
                                    </p:animEffect>
                                  </p:childTnLst>
                                </p:cTn>
                              </p:par>
                              <p:par>
                                <p:cTn id="116" presetID="10" presetClass="entr" presetSubtype="0" fill="hold" nodeType="withEffect">
                                  <p:stCondLst>
                                    <p:cond delay="0"/>
                                  </p:stCondLst>
                                  <p:childTnLst>
                                    <p:set>
                                      <p:cBhvr>
                                        <p:cTn id="117" dur="1" fill="hold">
                                          <p:stCondLst>
                                            <p:cond delay="0"/>
                                          </p:stCondLst>
                                        </p:cTn>
                                        <p:tgtEl>
                                          <p:spTgt spid="747"/>
                                        </p:tgtEl>
                                        <p:attrNameLst>
                                          <p:attrName>style.visibility</p:attrName>
                                        </p:attrNameLst>
                                      </p:cBhvr>
                                      <p:to>
                                        <p:strVal val="visible"/>
                                      </p:to>
                                    </p:set>
                                    <p:animEffect transition="in" filter="fade">
                                      <p:cBhvr>
                                        <p:cTn id="118" dur="500"/>
                                        <p:tgtEl>
                                          <p:spTgt spid="747"/>
                                        </p:tgtEl>
                                      </p:cBhvr>
                                    </p:animEffect>
                                  </p:childTnLst>
                                </p:cTn>
                              </p:par>
                              <p:par>
                                <p:cTn id="119" presetID="10" presetClass="entr" presetSubtype="0" fill="hold" nodeType="withEffect">
                                  <p:stCondLst>
                                    <p:cond delay="0"/>
                                  </p:stCondLst>
                                  <p:childTnLst>
                                    <p:set>
                                      <p:cBhvr>
                                        <p:cTn id="120" dur="1" fill="hold">
                                          <p:stCondLst>
                                            <p:cond delay="0"/>
                                          </p:stCondLst>
                                        </p:cTn>
                                        <p:tgtEl>
                                          <p:spTgt spid="748"/>
                                        </p:tgtEl>
                                        <p:attrNameLst>
                                          <p:attrName>style.visibility</p:attrName>
                                        </p:attrNameLst>
                                      </p:cBhvr>
                                      <p:to>
                                        <p:strVal val="visible"/>
                                      </p:to>
                                    </p:set>
                                    <p:animEffect transition="in" filter="fade">
                                      <p:cBhvr>
                                        <p:cTn id="121" dur="500"/>
                                        <p:tgtEl>
                                          <p:spTgt spid="748"/>
                                        </p:tgtEl>
                                      </p:cBhvr>
                                    </p:animEffect>
                                  </p:childTnLst>
                                </p:cTn>
                              </p:par>
                              <p:par>
                                <p:cTn id="122" presetID="10" presetClass="entr" presetSubtype="0" fill="hold" nodeType="withEffect">
                                  <p:stCondLst>
                                    <p:cond delay="0"/>
                                  </p:stCondLst>
                                  <p:childTnLst>
                                    <p:set>
                                      <p:cBhvr>
                                        <p:cTn id="123" dur="1" fill="hold">
                                          <p:stCondLst>
                                            <p:cond delay="0"/>
                                          </p:stCondLst>
                                        </p:cTn>
                                        <p:tgtEl>
                                          <p:spTgt spid="749"/>
                                        </p:tgtEl>
                                        <p:attrNameLst>
                                          <p:attrName>style.visibility</p:attrName>
                                        </p:attrNameLst>
                                      </p:cBhvr>
                                      <p:to>
                                        <p:strVal val="visible"/>
                                      </p:to>
                                    </p:set>
                                    <p:animEffect transition="in" filter="fade">
                                      <p:cBhvr>
                                        <p:cTn id="124" dur="500"/>
                                        <p:tgtEl>
                                          <p:spTgt spid="749"/>
                                        </p:tgtEl>
                                      </p:cBhvr>
                                    </p:animEffect>
                                  </p:childTnLst>
                                </p:cTn>
                              </p:par>
                              <p:par>
                                <p:cTn id="125" presetID="10" presetClass="entr" presetSubtype="0" fill="hold" nodeType="withEffect">
                                  <p:stCondLst>
                                    <p:cond delay="0"/>
                                  </p:stCondLst>
                                  <p:childTnLst>
                                    <p:set>
                                      <p:cBhvr>
                                        <p:cTn id="126" dur="1" fill="hold">
                                          <p:stCondLst>
                                            <p:cond delay="0"/>
                                          </p:stCondLst>
                                        </p:cTn>
                                        <p:tgtEl>
                                          <p:spTgt spid="750"/>
                                        </p:tgtEl>
                                        <p:attrNameLst>
                                          <p:attrName>style.visibility</p:attrName>
                                        </p:attrNameLst>
                                      </p:cBhvr>
                                      <p:to>
                                        <p:strVal val="visible"/>
                                      </p:to>
                                    </p:set>
                                    <p:animEffect transition="in" filter="fade">
                                      <p:cBhvr>
                                        <p:cTn id="127" dur="500"/>
                                        <p:tgtEl>
                                          <p:spTgt spid="750"/>
                                        </p:tgtEl>
                                      </p:cBhvr>
                                    </p:animEffect>
                                  </p:childTnLst>
                                </p:cTn>
                              </p:par>
                              <p:par>
                                <p:cTn id="128" presetID="10" presetClass="entr" presetSubtype="0" fill="hold" nodeType="withEffect">
                                  <p:stCondLst>
                                    <p:cond delay="0"/>
                                  </p:stCondLst>
                                  <p:childTnLst>
                                    <p:set>
                                      <p:cBhvr>
                                        <p:cTn id="129" dur="1" fill="hold">
                                          <p:stCondLst>
                                            <p:cond delay="0"/>
                                          </p:stCondLst>
                                        </p:cTn>
                                        <p:tgtEl>
                                          <p:spTgt spid="751"/>
                                        </p:tgtEl>
                                        <p:attrNameLst>
                                          <p:attrName>style.visibility</p:attrName>
                                        </p:attrNameLst>
                                      </p:cBhvr>
                                      <p:to>
                                        <p:strVal val="visible"/>
                                      </p:to>
                                    </p:set>
                                    <p:animEffect transition="in" filter="fade">
                                      <p:cBhvr>
                                        <p:cTn id="130" dur="500"/>
                                        <p:tgtEl>
                                          <p:spTgt spid="751"/>
                                        </p:tgtEl>
                                      </p:cBhvr>
                                    </p:animEffect>
                                  </p:childTnLst>
                                </p:cTn>
                              </p:par>
                              <p:par>
                                <p:cTn id="131" presetID="10" presetClass="entr" presetSubtype="0" fill="hold" nodeType="withEffect">
                                  <p:stCondLst>
                                    <p:cond delay="0"/>
                                  </p:stCondLst>
                                  <p:childTnLst>
                                    <p:set>
                                      <p:cBhvr>
                                        <p:cTn id="132" dur="1" fill="hold">
                                          <p:stCondLst>
                                            <p:cond delay="0"/>
                                          </p:stCondLst>
                                        </p:cTn>
                                        <p:tgtEl>
                                          <p:spTgt spid="752"/>
                                        </p:tgtEl>
                                        <p:attrNameLst>
                                          <p:attrName>style.visibility</p:attrName>
                                        </p:attrNameLst>
                                      </p:cBhvr>
                                      <p:to>
                                        <p:strVal val="visible"/>
                                      </p:to>
                                    </p:set>
                                    <p:animEffect transition="in" filter="fade">
                                      <p:cBhvr>
                                        <p:cTn id="133" dur="500"/>
                                        <p:tgtEl>
                                          <p:spTgt spid="752"/>
                                        </p:tgtEl>
                                      </p:cBhvr>
                                    </p:animEffect>
                                  </p:childTnLst>
                                </p:cTn>
                              </p:par>
                              <p:par>
                                <p:cTn id="134" presetID="10" presetClass="entr" presetSubtype="0" fill="hold" nodeType="withEffect">
                                  <p:stCondLst>
                                    <p:cond delay="0"/>
                                  </p:stCondLst>
                                  <p:childTnLst>
                                    <p:set>
                                      <p:cBhvr>
                                        <p:cTn id="135" dur="1" fill="hold">
                                          <p:stCondLst>
                                            <p:cond delay="0"/>
                                          </p:stCondLst>
                                        </p:cTn>
                                        <p:tgtEl>
                                          <p:spTgt spid="753"/>
                                        </p:tgtEl>
                                        <p:attrNameLst>
                                          <p:attrName>style.visibility</p:attrName>
                                        </p:attrNameLst>
                                      </p:cBhvr>
                                      <p:to>
                                        <p:strVal val="visible"/>
                                      </p:to>
                                    </p:set>
                                    <p:animEffect transition="in" filter="fade">
                                      <p:cBhvr>
                                        <p:cTn id="136" dur="500"/>
                                        <p:tgtEl>
                                          <p:spTgt spid="753"/>
                                        </p:tgtEl>
                                      </p:cBhvr>
                                    </p:animEffect>
                                  </p:childTnLst>
                                </p:cTn>
                              </p:par>
                              <p:par>
                                <p:cTn id="137" presetID="10" presetClass="entr" presetSubtype="0" fill="hold" nodeType="withEffect">
                                  <p:stCondLst>
                                    <p:cond delay="0"/>
                                  </p:stCondLst>
                                  <p:childTnLst>
                                    <p:set>
                                      <p:cBhvr>
                                        <p:cTn id="138" dur="1" fill="hold">
                                          <p:stCondLst>
                                            <p:cond delay="0"/>
                                          </p:stCondLst>
                                        </p:cTn>
                                        <p:tgtEl>
                                          <p:spTgt spid="754"/>
                                        </p:tgtEl>
                                        <p:attrNameLst>
                                          <p:attrName>style.visibility</p:attrName>
                                        </p:attrNameLst>
                                      </p:cBhvr>
                                      <p:to>
                                        <p:strVal val="visible"/>
                                      </p:to>
                                    </p:set>
                                    <p:animEffect transition="in" filter="fade">
                                      <p:cBhvr>
                                        <p:cTn id="139" dur="500"/>
                                        <p:tgtEl>
                                          <p:spTgt spid="754"/>
                                        </p:tgtEl>
                                      </p:cBhvr>
                                    </p:animEffect>
                                  </p:childTnLst>
                                </p:cTn>
                              </p:par>
                              <p:par>
                                <p:cTn id="140" presetID="10" presetClass="entr" presetSubtype="0" fill="hold" nodeType="withEffect">
                                  <p:stCondLst>
                                    <p:cond delay="0"/>
                                  </p:stCondLst>
                                  <p:childTnLst>
                                    <p:set>
                                      <p:cBhvr>
                                        <p:cTn id="141" dur="1" fill="hold">
                                          <p:stCondLst>
                                            <p:cond delay="0"/>
                                          </p:stCondLst>
                                        </p:cTn>
                                        <p:tgtEl>
                                          <p:spTgt spid="755"/>
                                        </p:tgtEl>
                                        <p:attrNameLst>
                                          <p:attrName>style.visibility</p:attrName>
                                        </p:attrNameLst>
                                      </p:cBhvr>
                                      <p:to>
                                        <p:strVal val="visible"/>
                                      </p:to>
                                    </p:set>
                                    <p:animEffect transition="in" filter="fade">
                                      <p:cBhvr>
                                        <p:cTn id="142" dur="500"/>
                                        <p:tgtEl>
                                          <p:spTgt spid="755"/>
                                        </p:tgtEl>
                                      </p:cBhvr>
                                    </p:animEffect>
                                  </p:childTnLst>
                                </p:cTn>
                              </p:par>
                              <p:par>
                                <p:cTn id="143" presetID="10" presetClass="entr" presetSubtype="0" fill="hold" nodeType="withEffect">
                                  <p:stCondLst>
                                    <p:cond delay="0"/>
                                  </p:stCondLst>
                                  <p:childTnLst>
                                    <p:set>
                                      <p:cBhvr>
                                        <p:cTn id="144" dur="1" fill="hold">
                                          <p:stCondLst>
                                            <p:cond delay="0"/>
                                          </p:stCondLst>
                                        </p:cTn>
                                        <p:tgtEl>
                                          <p:spTgt spid="756"/>
                                        </p:tgtEl>
                                        <p:attrNameLst>
                                          <p:attrName>style.visibility</p:attrName>
                                        </p:attrNameLst>
                                      </p:cBhvr>
                                      <p:to>
                                        <p:strVal val="visible"/>
                                      </p:to>
                                    </p:set>
                                    <p:animEffect transition="in" filter="fade">
                                      <p:cBhvr>
                                        <p:cTn id="145" dur="500"/>
                                        <p:tgtEl>
                                          <p:spTgt spid="756"/>
                                        </p:tgtEl>
                                      </p:cBhvr>
                                    </p:animEffect>
                                  </p:childTnLst>
                                </p:cTn>
                              </p:par>
                              <p:par>
                                <p:cTn id="146" presetID="10" presetClass="entr" presetSubtype="0" fill="hold" nodeType="withEffect">
                                  <p:stCondLst>
                                    <p:cond delay="0"/>
                                  </p:stCondLst>
                                  <p:childTnLst>
                                    <p:set>
                                      <p:cBhvr>
                                        <p:cTn id="147" dur="1" fill="hold">
                                          <p:stCondLst>
                                            <p:cond delay="0"/>
                                          </p:stCondLst>
                                        </p:cTn>
                                        <p:tgtEl>
                                          <p:spTgt spid="757"/>
                                        </p:tgtEl>
                                        <p:attrNameLst>
                                          <p:attrName>style.visibility</p:attrName>
                                        </p:attrNameLst>
                                      </p:cBhvr>
                                      <p:to>
                                        <p:strVal val="visible"/>
                                      </p:to>
                                    </p:set>
                                    <p:animEffect transition="in" filter="fade">
                                      <p:cBhvr>
                                        <p:cTn id="148" dur="500"/>
                                        <p:tgtEl>
                                          <p:spTgt spid="757"/>
                                        </p:tgtEl>
                                      </p:cBhvr>
                                    </p:animEffect>
                                  </p:childTnLst>
                                </p:cTn>
                              </p:par>
                              <p:par>
                                <p:cTn id="149" presetID="10" presetClass="entr" presetSubtype="0" fill="hold" nodeType="withEffect">
                                  <p:stCondLst>
                                    <p:cond delay="0"/>
                                  </p:stCondLst>
                                  <p:childTnLst>
                                    <p:set>
                                      <p:cBhvr>
                                        <p:cTn id="150" dur="1" fill="hold">
                                          <p:stCondLst>
                                            <p:cond delay="0"/>
                                          </p:stCondLst>
                                        </p:cTn>
                                        <p:tgtEl>
                                          <p:spTgt spid="758"/>
                                        </p:tgtEl>
                                        <p:attrNameLst>
                                          <p:attrName>style.visibility</p:attrName>
                                        </p:attrNameLst>
                                      </p:cBhvr>
                                      <p:to>
                                        <p:strVal val="visible"/>
                                      </p:to>
                                    </p:set>
                                    <p:animEffect transition="in" filter="fade">
                                      <p:cBhvr>
                                        <p:cTn id="151" dur="500"/>
                                        <p:tgtEl>
                                          <p:spTgt spid="758"/>
                                        </p:tgtEl>
                                      </p:cBhvr>
                                    </p:animEffect>
                                  </p:childTnLst>
                                </p:cTn>
                              </p:par>
                              <p:par>
                                <p:cTn id="152" presetID="10" presetClass="entr" presetSubtype="0" fill="hold" nodeType="withEffect">
                                  <p:stCondLst>
                                    <p:cond delay="0"/>
                                  </p:stCondLst>
                                  <p:childTnLst>
                                    <p:set>
                                      <p:cBhvr>
                                        <p:cTn id="153" dur="1" fill="hold">
                                          <p:stCondLst>
                                            <p:cond delay="0"/>
                                          </p:stCondLst>
                                        </p:cTn>
                                        <p:tgtEl>
                                          <p:spTgt spid="759"/>
                                        </p:tgtEl>
                                        <p:attrNameLst>
                                          <p:attrName>style.visibility</p:attrName>
                                        </p:attrNameLst>
                                      </p:cBhvr>
                                      <p:to>
                                        <p:strVal val="visible"/>
                                      </p:to>
                                    </p:set>
                                    <p:animEffect transition="in" filter="fade">
                                      <p:cBhvr>
                                        <p:cTn id="154" dur="500"/>
                                        <p:tgtEl>
                                          <p:spTgt spid="759"/>
                                        </p:tgtEl>
                                      </p:cBhvr>
                                    </p:animEffect>
                                  </p:childTnLst>
                                </p:cTn>
                              </p:par>
                              <p:par>
                                <p:cTn id="155" presetID="10" presetClass="entr" presetSubtype="0" fill="hold" nodeType="withEffect">
                                  <p:stCondLst>
                                    <p:cond delay="0"/>
                                  </p:stCondLst>
                                  <p:childTnLst>
                                    <p:set>
                                      <p:cBhvr>
                                        <p:cTn id="156" dur="1" fill="hold">
                                          <p:stCondLst>
                                            <p:cond delay="0"/>
                                          </p:stCondLst>
                                        </p:cTn>
                                        <p:tgtEl>
                                          <p:spTgt spid="760"/>
                                        </p:tgtEl>
                                        <p:attrNameLst>
                                          <p:attrName>style.visibility</p:attrName>
                                        </p:attrNameLst>
                                      </p:cBhvr>
                                      <p:to>
                                        <p:strVal val="visible"/>
                                      </p:to>
                                    </p:set>
                                    <p:animEffect transition="in" filter="fade">
                                      <p:cBhvr>
                                        <p:cTn id="157" dur="500"/>
                                        <p:tgtEl>
                                          <p:spTgt spid="760"/>
                                        </p:tgtEl>
                                      </p:cBhvr>
                                    </p:animEffect>
                                  </p:childTnLst>
                                </p:cTn>
                              </p:par>
                              <p:par>
                                <p:cTn id="158" presetID="10" presetClass="entr" presetSubtype="0" fill="hold" nodeType="withEffect">
                                  <p:stCondLst>
                                    <p:cond delay="0"/>
                                  </p:stCondLst>
                                  <p:childTnLst>
                                    <p:set>
                                      <p:cBhvr>
                                        <p:cTn id="159" dur="1" fill="hold">
                                          <p:stCondLst>
                                            <p:cond delay="0"/>
                                          </p:stCondLst>
                                        </p:cTn>
                                        <p:tgtEl>
                                          <p:spTgt spid="761"/>
                                        </p:tgtEl>
                                        <p:attrNameLst>
                                          <p:attrName>style.visibility</p:attrName>
                                        </p:attrNameLst>
                                      </p:cBhvr>
                                      <p:to>
                                        <p:strVal val="visible"/>
                                      </p:to>
                                    </p:set>
                                    <p:animEffect transition="in" filter="fade">
                                      <p:cBhvr>
                                        <p:cTn id="160" dur="500"/>
                                        <p:tgtEl>
                                          <p:spTgt spid="761"/>
                                        </p:tgtEl>
                                      </p:cBhvr>
                                    </p:animEffect>
                                  </p:childTnLst>
                                </p:cTn>
                              </p:par>
                              <p:par>
                                <p:cTn id="161" presetID="10" presetClass="entr" presetSubtype="0" fill="hold" nodeType="withEffect">
                                  <p:stCondLst>
                                    <p:cond delay="0"/>
                                  </p:stCondLst>
                                  <p:childTnLst>
                                    <p:set>
                                      <p:cBhvr>
                                        <p:cTn id="162" dur="1" fill="hold">
                                          <p:stCondLst>
                                            <p:cond delay="0"/>
                                          </p:stCondLst>
                                        </p:cTn>
                                        <p:tgtEl>
                                          <p:spTgt spid="762"/>
                                        </p:tgtEl>
                                        <p:attrNameLst>
                                          <p:attrName>style.visibility</p:attrName>
                                        </p:attrNameLst>
                                      </p:cBhvr>
                                      <p:to>
                                        <p:strVal val="visible"/>
                                      </p:to>
                                    </p:set>
                                    <p:animEffect transition="in" filter="fade">
                                      <p:cBhvr>
                                        <p:cTn id="163" dur="500"/>
                                        <p:tgtEl>
                                          <p:spTgt spid="762"/>
                                        </p:tgtEl>
                                      </p:cBhvr>
                                    </p:animEffect>
                                  </p:childTnLst>
                                </p:cTn>
                              </p:par>
                              <p:par>
                                <p:cTn id="164" presetID="10" presetClass="entr" presetSubtype="0" fill="hold" nodeType="withEffect">
                                  <p:stCondLst>
                                    <p:cond delay="0"/>
                                  </p:stCondLst>
                                  <p:childTnLst>
                                    <p:set>
                                      <p:cBhvr>
                                        <p:cTn id="165" dur="1" fill="hold">
                                          <p:stCondLst>
                                            <p:cond delay="0"/>
                                          </p:stCondLst>
                                        </p:cTn>
                                        <p:tgtEl>
                                          <p:spTgt spid="763"/>
                                        </p:tgtEl>
                                        <p:attrNameLst>
                                          <p:attrName>style.visibility</p:attrName>
                                        </p:attrNameLst>
                                      </p:cBhvr>
                                      <p:to>
                                        <p:strVal val="visible"/>
                                      </p:to>
                                    </p:set>
                                    <p:animEffect transition="in" filter="fade">
                                      <p:cBhvr>
                                        <p:cTn id="166" dur="500"/>
                                        <p:tgtEl>
                                          <p:spTgt spid="763"/>
                                        </p:tgtEl>
                                      </p:cBhvr>
                                    </p:animEffect>
                                  </p:childTnLst>
                                </p:cTn>
                              </p:par>
                              <p:par>
                                <p:cTn id="167" presetID="10" presetClass="entr" presetSubtype="0" fill="hold" nodeType="withEffect">
                                  <p:stCondLst>
                                    <p:cond delay="0"/>
                                  </p:stCondLst>
                                  <p:childTnLst>
                                    <p:set>
                                      <p:cBhvr>
                                        <p:cTn id="168" dur="1" fill="hold">
                                          <p:stCondLst>
                                            <p:cond delay="0"/>
                                          </p:stCondLst>
                                        </p:cTn>
                                        <p:tgtEl>
                                          <p:spTgt spid="764"/>
                                        </p:tgtEl>
                                        <p:attrNameLst>
                                          <p:attrName>style.visibility</p:attrName>
                                        </p:attrNameLst>
                                      </p:cBhvr>
                                      <p:to>
                                        <p:strVal val="visible"/>
                                      </p:to>
                                    </p:set>
                                    <p:animEffect transition="in" filter="fade">
                                      <p:cBhvr>
                                        <p:cTn id="169" dur="500"/>
                                        <p:tgtEl>
                                          <p:spTgt spid="764"/>
                                        </p:tgtEl>
                                      </p:cBhvr>
                                    </p:animEffect>
                                  </p:childTnLst>
                                </p:cTn>
                              </p:par>
                              <p:par>
                                <p:cTn id="170" presetID="10" presetClass="entr" presetSubtype="0" fill="hold" nodeType="withEffect">
                                  <p:stCondLst>
                                    <p:cond delay="0"/>
                                  </p:stCondLst>
                                  <p:childTnLst>
                                    <p:set>
                                      <p:cBhvr>
                                        <p:cTn id="171" dur="1" fill="hold">
                                          <p:stCondLst>
                                            <p:cond delay="0"/>
                                          </p:stCondLst>
                                        </p:cTn>
                                        <p:tgtEl>
                                          <p:spTgt spid="765"/>
                                        </p:tgtEl>
                                        <p:attrNameLst>
                                          <p:attrName>style.visibility</p:attrName>
                                        </p:attrNameLst>
                                      </p:cBhvr>
                                      <p:to>
                                        <p:strVal val="visible"/>
                                      </p:to>
                                    </p:set>
                                    <p:animEffect transition="in" filter="fade">
                                      <p:cBhvr>
                                        <p:cTn id="172" dur="500"/>
                                        <p:tgtEl>
                                          <p:spTgt spid="765"/>
                                        </p:tgtEl>
                                      </p:cBhvr>
                                    </p:animEffect>
                                  </p:childTnLst>
                                </p:cTn>
                              </p:par>
                              <p:par>
                                <p:cTn id="173" presetID="10" presetClass="entr" presetSubtype="0" fill="hold" nodeType="withEffect">
                                  <p:stCondLst>
                                    <p:cond delay="0"/>
                                  </p:stCondLst>
                                  <p:childTnLst>
                                    <p:set>
                                      <p:cBhvr>
                                        <p:cTn id="174" dur="1" fill="hold">
                                          <p:stCondLst>
                                            <p:cond delay="0"/>
                                          </p:stCondLst>
                                        </p:cTn>
                                        <p:tgtEl>
                                          <p:spTgt spid="766"/>
                                        </p:tgtEl>
                                        <p:attrNameLst>
                                          <p:attrName>style.visibility</p:attrName>
                                        </p:attrNameLst>
                                      </p:cBhvr>
                                      <p:to>
                                        <p:strVal val="visible"/>
                                      </p:to>
                                    </p:set>
                                    <p:animEffect transition="in" filter="fade">
                                      <p:cBhvr>
                                        <p:cTn id="175" dur="500"/>
                                        <p:tgtEl>
                                          <p:spTgt spid="766"/>
                                        </p:tgtEl>
                                      </p:cBhvr>
                                    </p:animEffect>
                                  </p:childTnLst>
                                </p:cTn>
                              </p:par>
                              <p:par>
                                <p:cTn id="176" presetID="10" presetClass="entr" presetSubtype="0" fill="hold" nodeType="withEffect">
                                  <p:stCondLst>
                                    <p:cond delay="0"/>
                                  </p:stCondLst>
                                  <p:childTnLst>
                                    <p:set>
                                      <p:cBhvr>
                                        <p:cTn id="177" dur="1" fill="hold">
                                          <p:stCondLst>
                                            <p:cond delay="0"/>
                                          </p:stCondLst>
                                        </p:cTn>
                                        <p:tgtEl>
                                          <p:spTgt spid="767"/>
                                        </p:tgtEl>
                                        <p:attrNameLst>
                                          <p:attrName>style.visibility</p:attrName>
                                        </p:attrNameLst>
                                      </p:cBhvr>
                                      <p:to>
                                        <p:strVal val="visible"/>
                                      </p:to>
                                    </p:set>
                                    <p:animEffect transition="in" filter="fade">
                                      <p:cBhvr>
                                        <p:cTn id="178" dur="500"/>
                                        <p:tgtEl>
                                          <p:spTgt spid="767"/>
                                        </p:tgtEl>
                                      </p:cBhvr>
                                    </p:animEffect>
                                  </p:childTnLst>
                                </p:cTn>
                              </p:par>
                              <p:par>
                                <p:cTn id="179" presetID="10" presetClass="entr" presetSubtype="0" fill="hold" nodeType="withEffect">
                                  <p:stCondLst>
                                    <p:cond delay="0"/>
                                  </p:stCondLst>
                                  <p:childTnLst>
                                    <p:set>
                                      <p:cBhvr>
                                        <p:cTn id="180" dur="1" fill="hold">
                                          <p:stCondLst>
                                            <p:cond delay="0"/>
                                          </p:stCondLst>
                                        </p:cTn>
                                        <p:tgtEl>
                                          <p:spTgt spid="768"/>
                                        </p:tgtEl>
                                        <p:attrNameLst>
                                          <p:attrName>style.visibility</p:attrName>
                                        </p:attrNameLst>
                                      </p:cBhvr>
                                      <p:to>
                                        <p:strVal val="visible"/>
                                      </p:to>
                                    </p:set>
                                    <p:animEffect transition="in" filter="fade">
                                      <p:cBhvr>
                                        <p:cTn id="181" dur="500"/>
                                        <p:tgtEl>
                                          <p:spTgt spid="768"/>
                                        </p:tgtEl>
                                      </p:cBhvr>
                                    </p:animEffect>
                                  </p:childTnLst>
                                </p:cTn>
                              </p:par>
                              <p:par>
                                <p:cTn id="182" presetID="10" presetClass="entr" presetSubtype="0" fill="hold" nodeType="withEffect">
                                  <p:stCondLst>
                                    <p:cond delay="0"/>
                                  </p:stCondLst>
                                  <p:childTnLst>
                                    <p:set>
                                      <p:cBhvr>
                                        <p:cTn id="183" dur="1" fill="hold">
                                          <p:stCondLst>
                                            <p:cond delay="0"/>
                                          </p:stCondLst>
                                        </p:cTn>
                                        <p:tgtEl>
                                          <p:spTgt spid="769"/>
                                        </p:tgtEl>
                                        <p:attrNameLst>
                                          <p:attrName>style.visibility</p:attrName>
                                        </p:attrNameLst>
                                      </p:cBhvr>
                                      <p:to>
                                        <p:strVal val="visible"/>
                                      </p:to>
                                    </p:set>
                                    <p:animEffect transition="in" filter="fade">
                                      <p:cBhvr>
                                        <p:cTn id="184" dur="500"/>
                                        <p:tgtEl>
                                          <p:spTgt spid="769"/>
                                        </p:tgtEl>
                                      </p:cBhvr>
                                    </p:animEffect>
                                  </p:childTnLst>
                                </p:cTn>
                              </p:par>
                              <p:par>
                                <p:cTn id="185" presetID="10" presetClass="entr" presetSubtype="0" fill="hold" nodeType="withEffect">
                                  <p:stCondLst>
                                    <p:cond delay="0"/>
                                  </p:stCondLst>
                                  <p:childTnLst>
                                    <p:set>
                                      <p:cBhvr>
                                        <p:cTn id="186" dur="1" fill="hold">
                                          <p:stCondLst>
                                            <p:cond delay="0"/>
                                          </p:stCondLst>
                                        </p:cTn>
                                        <p:tgtEl>
                                          <p:spTgt spid="770"/>
                                        </p:tgtEl>
                                        <p:attrNameLst>
                                          <p:attrName>style.visibility</p:attrName>
                                        </p:attrNameLst>
                                      </p:cBhvr>
                                      <p:to>
                                        <p:strVal val="visible"/>
                                      </p:to>
                                    </p:set>
                                    <p:animEffect transition="in" filter="fade">
                                      <p:cBhvr>
                                        <p:cTn id="187" dur="500"/>
                                        <p:tgtEl>
                                          <p:spTgt spid="770"/>
                                        </p:tgtEl>
                                      </p:cBhvr>
                                    </p:animEffect>
                                  </p:childTnLst>
                                </p:cTn>
                              </p:par>
                              <p:par>
                                <p:cTn id="188" presetID="10" presetClass="entr" presetSubtype="0" fill="hold" nodeType="withEffect">
                                  <p:stCondLst>
                                    <p:cond delay="0"/>
                                  </p:stCondLst>
                                  <p:childTnLst>
                                    <p:set>
                                      <p:cBhvr>
                                        <p:cTn id="189" dur="1" fill="hold">
                                          <p:stCondLst>
                                            <p:cond delay="0"/>
                                          </p:stCondLst>
                                        </p:cTn>
                                        <p:tgtEl>
                                          <p:spTgt spid="771"/>
                                        </p:tgtEl>
                                        <p:attrNameLst>
                                          <p:attrName>style.visibility</p:attrName>
                                        </p:attrNameLst>
                                      </p:cBhvr>
                                      <p:to>
                                        <p:strVal val="visible"/>
                                      </p:to>
                                    </p:set>
                                    <p:animEffect transition="in" filter="fade">
                                      <p:cBhvr>
                                        <p:cTn id="190" dur="500"/>
                                        <p:tgtEl>
                                          <p:spTgt spid="771"/>
                                        </p:tgtEl>
                                      </p:cBhvr>
                                    </p:animEffect>
                                  </p:childTnLst>
                                </p:cTn>
                              </p:par>
                              <p:par>
                                <p:cTn id="191" presetID="10" presetClass="entr" presetSubtype="0" fill="hold" nodeType="withEffect">
                                  <p:stCondLst>
                                    <p:cond delay="0"/>
                                  </p:stCondLst>
                                  <p:childTnLst>
                                    <p:set>
                                      <p:cBhvr>
                                        <p:cTn id="192" dur="1" fill="hold">
                                          <p:stCondLst>
                                            <p:cond delay="0"/>
                                          </p:stCondLst>
                                        </p:cTn>
                                        <p:tgtEl>
                                          <p:spTgt spid="772"/>
                                        </p:tgtEl>
                                        <p:attrNameLst>
                                          <p:attrName>style.visibility</p:attrName>
                                        </p:attrNameLst>
                                      </p:cBhvr>
                                      <p:to>
                                        <p:strVal val="visible"/>
                                      </p:to>
                                    </p:set>
                                    <p:animEffect transition="in" filter="fade">
                                      <p:cBhvr>
                                        <p:cTn id="193" dur="500"/>
                                        <p:tgtEl>
                                          <p:spTgt spid="772"/>
                                        </p:tgtEl>
                                      </p:cBhvr>
                                    </p:animEffect>
                                  </p:childTnLst>
                                </p:cTn>
                              </p:par>
                              <p:par>
                                <p:cTn id="194" presetID="10" presetClass="entr" presetSubtype="0" fill="hold" nodeType="withEffect">
                                  <p:stCondLst>
                                    <p:cond delay="0"/>
                                  </p:stCondLst>
                                  <p:childTnLst>
                                    <p:set>
                                      <p:cBhvr>
                                        <p:cTn id="195" dur="1" fill="hold">
                                          <p:stCondLst>
                                            <p:cond delay="0"/>
                                          </p:stCondLst>
                                        </p:cTn>
                                        <p:tgtEl>
                                          <p:spTgt spid="773"/>
                                        </p:tgtEl>
                                        <p:attrNameLst>
                                          <p:attrName>style.visibility</p:attrName>
                                        </p:attrNameLst>
                                      </p:cBhvr>
                                      <p:to>
                                        <p:strVal val="visible"/>
                                      </p:to>
                                    </p:set>
                                    <p:animEffect transition="in" filter="fade">
                                      <p:cBhvr>
                                        <p:cTn id="196" dur="500"/>
                                        <p:tgtEl>
                                          <p:spTgt spid="773"/>
                                        </p:tgtEl>
                                      </p:cBhvr>
                                    </p:animEffect>
                                  </p:childTnLst>
                                </p:cTn>
                              </p:par>
                              <p:par>
                                <p:cTn id="197" presetID="10" presetClass="entr" presetSubtype="0" fill="hold" nodeType="withEffect">
                                  <p:stCondLst>
                                    <p:cond delay="0"/>
                                  </p:stCondLst>
                                  <p:childTnLst>
                                    <p:set>
                                      <p:cBhvr>
                                        <p:cTn id="198" dur="1" fill="hold">
                                          <p:stCondLst>
                                            <p:cond delay="0"/>
                                          </p:stCondLst>
                                        </p:cTn>
                                        <p:tgtEl>
                                          <p:spTgt spid="774"/>
                                        </p:tgtEl>
                                        <p:attrNameLst>
                                          <p:attrName>style.visibility</p:attrName>
                                        </p:attrNameLst>
                                      </p:cBhvr>
                                      <p:to>
                                        <p:strVal val="visible"/>
                                      </p:to>
                                    </p:set>
                                    <p:animEffect transition="in" filter="fade">
                                      <p:cBhvr>
                                        <p:cTn id="199" dur="500"/>
                                        <p:tgtEl>
                                          <p:spTgt spid="774"/>
                                        </p:tgtEl>
                                      </p:cBhvr>
                                    </p:animEffect>
                                  </p:childTnLst>
                                </p:cTn>
                              </p:par>
                              <p:par>
                                <p:cTn id="200" presetID="10" presetClass="entr" presetSubtype="0" fill="hold" nodeType="withEffect">
                                  <p:stCondLst>
                                    <p:cond delay="0"/>
                                  </p:stCondLst>
                                  <p:childTnLst>
                                    <p:set>
                                      <p:cBhvr>
                                        <p:cTn id="201" dur="1" fill="hold">
                                          <p:stCondLst>
                                            <p:cond delay="0"/>
                                          </p:stCondLst>
                                        </p:cTn>
                                        <p:tgtEl>
                                          <p:spTgt spid="775"/>
                                        </p:tgtEl>
                                        <p:attrNameLst>
                                          <p:attrName>style.visibility</p:attrName>
                                        </p:attrNameLst>
                                      </p:cBhvr>
                                      <p:to>
                                        <p:strVal val="visible"/>
                                      </p:to>
                                    </p:set>
                                    <p:animEffect transition="in" filter="fade">
                                      <p:cBhvr>
                                        <p:cTn id="202" dur="500"/>
                                        <p:tgtEl>
                                          <p:spTgt spid="775"/>
                                        </p:tgtEl>
                                      </p:cBhvr>
                                    </p:animEffect>
                                  </p:childTnLst>
                                </p:cTn>
                              </p:par>
                              <p:par>
                                <p:cTn id="203" presetID="10" presetClass="entr" presetSubtype="0" fill="hold" nodeType="withEffect">
                                  <p:stCondLst>
                                    <p:cond delay="0"/>
                                  </p:stCondLst>
                                  <p:childTnLst>
                                    <p:set>
                                      <p:cBhvr>
                                        <p:cTn id="204" dur="1" fill="hold">
                                          <p:stCondLst>
                                            <p:cond delay="0"/>
                                          </p:stCondLst>
                                        </p:cTn>
                                        <p:tgtEl>
                                          <p:spTgt spid="776"/>
                                        </p:tgtEl>
                                        <p:attrNameLst>
                                          <p:attrName>style.visibility</p:attrName>
                                        </p:attrNameLst>
                                      </p:cBhvr>
                                      <p:to>
                                        <p:strVal val="visible"/>
                                      </p:to>
                                    </p:set>
                                    <p:animEffect transition="in" filter="fade">
                                      <p:cBhvr>
                                        <p:cTn id="205" dur="500"/>
                                        <p:tgtEl>
                                          <p:spTgt spid="776"/>
                                        </p:tgtEl>
                                      </p:cBhvr>
                                    </p:animEffect>
                                  </p:childTnLst>
                                </p:cTn>
                              </p:par>
                              <p:par>
                                <p:cTn id="206" presetID="10" presetClass="entr" presetSubtype="0" fill="hold" nodeType="withEffect">
                                  <p:stCondLst>
                                    <p:cond delay="0"/>
                                  </p:stCondLst>
                                  <p:childTnLst>
                                    <p:set>
                                      <p:cBhvr>
                                        <p:cTn id="207" dur="1" fill="hold">
                                          <p:stCondLst>
                                            <p:cond delay="0"/>
                                          </p:stCondLst>
                                        </p:cTn>
                                        <p:tgtEl>
                                          <p:spTgt spid="777"/>
                                        </p:tgtEl>
                                        <p:attrNameLst>
                                          <p:attrName>style.visibility</p:attrName>
                                        </p:attrNameLst>
                                      </p:cBhvr>
                                      <p:to>
                                        <p:strVal val="visible"/>
                                      </p:to>
                                    </p:set>
                                    <p:animEffect transition="in" filter="fade">
                                      <p:cBhvr>
                                        <p:cTn id="208" dur="500"/>
                                        <p:tgtEl>
                                          <p:spTgt spid="777"/>
                                        </p:tgtEl>
                                      </p:cBhvr>
                                    </p:animEffect>
                                  </p:childTnLst>
                                </p:cTn>
                              </p:par>
                              <p:par>
                                <p:cTn id="209" presetID="10" presetClass="entr" presetSubtype="0" fill="hold" nodeType="withEffect">
                                  <p:stCondLst>
                                    <p:cond delay="0"/>
                                  </p:stCondLst>
                                  <p:childTnLst>
                                    <p:set>
                                      <p:cBhvr>
                                        <p:cTn id="210" dur="1" fill="hold">
                                          <p:stCondLst>
                                            <p:cond delay="0"/>
                                          </p:stCondLst>
                                        </p:cTn>
                                        <p:tgtEl>
                                          <p:spTgt spid="778"/>
                                        </p:tgtEl>
                                        <p:attrNameLst>
                                          <p:attrName>style.visibility</p:attrName>
                                        </p:attrNameLst>
                                      </p:cBhvr>
                                      <p:to>
                                        <p:strVal val="visible"/>
                                      </p:to>
                                    </p:set>
                                    <p:animEffect transition="in" filter="fade">
                                      <p:cBhvr>
                                        <p:cTn id="211" dur="500"/>
                                        <p:tgtEl>
                                          <p:spTgt spid="778"/>
                                        </p:tgtEl>
                                      </p:cBhvr>
                                    </p:animEffect>
                                  </p:childTnLst>
                                </p:cTn>
                              </p:par>
                              <p:par>
                                <p:cTn id="212" presetID="10" presetClass="entr" presetSubtype="0" fill="hold" nodeType="withEffect">
                                  <p:stCondLst>
                                    <p:cond delay="0"/>
                                  </p:stCondLst>
                                  <p:childTnLst>
                                    <p:set>
                                      <p:cBhvr>
                                        <p:cTn id="213" dur="1" fill="hold">
                                          <p:stCondLst>
                                            <p:cond delay="0"/>
                                          </p:stCondLst>
                                        </p:cTn>
                                        <p:tgtEl>
                                          <p:spTgt spid="779"/>
                                        </p:tgtEl>
                                        <p:attrNameLst>
                                          <p:attrName>style.visibility</p:attrName>
                                        </p:attrNameLst>
                                      </p:cBhvr>
                                      <p:to>
                                        <p:strVal val="visible"/>
                                      </p:to>
                                    </p:set>
                                    <p:animEffect transition="in" filter="fade">
                                      <p:cBhvr>
                                        <p:cTn id="214" dur="500"/>
                                        <p:tgtEl>
                                          <p:spTgt spid="779"/>
                                        </p:tgtEl>
                                      </p:cBhvr>
                                    </p:animEffect>
                                  </p:childTnLst>
                                </p:cTn>
                              </p:par>
                              <p:par>
                                <p:cTn id="215" presetID="10" presetClass="entr" presetSubtype="0" fill="hold" nodeType="withEffect">
                                  <p:stCondLst>
                                    <p:cond delay="0"/>
                                  </p:stCondLst>
                                  <p:childTnLst>
                                    <p:set>
                                      <p:cBhvr>
                                        <p:cTn id="216" dur="1" fill="hold">
                                          <p:stCondLst>
                                            <p:cond delay="0"/>
                                          </p:stCondLst>
                                        </p:cTn>
                                        <p:tgtEl>
                                          <p:spTgt spid="780"/>
                                        </p:tgtEl>
                                        <p:attrNameLst>
                                          <p:attrName>style.visibility</p:attrName>
                                        </p:attrNameLst>
                                      </p:cBhvr>
                                      <p:to>
                                        <p:strVal val="visible"/>
                                      </p:to>
                                    </p:set>
                                    <p:animEffect transition="in" filter="fade">
                                      <p:cBhvr>
                                        <p:cTn id="217" dur="500"/>
                                        <p:tgtEl>
                                          <p:spTgt spid="780"/>
                                        </p:tgtEl>
                                      </p:cBhvr>
                                    </p:animEffect>
                                  </p:childTnLst>
                                </p:cTn>
                              </p:par>
                              <p:par>
                                <p:cTn id="218" presetID="10" presetClass="entr" presetSubtype="0" fill="hold" nodeType="withEffect">
                                  <p:stCondLst>
                                    <p:cond delay="0"/>
                                  </p:stCondLst>
                                  <p:childTnLst>
                                    <p:set>
                                      <p:cBhvr>
                                        <p:cTn id="219" dur="1" fill="hold">
                                          <p:stCondLst>
                                            <p:cond delay="0"/>
                                          </p:stCondLst>
                                        </p:cTn>
                                        <p:tgtEl>
                                          <p:spTgt spid="781"/>
                                        </p:tgtEl>
                                        <p:attrNameLst>
                                          <p:attrName>style.visibility</p:attrName>
                                        </p:attrNameLst>
                                      </p:cBhvr>
                                      <p:to>
                                        <p:strVal val="visible"/>
                                      </p:to>
                                    </p:set>
                                    <p:animEffect transition="in" filter="fade">
                                      <p:cBhvr>
                                        <p:cTn id="220" dur="500"/>
                                        <p:tgtEl>
                                          <p:spTgt spid="781"/>
                                        </p:tgtEl>
                                      </p:cBhvr>
                                    </p:animEffect>
                                  </p:childTnLst>
                                </p:cTn>
                              </p:par>
                              <p:par>
                                <p:cTn id="221" presetID="10" presetClass="entr" presetSubtype="0" fill="hold" nodeType="withEffect">
                                  <p:stCondLst>
                                    <p:cond delay="0"/>
                                  </p:stCondLst>
                                  <p:childTnLst>
                                    <p:set>
                                      <p:cBhvr>
                                        <p:cTn id="222" dur="1" fill="hold">
                                          <p:stCondLst>
                                            <p:cond delay="0"/>
                                          </p:stCondLst>
                                        </p:cTn>
                                        <p:tgtEl>
                                          <p:spTgt spid="782"/>
                                        </p:tgtEl>
                                        <p:attrNameLst>
                                          <p:attrName>style.visibility</p:attrName>
                                        </p:attrNameLst>
                                      </p:cBhvr>
                                      <p:to>
                                        <p:strVal val="visible"/>
                                      </p:to>
                                    </p:set>
                                    <p:animEffect transition="in" filter="fade">
                                      <p:cBhvr>
                                        <p:cTn id="223" dur="500"/>
                                        <p:tgtEl>
                                          <p:spTgt spid="782"/>
                                        </p:tgtEl>
                                      </p:cBhvr>
                                    </p:animEffect>
                                  </p:childTnLst>
                                </p:cTn>
                              </p:par>
                              <p:par>
                                <p:cTn id="224" presetID="10" presetClass="entr" presetSubtype="0" fill="hold" nodeType="withEffect">
                                  <p:stCondLst>
                                    <p:cond delay="0"/>
                                  </p:stCondLst>
                                  <p:childTnLst>
                                    <p:set>
                                      <p:cBhvr>
                                        <p:cTn id="225" dur="1" fill="hold">
                                          <p:stCondLst>
                                            <p:cond delay="0"/>
                                          </p:stCondLst>
                                        </p:cTn>
                                        <p:tgtEl>
                                          <p:spTgt spid="783"/>
                                        </p:tgtEl>
                                        <p:attrNameLst>
                                          <p:attrName>style.visibility</p:attrName>
                                        </p:attrNameLst>
                                      </p:cBhvr>
                                      <p:to>
                                        <p:strVal val="visible"/>
                                      </p:to>
                                    </p:set>
                                    <p:animEffect transition="in" filter="fade">
                                      <p:cBhvr>
                                        <p:cTn id="226" dur="500"/>
                                        <p:tgtEl>
                                          <p:spTgt spid="783"/>
                                        </p:tgtEl>
                                      </p:cBhvr>
                                    </p:animEffect>
                                  </p:childTnLst>
                                </p:cTn>
                              </p:par>
                              <p:par>
                                <p:cTn id="227" presetID="10" presetClass="entr" presetSubtype="0" fill="hold" nodeType="withEffect">
                                  <p:stCondLst>
                                    <p:cond delay="0"/>
                                  </p:stCondLst>
                                  <p:childTnLst>
                                    <p:set>
                                      <p:cBhvr>
                                        <p:cTn id="228" dur="1" fill="hold">
                                          <p:stCondLst>
                                            <p:cond delay="0"/>
                                          </p:stCondLst>
                                        </p:cTn>
                                        <p:tgtEl>
                                          <p:spTgt spid="784"/>
                                        </p:tgtEl>
                                        <p:attrNameLst>
                                          <p:attrName>style.visibility</p:attrName>
                                        </p:attrNameLst>
                                      </p:cBhvr>
                                      <p:to>
                                        <p:strVal val="visible"/>
                                      </p:to>
                                    </p:set>
                                    <p:animEffect transition="in" filter="fade">
                                      <p:cBhvr>
                                        <p:cTn id="229" dur="500"/>
                                        <p:tgtEl>
                                          <p:spTgt spid="784"/>
                                        </p:tgtEl>
                                      </p:cBhvr>
                                    </p:animEffect>
                                  </p:childTnLst>
                                </p:cTn>
                              </p:par>
                              <p:par>
                                <p:cTn id="230" presetID="10" presetClass="entr" presetSubtype="0" fill="hold" nodeType="withEffect">
                                  <p:stCondLst>
                                    <p:cond delay="0"/>
                                  </p:stCondLst>
                                  <p:childTnLst>
                                    <p:set>
                                      <p:cBhvr>
                                        <p:cTn id="231" dur="1" fill="hold">
                                          <p:stCondLst>
                                            <p:cond delay="0"/>
                                          </p:stCondLst>
                                        </p:cTn>
                                        <p:tgtEl>
                                          <p:spTgt spid="785"/>
                                        </p:tgtEl>
                                        <p:attrNameLst>
                                          <p:attrName>style.visibility</p:attrName>
                                        </p:attrNameLst>
                                      </p:cBhvr>
                                      <p:to>
                                        <p:strVal val="visible"/>
                                      </p:to>
                                    </p:set>
                                    <p:animEffect transition="in" filter="fade">
                                      <p:cBhvr>
                                        <p:cTn id="232" dur="500"/>
                                        <p:tgtEl>
                                          <p:spTgt spid="785"/>
                                        </p:tgtEl>
                                      </p:cBhvr>
                                    </p:animEffect>
                                  </p:childTnLst>
                                </p:cTn>
                              </p:par>
                              <p:par>
                                <p:cTn id="233" presetID="10" presetClass="entr" presetSubtype="0" fill="hold" nodeType="withEffect">
                                  <p:stCondLst>
                                    <p:cond delay="0"/>
                                  </p:stCondLst>
                                  <p:childTnLst>
                                    <p:set>
                                      <p:cBhvr>
                                        <p:cTn id="234" dur="1" fill="hold">
                                          <p:stCondLst>
                                            <p:cond delay="0"/>
                                          </p:stCondLst>
                                        </p:cTn>
                                        <p:tgtEl>
                                          <p:spTgt spid="786"/>
                                        </p:tgtEl>
                                        <p:attrNameLst>
                                          <p:attrName>style.visibility</p:attrName>
                                        </p:attrNameLst>
                                      </p:cBhvr>
                                      <p:to>
                                        <p:strVal val="visible"/>
                                      </p:to>
                                    </p:set>
                                    <p:animEffect transition="in" filter="fade">
                                      <p:cBhvr>
                                        <p:cTn id="235" dur="500"/>
                                        <p:tgtEl>
                                          <p:spTgt spid="786"/>
                                        </p:tgtEl>
                                      </p:cBhvr>
                                    </p:animEffect>
                                  </p:childTnLst>
                                </p:cTn>
                              </p:par>
                              <p:par>
                                <p:cTn id="236" presetID="10" presetClass="entr" presetSubtype="0" fill="hold" nodeType="withEffect">
                                  <p:stCondLst>
                                    <p:cond delay="0"/>
                                  </p:stCondLst>
                                  <p:childTnLst>
                                    <p:set>
                                      <p:cBhvr>
                                        <p:cTn id="237" dur="1" fill="hold">
                                          <p:stCondLst>
                                            <p:cond delay="0"/>
                                          </p:stCondLst>
                                        </p:cTn>
                                        <p:tgtEl>
                                          <p:spTgt spid="787"/>
                                        </p:tgtEl>
                                        <p:attrNameLst>
                                          <p:attrName>style.visibility</p:attrName>
                                        </p:attrNameLst>
                                      </p:cBhvr>
                                      <p:to>
                                        <p:strVal val="visible"/>
                                      </p:to>
                                    </p:set>
                                    <p:animEffect transition="in" filter="fade">
                                      <p:cBhvr>
                                        <p:cTn id="238" dur="500"/>
                                        <p:tgtEl>
                                          <p:spTgt spid="787"/>
                                        </p:tgtEl>
                                      </p:cBhvr>
                                    </p:animEffect>
                                  </p:childTnLst>
                                </p:cTn>
                              </p:par>
                              <p:par>
                                <p:cTn id="239" presetID="10" presetClass="entr" presetSubtype="0" fill="hold" nodeType="withEffect">
                                  <p:stCondLst>
                                    <p:cond delay="0"/>
                                  </p:stCondLst>
                                  <p:childTnLst>
                                    <p:set>
                                      <p:cBhvr>
                                        <p:cTn id="240" dur="1" fill="hold">
                                          <p:stCondLst>
                                            <p:cond delay="0"/>
                                          </p:stCondLst>
                                        </p:cTn>
                                        <p:tgtEl>
                                          <p:spTgt spid="788"/>
                                        </p:tgtEl>
                                        <p:attrNameLst>
                                          <p:attrName>style.visibility</p:attrName>
                                        </p:attrNameLst>
                                      </p:cBhvr>
                                      <p:to>
                                        <p:strVal val="visible"/>
                                      </p:to>
                                    </p:set>
                                    <p:animEffect transition="in" filter="fade">
                                      <p:cBhvr>
                                        <p:cTn id="241" dur="500"/>
                                        <p:tgtEl>
                                          <p:spTgt spid="788"/>
                                        </p:tgtEl>
                                      </p:cBhvr>
                                    </p:animEffect>
                                  </p:childTnLst>
                                </p:cTn>
                              </p:par>
                              <p:par>
                                <p:cTn id="242" presetID="10" presetClass="entr" presetSubtype="0" fill="hold" nodeType="withEffect">
                                  <p:stCondLst>
                                    <p:cond delay="0"/>
                                  </p:stCondLst>
                                  <p:childTnLst>
                                    <p:set>
                                      <p:cBhvr>
                                        <p:cTn id="243" dur="1" fill="hold">
                                          <p:stCondLst>
                                            <p:cond delay="0"/>
                                          </p:stCondLst>
                                        </p:cTn>
                                        <p:tgtEl>
                                          <p:spTgt spid="789"/>
                                        </p:tgtEl>
                                        <p:attrNameLst>
                                          <p:attrName>style.visibility</p:attrName>
                                        </p:attrNameLst>
                                      </p:cBhvr>
                                      <p:to>
                                        <p:strVal val="visible"/>
                                      </p:to>
                                    </p:set>
                                    <p:animEffect transition="in" filter="fade">
                                      <p:cBhvr>
                                        <p:cTn id="244" dur="500"/>
                                        <p:tgtEl>
                                          <p:spTgt spid="789"/>
                                        </p:tgtEl>
                                      </p:cBhvr>
                                    </p:animEffect>
                                  </p:childTnLst>
                                </p:cTn>
                              </p:par>
                              <p:par>
                                <p:cTn id="245" presetID="10" presetClass="entr" presetSubtype="0" fill="hold" nodeType="withEffect">
                                  <p:stCondLst>
                                    <p:cond delay="0"/>
                                  </p:stCondLst>
                                  <p:childTnLst>
                                    <p:set>
                                      <p:cBhvr>
                                        <p:cTn id="246" dur="1" fill="hold">
                                          <p:stCondLst>
                                            <p:cond delay="0"/>
                                          </p:stCondLst>
                                        </p:cTn>
                                        <p:tgtEl>
                                          <p:spTgt spid="790"/>
                                        </p:tgtEl>
                                        <p:attrNameLst>
                                          <p:attrName>style.visibility</p:attrName>
                                        </p:attrNameLst>
                                      </p:cBhvr>
                                      <p:to>
                                        <p:strVal val="visible"/>
                                      </p:to>
                                    </p:set>
                                    <p:animEffect transition="in" filter="fade">
                                      <p:cBhvr>
                                        <p:cTn id="247" dur="500"/>
                                        <p:tgtEl>
                                          <p:spTgt spid="790"/>
                                        </p:tgtEl>
                                      </p:cBhvr>
                                    </p:animEffect>
                                  </p:childTnLst>
                                </p:cTn>
                              </p:par>
                              <p:par>
                                <p:cTn id="248" presetID="10" presetClass="entr" presetSubtype="0" fill="hold" nodeType="withEffect">
                                  <p:stCondLst>
                                    <p:cond delay="0"/>
                                  </p:stCondLst>
                                  <p:childTnLst>
                                    <p:set>
                                      <p:cBhvr>
                                        <p:cTn id="249" dur="1" fill="hold">
                                          <p:stCondLst>
                                            <p:cond delay="0"/>
                                          </p:stCondLst>
                                        </p:cTn>
                                        <p:tgtEl>
                                          <p:spTgt spid="791"/>
                                        </p:tgtEl>
                                        <p:attrNameLst>
                                          <p:attrName>style.visibility</p:attrName>
                                        </p:attrNameLst>
                                      </p:cBhvr>
                                      <p:to>
                                        <p:strVal val="visible"/>
                                      </p:to>
                                    </p:set>
                                    <p:animEffect transition="in" filter="fade">
                                      <p:cBhvr>
                                        <p:cTn id="250" dur="500"/>
                                        <p:tgtEl>
                                          <p:spTgt spid="791"/>
                                        </p:tgtEl>
                                      </p:cBhvr>
                                    </p:animEffect>
                                  </p:childTnLst>
                                </p:cTn>
                              </p:par>
                              <p:par>
                                <p:cTn id="251" presetID="10" presetClass="entr" presetSubtype="0" fill="hold" nodeType="withEffect">
                                  <p:stCondLst>
                                    <p:cond delay="0"/>
                                  </p:stCondLst>
                                  <p:childTnLst>
                                    <p:set>
                                      <p:cBhvr>
                                        <p:cTn id="252" dur="1" fill="hold">
                                          <p:stCondLst>
                                            <p:cond delay="0"/>
                                          </p:stCondLst>
                                        </p:cTn>
                                        <p:tgtEl>
                                          <p:spTgt spid="792"/>
                                        </p:tgtEl>
                                        <p:attrNameLst>
                                          <p:attrName>style.visibility</p:attrName>
                                        </p:attrNameLst>
                                      </p:cBhvr>
                                      <p:to>
                                        <p:strVal val="visible"/>
                                      </p:to>
                                    </p:set>
                                    <p:animEffect transition="in" filter="fade">
                                      <p:cBhvr>
                                        <p:cTn id="253" dur="500"/>
                                        <p:tgtEl>
                                          <p:spTgt spid="792"/>
                                        </p:tgtEl>
                                      </p:cBhvr>
                                    </p:animEffect>
                                  </p:childTnLst>
                                </p:cTn>
                              </p:par>
                              <p:par>
                                <p:cTn id="254" presetID="10" presetClass="entr" presetSubtype="0" fill="hold" nodeType="withEffect">
                                  <p:stCondLst>
                                    <p:cond delay="0"/>
                                  </p:stCondLst>
                                  <p:childTnLst>
                                    <p:set>
                                      <p:cBhvr>
                                        <p:cTn id="255" dur="1" fill="hold">
                                          <p:stCondLst>
                                            <p:cond delay="0"/>
                                          </p:stCondLst>
                                        </p:cTn>
                                        <p:tgtEl>
                                          <p:spTgt spid="793"/>
                                        </p:tgtEl>
                                        <p:attrNameLst>
                                          <p:attrName>style.visibility</p:attrName>
                                        </p:attrNameLst>
                                      </p:cBhvr>
                                      <p:to>
                                        <p:strVal val="visible"/>
                                      </p:to>
                                    </p:set>
                                    <p:animEffect transition="in" filter="fade">
                                      <p:cBhvr>
                                        <p:cTn id="256" dur="500"/>
                                        <p:tgtEl>
                                          <p:spTgt spid="793"/>
                                        </p:tgtEl>
                                      </p:cBhvr>
                                    </p:animEffect>
                                  </p:childTnLst>
                                </p:cTn>
                              </p:par>
                              <p:par>
                                <p:cTn id="257" presetID="10" presetClass="entr" presetSubtype="0" fill="hold" nodeType="withEffect">
                                  <p:stCondLst>
                                    <p:cond delay="0"/>
                                  </p:stCondLst>
                                  <p:childTnLst>
                                    <p:set>
                                      <p:cBhvr>
                                        <p:cTn id="258" dur="1" fill="hold">
                                          <p:stCondLst>
                                            <p:cond delay="0"/>
                                          </p:stCondLst>
                                        </p:cTn>
                                        <p:tgtEl>
                                          <p:spTgt spid="794"/>
                                        </p:tgtEl>
                                        <p:attrNameLst>
                                          <p:attrName>style.visibility</p:attrName>
                                        </p:attrNameLst>
                                      </p:cBhvr>
                                      <p:to>
                                        <p:strVal val="visible"/>
                                      </p:to>
                                    </p:set>
                                    <p:animEffect transition="in" filter="fade">
                                      <p:cBhvr>
                                        <p:cTn id="259" dur="500"/>
                                        <p:tgtEl>
                                          <p:spTgt spid="794"/>
                                        </p:tgtEl>
                                      </p:cBhvr>
                                    </p:animEffect>
                                  </p:childTnLst>
                                </p:cTn>
                              </p:par>
                              <p:par>
                                <p:cTn id="260" presetID="10" presetClass="entr" presetSubtype="0" fill="hold" nodeType="withEffect">
                                  <p:stCondLst>
                                    <p:cond delay="0"/>
                                  </p:stCondLst>
                                  <p:childTnLst>
                                    <p:set>
                                      <p:cBhvr>
                                        <p:cTn id="261" dur="1" fill="hold">
                                          <p:stCondLst>
                                            <p:cond delay="0"/>
                                          </p:stCondLst>
                                        </p:cTn>
                                        <p:tgtEl>
                                          <p:spTgt spid="795"/>
                                        </p:tgtEl>
                                        <p:attrNameLst>
                                          <p:attrName>style.visibility</p:attrName>
                                        </p:attrNameLst>
                                      </p:cBhvr>
                                      <p:to>
                                        <p:strVal val="visible"/>
                                      </p:to>
                                    </p:set>
                                    <p:animEffect transition="in" filter="fade">
                                      <p:cBhvr>
                                        <p:cTn id="262" dur="500"/>
                                        <p:tgtEl>
                                          <p:spTgt spid="795"/>
                                        </p:tgtEl>
                                      </p:cBhvr>
                                    </p:animEffect>
                                  </p:childTnLst>
                                </p:cTn>
                              </p:par>
                              <p:par>
                                <p:cTn id="263" presetID="10" presetClass="entr" presetSubtype="0" fill="hold" nodeType="withEffect">
                                  <p:stCondLst>
                                    <p:cond delay="0"/>
                                  </p:stCondLst>
                                  <p:childTnLst>
                                    <p:set>
                                      <p:cBhvr>
                                        <p:cTn id="264" dur="1" fill="hold">
                                          <p:stCondLst>
                                            <p:cond delay="0"/>
                                          </p:stCondLst>
                                        </p:cTn>
                                        <p:tgtEl>
                                          <p:spTgt spid="796"/>
                                        </p:tgtEl>
                                        <p:attrNameLst>
                                          <p:attrName>style.visibility</p:attrName>
                                        </p:attrNameLst>
                                      </p:cBhvr>
                                      <p:to>
                                        <p:strVal val="visible"/>
                                      </p:to>
                                    </p:set>
                                    <p:animEffect transition="in" filter="fade">
                                      <p:cBhvr>
                                        <p:cTn id="265" dur="500"/>
                                        <p:tgtEl>
                                          <p:spTgt spid="796"/>
                                        </p:tgtEl>
                                      </p:cBhvr>
                                    </p:animEffect>
                                  </p:childTnLst>
                                </p:cTn>
                              </p:par>
                              <p:par>
                                <p:cTn id="266" presetID="10" presetClass="entr" presetSubtype="0" fill="hold" nodeType="withEffect">
                                  <p:stCondLst>
                                    <p:cond delay="0"/>
                                  </p:stCondLst>
                                  <p:childTnLst>
                                    <p:set>
                                      <p:cBhvr>
                                        <p:cTn id="267" dur="1" fill="hold">
                                          <p:stCondLst>
                                            <p:cond delay="0"/>
                                          </p:stCondLst>
                                        </p:cTn>
                                        <p:tgtEl>
                                          <p:spTgt spid="797"/>
                                        </p:tgtEl>
                                        <p:attrNameLst>
                                          <p:attrName>style.visibility</p:attrName>
                                        </p:attrNameLst>
                                      </p:cBhvr>
                                      <p:to>
                                        <p:strVal val="visible"/>
                                      </p:to>
                                    </p:set>
                                    <p:animEffect transition="in" filter="fade">
                                      <p:cBhvr>
                                        <p:cTn id="268" dur="500"/>
                                        <p:tgtEl>
                                          <p:spTgt spid="797"/>
                                        </p:tgtEl>
                                      </p:cBhvr>
                                    </p:animEffect>
                                  </p:childTnLst>
                                </p:cTn>
                              </p:par>
                              <p:par>
                                <p:cTn id="269" presetID="10" presetClass="entr" presetSubtype="0" fill="hold" nodeType="withEffect">
                                  <p:stCondLst>
                                    <p:cond delay="0"/>
                                  </p:stCondLst>
                                  <p:childTnLst>
                                    <p:set>
                                      <p:cBhvr>
                                        <p:cTn id="270" dur="1" fill="hold">
                                          <p:stCondLst>
                                            <p:cond delay="0"/>
                                          </p:stCondLst>
                                        </p:cTn>
                                        <p:tgtEl>
                                          <p:spTgt spid="798"/>
                                        </p:tgtEl>
                                        <p:attrNameLst>
                                          <p:attrName>style.visibility</p:attrName>
                                        </p:attrNameLst>
                                      </p:cBhvr>
                                      <p:to>
                                        <p:strVal val="visible"/>
                                      </p:to>
                                    </p:set>
                                    <p:animEffect transition="in" filter="fade">
                                      <p:cBhvr>
                                        <p:cTn id="271" dur="500"/>
                                        <p:tgtEl>
                                          <p:spTgt spid="798"/>
                                        </p:tgtEl>
                                      </p:cBhvr>
                                    </p:animEffect>
                                  </p:childTnLst>
                                </p:cTn>
                              </p:par>
                              <p:par>
                                <p:cTn id="272" presetID="10" presetClass="entr" presetSubtype="0" fill="hold" nodeType="withEffect">
                                  <p:stCondLst>
                                    <p:cond delay="0"/>
                                  </p:stCondLst>
                                  <p:childTnLst>
                                    <p:set>
                                      <p:cBhvr>
                                        <p:cTn id="273" dur="1" fill="hold">
                                          <p:stCondLst>
                                            <p:cond delay="0"/>
                                          </p:stCondLst>
                                        </p:cTn>
                                        <p:tgtEl>
                                          <p:spTgt spid="799"/>
                                        </p:tgtEl>
                                        <p:attrNameLst>
                                          <p:attrName>style.visibility</p:attrName>
                                        </p:attrNameLst>
                                      </p:cBhvr>
                                      <p:to>
                                        <p:strVal val="visible"/>
                                      </p:to>
                                    </p:set>
                                    <p:animEffect transition="in" filter="fade">
                                      <p:cBhvr>
                                        <p:cTn id="274" dur="500"/>
                                        <p:tgtEl>
                                          <p:spTgt spid="799"/>
                                        </p:tgtEl>
                                      </p:cBhvr>
                                    </p:animEffect>
                                  </p:childTnLst>
                                </p:cTn>
                              </p:par>
                              <p:par>
                                <p:cTn id="275" presetID="10" presetClass="entr" presetSubtype="0" fill="hold" nodeType="withEffect">
                                  <p:stCondLst>
                                    <p:cond delay="0"/>
                                  </p:stCondLst>
                                  <p:childTnLst>
                                    <p:set>
                                      <p:cBhvr>
                                        <p:cTn id="276" dur="1" fill="hold">
                                          <p:stCondLst>
                                            <p:cond delay="0"/>
                                          </p:stCondLst>
                                        </p:cTn>
                                        <p:tgtEl>
                                          <p:spTgt spid="800"/>
                                        </p:tgtEl>
                                        <p:attrNameLst>
                                          <p:attrName>style.visibility</p:attrName>
                                        </p:attrNameLst>
                                      </p:cBhvr>
                                      <p:to>
                                        <p:strVal val="visible"/>
                                      </p:to>
                                    </p:set>
                                    <p:animEffect transition="in" filter="fade">
                                      <p:cBhvr>
                                        <p:cTn id="277" dur="500"/>
                                        <p:tgtEl>
                                          <p:spTgt spid="800"/>
                                        </p:tgtEl>
                                      </p:cBhvr>
                                    </p:animEffect>
                                  </p:childTnLst>
                                </p:cTn>
                              </p:par>
                              <p:par>
                                <p:cTn id="278" presetID="10" presetClass="entr" presetSubtype="0" fill="hold" nodeType="withEffect">
                                  <p:stCondLst>
                                    <p:cond delay="0"/>
                                  </p:stCondLst>
                                  <p:childTnLst>
                                    <p:set>
                                      <p:cBhvr>
                                        <p:cTn id="279" dur="1" fill="hold">
                                          <p:stCondLst>
                                            <p:cond delay="0"/>
                                          </p:stCondLst>
                                        </p:cTn>
                                        <p:tgtEl>
                                          <p:spTgt spid="801"/>
                                        </p:tgtEl>
                                        <p:attrNameLst>
                                          <p:attrName>style.visibility</p:attrName>
                                        </p:attrNameLst>
                                      </p:cBhvr>
                                      <p:to>
                                        <p:strVal val="visible"/>
                                      </p:to>
                                    </p:set>
                                    <p:animEffect transition="in" filter="fade">
                                      <p:cBhvr>
                                        <p:cTn id="280" dur="500"/>
                                        <p:tgtEl>
                                          <p:spTgt spid="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68"/>
          <p:cNvSpPr txBox="1">
            <a:spLocks noGrp="1"/>
          </p:cNvSpPr>
          <p:nvPr>
            <p:ph type="body" idx="4294967295"/>
          </p:nvPr>
        </p:nvSpPr>
        <p:spPr>
          <a:xfrm>
            <a:off x="623392" y="1219200"/>
            <a:ext cx="11162208" cy="480208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In case of 16 bit data, aligned words begin at byte addresses of 0,2,4,………………………….</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In case of 32 bit data, aligned words begin at byte address of 0,4,8,………………………….</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In case of 64 bit data, aligned words begin at byte addresses of 0,8,16,………………………..</a:t>
            </a:r>
            <a:endParaRPr>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In some cases words can start at an arbitrary byte address also then, we say that word locations are </a:t>
            </a:r>
            <a:r>
              <a:rPr lang="en-US">
                <a:solidFill>
                  <a:srgbClr val="FF0000"/>
                </a:solidFill>
                <a:latin typeface="Times New Roman"/>
                <a:ea typeface="Times New Roman"/>
                <a:cs typeface="Times New Roman"/>
                <a:sym typeface="Times New Roman"/>
              </a:rPr>
              <a:t>unaligned</a:t>
            </a:r>
            <a:endParaRPr>
              <a:latin typeface="Times New Roman"/>
              <a:ea typeface="Times New Roman"/>
              <a:cs typeface="Times New Roman"/>
              <a:sym typeface="Times New Roman"/>
            </a:endParaRPr>
          </a:p>
          <a:p>
            <a:pPr marL="228600" lvl="0" indent="-50800" algn="just" rtl="0">
              <a:lnSpc>
                <a:spcPct val="90000"/>
              </a:lnSpc>
              <a:spcBef>
                <a:spcPts val="1000"/>
              </a:spcBef>
              <a:spcAft>
                <a:spcPts val="0"/>
              </a:spcAft>
              <a:buClr>
                <a:schemeClr val="dk1"/>
              </a:buClr>
              <a:buSzPts val="2800"/>
              <a:buNone/>
            </a:pPr>
            <a:endParaRPr/>
          </a:p>
        </p:txBody>
      </p:sp>
      <p:sp>
        <p:nvSpPr>
          <p:cNvPr id="810" name="Google Shape;810;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888888"/>
              </a:buClr>
              <a:buSzPts val="1200"/>
              <a:buFont typeface="Calibri"/>
              <a:buNone/>
            </a:pPr>
            <a:fld id="{00000000-1234-1234-1234-123412341234}" type="slidenum">
              <a:rPr lang="en-US"/>
              <a:t>54</a:t>
            </a:fld>
            <a:endParaRPr/>
          </a:p>
        </p:txBody>
      </p:sp>
      <p:sp>
        <p:nvSpPr>
          <p:cNvPr id="811" name="Google Shape;811;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B82473BC-7518-4E9C-BC72-9C48B71E760C}" type="datetime1">
              <a:rPr lang="en-US" smtClean="0"/>
              <a:t>8/12/2024</a:t>
            </a:fld>
            <a:endParaRPr/>
          </a:p>
        </p:txBody>
      </p:sp>
      <p:sp>
        <p:nvSpPr>
          <p:cNvPr id="812" name="Google Shape;812;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9">
                                            <p:txEl>
                                              <p:pRg st="0" end="0"/>
                                            </p:txEl>
                                          </p:spTgt>
                                        </p:tgtEl>
                                        <p:attrNameLst>
                                          <p:attrName>style.visibility</p:attrName>
                                        </p:attrNameLst>
                                      </p:cBhvr>
                                      <p:to>
                                        <p:strVal val="visible"/>
                                      </p:to>
                                    </p:set>
                                    <p:anim calcmode="lin" valueType="num">
                                      <p:cBhvr additive="base">
                                        <p:cTn id="7" dur="500"/>
                                        <p:tgtEl>
                                          <p:spTgt spid="80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09">
                                            <p:txEl>
                                              <p:pRg st="1" end="1"/>
                                            </p:txEl>
                                          </p:spTgt>
                                        </p:tgtEl>
                                        <p:attrNameLst>
                                          <p:attrName>style.visibility</p:attrName>
                                        </p:attrNameLst>
                                      </p:cBhvr>
                                      <p:to>
                                        <p:strVal val="visible"/>
                                      </p:to>
                                    </p:set>
                                    <p:anim calcmode="lin" valueType="num">
                                      <p:cBhvr additive="base">
                                        <p:cTn id="12" dur="500"/>
                                        <p:tgtEl>
                                          <p:spTgt spid="80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09">
                                            <p:txEl>
                                              <p:pRg st="2" end="2"/>
                                            </p:txEl>
                                          </p:spTgt>
                                        </p:tgtEl>
                                        <p:attrNameLst>
                                          <p:attrName>style.visibility</p:attrName>
                                        </p:attrNameLst>
                                      </p:cBhvr>
                                      <p:to>
                                        <p:strVal val="visible"/>
                                      </p:to>
                                    </p:set>
                                    <p:anim calcmode="lin" valueType="num">
                                      <p:cBhvr additive="base">
                                        <p:cTn id="17" dur="500"/>
                                        <p:tgtEl>
                                          <p:spTgt spid="80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09">
                                            <p:txEl>
                                              <p:pRg st="3" end="3"/>
                                            </p:txEl>
                                          </p:spTgt>
                                        </p:tgtEl>
                                        <p:attrNameLst>
                                          <p:attrName>style.visibility</p:attrName>
                                        </p:attrNameLst>
                                      </p:cBhvr>
                                      <p:to>
                                        <p:strVal val="visible"/>
                                      </p:to>
                                    </p:set>
                                    <p:anim calcmode="lin" valueType="num">
                                      <p:cBhvr additive="base">
                                        <p:cTn id="22" dur="500"/>
                                        <p:tgtEl>
                                          <p:spTgt spid="80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09">
                                            <p:txEl>
                                              <p:pRg st="4" end="4"/>
                                            </p:txEl>
                                          </p:spTgt>
                                        </p:tgtEl>
                                        <p:attrNameLst>
                                          <p:attrName>style.visibility</p:attrName>
                                        </p:attrNameLst>
                                      </p:cBhvr>
                                      <p:to>
                                        <p:strVal val="visible"/>
                                      </p:to>
                                    </p:set>
                                    <p:anim calcmode="lin" valueType="num">
                                      <p:cBhvr additive="base">
                                        <p:cTn id="27" dur="500"/>
                                        <p:tgtEl>
                                          <p:spTgt spid="80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69"/>
          <p:cNvSpPr txBox="1">
            <a:spLocks noGrp="1"/>
          </p:cNvSpPr>
          <p:nvPr>
            <p:ph type="title"/>
          </p:nvPr>
        </p:nvSpPr>
        <p:spPr>
          <a:xfrm>
            <a:off x="2246313" y="980729"/>
            <a:ext cx="7772400" cy="2232248"/>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Instruction and instruction sequencing</a:t>
            </a:r>
            <a:endParaRPr/>
          </a:p>
        </p:txBody>
      </p:sp>
      <p:sp>
        <p:nvSpPr>
          <p:cNvPr id="818" name="Google Shape;818;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
        <p:nvSpPr>
          <p:cNvPr id="819" name="Google Shape;819;p6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8D709C18-1BCB-4AD9-B7A1-91A6CCEBC5DA}" type="datetime1">
              <a:rPr lang="en-US" smtClean="0"/>
              <a:t>8/12/2024</a:t>
            </a:fld>
            <a:endParaRPr/>
          </a:p>
        </p:txBody>
      </p:sp>
      <p:sp>
        <p:nvSpPr>
          <p:cNvPr id="820" name="Google Shape;820;p6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70"/>
          <p:cNvSpPr txBox="1">
            <a:spLocks noGrp="1"/>
          </p:cNvSpPr>
          <p:nvPr>
            <p:ph type="title"/>
          </p:nvPr>
        </p:nvSpPr>
        <p:spPr>
          <a:xfrm>
            <a:off x="1981200" y="928670"/>
            <a:ext cx="8229600" cy="48896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600"/>
              <a:buFont typeface="Calibri"/>
              <a:buNone/>
            </a:pPr>
            <a:endParaRPr sz="3600">
              <a:solidFill>
                <a:srgbClr val="FF0000"/>
              </a:solidFill>
              <a:latin typeface="Times New Roman"/>
              <a:ea typeface="Times New Roman"/>
              <a:cs typeface="Times New Roman"/>
              <a:sym typeface="Times New Roman"/>
            </a:endParaRPr>
          </a:p>
        </p:txBody>
      </p:sp>
      <p:sp>
        <p:nvSpPr>
          <p:cNvPr id="826" name="Google Shape;826;p70"/>
          <p:cNvSpPr txBox="1">
            <a:spLocks noGrp="1"/>
          </p:cNvSpPr>
          <p:nvPr>
            <p:ph type="body" idx="1"/>
          </p:nvPr>
        </p:nvSpPr>
        <p:spPr>
          <a:xfrm>
            <a:off x="1981200" y="1600200"/>
            <a:ext cx="8229600" cy="4756150"/>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sz="2400" b="1">
                <a:latin typeface="Times New Roman"/>
                <a:ea typeface="Times New Roman"/>
                <a:cs typeface="Times New Roman"/>
                <a:sym typeface="Times New Roman"/>
              </a:rPr>
              <a:t>Instruction</a:t>
            </a:r>
            <a:r>
              <a:rPr lang="en-US" sz="2400">
                <a:latin typeface="Times New Roman"/>
                <a:ea typeface="Times New Roman"/>
                <a:cs typeface="Times New Roman"/>
                <a:sym typeface="Times New Roman"/>
              </a:rPr>
              <a:t>:  is command to the microprocessor to perform a given task on specified data. </a:t>
            </a:r>
            <a:endParaRPr/>
          </a:p>
          <a:p>
            <a:pPr marL="228600" lvl="0" indent="-228600" algn="l" rtl="0">
              <a:lnSpc>
                <a:spcPct val="90000"/>
              </a:lnSpc>
              <a:spcBef>
                <a:spcPts val="1000"/>
              </a:spcBef>
              <a:spcAft>
                <a:spcPts val="0"/>
              </a:spcAft>
              <a:buClr>
                <a:schemeClr val="dk1"/>
              </a:buClr>
              <a:buSzPct val="100000"/>
              <a:buChar char="•"/>
            </a:pPr>
            <a:r>
              <a:rPr lang="en-US" sz="2400" b="1">
                <a:latin typeface="Times New Roman"/>
                <a:ea typeface="Times New Roman"/>
                <a:cs typeface="Times New Roman"/>
                <a:sym typeface="Times New Roman"/>
              </a:rPr>
              <a:t>Instruction Set</a:t>
            </a:r>
            <a:r>
              <a:rPr lang="en-US" sz="2400">
                <a:latin typeface="Times New Roman"/>
                <a:ea typeface="Times New Roman"/>
                <a:cs typeface="Times New Roman"/>
                <a:sym typeface="Times New Roman"/>
              </a:rPr>
              <a:t>: The entire group of these instructions are called instruction set.</a:t>
            </a:r>
            <a:endParaRPr/>
          </a:p>
          <a:p>
            <a:pPr marL="228600" lvl="0" indent="-228600" algn="l" rtl="0">
              <a:lnSpc>
                <a:spcPct val="90000"/>
              </a:lnSpc>
              <a:spcBef>
                <a:spcPts val="1000"/>
              </a:spcBef>
              <a:spcAft>
                <a:spcPts val="0"/>
              </a:spcAft>
              <a:buClr>
                <a:schemeClr val="dk1"/>
              </a:buClr>
              <a:buSzPct val="100000"/>
              <a:buChar char="•"/>
            </a:pPr>
            <a:r>
              <a:rPr lang="en-US" sz="2400" b="1">
                <a:latin typeface="Times New Roman"/>
                <a:ea typeface="Times New Roman"/>
                <a:cs typeface="Times New Roman"/>
                <a:sym typeface="Times New Roman"/>
              </a:rPr>
              <a:t>instruction sequencing :</a:t>
            </a:r>
            <a:r>
              <a:rPr lang="en-US" sz="2400">
                <a:latin typeface="Times New Roman"/>
                <a:ea typeface="Times New Roman"/>
                <a:cs typeface="Times New Roman"/>
                <a:sym typeface="Times New Roman"/>
              </a:rPr>
              <a:t> The order in which the instructions in a program are carried out.</a:t>
            </a:r>
            <a:endParaRPr/>
          </a:p>
          <a:p>
            <a:pPr marL="0" lvl="0" indent="0" algn="l" rtl="0">
              <a:lnSpc>
                <a:spcPct val="9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4 TYPES OF OPERATION:-</a:t>
            </a:r>
            <a:endParaRPr/>
          </a:p>
          <a:p>
            <a:pPr marL="0" lvl="0" indent="0" algn="l" rtl="0">
              <a:lnSpc>
                <a:spcPct val="9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A computer must have instructions capable of performing 4 types of operation</a:t>
            </a:r>
            <a:endParaRPr/>
          </a:p>
          <a:p>
            <a:pPr marL="228600" lvl="0" indent="-228600" algn="l" rtl="0">
              <a:lnSpc>
                <a:spcPct val="90000"/>
              </a:lnSpc>
              <a:spcBef>
                <a:spcPts val="1000"/>
              </a:spcBef>
              <a:spcAft>
                <a:spcPts val="0"/>
              </a:spcAft>
              <a:buClr>
                <a:schemeClr val="dk1"/>
              </a:buClr>
              <a:buSzPct val="100000"/>
              <a:buChar char="•"/>
            </a:pPr>
            <a:r>
              <a:rPr lang="en-US" sz="2400">
                <a:latin typeface="Times New Roman"/>
                <a:ea typeface="Times New Roman"/>
                <a:cs typeface="Times New Roman"/>
                <a:sym typeface="Times New Roman"/>
              </a:rPr>
              <a:t>Data transfer between memory and processor register</a:t>
            </a:r>
            <a:endParaRPr/>
          </a:p>
          <a:p>
            <a:pPr marL="228600" lvl="0" indent="-228600" algn="l" rtl="0">
              <a:lnSpc>
                <a:spcPct val="90000"/>
              </a:lnSpc>
              <a:spcBef>
                <a:spcPts val="1000"/>
              </a:spcBef>
              <a:spcAft>
                <a:spcPts val="0"/>
              </a:spcAft>
              <a:buClr>
                <a:schemeClr val="dk1"/>
              </a:buClr>
              <a:buSzPct val="100000"/>
              <a:buChar char="•"/>
            </a:pPr>
            <a:r>
              <a:rPr lang="en-US" sz="2400">
                <a:latin typeface="Times New Roman"/>
                <a:ea typeface="Times New Roman"/>
                <a:cs typeface="Times New Roman"/>
                <a:sym typeface="Times New Roman"/>
              </a:rPr>
              <a:t>Arithmetic and logic operation</a:t>
            </a:r>
            <a:endParaRPr/>
          </a:p>
          <a:p>
            <a:pPr marL="228600" lvl="0" indent="-228600" algn="l" rtl="0">
              <a:lnSpc>
                <a:spcPct val="90000"/>
              </a:lnSpc>
              <a:spcBef>
                <a:spcPts val="1000"/>
              </a:spcBef>
              <a:spcAft>
                <a:spcPts val="0"/>
              </a:spcAft>
              <a:buClr>
                <a:schemeClr val="dk1"/>
              </a:buClr>
              <a:buSzPct val="100000"/>
              <a:buChar char="•"/>
            </a:pPr>
            <a:r>
              <a:rPr lang="en-US" sz="2400">
                <a:latin typeface="Times New Roman"/>
                <a:ea typeface="Times New Roman"/>
                <a:cs typeface="Times New Roman"/>
                <a:sym typeface="Times New Roman"/>
              </a:rPr>
              <a:t> Program sequencing and control</a:t>
            </a:r>
            <a:endParaRPr/>
          </a:p>
          <a:p>
            <a:pPr marL="228600" lvl="0" indent="-228600" algn="l" rtl="0">
              <a:lnSpc>
                <a:spcPct val="90000"/>
              </a:lnSpc>
              <a:spcBef>
                <a:spcPts val="1000"/>
              </a:spcBef>
              <a:spcAft>
                <a:spcPts val="0"/>
              </a:spcAft>
              <a:buClr>
                <a:schemeClr val="dk1"/>
              </a:buClr>
              <a:buSzPct val="100000"/>
              <a:buChar char="•"/>
            </a:pPr>
            <a:r>
              <a:rPr lang="en-US" sz="2400">
                <a:latin typeface="Times New Roman"/>
                <a:ea typeface="Times New Roman"/>
                <a:cs typeface="Times New Roman"/>
                <a:sym typeface="Times New Roman"/>
              </a:rPr>
              <a:t>I/O transfer</a:t>
            </a:r>
            <a:endParaRPr/>
          </a:p>
        </p:txBody>
      </p:sp>
      <p:sp>
        <p:nvSpPr>
          <p:cNvPr id="827" name="Google Shape;827;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
        <p:nvSpPr>
          <p:cNvPr id="828" name="Google Shape;828;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B21DB617-1740-44A0-B9D7-B62A12C093C5}" type="datetime1">
              <a:rPr lang="en-US" smtClean="0"/>
              <a:t>8/12/2024</a:t>
            </a:fld>
            <a:endParaRPr/>
          </a:p>
        </p:txBody>
      </p:sp>
      <p:sp>
        <p:nvSpPr>
          <p:cNvPr id="829" name="Google Shape;829;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71"/>
          <p:cNvSpPr txBox="1">
            <a:spLocks noGrp="1"/>
          </p:cNvSpPr>
          <p:nvPr>
            <p:ph type="title"/>
          </p:nvPr>
        </p:nvSpPr>
        <p:spPr>
          <a:xfrm>
            <a:off x="1487488" y="908721"/>
            <a:ext cx="8767522" cy="60352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ct val="100000"/>
              <a:buFont typeface="Times New Roman"/>
              <a:buNone/>
            </a:pPr>
            <a:r>
              <a:rPr lang="en-US" sz="4000">
                <a:solidFill>
                  <a:srgbClr val="FF0000"/>
                </a:solidFill>
                <a:latin typeface="Times New Roman"/>
                <a:ea typeface="Times New Roman"/>
                <a:cs typeface="Times New Roman"/>
                <a:sym typeface="Times New Roman"/>
              </a:rPr>
              <a:t/>
            </a:r>
            <a:br>
              <a:rPr lang="en-US" sz="4000">
                <a:solidFill>
                  <a:srgbClr val="FF0000"/>
                </a:solidFill>
                <a:latin typeface="Times New Roman"/>
                <a:ea typeface="Times New Roman"/>
                <a:cs typeface="Times New Roman"/>
                <a:sym typeface="Times New Roman"/>
              </a:rPr>
            </a:br>
            <a:r>
              <a:rPr lang="en-US" sz="4000">
                <a:solidFill>
                  <a:srgbClr val="FF0000"/>
                </a:solidFill>
                <a:latin typeface="Times New Roman"/>
                <a:ea typeface="Times New Roman"/>
                <a:cs typeface="Times New Roman"/>
                <a:sym typeface="Times New Roman"/>
              </a:rPr>
              <a:t>Register transfer notation (RTN) </a:t>
            </a:r>
            <a:br>
              <a:rPr lang="en-US" sz="4000">
                <a:solidFill>
                  <a:srgbClr val="FF0000"/>
                </a:solidFill>
                <a:latin typeface="Times New Roman"/>
                <a:ea typeface="Times New Roman"/>
                <a:cs typeface="Times New Roman"/>
                <a:sym typeface="Times New Roman"/>
              </a:rPr>
            </a:br>
            <a:endParaRPr sz="4000">
              <a:solidFill>
                <a:srgbClr val="FF0000"/>
              </a:solidFill>
              <a:latin typeface="Times New Roman"/>
              <a:ea typeface="Times New Roman"/>
              <a:cs typeface="Times New Roman"/>
              <a:sym typeface="Times New Roman"/>
            </a:endParaRPr>
          </a:p>
        </p:txBody>
      </p:sp>
      <p:sp>
        <p:nvSpPr>
          <p:cNvPr id="835" name="Google Shape;835;p71"/>
          <p:cNvSpPr txBox="1">
            <a:spLocks noGrp="1"/>
          </p:cNvSpPr>
          <p:nvPr>
            <p:ph type="body" idx="1"/>
          </p:nvPr>
        </p:nvSpPr>
        <p:spPr>
          <a:xfrm>
            <a:off x="1882374" y="1512244"/>
            <a:ext cx="8515672" cy="5157117"/>
          </a:xfrm>
          <a:prstGeom prst="rect">
            <a:avLst/>
          </a:prstGeom>
          <a:noFill/>
          <a:ln>
            <a:noFill/>
          </a:ln>
        </p:spPr>
        <p:txBody>
          <a:bodyPr spcFirstLastPara="1" wrap="square" lIns="91425" tIns="45700" rIns="91425" bIns="45700" anchor="t" anchorCtr="0">
            <a:noAutofit/>
          </a:bodyPr>
          <a:lstStyle/>
          <a:p>
            <a:pPr marL="228600" lvl="0" indent="-228600" algn="l" rtl="0">
              <a:lnSpc>
                <a:spcPct val="80000"/>
              </a:lnSpc>
              <a:spcBef>
                <a:spcPts val="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Transfer between processor registers &amp; memory, between processor register &amp; I/O devices	</a:t>
            </a:r>
            <a:endParaRPr/>
          </a:p>
          <a:p>
            <a:pPr marL="228600" lvl="0" indent="-228600" algn="l" rtl="0">
              <a:lnSpc>
                <a:spcPct val="80000"/>
              </a:lnSpc>
              <a:spcBef>
                <a:spcPts val="120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Memory locations, registers and I/O register names are identified by a symbolic  name in uppercase alphabets</a:t>
            </a:r>
            <a:endParaRPr/>
          </a:p>
          <a:p>
            <a:pPr marL="228600" lvl="0" indent="-228600" algn="l" rtl="0">
              <a:lnSpc>
                <a:spcPct val="8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LOC,PLACE,MEM are the address of memory location</a:t>
            </a:r>
            <a:endParaRPr/>
          </a:p>
          <a:p>
            <a:pPr marL="228600" lvl="0" indent="-228600" algn="l" rtl="0">
              <a:lnSpc>
                <a:spcPct val="8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R1 , R2,… are processor registers</a:t>
            </a:r>
            <a:endParaRPr/>
          </a:p>
          <a:p>
            <a:pPr marL="228600" lvl="0" indent="-228600" algn="l" rtl="0">
              <a:lnSpc>
                <a:spcPct val="8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DATA_IN, DATA_OUT are I/O registers</a:t>
            </a:r>
            <a:endParaRPr/>
          </a:p>
          <a:p>
            <a:pPr marL="228600" lvl="0" indent="-228600" algn="l" rtl="0">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Contents of location is indicated by using square brackets [ ]</a:t>
            </a:r>
            <a:endParaRPr/>
          </a:p>
          <a:p>
            <a:pPr marL="228600" lvl="0" indent="-228600" algn="l" rtl="0">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RHS of RTN always denotes a values, and is called </a:t>
            </a:r>
            <a:r>
              <a:rPr lang="en-US" sz="2400">
                <a:solidFill>
                  <a:srgbClr val="FF0000"/>
                </a:solidFill>
                <a:latin typeface="Times New Roman"/>
                <a:ea typeface="Times New Roman"/>
                <a:cs typeface="Times New Roman"/>
                <a:sym typeface="Times New Roman"/>
              </a:rPr>
              <a:t>Source</a:t>
            </a:r>
            <a:endParaRPr/>
          </a:p>
          <a:p>
            <a:pPr marL="228600" lvl="0" indent="-228600" algn="l" rtl="0">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LHS of RTN always denotes a symbolic name where </a:t>
            </a:r>
            <a:r>
              <a:rPr lang="en-US" sz="2400">
                <a:solidFill>
                  <a:srgbClr val="FF0000"/>
                </a:solidFill>
                <a:latin typeface="Times New Roman"/>
                <a:ea typeface="Times New Roman"/>
                <a:cs typeface="Times New Roman"/>
                <a:sym typeface="Times New Roman"/>
              </a:rPr>
              <a:t>value</a:t>
            </a:r>
            <a:r>
              <a:rPr lang="en-US" sz="2400">
                <a:latin typeface="Times New Roman"/>
                <a:ea typeface="Times New Roman"/>
                <a:cs typeface="Times New Roman"/>
                <a:sym typeface="Times New Roman"/>
              </a:rPr>
              <a:t> is to </a:t>
            </a:r>
            <a:r>
              <a:rPr lang="en-US" sz="2400">
                <a:solidFill>
                  <a:srgbClr val="FF0000"/>
                </a:solidFill>
                <a:latin typeface="Times New Roman"/>
                <a:ea typeface="Times New Roman"/>
                <a:cs typeface="Times New Roman"/>
                <a:sym typeface="Times New Roman"/>
              </a:rPr>
              <a:t>be stored</a:t>
            </a:r>
            <a:r>
              <a:rPr lang="en-US" sz="2400">
                <a:latin typeface="Times New Roman"/>
                <a:ea typeface="Times New Roman"/>
                <a:cs typeface="Times New Roman"/>
                <a:sym typeface="Times New Roman"/>
              </a:rPr>
              <a:t> and is called </a:t>
            </a:r>
            <a:r>
              <a:rPr lang="en-US" sz="2400">
                <a:solidFill>
                  <a:srgbClr val="FF0000"/>
                </a:solidFill>
                <a:latin typeface="Times New Roman"/>
                <a:ea typeface="Times New Roman"/>
                <a:cs typeface="Times New Roman"/>
                <a:sym typeface="Times New Roman"/>
              </a:rPr>
              <a:t>destination </a:t>
            </a:r>
            <a:endParaRPr/>
          </a:p>
          <a:p>
            <a:pPr marL="228600" lvl="0" indent="-228600" algn="l" rtl="0">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Source contents are not modified</a:t>
            </a:r>
            <a:endParaRPr/>
          </a:p>
          <a:p>
            <a:pPr marL="228600" lvl="0" indent="-228600" algn="l" rtl="0">
              <a:lnSpc>
                <a:spcPct val="90000"/>
              </a:lnSpc>
              <a:spcBef>
                <a:spcPts val="1000"/>
              </a:spcBef>
              <a:spcAft>
                <a:spcPts val="0"/>
              </a:spcAft>
              <a:buClr>
                <a:schemeClr val="dk1"/>
              </a:buClr>
              <a:buSzPts val="2400"/>
              <a:buFont typeface="Times New Roman"/>
              <a:buChar char="•"/>
            </a:pPr>
            <a:r>
              <a:rPr lang="en-US" sz="2400">
                <a:latin typeface="Times New Roman"/>
                <a:ea typeface="Times New Roman"/>
                <a:cs typeface="Times New Roman"/>
                <a:sym typeface="Times New Roman"/>
              </a:rPr>
              <a:t>Destination contents are overwritten</a:t>
            </a:r>
            <a:endParaRPr/>
          </a:p>
          <a:p>
            <a:pPr marL="0" lvl="0" indent="0" algn="l" rtl="0">
              <a:lnSpc>
                <a:spcPct val="8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836" name="Google Shape;836;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3F87FAA-2D8B-4FDE-88ED-E47CE402FE1D}" type="datetime1">
              <a:rPr lang="en-US" smtClean="0"/>
              <a:t>8/12/2024</a:t>
            </a:fld>
            <a:endParaRPr/>
          </a:p>
        </p:txBody>
      </p:sp>
      <p:sp>
        <p:nvSpPr>
          <p:cNvPr id="837" name="Google Shape;837;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838" name="Google Shape;838;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72"/>
          <p:cNvSpPr txBox="1">
            <a:spLocks noGrp="1"/>
          </p:cNvSpPr>
          <p:nvPr>
            <p:ph type="title"/>
          </p:nvPr>
        </p:nvSpPr>
        <p:spPr>
          <a:xfrm>
            <a:off x="2068132" y="1264146"/>
            <a:ext cx="8229600" cy="67210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ct val="100000"/>
              <a:buFont typeface="Times New Roman"/>
              <a:buNone/>
            </a:pPr>
            <a:r>
              <a:rPr lang="en-US" sz="4000">
                <a:solidFill>
                  <a:srgbClr val="FF0000"/>
                </a:solidFill>
                <a:latin typeface="Times New Roman"/>
                <a:ea typeface="Times New Roman"/>
                <a:cs typeface="Times New Roman"/>
                <a:sym typeface="Times New Roman"/>
              </a:rPr>
              <a:t>Examples of RTN statements </a:t>
            </a:r>
            <a:br>
              <a:rPr lang="en-US" sz="4000">
                <a:solidFill>
                  <a:srgbClr val="FF0000"/>
                </a:solidFill>
                <a:latin typeface="Times New Roman"/>
                <a:ea typeface="Times New Roman"/>
                <a:cs typeface="Times New Roman"/>
                <a:sym typeface="Times New Roman"/>
              </a:rPr>
            </a:br>
            <a:endParaRPr sz="4000">
              <a:solidFill>
                <a:srgbClr val="FF0000"/>
              </a:solidFill>
              <a:latin typeface="Times New Roman"/>
              <a:ea typeface="Times New Roman"/>
              <a:cs typeface="Times New Roman"/>
              <a:sym typeface="Times New Roman"/>
            </a:endParaRPr>
          </a:p>
        </p:txBody>
      </p:sp>
      <p:sp>
        <p:nvSpPr>
          <p:cNvPr id="844" name="Google Shape;844;p7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a:p>
          <a:p>
            <a:pPr marL="609600" lvl="0" indent="-431800" algn="l" rtl="0">
              <a:lnSpc>
                <a:spcPct val="90000"/>
              </a:lnSpc>
              <a:spcBef>
                <a:spcPts val="1000"/>
              </a:spcBef>
              <a:spcAft>
                <a:spcPts val="0"/>
              </a:spcAft>
              <a:buClr>
                <a:schemeClr val="dk1"/>
              </a:buClr>
              <a:buSzPts val="2800"/>
              <a:buNone/>
            </a:pPr>
            <a:endParaRPr/>
          </a:p>
          <a:p>
            <a:pPr marL="609600" lvl="0" indent="-609600" algn="l" rtl="0">
              <a:lnSpc>
                <a:spcPct val="90000"/>
              </a:lnSpc>
              <a:spcBef>
                <a:spcPts val="1000"/>
              </a:spcBef>
              <a:spcAft>
                <a:spcPts val="0"/>
              </a:spcAft>
              <a:buClr>
                <a:schemeClr val="dk1"/>
              </a:buClr>
              <a:buSzPts val="2800"/>
              <a:buChar char="•"/>
            </a:pPr>
            <a:r>
              <a:rPr lang="en-US"/>
              <a:t>R2                               [LOCN]</a:t>
            </a:r>
            <a:endParaRPr/>
          </a:p>
          <a:p>
            <a:pPr marL="609600" lvl="0" indent="-609600" algn="l" rtl="0">
              <a:lnSpc>
                <a:spcPct val="90000"/>
              </a:lnSpc>
              <a:spcBef>
                <a:spcPts val="1000"/>
              </a:spcBef>
              <a:spcAft>
                <a:spcPts val="0"/>
              </a:spcAft>
              <a:buClr>
                <a:schemeClr val="dk1"/>
              </a:buClr>
              <a:buSzPts val="2800"/>
              <a:buNone/>
            </a:pPr>
            <a:endParaRPr/>
          </a:p>
          <a:p>
            <a:pPr marL="609600" lvl="0" indent="-609600" algn="l" rtl="0">
              <a:lnSpc>
                <a:spcPct val="90000"/>
              </a:lnSpc>
              <a:spcBef>
                <a:spcPts val="1000"/>
              </a:spcBef>
              <a:spcAft>
                <a:spcPts val="0"/>
              </a:spcAft>
              <a:buClr>
                <a:schemeClr val="dk1"/>
              </a:buClr>
              <a:buSzPts val="2800"/>
              <a:buNone/>
            </a:pPr>
            <a:endParaRPr/>
          </a:p>
          <a:p>
            <a:pPr marL="609600" lvl="0" indent="-609600" algn="l" rtl="0">
              <a:lnSpc>
                <a:spcPct val="90000"/>
              </a:lnSpc>
              <a:spcBef>
                <a:spcPts val="1000"/>
              </a:spcBef>
              <a:spcAft>
                <a:spcPts val="0"/>
              </a:spcAft>
              <a:buClr>
                <a:schemeClr val="dk1"/>
              </a:buClr>
              <a:buSzPts val="2800"/>
              <a:buChar char="•"/>
            </a:pPr>
            <a:r>
              <a:rPr lang="en-US"/>
              <a:t>R4                                 [R3] +[R2]</a:t>
            </a:r>
            <a:endParaRPr/>
          </a:p>
          <a:p>
            <a:pPr marL="609600" lvl="0" indent="-431800" algn="l" rtl="0">
              <a:lnSpc>
                <a:spcPct val="90000"/>
              </a:lnSpc>
              <a:spcBef>
                <a:spcPts val="1000"/>
              </a:spcBef>
              <a:spcAft>
                <a:spcPts val="0"/>
              </a:spcAft>
              <a:buClr>
                <a:schemeClr val="dk1"/>
              </a:buClr>
              <a:buSzPts val="2800"/>
              <a:buNone/>
            </a:pPr>
            <a:endParaRPr/>
          </a:p>
        </p:txBody>
      </p:sp>
      <p:cxnSp>
        <p:nvCxnSpPr>
          <p:cNvPr id="845" name="Google Shape;845;p72"/>
          <p:cNvCxnSpPr/>
          <p:nvPr/>
        </p:nvCxnSpPr>
        <p:spPr>
          <a:xfrm flipH="1">
            <a:off x="3212976" y="3068959"/>
            <a:ext cx="1082824" cy="1"/>
          </a:xfrm>
          <a:prstGeom prst="straightConnector1">
            <a:avLst/>
          </a:prstGeom>
          <a:noFill/>
          <a:ln w="9525" cap="flat" cmpd="sng">
            <a:solidFill>
              <a:schemeClr val="dk1"/>
            </a:solidFill>
            <a:prstDash val="solid"/>
            <a:round/>
            <a:headEnd type="none" w="med" len="med"/>
            <a:tailEnd type="triangle" w="med" len="med"/>
          </a:ln>
        </p:spPr>
      </p:cxnSp>
      <p:cxnSp>
        <p:nvCxnSpPr>
          <p:cNvPr id="846" name="Google Shape;846;p72"/>
          <p:cNvCxnSpPr/>
          <p:nvPr/>
        </p:nvCxnSpPr>
        <p:spPr>
          <a:xfrm flipH="1">
            <a:off x="3087480" y="4653136"/>
            <a:ext cx="1152128" cy="1"/>
          </a:xfrm>
          <a:prstGeom prst="straightConnector1">
            <a:avLst/>
          </a:prstGeom>
          <a:noFill/>
          <a:ln w="9525" cap="flat" cmpd="sng">
            <a:solidFill>
              <a:schemeClr val="dk1"/>
            </a:solidFill>
            <a:prstDash val="solid"/>
            <a:round/>
            <a:headEnd type="none" w="med" len="med"/>
            <a:tailEnd type="triangle" w="med" len="med"/>
          </a:ln>
        </p:spPr>
      </p:cxnSp>
      <p:sp>
        <p:nvSpPr>
          <p:cNvPr id="847" name="Google Shape;847;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4F6ADD81-F232-45D2-950E-3A1B6FBB63D7}" type="datetime1">
              <a:rPr lang="en-US" smtClean="0"/>
              <a:t>8/12/2024</a:t>
            </a:fld>
            <a:endParaRPr/>
          </a:p>
        </p:txBody>
      </p:sp>
      <p:sp>
        <p:nvSpPr>
          <p:cNvPr id="848" name="Google Shape;848;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849" name="Google Shape;849;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73"/>
          <p:cNvSpPr txBox="1">
            <a:spLocks noGrp="1"/>
          </p:cNvSpPr>
          <p:nvPr>
            <p:ph type="title"/>
          </p:nvPr>
        </p:nvSpPr>
        <p:spPr>
          <a:xfrm>
            <a:off x="1981200" y="1052736"/>
            <a:ext cx="8229600" cy="364902"/>
          </a:xfrm>
          <a:prstGeom prst="rect">
            <a:avLst/>
          </a:prstGeom>
          <a:noFill/>
          <a:ln>
            <a:noFill/>
          </a:ln>
        </p:spPr>
        <p:txBody>
          <a:bodyPr spcFirstLastPara="1" wrap="square" lIns="91425" tIns="45700" rIns="91425" bIns="45700" anchor="ctr" anchorCtr="0">
            <a:noAutofit/>
          </a:bodyPr>
          <a:lstStyle/>
          <a:p>
            <a:pPr marL="0" lvl="1" indent="0" algn="ctr" rtl="0">
              <a:spcBef>
                <a:spcPts val="0"/>
              </a:spcBef>
              <a:spcAft>
                <a:spcPts val="0"/>
              </a:spcAft>
              <a:buNone/>
            </a:pPr>
            <a:r>
              <a:rPr lang="en-US" sz="3600">
                <a:solidFill>
                  <a:srgbClr val="FF0000"/>
                </a:solidFill>
                <a:latin typeface="Times New Roman"/>
                <a:ea typeface="Times New Roman"/>
                <a:cs typeface="Times New Roman"/>
                <a:sym typeface="Times New Roman"/>
              </a:rPr>
              <a:t/>
            </a:r>
            <a:br>
              <a:rPr lang="en-US" sz="3600">
                <a:solidFill>
                  <a:srgbClr val="FF0000"/>
                </a:solidFill>
                <a:latin typeface="Times New Roman"/>
                <a:ea typeface="Times New Roman"/>
                <a:cs typeface="Times New Roman"/>
                <a:sym typeface="Times New Roman"/>
              </a:rPr>
            </a:br>
            <a:r>
              <a:rPr lang="en-US" sz="3600">
                <a:solidFill>
                  <a:srgbClr val="FF0000"/>
                </a:solidFill>
                <a:latin typeface="Times New Roman"/>
                <a:ea typeface="Times New Roman"/>
                <a:cs typeface="Times New Roman"/>
                <a:sym typeface="Times New Roman"/>
              </a:rPr>
              <a:t>Data transfer Instructions</a:t>
            </a:r>
            <a:br>
              <a:rPr lang="en-US" sz="3600">
                <a:solidFill>
                  <a:srgbClr val="FF0000"/>
                </a:solidFill>
                <a:latin typeface="Times New Roman"/>
                <a:ea typeface="Times New Roman"/>
                <a:cs typeface="Times New Roman"/>
                <a:sym typeface="Times New Roman"/>
              </a:rPr>
            </a:br>
            <a:endParaRPr sz="3600">
              <a:solidFill>
                <a:srgbClr val="FF0000"/>
              </a:solidFill>
              <a:latin typeface="Times New Roman"/>
              <a:ea typeface="Times New Roman"/>
              <a:cs typeface="Times New Roman"/>
              <a:sym typeface="Times New Roman"/>
            </a:endParaRPr>
          </a:p>
        </p:txBody>
      </p:sp>
      <p:sp>
        <p:nvSpPr>
          <p:cNvPr id="855" name="Google Shape;855;p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latin typeface="Times New Roman"/>
                <a:ea typeface="Times New Roman"/>
                <a:cs typeface="Times New Roman"/>
                <a:sym typeface="Times New Roman"/>
              </a:rPr>
              <a:t>They are also called copy instructions.</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Some instructions in 8086:</a:t>
            </a:r>
            <a:endParaRPr/>
          </a:p>
          <a:p>
            <a:pPr marL="457200" lvl="1" indent="0" algn="l" rtl="0">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MOV -Copy from the source to the destination</a:t>
            </a:r>
            <a:endParaRPr/>
          </a:p>
          <a:p>
            <a:pPr marL="457200" lvl="1" indent="0" algn="l" rtl="0">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LDA - Load the accumulator</a:t>
            </a:r>
            <a:endParaRPr/>
          </a:p>
          <a:p>
            <a:pPr marL="457200" lvl="1" indent="0" algn="l" rtl="0">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STA - Store the accumulator </a:t>
            </a:r>
            <a:endParaRPr/>
          </a:p>
          <a:p>
            <a:pPr marL="457200" lvl="1" indent="0" algn="l" rtl="0">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PUSH - Push the register pair onto the stack</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POP - Pop off stack to the register pair	</a:t>
            </a:r>
            <a:endParaRPr/>
          </a:p>
          <a:p>
            <a:pPr marL="457200" lvl="1" indent="0" algn="l" rtl="0">
              <a:lnSpc>
                <a:spcPct val="90000"/>
              </a:lnSpc>
              <a:spcBef>
                <a:spcPts val="500"/>
              </a:spcBef>
              <a:spcAft>
                <a:spcPts val="0"/>
              </a:spcAft>
              <a:buClr>
                <a:schemeClr val="dk1"/>
              </a:buClr>
              <a:buSzPts val="2400"/>
              <a:buNone/>
            </a:pPr>
            <a:endParaRPr>
              <a:latin typeface="Times New Roman"/>
              <a:ea typeface="Times New Roman"/>
              <a:cs typeface="Times New Roman"/>
              <a:sym typeface="Times New Roman"/>
            </a:endParaRPr>
          </a:p>
        </p:txBody>
      </p:sp>
      <p:sp>
        <p:nvSpPr>
          <p:cNvPr id="856" name="Google Shape;856;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sp>
        <p:nvSpPr>
          <p:cNvPr id="857" name="Google Shape;857;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D65068E-56BB-46C3-8BA4-FBD5D82A5E86}" type="datetime1">
              <a:rPr lang="en-US" smtClean="0"/>
              <a:t>8/12/2024</a:t>
            </a:fld>
            <a:endParaRPr/>
          </a:p>
        </p:txBody>
      </p:sp>
      <p:sp>
        <p:nvSpPr>
          <p:cNvPr id="858" name="Google Shape;858;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74"/>
          <p:cNvSpPr txBox="1">
            <a:spLocks noGrp="1"/>
          </p:cNvSpPr>
          <p:nvPr>
            <p:ph type="title"/>
          </p:nvPr>
        </p:nvSpPr>
        <p:spPr>
          <a:xfrm>
            <a:off x="1981200" y="1052736"/>
            <a:ext cx="8229600" cy="547464"/>
          </a:xfrm>
          <a:prstGeom prst="rect">
            <a:avLst/>
          </a:prstGeom>
          <a:noFill/>
          <a:ln>
            <a:noFill/>
          </a:ln>
        </p:spPr>
        <p:txBody>
          <a:bodyPr spcFirstLastPara="1" wrap="square" lIns="91425" tIns="45700" rIns="91425" bIns="45700" anchor="ctr" anchorCtr="0">
            <a:noAutofit/>
          </a:bodyPr>
          <a:lstStyle/>
          <a:p>
            <a:pPr marL="0" lvl="1" indent="0" algn="ctr" rtl="0">
              <a:spcBef>
                <a:spcPts val="0"/>
              </a:spcBef>
              <a:spcAft>
                <a:spcPts val="0"/>
              </a:spcAft>
              <a:buNone/>
            </a:pPr>
            <a:r>
              <a:rPr lang="en-US" sz="3600">
                <a:solidFill>
                  <a:srgbClr val="FF0000"/>
                </a:solidFill>
                <a:latin typeface="Times New Roman"/>
                <a:ea typeface="Times New Roman"/>
                <a:cs typeface="Times New Roman"/>
                <a:sym typeface="Times New Roman"/>
              </a:rPr>
              <a:t/>
            </a:r>
            <a:br>
              <a:rPr lang="en-US" sz="3600">
                <a:solidFill>
                  <a:srgbClr val="FF0000"/>
                </a:solidFill>
                <a:latin typeface="Times New Roman"/>
                <a:ea typeface="Times New Roman"/>
                <a:cs typeface="Times New Roman"/>
                <a:sym typeface="Times New Roman"/>
              </a:rPr>
            </a:br>
            <a:r>
              <a:rPr lang="en-US" sz="3600">
                <a:solidFill>
                  <a:srgbClr val="FF0000"/>
                </a:solidFill>
                <a:latin typeface="Times New Roman"/>
                <a:ea typeface="Times New Roman"/>
                <a:cs typeface="Times New Roman"/>
                <a:sym typeface="Times New Roman"/>
              </a:rPr>
              <a:t>Data Manipulation Instructions</a:t>
            </a:r>
            <a:br>
              <a:rPr lang="en-US" sz="3600">
                <a:solidFill>
                  <a:srgbClr val="FF0000"/>
                </a:solidFill>
                <a:latin typeface="Times New Roman"/>
                <a:ea typeface="Times New Roman"/>
                <a:cs typeface="Times New Roman"/>
                <a:sym typeface="Times New Roman"/>
              </a:rPr>
            </a:br>
            <a:endParaRPr sz="3600">
              <a:solidFill>
                <a:srgbClr val="FF0000"/>
              </a:solidFill>
              <a:latin typeface="Times New Roman"/>
              <a:ea typeface="Times New Roman"/>
              <a:cs typeface="Times New Roman"/>
              <a:sym typeface="Times New Roman"/>
            </a:endParaRPr>
          </a:p>
        </p:txBody>
      </p:sp>
      <p:sp>
        <p:nvSpPr>
          <p:cNvPr id="864" name="Google Shape;864;p74"/>
          <p:cNvSpPr txBox="1">
            <a:spLocks noGrp="1"/>
          </p:cNvSpPr>
          <p:nvPr>
            <p:ph type="body" idx="1"/>
          </p:nvPr>
        </p:nvSpPr>
        <p:spPr>
          <a:xfrm>
            <a:off x="1981200" y="2132857"/>
            <a:ext cx="8229600" cy="3993307"/>
          </a:xfrm>
          <a:prstGeom prst="rect">
            <a:avLst/>
          </a:prstGeom>
          <a:noFill/>
          <a:ln>
            <a:noFill/>
          </a:ln>
        </p:spPr>
        <p:txBody>
          <a:bodyPr spcFirstLastPara="1" wrap="square" lIns="91425" tIns="45700" rIns="91425" bIns="45700" anchor="t" anchorCtr="0">
            <a:normAutofit/>
          </a:bodyPr>
          <a:lstStyle/>
          <a:p>
            <a:pPr marL="342900" lvl="1" indent="-342900" algn="l" rtl="0">
              <a:lnSpc>
                <a:spcPct val="90000"/>
              </a:lnSpc>
              <a:spcBef>
                <a:spcPts val="0"/>
              </a:spcBef>
              <a:spcAft>
                <a:spcPts val="0"/>
              </a:spcAft>
              <a:buClr>
                <a:schemeClr val="dk1"/>
              </a:buClr>
              <a:buSzPts val="2400"/>
              <a:buChar char="•"/>
            </a:pPr>
            <a:r>
              <a:rPr lang="en-US">
                <a:latin typeface="Times New Roman"/>
                <a:ea typeface="Times New Roman"/>
                <a:cs typeface="Times New Roman"/>
                <a:sym typeface="Times New Roman"/>
              </a:rPr>
              <a:t>To perform  the operations by the ALU</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Three categories: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Arithmetic Instructions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Logical and bit manipulation instructions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Shift instructions</a:t>
            </a:r>
            <a:endParaRPr/>
          </a:p>
        </p:txBody>
      </p:sp>
      <p:sp>
        <p:nvSpPr>
          <p:cNvPr id="865" name="Google Shape;865;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sp>
        <p:nvSpPr>
          <p:cNvPr id="866" name="Google Shape;866;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265AD455-A5E7-44D8-8A58-79610D16B5FE}" type="datetime1">
              <a:rPr lang="en-US" smtClean="0"/>
              <a:t>8/12/2024</a:t>
            </a:fld>
            <a:endParaRPr/>
          </a:p>
        </p:txBody>
      </p:sp>
      <p:sp>
        <p:nvSpPr>
          <p:cNvPr id="867" name="Google Shape;867;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75"/>
          <p:cNvSpPr txBox="1">
            <a:spLocks noGrp="1"/>
          </p:cNvSpPr>
          <p:nvPr>
            <p:ph type="title"/>
          </p:nvPr>
        </p:nvSpPr>
        <p:spPr>
          <a:xfrm>
            <a:off x="1988814" y="692697"/>
            <a:ext cx="8229600" cy="1116449"/>
          </a:xfrm>
          <a:prstGeom prst="rect">
            <a:avLst/>
          </a:prstGeom>
          <a:noFill/>
          <a:ln>
            <a:noFill/>
          </a:ln>
        </p:spPr>
        <p:txBody>
          <a:bodyPr spcFirstLastPara="1" wrap="square" lIns="91425" tIns="45700" rIns="91425" bIns="45700" anchor="ctr" anchorCtr="0">
            <a:noAutofit/>
          </a:bodyPr>
          <a:lstStyle/>
          <a:p>
            <a:pPr marL="0" lvl="1" indent="0" algn="ctr" rtl="0">
              <a:spcBef>
                <a:spcPts val="0"/>
              </a:spcBef>
              <a:spcAft>
                <a:spcPts val="0"/>
              </a:spcAft>
              <a:buNone/>
            </a:pPr>
            <a:r>
              <a:rPr lang="en-US" sz="3600">
                <a:solidFill>
                  <a:srgbClr val="FF0000"/>
                </a:solidFill>
                <a:latin typeface="Times New Roman"/>
                <a:ea typeface="Times New Roman"/>
                <a:cs typeface="Times New Roman"/>
                <a:sym typeface="Times New Roman"/>
              </a:rPr>
              <a:t/>
            </a:r>
            <a:br>
              <a:rPr lang="en-US" sz="3600">
                <a:solidFill>
                  <a:srgbClr val="FF0000"/>
                </a:solidFill>
                <a:latin typeface="Times New Roman"/>
                <a:ea typeface="Times New Roman"/>
                <a:cs typeface="Times New Roman"/>
                <a:sym typeface="Times New Roman"/>
              </a:rPr>
            </a:br>
            <a:r>
              <a:rPr lang="en-US" sz="3600">
                <a:solidFill>
                  <a:srgbClr val="FF0000"/>
                </a:solidFill>
                <a:latin typeface="Times New Roman"/>
                <a:ea typeface="Times New Roman"/>
                <a:cs typeface="Times New Roman"/>
                <a:sym typeface="Times New Roman"/>
              </a:rPr>
              <a:t>Arithmetic Instructions</a:t>
            </a:r>
            <a:br>
              <a:rPr lang="en-US" sz="3600">
                <a:solidFill>
                  <a:srgbClr val="FF0000"/>
                </a:solidFill>
                <a:latin typeface="Times New Roman"/>
                <a:ea typeface="Times New Roman"/>
                <a:cs typeface="Times New Roman"/>
                <a:sym typeface="Times New Roman"/>
              </a:rPr>
            </a:br>
            <a:endParaRPr sz="3600">
              <a:solidFill>
                <a:srgbClr val="FF0000"/>
              </a:solidFill>
              <a:latin typeface="Times New Roman"/>
              <a:ea typeface="Times New Roman"/>
              <a:cs typeface="Times New Roman"/>
              <a:sym typeface="Times New Roman"/>
            </a:endParaRPr>
          </a:p>
        </p:txBody>
      </p:sp>
      <p:sp>
        <p:nvSpPr>
          <p:cNvPr id="873" name="Google Shape;873;p7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latin typeface="Times New Roman"/>
                <a:ea typeface="Times New Roman"/>
                <a:cs typeface="Times New Roman"/>
                <a:sym typeface="Times New Roman"/>
              </a:rPr>
              <a:t>Used to perform arithmetic operations</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Some instruction in 8086</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INC 🡺  </a:t>
            </a:r>
            <a:r>
              <a:rPr lang="en-US">
                <a:latin typeface="Times New Roman"/>
                <a:ea typeface="Times New Roman"/>
                <a:cs typeface="Times New Roman"/>
                <a:sym typeface="Times New Roman"/>
              </a:rPr>
              <a:t>Increment the data by 1</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DEC 🡺 </a:t>
            </a:r>
            <a:r>
              <a:rPr lang="en-US">
                <a:latin typeface="Times New Roman"/>
                <a:ea typeface="Times New Roman"/>
                <a:cs typeface="Times New Roman"/>
                <a:sym typeface="Times New Roman"/>
              </a:rPr>
              <a:t>Decreases data by 1</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ADD 🡺 </a:t>
            </a:r>
            <a:r>
              <a:rPr lang="en-US">
                <a:latin typeface="Times New Roman"/>
                <a:ea typeface="Times New Roman"/>
                <a:cs typeface="Times New Roman"/>
                <a:sym typeface="Times New Roman"/>
              </a:rPr>
              <a:t>perform sum of data</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ADC 🡺 </a:t>
            </a:r>
            <a:r>
              <a:rPr lang="en-US">
                <a:latin typeface="Times New Roman"/>
                <a:ea typeface="Times New Roman"/>
                <a:cs typeface="Times New Roman"/>
                <a:sym typeface="Times New Roman"/>
              </a:rPr>
              <a:t>Add with carry bit.</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MUL</a:t>
            </a:r>
            <a:r>
              <a:rPr lang="en-US">
                <a:latin typeface="Times New Roman"/>
                <a:ea typeface="Times New Roman"/>
                <a:cs typeface="Times New Roman"/>
                <a:sym typeface="Times New Roman"/>
              </a:rPr>
              <a:t> 🡺 perform multiplication</a:t>
            </a:r>
            <a:endParaRPr/>
          </a:p>
          <a:p>
            <a:pPr marL="0" lvl="0" indent="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874" name="Google Shape;874;p7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sp>
        <p:nvSpPr>
          <p:cNvPr id="875" name="Google Shape;875;p7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F9BE79DB-E568-4DBA-80D5-26CFFAB37448}" type="datetime1">
              <a:rPr lang="en-US" smtClean="0"/>
              <a:t>8/12/2024</a:t>
            </a:fld>
            <a:endParaRPr/>
          </a:p>
        </p:txBody>
      </p:sp>
      <p:sp>
        <p:nvSpPr>
          <p:cNvPr id="876" name="Google Shape;876;p7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76"/>
          <p:cNvSpPr txBox="1">
            <a:spLocks noGrp="1"/>
          </p:cNvSpPr>
          <p:nvPr>
            <p:ph type="title"/>
          </p:nvPr>
        </p:nvSpPr>
        <p:spPr>
          <a:xfrm>
            <a:off x="1981200" y="980728"/>
            <a:ext cx="8229600" cy="504056"/>
          </a:xfrm>
          <a:prstGeom prst="rect">
            <a:avLst/>
          </a:prstGeom>
          <a:noFill/>
          <a:ln>
            <a:noFill/>
          </a:ln>
        </p:spPr>
        <p:txBody>
          <a:bodyPr spcFirstLastPara="1" wrap="square" lIns="91425" tIns="45700" rIns="91425" bIns="45700" anchor="ctr" anchorCtr="0">
            <a:noAutofit/>
          </a:bodyPr>
          <a:lstStyle/>
          <a:p>
            <a:pPr marL="0" lvl="1" indent="0" algn="ctr" rtl="0">
              <a:spcBef>
                <a:spcPts val="0"/>
              </a:spcBef>
              <a:spcAft>
                <a:spcPts val="0"/>
              </a:spcAft>
              <a:buNone/>
            </a:pPr>
            <a:r>
              <a:rPr lang="en-US" sz="3600">
                <a:solidFill>
                  <a:srgbClr val="FF0000"/>
                </a:solidFill>
                <a:latin typeface="Times New Roman"/>
                <a:ea typeface="Times New Roman"/>
                <a:cs typeface="Times New Roman"/>
                <a:sym typeface="Times New Roman"/>
              </a:rPr>
              <a:t/>
            </a:r>
            <a:br>
              <a:rPr lang="en-US" sz="3600">
                <a:solidFill>
                  <a:srgbClr val="FF0000"/>
                </a:solidFill>
                <a:latin typeface="Times New Roman"/>
                <a:ea typeface="Times New Roman"/>
                <a:cs typeface="Times New Roman"/>
                <a:sym typeface="Times New Roman"/>
              </a:rPr>
            </a:br>
            <a:r>
              <a:rPr lang="en-US" sz="3600">
                <a:solidFill>
                  <a:srgbClr val="FF0000"/>
                </a:solidFill>
                <a:latin typeface="Times New Roman"/>
                <a:ea typeface="Times New Roman"/>
                <a:cs typeface="Times New Roman"/>
                <a:sym typeface="Times New Roman"/>
              </a:rPr>
              <a:t>Logical and bit manipulation instructions</a:t>
            </a:r>
            <a:br>
              <a:rPr lang="en-US" sz="3600">
                <a:solidFill>
                  <a:srgbClr val="FF0000"/>
                </a:solidFill>
                <a:latin typeface="Times New Roman"/>
                <a:ea typeface="Times New Roman"/>
                <a:cs typeface="Times New Roman"/>
                <a:sym typeface="Times New Roman"/>
              </a:rPr>
            </a:br>
            <a:endParaRPr sz="3600">
              <a:solidFill>
                <a:srgbClr val="FF0000"/>
              </a:solidFill>
              <a:latin typeface="Times New Roman"/>
              <a:ea typeface="Times New Roman"/>
              <a:cs typeface="Times New Roman"/>
              <a:sym typeface="Times New Roman"/>
            </a:endParaRPr>
          </a:p>
        </p:txBody>
      </p:sp>
      <p:sp>
        <p:nvSpPr>
          <p:cNvPr id="882" name="Google Shape;882;p7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dirty="0">
                <a:latin typeface="Times New Roman"/>
                <a:ea typeface="Times New Roman"/>
                <a:cs typeface="Times New Roman"/>
                <a:sym typeface="Times New Roman"/>
              </a:rPr>
              <a:t>Used to perform logical operations</a:t>
            </a:r>
            <a:endParaRPr dirty="0"/>
          </a:p>
          <a:p>
            <a:pPr marL="0" lvl="0" indent="0" algn="l" rtl="0">
              <a:lnSpc>
                <a:spcPct val="90000"/>
              </a:lnSpc>
              <a:spcBef>
                <a:spcPts val="1000"/>
              </a:spcBef>
              <a:spcAft>
                <a:spcPts val="0"/>
              </a:spcAft>
              <a:buClr>
                <a:schemeClr val="dk1"/>
              </a:buClr>
              <a:buSzPts val="2800"/>
              <a:buNone/>
            </a:pPr>
            <a:r>
              <a:rPr lang="en-US" dirty="0">
                <a:latin typeface="Times New Roman"/>
                <a:ea typeface="Times New Roman"/>
                <a:cs typeface="Times New Roman"/>
                <a:sym typeface="Times New Roman"/>
              </a:rPr>
              <a:t>Some instructions are:</a:t>
            </a:r>
            <a:endParaRPr dirty="0"/>
          </a:p>
          <a:p>
            <a:pPr marL="0" lvl="0" indent="0" algn="l" rtl="0">
              <a:lnSpc>
                <a:spcPct val="90000"/>
              </a:lnSpc>
              <a:spcBef>
                <a:spcPts val="1000"/>
              </a:spcBef>
              <a:spcAft>
                <a:spcPts val="0"/>
              </a:spcAft>
              <a:buClr>
                <a:schemeClr val="dk1"/>
              </a:buClr>
              <a:buSzPts val="2800"/>
              <a:buNone/>
            </a:pPr>
            <a:r>
              <a:rPr lang="en-US" dirty="0">
                <a:latin typeface="Times New Roman"/>
                <a:ea typeface="Times New Roman"/>
                <a:cs typeface="Times New Roman"/>
                <a:sym typeface="Times New Roman"/>
              </a:rPr>
              <a:t>AND  🡺 bitwise AND operation</a:t>
            </a:r>
            <a:endParaRPr dirty="0"/>
          </a:p>
          <a:p>
            <a:pPr marL="0" lvl="0" indent="0" algn="l" rtl="0">
              <a:lnSpc>
                <a:spcPct val="90000"/>
              </a:lnSpc>
              <a:spcBef>
                <a:spcPts val="1000"/>
              </a:spcBef>
              <a:spcAft>
                <a:spcPts val="0"/>
              </a:spcAft>
              <a:buClr>
                <a:schemeClr val="dk1"/>
              </a:buClr>
              <a:buSzPts val="2800"/>
              <a:buNone/>
            </a:pPr>
            <a:r>
              <a:rPr lang="en-US" dirty="0">
                <a:latin typeface="Times New Roman"/>
                <a:ea typeface="Times New Roman"/>
                <a:cs typeface="Times New Roman"/>
                <a:sym typeface="Times New Roman"/>
              </a:rPr>
              <a:t>OR  🡺 bitwise OR operation </a:t>
            </a:r>
            <a:endParaRPr dirty="0"/>
          </a:p>
          <a:p>
            <a:pPr marL="0" lvl="0" indent="0" algn="l" rtl="0">
              <a:lnSpc>
                <a:spcPct val="90000"/>
              </a:lnSpc>
              <a:spcBef>
                <a:spcPts val="1000"/>
              </a:spcBef>
              <a:spcAft>
                <a:spcPts val="0"/>
              </a:spcAft>
              <a:buClr>
                <a:schemeClr val="dk1"/>
              </a:buClr>
              <a:buSzPts val="2800"/>
              <a:buNone/>
            </a:pPr>
            <a:r>
              <a:rPr lang="en-US" dirty="0">
                <a:latin typeface="Times New Roman"/>
                <a:ea typeface="Times New Roman"/>
                <a:cs typeface="Times New Roman"/>
                <a:sym typeface="Times New Roman"/>
              </a:rPr>
              <a:t>NOT 🡺 invert each bit of a byte or word</a:t>
            </a:r>
            <a:endParaRPr dirty="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r>
              <a:rPr lang="en-US" dirty="0">
                <a:latin typeface="Times New Roman"/>
                <a:ea typeface="Times New Roman"/>
                <a:cs typeface="Times New Roman"/>
                <a:sym typeface="Times New Roman"/>
              </a:rPr>
              <a:t>XOR  🡺 Exclusive-OR operation over each bit</a:t>
            </a:r>
            <a:endParaRPr dirty="0"/>
          </a:p>
          <a:p>
            <a:pPr marL="0" lvl="0" indent="0" algn="l" rtl="0">
              <a:lnSpc>
                <a:spcPct val="90000"/>
              </a:lnSpc>
              <a:spcBef>
                <a:spcPts val="1000"/>
              </a:spcBef>
              <a:spcAft>
                <a:spcPts val="0"/>
              </a:spcAft>
              <a:buClr>
                <a:schemeClr val="dk1"/>
              </a:buClr>
              <a:buSzPts val="2800"/>
              <a:buNone/>
            </a:pPr>
            <a:endParaRPr dirty="0">
              <a:latin typeface="Times New Roman"/>
              <a:ea typeface="Times New Roman"/>
              <a:cs typeface="Times New Roman"/>
              <a:sym typeface="Times New Roman"/>
            </a:endParaRPr>
          </a:p>
        </p:txBody>
      </p:sp>
      <p:sp>
        <p:nvSpPr>
          <p:cNvPr id="883" name="Google Shape;883;p7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sp>
        <p:nvSpPr>
          <p:cNvPr id="884" name="Google Shape;884;p7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92C2BA2D-2752-446D-B471-69E2BAFAC485}" type="datetime1">
              <a:rPr lang="en-US" smtClean="0"/>
              <a:t>8/12/2024</a:t>
            </a:fld>
            <a:endParaRPr/>
          </a:p>
        </p:txBody>
      </p:sp>
      <p:sp>
        <p:nvSpPr>
          <p:cNvPr id="885" name="Google Shape;885;p7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77"/>
          <p:cNvSpPr txBox="1">
            <a:spLocks noGrp="1"/>
          </p:cNvSpPr>
          <p:nvPr>
            <p:ph type="title"/>
          </p:nvPr>
        </p:nvSpPr>
        <p:spPr>
          <a:xfrm>
            <a:off x="1981200" y="980728"/>
            <a:ext cx="8229600" cy="436910"/>
          </a:xfrm>
          <a:prstGeom prst="rect">
            <a:avLst/>
          </a:prstGeom>
          <a:noFill/>
          <a:ln>
            <a:noFill/>
          </a:ln>
        </p:spPr>
        <p:txBody>
          <a:bodyPr spcFirstLastPara="1" wrap="square" lIns="91425" tIns="45700" rIns="91425" bIns="45700" anchor="ctr" anchorCtr="0">
            <a:noAutofit/>
          </a:bodyPr>
          <a:lstStyle/>
          <a:p>
            <a:pPr marL="0" lvl="1" indent="0" algn="ctr" rtl="0">
              <a:spcBef>
                <a:spcPts val="0"/>
              </a:spcBef>
              <a:spcAft>
                <a:spcPts val="0"/>
              </a:spcAft>
              <a:buNone/>
            </a:pPr>
            <a:r>
              <a:rPr lang="en-US" sz="3600">
                <a:solidFill>
                  <a:srgbClr val="FF0000"/>
                </a:solidFill>
                <a:latin typeface="Times New Roman"/>
                <a:ea typeface="Times New Roman"/>
                <a:cs typeface="Times New Roman"/>
                <a:sym typeface="Times New Roman"/>
              </a:rPr>
              <a:t/>
            </a:r>
            <a:br>
              <a:rPr lang="en-US" sz="3600">
                <a:solidFill>
                  <a:srgbClr val="FF0000"/>
                </a:solidFill>
                <a:latin typeface="Times New Roman"/>
                <a:ea typeface="Times New Roman"/>
                <a:cs typeface="Times New Roman"/>
                <a:sym typeface="Times New Roman"/>
              </a:rPr>
            </a:br>
            <a:r>
              <a:rPr lang="en-US" sz="3600">
                <a:solidFill>
                  <a:srgbClr val="FF0000"/>
                </a:solidFill>
                <a:latin typeface="Times New Roman"/>
                <a:ea typeface="Times New Roman"/>
                <a:cs typeface="Times New Roman"/>
                <a:sym typeface="Times New Roman"/>
              </a:rPr>
              <a:t>Shift instructions</a:t>
            </a:r>
            <a:br>
              <a:rPr lang="en-US" sz="3600">
                <a:solidFill>
                  <a:srgbClr val="FF0000"/>
                </a:solidFill>
                <a:latin typeface="Times New Roman"/>
                <a:ea typeface="Times New Roman"/>
                <a:cs typeface="Times New Roman"/>
                <a:sym typeface="Times New Roman"/>
              </a:rPr>
            </a:br>
            <a:endParaRPr sz="3600">
              <a:solidFill>
                <a:srgbClr val="FF0000"/>
              </a:solidFill>
              <a:latin typeface="Times New Roman"/>
              <a:ea typeface="Times New Roman"/>
              <a:cs typeface="Times New Roman"/>
              <a:sym typeface="Times New Roman"/>
            </a:endParaRPr>
          </a:p>
        </p:txBody>
      </p:sp>
      <p:sp>
        <p:nvSpPr>
          <p:cNvPr id="891" name="Google Shape;891;p77"/>
          <p:cNvSpPr txBox="1">
            <a:spLocks noGrp="1"/>
          </p:cNvSpPr>
          <p:nvPr>
            <p:ph type="body" idx="1"/>
          </p:nvPr>
        </p:nvSpPr>
        <p:spPr>
          <a:xfrm>
            <a:off x="1981200" y="1700808"/>
            <a:ext cx="8229600" cy="465554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latin typeface="Times New Roman"/>
                <a:ea typeface="Times New Roman"/>
                <a:cs typeface="Times New Roman"/>
                <a:sym typeface="Times New Roman"/>
              </a:rPr>
              <a:t>used for shifting or rotating the contents of the register</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Some instructions are:</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SHR  🡺 shift bits towards the right and put zero(S) in MSBs</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ROL  🡺  rotate bits towards the left, i.e. MSB to LSB and to Carry Flag [CF]</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RCL 🡺 rotate bits towards the left, i.e. MSB to CF and CF to LSB.</a:t>
            </a:r>
            <a:endParaRPr>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892" name="Google Shape;892;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sp>
        <p:nvSpPr>
          <p:cNvPr id="893" name="Google Shape;893;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4A62C5A3-13E8-4E24-A7D6-53F7FF7981E3}" type="datetime1">
              <a:rPr lang="en-US" smtClean="0"/>
              <a:t>8/12/2024</a:t>
            </a:fld>
            <a:endParaRPr/>
          </a:p>
        </p:txBody>
      </p:sp>
      <p:sp>
        <p:nvSpPr>
          <p:cNvPr id="894" name="Google Shape;894;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78"/>
          <p:cNvSpPr txBox="1">
            <a:spLocks noGrp="1"/>
          </p:cNvSpPr>
          <p:nvPr>
            <p:ph type="title"/>
          </p:nvPr>
        </p:nvSpPr>
        <p:spPr>
          <a:xfrm>
            <a:off x="1981200" y="1196752"/>
            <a:ext cx="8229600" cy="22088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600"/>
              <a:buFont typeface="Times New Roman"/>
              <a:buNone/>
            </a:pPr>
            <a:r>
              <a:rPr lang="en-US" sz="3600">
                <a:solidFill>
                  <a:srgbClr val="FF0000"/>
                </a:solidFill>
                <a:latin typeface="Times New Roman"/>
                <a:ea typeface="Times New Roman"/>
                <a:cs typeface="Times New Roman"/>
                <a:sym typeface="Times New Roman"/>
              </a:rPr>
              <a:t>Instruction Formats</a:t>
            </a:r>
            <a:br>
              <a:rPr lang="en-US" sz="3600">
                <a:solidFill>
                  <a:srgbClr val="FF0000"/>
                </a:solidFill>
                <a:latin typeface="Times New Roman"/>
                <a:ea typeface="Times New Roman"/>
                <a:cs typeface="Times New Roman"/>
                <a:sym typeface="Times New Roman"/>
              </a:rPr>
            </a:br>
            <a:r>
              <a:rPr lang="en-US" sz="3200">
                <a:solidFill>
                  <a:srgbClr val="FF0000"/>
                </a:solidFill>
                <a:latin typeface="Times New Roman"/>
                <a:ea typeface="Times New Roman"/>
                <a:cs typeface="Times New Roman"/>
                <a:sym typeface="Times New Roman"/>
              </a:rPr>
              <a:t>(Types of instruction based on the address field)</a:t>
            </a:r>
            <a:endParaRPr/>
          </a:p>
        </p:txBody>
      </p:sp>
      <p:sp>
        <p:nvSpPr>
          <p:cNvPr id="900" name="Google Shape;900;p78"/>
          <p:cNvSpPr txBox="1">
            <a:spLocks noGrp="1"/>
          </p:cNvSpPr>
          <p:nvPr>
            <p:ph type="body" idx="1"/>
          </p:nvPr>
        </p:nvSpPr>
        <p:spPr>
          <a:xfrm>
            <a:off x="1970026" y="1985641"/>
            <a:ext cx="8229600" cy="45259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A instruction in computer comprises of groups called fields. </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These field contains different information </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The most common fields are:</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Operation field : specifies the operation to be 		performed like addition. </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Address field : contain the location of 			operand</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Mode field : specifies how to find the operand</a:t>
            </a:r>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901" name="Google Shape;901;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sp>
        <p:nvSpPr>
          <p:cNvPr id="902" name="Google Shape;902;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F8FD1C7A-1035-4E0F-8639-627DA21AE641}" type="datetime1">
              <a:rPr lang="en-US" smtClean="0"/>
              <a:t>8/12/2024</a:t>
            </a:fld>
            <a:endParaRPr/>
          </a:p>
        </p:txBody>
      </p:sp>
      <p:sp>
        <p:nvSpPr>
          <p:cNvPr id="903" name="Google Shape;903;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7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A instruction is of various length depending upon the number of addresses it contain.</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On the basis of number of address, instruction are classified as:</a:t>
            </a:r>
            <a:endParaRPr/>
          </a:p>
          <a:p>
            <a:pPr marL="685800" lvl="1" indent="-228600" algn="l" rtl="0">
              <a:lnSpc>
                <a:spcPct val="90000"/>
              </a:lnSpc>
              <a:spcBef>
                <a:spcPts val="500"/>
              </a:spcBef>
              <a:spcAft>
                <a:spcPts val="0"/>
              </a:spcAft>
              <a:buClr>
                <a:schemeClr val="dk1"/>
              </a:buClr>
              <a:buSzPts val="2400"/>
              <a:buChar char="•"/>
            </a:pPr>
            <a:r>
              <a:rPr lang="en-US" b="1">
                <a:latin typeface="Times New Roman"/>
                <a:ea typeface="Times New Roman"/>
                <a:cs typeface="Times New Roman"/>
                <a:sym typeface="Times New Roman"/>
              </a:rPr>
              <a:t>Zero Address Instructions</a:t>
            </a:r>
            <a:endParaRPr/>
          </a:p>
          <a:p>
            <a:pPr marL="685800" lvl="1" indent="-228600" algn="l" rtl="0">
              <a:lnSpc>
                <a:spcPct val="90000"/>
              </a:lnSpc>
              <a:spcBef>
                <a:spcPts val="500"/>
              </a:spcBef>
              <a:spcAft>
                <a:spcPts val="0"/>
              </a:spcAft>
              <a:buClr>
                <a:schemeClr val="dk1"/>
              </a:buClr>
              <a:buSzPts val="2400"/>
              <a:buChar char="•"/>
            </a:pPr>
            <a:r>
              <a:rPr lang="en-US" b="1">
                <a:latin typeface="Times New Roman"/>
                <a:ea typeface="Times New Roman"/>
                <a:cs typeface="Times New Roman"/>
                <a:sym typeface="Times New Roman"/>
              </a:rPr>
              <a:t>One Address Instructions</a:t>
            </a:r>
            <a:endParaRPr/>
          </a:p>
          <a:p>
            <a:pPr marL="685800" lvl="1" indent="-228600" algn="l" rtl="0">
              <a:lnSpc>
                <a:spcPct val="90000"/>
              </a:lnSpc>
              <a:spcBef>
                <a:spcPts val="500"/>
              </a:spcBef>
              <a:spcAft>
                <a:spcPts val="0"/>
              </a:spcAft>
              <a:buClr>
                <a:schemeClr val="dk1"/>
              </a:buClr>
              <a:buSzPts val="2400"/>
              <a:buChar char="•"/>
            </a:pPr>
            <a:r>
              <a:rPr lang="en-US" b="1">
                <a:latin typeface="Times New Roman"/>
                <a:ea typeface="Times New Roman"/>
                <a:cs typeface="Times New Roman"/>
                <a:sym typeface="Times New Roman"/>
              </a:rPr>
              <a:t>Two Address Instructions</a:t>
            </a:r>
            <a:endParaRPr/>
          </a:p>
          <a:p>
            <a:pPr marL="685800" lvl="1" indent="-228600" algn="l" rtl="0">
              <a:lnSpc>
                <a:spcPct val="90000"/>
              </a:lnSpc>
              <a:spcBef>
                <a:spcPts val="500"/>
              </a:spcBef>
              <a:spcAft>
                <a:spcPts val="0"/>
              </a:spcAft>
              <a:buClr>
                <a:schemeClr val="dk1"/>
              </a:buClr>
              <a:buSzPts val="2400"/>
              <a:buChar char="•"/>
            </a:pPr>
            <a:r>
              <a:rPr lang="en-US" b="1">
                <a:latin typeface="Times New Roman"/>
                <a:ea typeface="Times New Roman"/>
                <a:cs typeface="Times New Roman"/>
                <a:sym typeface="Times New Roman"/>
              </a:rPr>
              <a:t>Three Address Instructions</a:t>
            </a:r>
            <a:endParaRPr>
              <a:latin typeface="Times New Roman"/>
              <a:ea typeface="Times New Roman"/>
              <a:cs typeface="Times New Roman"/>
              <a:sym typeface="Times New Roman"/>
            </a:endParaRPr>
          </a:p>
        </p:txBody>
      </p:sp>
      <p:sp>
        <p:nvSpPr>
          <p:cNvPr id="909" name="Google Shape;909;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sp>
        <p:nvSpPr>
          <p:cNvPr id="910" name="Google Shape;910;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819770B0-AF39-45C4-AA8D-66DD94D28A91}" type="datetime1">
              <a:rPr lang="en-US" smtClean="0"/>
              <a:t>8/12/2024</a:t>
            </a:fld>
            <a:endParaRPr/>
          </a:p>
        </p:txBody>
      </p:sp>
      <p:sp>
        <p:nvSpPr>
          <p:cNvPr id="911" name="Google Shape;911;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80"/>
          <p:cNvSpPr txBox="1">
            <a:spLocks noGrp="1"/>
          </p:cNvSpPr>
          <p:nvPr>
            <p:ph type="title"/>
          </p:nvPr>
        </p:nvSpPr>
        <p:spPr>
          <a:xfrm>
            <a:off x="1981200" y="1124744"/>
            <a:ext cx="8229600" cy="360040"/>
          </a:xfrm>
          <a:prstGeom prst="rect">
            <a:avLst/>
          </a:prstGeom>
          <a:noFill/>
          <a:ln>
            <a:noFill/>
          </a:ln>
        </p:spPr>
        <p:txBody>
          <a:bodyPr spcFirstLastPara="1" wrap="square" lIns="91425" tIns="45700" rIns="91425" bIns="45700" anchor="ctr" anchorCtr="0">
            <a:normAutofit fontScale="90000"/>
          </a:bodyPr>
          <a:lstStyle/>
          <a:p>
            <a:pPr marL="0" lvl="1" indent="0" algn="ctr" rtl="0">
              <a:spcBef>
                <a:spcPts val="0"/>
              </a:spcBef>
              <a:spcAft>
                <a:spcPts val="0"/>
              </a:spcAft>
              <a:buNone/>
            </a:pPr>
            <a:r>
              <a:rPr lang="en-US" sz="4800">
                <a:solidFill>
                  <a:srgbClr val="FF0000"/>
                </a:solidFill>
                <a:latin typeface="Times New Roman"/>
                <a:ea typeface="Times New Roman"/>
                <a:cs typeface="Times New Roman"/>
                <a:sym typeface="Times New Roman"/>
              </a:rPr>
              <a:t>Zero Address Instructions</a:t>
            </a:r>
            <a:r>
              <a:rPr lang="en-US">
                <a:solidFill>
                  <a:srgbClr val="FF0000"/>
                </a:solidFill>
                <a:latin typeface="Times New Roman"/>
                <a:ea typeface="Times New Roman"/>
                <a:cs typeface="Times New Roman"/>
                <a:sym typeface="Times New Roman"/>
              </a:rPr>
              <a:t/>
            </a:r>
            <a:br>
              <a:rPr lang="en-US">
                <a:solidFill>
                  <a:srgbClr val="FF0000"/>
                </a:solidFill>
                <a:latin typeface="Times New Roman"/>
                <a:ea typeface="Times New Roman"/>
                <a:cs typeface="Times New Roman"/>
                <a:sym typeface="Times New Roman"/>
              </a:rPr>
            </a:br>
            <a:endParaRPr>
              <a:solidFill>
                <a:srgbClr val="FF0000"/>
              </a:solidFill>
              <a:latin typeface="Times New Roman"/>
              <a:ea typeface="Times New Roman"/>
              <a:cs typeface="Times New Roman"/>
              <a:sym typeface="Times New Roman"/>
            </a:endParaRPr>
          </a:p>
        </p:txBody>
      </p:sp>
      <p:sp>
        <p:nvSpPr>
          <p:cNvPr id="917" name="Google Shape;917;p8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latin typeface="Times New Roman"/>
                <a:ea typeface="Times New Roman"/>
                <a:cs typeface="Times New Roman"/>
                <a:sym typeface="Times New Roman"/>
              </a:rPr>
              <a:t>Used in stack based computers which do not use address field in instruction</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Location of all operands are defined implicitly</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Operands are stored in a structure called pushdown stack</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Operation</a:t>
            </a:r>
            <a:endParaRPr/>
          </a:p>
          <a:p>
            <a:pPr marL="0" lvl="0" indent="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918" name="Google Shape;918;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sp>
        <p:nvSpPr>
          <p:cNvPr id="919" name="Google Shape;919;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C7939E33-657C-4492-AA1A-AFEDF5217261}" type="datetime1">
              <a:rPr lang="en-US" smtClean="0"/>
              <a:t>8/12/2024</a:t>
            </a:fld>
            <a:endParaRPr/>
          </a:p>
        </p:txBody>
      </p:sp>
      <p:sp>
        <p:nvSpPr>
          <p:cNvPr id="920" name="Google Shape;920;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8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80000"/>
              </a:lnSpc>
              <a:spcBef>
                <a:spcPts val="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If processor supports ALU operations one data in memory and other in register then the instruction sequence is</a:t>
            </a:r>
            <a:endParaRPr/>
          </a:p>
          <a:p>
            <a:pPr marL="228600" lvl="0" indent="-228600" algn="l" rtl="0">
              <a:lnSpc>
                <a:spcPct val="8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MOVE      D, Ri</a:t>
            </a:r>
            <a:endParaRPr sz="2400">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ADD      E, Ri</a:t>
            </a:r>
            <a:endParaRPr sz="2400">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MOVE   Ri, F</a:t>
            </a:r>
            <a:endParaRPr/>
          </a:p>
          <a:p>
            <a:pPr marL="228600" lvl="0" indent="-228600" algn="l" rtl="0">
              <a:lnSpc>
                <a:spcPct val="80000"/>
              </a:lnSpc>
              <a:spcBef>
                <a:spcPts val="1200"/>
              </a:spcBef>
              <a:spcAft>
                <a:spcPts val="0"/>
              </a:spcAft>
              <a:buClr>
                <a:schemeClr val="dk1"/>
              </a:buClr>
              <a:buSzPts val="2400"/>
              <a:buFont typeface="Noto Sans Symbols"/>
              <a:buChar char="⮚"/>
            </a:pPr>
            <a:r>
              <a:rPr lang="en-US" sz="2400">
                <a:latin typeface="Times New Roman"/>
                <a:ea typeface="Times New Roman"/>
                <a:cs typeface="Times New Roman"/>
                <a:sym typeface="Times New Roman"/>
              </a:rPr>
              <a:t>If processor supports ALU operations only with registers then one has to follow the instruction sequence given below</a:t>
            </a:r>
            <a:endParaRPr/>
          </a:p>
          <a:p>
            <a:pPr marL="228600" lvl="0" indent="-228600" algn="l" rtl="0">
              <a:lnSpc>
                <a:spcPct val="8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LOAD    D, Ri</a:t>
            </a:r>
            <a:endParaRPr sz="2400">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LOAD     E, Rj</a:t>
            </a:r>
            <a:endParaRPr sz="2400">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ADD       Ri, Rj</a:t>
            </a:r>
            <a:endParaRPr sz="2400">
              <a:latin typeface="Times New Roman"/>
              <a:ea typeface="Times New Roman"/>
              <a:cs typeface="Times New Roman"/>
              <a:sym typeface="Times New Roman"/>
            </a:endParaRPr>
          </a:p>
          <a:p>
            <a:pPr marL="228600" lvl="0" indent="-228600" algn="l" rtl="0">
              <a:lnSpc>
                <a:spcPct val="8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MOVE    Rj, F</a:t>
            </a:r>
            <a:endParaRPr/>
          </a:p>
          <a:p>
            <a:pPr marL="228600" lvl="0" indent="-76200" algn="l" rtl="0">
              <a:lnSpc>
                <a:spcPct val="8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926" name="Google Shape;926;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5954681A-BAB9-497E-BD35-211A032FCD58}" type="datetime1">
              <a:rPr lang="en-US" smtClean="0"/>
              <a:t>8/12/2024</a:t>
            </a:fld>
            <a:endParaRPr/>
          </a:p>
        </p:txBody>
      </p:sp>
      <p:sp>
        <p:nvSpPr>
          <p:cNvPr id="927" name="Google Shape;927;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928" name="Google Shape;928;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82"/>
          <p:cNvSpPr txBox="1">
            <a:spLocks noGrp="1"/>
          </p:cNvSpPr>
          <p:nvPr>
            <p:ph type="title"/>
          </p:nvPr>
        </p:nvSpPr>
        <p:spPr>
          <a:xfrm>
            <a:off x="1981200" y="980728"/>
            <a:ext cx="8229600" cy="43691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dirty="0">
                <a:solidFill>
                  <a:srgbClr val="FF0000"/>
                </a:solidFill>
                <a:latin typeface="Times New Roman"/>
                <a:ea typeface="Times New Roman"/>
                <a:cs typeface="Times New Roman"/>
                <a:sym typeface="Times New Roman"/>
              </a:rPr>
              <a:t/>
            </a:r>
            <a:br>
              <a:rPr lang="en-US" sz="3200" dirty="0">
                <a:solidFill>
                  <a:srgbClr val="FF0000"/>
                </a:solidFill>
                <a:latin typeface="Times New Roman"/>
                <a:ea typeface="Times New Roman"/>
                <a:cs typeface="Times New Roman"/>
                <a:sym typeface="Times New Roman"/>
              </a:rPr>
            </a:br>
            <a:r>
              <a:rPr lang="en-US" sz="3200" dirty="0">
                <a:solidFill>
                  <a:srgbClr val="FF0000"/>
                </a:solidFill>
                <a:latin typeface="Times New Roman"/>
                <a:ea typeface="Times New Roman"/>
                <a:cs typeface="Times New Roman"/>
                <a:sym typeface="Times New Roman"/>
              </a:rPr>
              <a:t>Example:   Evaluate </a:t>
            </a:r>
            <a:r>
              <a:rPr lang="en-US" sz="3200" dirty="0">
                <a:solidFill>
                  <a:srgbClr val="FF0000"/>
                </a:solidFill>
                <a:latin typeface="Times New Roman"/>
                <a:ea typeface="Times New Roman"/>
                <a:cs typeface="Times New Roman"/>
                <a:sym typeface="Times New Roman"/>
              </a:rPr>
              <a:t>X</a:t>
            </a:r>
            <a:r>
              <a:rPr lang="en-US" sz="3200" dirty="0" smtClean="0">
                <a:solidFill>
                  <a:srgbClr val="FF0000"/>
                </a:solidFill>
                <a:latin typeface="Times New Roman"/>
                <a:ea typeface="Times New Roman"/>
                <a:cs typeface="Times New Roman"/>
                <a:sym typeface="Times New Roman"/>
              </a:rPr>
              <a:t>=(A+B</a:t>
            </a:r>
            <a:r>
              <a:rPr lang="en-US" sz="3200" dirty="0">
                <a:solidFill>
                  <a:srgbClr val="FF0000"/>
                </a:solidFill>
                <a:latin typeface="Times New Roman"/>
                <a:ea typeface="Times New Roman"/>
                <a:cs typeface="Times New Roman"/>
                <a:sym typeface="Times New Roman"/>
              </a:rPr>
              <a:t>) * (C+D)</a:t>
            </a:r>
            <a:br>
              <a:rPr lang="en-US" sz="3200" dirty="0">
                <a:solidFill>
                  <a:srgbClr val="FF0000"/>
                </a:solidFill>
                <a:latin typeface="Times New Roman"/>
                <a:ea typeface="Times New Roman"/>
                <a:cs typeface="Times New Roman"/>
                <a:sym typeface="Times New Roman"/>
              </a:rPr>
            </a:br>
            <a:endParaRPr sz="3200" dirty="0">
              <a:solidFill>
                <a:srgbClr val="FF0000"/>
              </a:solidFill>
              <a:latin typeface="Times New Roman"/>
              <a:ea typeface="Times New Roman"/>
              <a:cs typeface="Times New Roman"/>
              <a:sym typeface="Times New Roman"/>
            </a:endParaRPr>
          </a:p>
        </p:txBody>
      </p:sp>
      <p:sp>
        <p:nvSpPr>
          <p:cNvPr id="934" name="Google Shape;934;p8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33400" lvl="0" indent="-533400" algn="l" rtl="0">
              <a:lnSpc>
                <a:spcPct val="90000"/>
              </a:lnSpc>
              <a:spcBef>
                <a:spcPts val="0"/>
              </a:spcBef>
              <a:spcAft>
                <a:spcPts val="0"/>
              </a:spcAft>
              <a:buClr>
                <a:schemeClr val="dk1"/>
              </a:buClr>
              <a:buSzPts val="2400"/>
              <a:buChar char="•"/>
            </a:pPr>
            <a:r>
              <a:rPr lang="en-US" sz="2400" dirty="0">
                <a:latin typeface="Times New Roman"/>
                <a:ea typeface="Times New Roman"/>
                <a:cs typeface="Times New Roman"/>
                <a:sym typeface="Times New Roman"/>
              </a:rPr>
              <a:t>Using Zero-Address instruction</a:t>
            </a:r>
            <a:endParaRPr dirty="0"/>
          </a:p>
          <a:p>
            <a:pPr marL="989013" lvl="1" indent="-457200" algn="l" rtl="0">
              <a:lnSpc>
                <a:spcPct val="90000"/>
              </a:lnSpc>
              <a:spcBef>
                <a:spcPts val="500"/>
              </a:spcBef>
              <a:spcAft>
                <a:spcPts val="0"/>
              </a:spcAft>
              <a:buClr>
                <a:schemeClr val="dk1"/>
              </a:buClr>
              <a:buSzPts val="2400"/>
              <a:buFont typeface="Times New Roman"/>
              <a:buAutoNum type="arabicPeriod"/>
            </a:pPr>
            <a:r>
              <a:rPr lang="en-US" dirty="0">
                <a:latin typeface="Times New Roman"/>
                <a:ea typeface="Times New Roman"/>
                <a:cs typeface="Times New Roman"/>
                <a:sym typeface="Times New Roman"/>
              </a:rPr>
              <a:t>PUSH	A	; TOS ← A</a:t>
            </a:r>
            <a:endParaRPr dirty="0">
              <a:latin typeface="Times New Roman"/>
              <a:ea typeface="Times New Roman"/>
              <a:cs typeface="Times New Roman"/>
              <a:sym typeface="Times New Roman"/>
            </a:endParaRPr>
          </a:p>
          <a:p>
            <a:pPr marL="989013" lvl="1" indent="-457200" algn="l" rtl="0">
              <a:lnSpc>
                <a:spcPct val="90000"/>
              </a:lnSpc>
              <a:spcBef>
                <a:spcPts val="500"/>
              </a:spcBef>
              <a:spcAft>
                <a:spcPts val="0"/>
              </a:spcAft>
              <a:buClr>
                <a:schemeClr val="dk1"/>
              </a:buClr>
              <a:buSzPts val="2400"/>
              <a:buFont typeface="Times New Roman"/>
              <a:buAutoNum type="arabicPeriod"/>
            </a:pPr>
            <a:r>
              <a:rPr lang="en-US" dirty="0">
                <a:latin typeface="Times New Roman"/>
                <a:ea typeface="Times New Roman"/>
                <a:cs typeface="Times New Roman"/>
                <a:sym typeface="Times New Roman"/>
              </a:rPr>
              <a:t>PUSH	B 	; TOS ← B</a:t>
            </a:r>
            <a:endParaRPr dirty="0"/>
          </a:p>
          <a:p>
            <a:pPr marL="989013" lvl="1" indent="-457200" algn="l" rtl="0">
              <a:lnSpc>
                <a:spcPct val="90000"/>
              </a:lnSpc>
              <a:spcBef>
                <a:spcPts val="500"/>
              </a:spcBef>
              <a:spcAft>
                <a:spcPts val="0"/>
              </a:spcAft>
              <a:buClr>
                <a:schemeClr val="dk1"/>
              </a:buClr>
              <a:buSzPts val="2400"/>
              <a:buFont typeface="Times New Roman"/>
              <a:buAutoNum type="arabicPeriod"/>
            </a:pPr>
            <a:r>
              <a:rPr lang="en-US" dirty="0">
                <a:latin typeface="Times New Roman"/>
                <a:ea typeface="Times New Roman"/>
                <a:cs typeface="Times New Roman"/>
                <a:sym typeface="Times New Roman"/>
              </a:rPr>
              <a:t>ADD		; TOS ← (A + B)</a:t>
            </a:r>
            <a:endParaRPr dirty="0"/>
          </a:p>
          <a:p>
            <a:pPr marL="989013" lvl="1" indent="-457200" algn="l" rtl="0">
              <a:lnSpc>
                <a:spcPct val="90000"/>
              </a:lnSpc>
              <a:spcBef>
                <a:spcPts val="500"/>
              </a:spcBef>
              <a:spcAft>
                <a:spcPts val="0"/>
              </a:spcAft>
              <a:buClr>
                <a:schemeClr val="dk1"/>
              </a:buClr>
              <a:buSzPts val="2400"/>
              <a:buFont typeface="Times New Roman"/>
              <a:buAutoNum type="arabicPeriod"/>
            </a:pPr>
            <a:r>
              <a:rPr lang="en-US" dirty="0">
                <a:latin typeface="Times New Roman"/>
                <a:ea typeface="Times New Roman"/>
                <a:cs typeface="Times New Roman"/>
                <a:sym typeface="Times New Roman"/>
              </a:rPr>
              <a:t>PUSH 	C	; TOS ← C</a:t>
            </a:r>
            <a:endParaRPr dirty="0"/>
          </a:p>
          <a:p>
            <a:pPr marL="989013" lvl="1" indent="-457200" algn="l" rtl="0">
              <a:lnSpc>
                <a:spcPct val="90000"/>
              </a:lnSpc>
              <a:spcBef>
                <a:spcPts val="500"/>
              </a:spcBef>
              <a:spcAft>
                <a:spcPts val="0"/>
              </a:spcAft>
              <a:buClr>
                <a:schemeClr val="dk1"/>
              </a:buClr>
              <a:buSzPts val="2400"/>
              <a:buFont typeface="Times New Roman"/>
              <a:buAutoNum type="arabicPeriod"/>
            </a:pPr>
            <a:r>
              <a:rPr lang="en-US" dirty="0">
                <a:latin typeface="Times New Roman"/>
                <a:ea typeface="Times New Roman"/>
                <a:cs typeface="Times New Roman"/>
                <a:sym typeface="Times New Roman"/>
              </a:rPr>
              <a:t>PUSH	D	; TOS ← D</a:t>
            </a:r>
            <a:endParaRPr dirty="0">
              <a:latin typeface="Times New Roman"/>
              <a:ea typeface="Times New Roman"/>
              <a:cs typeface="Times New Roman"/>
              <a:sym typeface="Times New Roman"/>
            </a:endParaRPr>
          </a:p>
          <a:p>
            <a:pPr marL="989013" lvl="1" indent="-457200" algn="l" rtl="0">
              <a:lnSpc>
                <a:spcPct val="90000"/>
              </a:lnSpc>
              <a:spcBef>
                <a:spcPts val="500"/>
              </a:spcBef>
              <a:spcAft>
                <a:spcPts val="0"/>
              </a:spcAft>
              <a:buClr>
                <a:schemeClr val="dk1"/>
              </a:buClr>
              <a:buSzPts val="2400"/>
              <a:buFont typeface="Times New Roman"/>
              <a:buAutoNum type="arabicPeriod"/>
            </a:pPr>
            <a:r>
              <a:rPr lang="en-US" dirty="0">
                <a:latin typeface="Times New Roman"/>
                <a:ea typeface="Times New Roman"/>
                <a:cs typeface="Times New Roman"/>
                <a:sym typeface="Times New Roman"/>
              </a:rPr>
              <a:t>ADD		; TOS ← (C + D)</a:t>
            </a:r>
            <a:endParaRPr dirty="0"/>
          </a:p>
          <a:p>
            <a:pPr marL="989013" lvl="1" indent="-457200" algn="l" rtl="0">
              <a:lnSpc>
                <a:spcPct val="90000"/>
              </a:lnSpc>
              <a:spcBef>
                <a:spcPts val="500"/>
              </a:spcBef>
              <a:spcAft>
                <a:spcPts val="0"/>
              </a:spcAft>
              <a:buClr>
                <a:schemeClr val="dk1"/>
              </a:buClr>
              <a:buSzPts val="2400"/>
              <a:buFont typeface="Times New Roman"/>
              <a:buAutoNum type="arabicPeriod"/>
            </a:pPr>
            <a:r>
              <a:rPr lang="en-US" dirty="0">
                <a:latin typeface="Times New Roman"/>
                <a:ea typeface="Times New Roman"/>
                <a:cs typeface="Times New Roman"/>
                <a:sym typeface="Times New Roman"/>
              </a:rPr>
              <a:t>MUL		; TOS ← (C+D)*(A+B)</a:t>
            </a:r>
            <a:endParaRPr dirty="0"/>
          </a:p>
          <a:p>
            <a:pPr marL="989013" lvl="1" indent="-457200" algn="l" rtl="0">
              <a:lnSpc>
                <a:spcPct val="90000"/>
              </a:lnSpc>
              <a:spcBef>
                <a:spcPts val="500"/>
              </a:spcBef>
              <a:spcAft>
                <a:spcPts val="0"/>
              </a:spcAft>
              <a:buClr>
                <a:schemeClr val="dk1"/>
              </a:buClr>
              <a:buSzPts val="2400"/>
              <a:buFont typeface="Times New Roman"/>
              <a:buAutoNum type="arabicPeriod"/>
            </a:pPr>
            <a:r>
              <a:rPr lang="en-US" dirty="0">
                <a:latin typeface="Times New Roman"/>
                <a:ea typeface="Times New Roman"/>
                <a:cs typeface="Times New Roman"/>
                <a:sym typeface="Times New Roman"/>
              </a:rPr>
              <a:t>POP	X	; M[X] ← TOS</a:t>
            </a:r>
            <a:endParaRPr dirty="0"/>
          </a:p>
          <a:p>
            <a:pPr marL="228600" lvl="0" indent="-76200" algn="l" rtl="0">
              <a:lnSpc>
                <a:spcPct val="90000"/>
              </a:lnSpc>
              <a:spcBef>
                <a:spcPts val="1000"/>
              </a:spcBef>
              <a:spcAft>
                <a:spcPts val="0"/>
              </a:spcAft>
              <a:buClr>
                <a:schemeClr val="dk1"/>
              </a:buClr>
              <a:buSzPts val="2400"/>
              <a:buNone/>
            </a:pPr>
            <a:endParaRPr sz="2400" dirty="0">
              <a:latin typeface="Times New Roman"/>
              <a:ea typeface="Times New Roman"/>
              <a:cs typeface="Times New Roman"/>
              <a:sym typeface="Times New Roman"/>
            </a:endParaRPr>
          </a:p>
        </p:txBody>
      </p:sp>
      <p:sp>
        <p:nvSpPr>
          <p:cNvPr id="935" name="Google Shape;935;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sp>
        <p:nvSpPr>
          <p:cNvPr id="936" name="Google Shape;936;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7857003E-D0EE-4FD9-8A3D-58C59938496B}" type="datetime1">
              <a:rPr lang="en-US" smtClean="0"/>
              <a:t>8/12/2024</a:t>
            </a:fld>
            <a:endParaRPr/>
          </a:p>
        </p:txBody>
      </p:sp>
      <p:sp>
        <p:nvSpPr>
          <p:cNvPr id="937" name="Google Shape;937;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8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09600" lvl="0" indent="-609600" algn="l"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Syntax- Operation source/destination</a:t>
            </a:r>
            <a:endParaRPr/>
          </a:p>
          <a:p>
            <a:pPr marL="609600" lvl="0" indent="-609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In this type either a source or destination operand is mentioned in the instruction</a:t>
            </a:r>
            <a:endParaRPr/>
          </a:p>
          <a:p>
            <a:pPr marL="609600" lvl="0" indent="-609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Other operand is implied to be a processor register called Accumulator </a:t>
            </a:r>
            <a:endParaRPr/>
          </a:p>
          <a:p>
            <a:pPr marL="609600" lvl="0" indent="-609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Eg: ADD  B (general)</a:t>
            </a:r>
            <a:endParaRPr/>
          </a:p>
          <a:p>
            <a:pPr marL="609600" lvl="0" indent="-609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Load D;           ACC                      [memlocation _D]</a:t>
            </a:r>
            <a:endParaRPr/>
          </a:p>
          <a:p>
            <a:pPr marL="609600" lvl="0" indent="-609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ADD E;           ACC                      (ACC) +(E)</a:t>
            </a:r>
            <a:endParaRPr/>
          </a:p>
          <a:p>
            <a:pPr marL="609600" lvl="0" indent="-609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STORE F;        memlocation_ F          (ACC  )</a:t>
            </a:r>
            <a:endParaRPr/>
          </a:p>
          <a:p>
            <a:pPr marL="609600" lvl="0" indent="-431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609600" lvl="0" indent="-431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cxnSp>
        <p:nvCxnSpPr>
          <p:cNvPr id="943" name="Google Shape;943;p83"/>
          <p:cNvCxnSpPr/>
          <p:nvPr/>
        </p:nvCxnSpPr>
        <p:spPr>
          <a:xfrm rot="10800000">
            <a:off x="5683876" y="4509120"/>
            <a:ext cx="1676400" cy="0"/>
          </a:xfrm>
          <a:prstGeom prst="straightConnector1">
            <a:avLst/>
          </a:prstGeom>
          <a:noFill/>
          <a:ln w="9525" cap="flat" cmpd="sng">
            <a:solidFill>
              <a:schemeClr val="dk1"/>
            </a:solidFill>
            <a:prstDash val="solid"/>
            <a:round/>
            <a:headEnd type="none" w="med" len="med"/>
            <a:tailEnd type="triangle" w="med" len="med"/>
          </a:ln>
        </p:spPr>
      </p:cxnSp>
      <p:cxnSp>
        <p:nvCxnSpPr>
          <p:cNvPr id="944" name="Google Shape;944;p83"/>
          <p:cNvCxnSpPr/>
          <p:nvPr/>
        </p:nvCxnSpPr>
        <p:spPr>
          <a:xfrm rot="10800000">
            <a:off x="5683876" y="4941168"/>
            <a:ext cx="1676400" cy="0"/>
          </a:xfrm>
          <a:prstGeom prst="straightConnector1">
            <a:avLst/>
          </a:prstGeom>
          <a:noFill/>
          <a:ln w="9525" cap="flat" cmpd="sng">
            <a:solidFill>
              <a:schemeClr val="dk1"/>
            </a:solidFill>
            <a:prstDash val="solid"/>
            <a:round/>
            <a:headEnd type="none" w="med" len="med"/>
            <a:tailEnd type="triangle" w="med" len="med"/>
          </a:ln>
        </p:spPr>
      </p:cxnSp>
      <p:cxnSp>
        <p:nvCxnSpPr>
          <p:cNvPr id="945" name="Google Shape;945;p83"/>
          <p:cNvCxnSpPr/>
          <p:nvPr/>
        </p:nvCxnSpPr>
        <p:spPr>
          <a:xfrm rot="10800000">
            <a:off x="7360276" y="5445224"/>
            <a:ext cx="609600" cy="0"/>
          </a:xfrm>
          <a:prstGeom prst="straightConnector1">
            <a:avLst/>
          </a:prstGeom>
          <a:noFill/>
          <a:ln w="9525" cap="flat" cmpd="sng">
            <a:solidFill>
              <a:schemeClr val="dk1"/>
            </a:solidFill>
            <a:prstDash val="solid"/>
            <a:round/>
            <a:headEnd type="none" w="med" len="med"/>
            <a:tailEnd type="triangle" w="med" len="med"/>
          </a:ln>
        </p:spPr>
      </p:cxnSp>
      <p:sp>
        <p:nvSpPr>
          <p:cNvPr id="946" name="Google Shape;946;p83"/>
          <p:cNvSpPr txBox="1">
            <a:spLocks noGrp="1"/>
          </p:cNvSpPr>
          <p:nvPr>
            <p:ph type="title"/>
          </p:nvPr>
        </p:nvSpPr>
        <p:spPr>
          <a:xfrm>
            <a:off x="1981200" y="975866"/>
            <a:ext cx="8229600" cy="58092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600"/>
              <a:buFont typeface="Times New Roman"/>
              <a:buNone/>
            </a:pPr>
            <a:r>
              <a:rPr lang="en-US" sz="3600">
                <a:solidFill>
                  <a:srgbClr val="FF0000"/>
                </a:solidFill>
                <a:latin typeface="Times New Roman"/>
                <a:ea typeface="Times New Roman"/>
                <a:cs typeface="Times New Roman"/>
                <a:sym typeface="Times New Roman"/>
              </a:rPr>
              <a:t>One address Instruction</a:t>
            </a:r>
            <a:endParaRPr/>
          </a:p>
        </p:txBody>
      </p:sp>
      <p:sp>
        <p:nvSpPr>
          <p:cNvPr id="947" name="Google Shape;947;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A33E057D-8509-43BB-8450-640F1E5DDB66}" type="datetime1">
              <a:rPr lang="en-US" smtClean="0"/>
              <a:t>8/12/2024</a:t>
            </a:fld>
            <a:endParaRPr/>
          </a:p>
        </p:txBody>
      </p:sp>
      <p:sp>
        <p:nvSpPr>
          <p:cNvPr id="948" name="Google Shape;948;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949" name="Google Shape;949;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p84"/>
          <p:cNvSpPr txBox="1">
            <a:spLocks noGrp="1"/>
          </p:cNvSpPr>
          <p:nvPr>
            <p:ph type="title"/>
          </p:nvPr>
        </p:nvSpPr>
        <p:spPr>
          <a:xfrm>
            <a:off x="1981200" y="975866"/>
            <a:ext cx="8229600" cy="58092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600"/>
              <a:buFont typeface="Times New Roman"/>
              <a:buNone/>
            </a:pPr>
            <a:r>
              <a:rPr lang="en-US" sz="3600">
                <a:solidFill>
                  <a:srgbClr val="FF0000"/>
                </a:solidFill>
                <a:latin typeface="Times New Roman"/>
                <a:ea typeface="Times New Roman"/>
                <a:cs typeface="Times New Roman"/>
                <a:sym typeface="Times New Roman"/>
              </a:rPr>
              <a:t>One address Instruction</a:t>
            </a:r>
            <a:endParaRPr/>
          </a:p>
        </p:txBody>
      </p:sp>
      <p:sp>
        <p:nvSpPr>
          <p:cNvPr id="955" name="Google Shape;955;p84"/>
          <p:cNvSpPr txBox="1">
            <a:spLocks noGrp="1"/>
          </p:cNvSpPr>
          <p:nvPr>
            <p:ph type="body" idx="1"/>
          </p:nvPr>
        </p:nvSpPr>
        <p:spPr>
          <a:xfrm>
            <a:off x="1775520" y="1600201"/>
            <a:ext cx="8712968" cy="4525963"/>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000"/>
              <a:buChar char="•"/>
            </a:pPr>
            <a:r>
              <a:rPr lang="en-US" sz="2000" dirty="0">
                <a:latin typeface="Times New Roman"/>
                <a:ea typeface="Times New Roman"/>
                <a:cs typeface="Times New Roman"/>
                <a:sym typeface="Times New Roman"/>
              </a:rPr>
              <a:t>This use a implied ACCUMULATOR register for data manipulation.</a:t>
            </a:r>
            <a:endParaRPr dirty="0"/>
          </a:p>
          <a:p>
            <a:pPr marL="0" lvl="0" indent="0" algn="l" rtl="0">
              <a:lnSpc>
                <a:spcPct val="90000"/>
              </a:lnSpc>
              <a:spcBef>
                <a:spcPts val="1000"/>
              </a:spcBef>
              <a:spcAft>
                <a:spcPts val="0"/>
              </a:spcAft>
              <a:buClr>
                <a:schemeClr val="dk1"/>
              </a:buClr>
              <a:buSzPts val="2000"/>
              <a:buNone/>
            </a:pPr>
            <a:r>
              <a:rPr lang="en-US" sz="2000" dirty="0">
                <a:latin typeface="Times New Roman"/>
                <a:ea typeface="Times New Roman"/>
                <a:cs typeface="Times New Roman"/>
                <a:sym typeface="Times New Roman"/>
              </a:rPr>
              <a:t>Operation Destination</a:t>
            </a:r>
            <a:endParaRPr dirty="0"/>
          </a:p>
          <a:p>
            <a:pPr marL="228600" lvl="0" indent="-228600" algn="l" rtl="0">
              <a:lnSpc>
                <a:spcPct val="90000"/>
              </a:lnSpc>
              <a:spcBef>
                <a:spcPts val="1000"/>
              </a:spcBef>
              <a:spcAft>
                <a:spcPts val="0"/>
              </a:spcAft>
              <a:buClr>
                <a:schemeClr val="dk1"/>
              </a:buClr>
              <a:buSzPts val="2000"/>
              <a:buChar char="•"/>
            </a:pPr>
            <a:r>
              <a:rPr lang="en-US" sz="2000" dirty="0">
                <a:latin typeface="Times New Roman"/>
                <a:ea typeface="Times New Roman"/>
                <a:cs typeface="Times New Roman"/>
                <a:sym typeface="Times New Roman"/>
              </a:rPr>
              <a:t>One operand is in accumulator and other is in register or memory location.</a:t>
            </a:r>
            <a:endParaRPr dirty="0"/>
          </a:p>
          <a:p>
            <a:pPr marL="533400" lvl="0" indent="-533400" algn="l" rtl="0">
              <a:lnSpc>
                <a:spcPct val="90000"/>
              </a:lnSpc>
              <a:spcBef>
                <a:spcPts val="1000"/>
              </a:spcBef>
              <a:spcAft>
                <a:spcPts val="0"/>
              </a:spcAft>
              <a:buClr>
                <a:schemeClr val="dk1"/>
              </a:buClr>
              <a:buSzPts val="2000"/>
              <a:buNone/>
            </a:pPr>
            <a:r>
              <a:rPr lang="en-US" sz="2000" dirty="0">
                <a:latin typeface="Times New Roman"/>
                <a:ea typeface="Times New Roman"/>
                <a:cs typeface="Times New Roman"/>
                <a:sym typeface="Times New Roman"/>
              </a:rPr>
              <a:t>Example:   Evaluate </a:t>
            </a:r>
            <a:r>
              <a:rPr lang="en-US" sz="2000" dirty="0" smtClean="0">
                <a:latin typeface="Times New Roman"/>
                <a:ea typeface="Times New Roman"/>
                <a:cs typeface="Times New Roman"/>
                <a:sym typeface="Times New Roman"/>
              </a:rPr>
              <a:t>X=(A+B</a:t>
            </a:r>
            <a:r>
              <a:rPr lang="en-US" sz="2000" dirty="0">
                <a:latin typeface="Times New Roman"/>
                <a:ea typeface="Times New Roman"/>
                <a:cs typeface="Times New Roman"/>
                <a:sym typeface="Times New Roman"/>
              </a:rPr>
              <a:t>) * (C+D)</a:t>
            </a:r>
            <a:endParaRPr dirty="0"/>
          </a:p>
          <a:p>
            <a:pPr marL="533400" lvl="0" indent="-533400" algn="l" rtl="0">
              <a:lnSpc>
                <a:spcPct val="90000"/>
              </a:lnSpc>
              <a:spcBef>
                <a:spcPts val="1000"/>
              </a:spcBef>
              <a:spcAft>
                <a:spcPts val="0"/>
              </a:spcAft>
              <a:buClr>
                <a:schemeClr val="dk1"/>
              </a:buClr>
              <a:buSzPts val="2000"/>
              <a:buChar char="•"/>
            </a:pPr>
            <a:r>
              <a:rPr lang="en-US" sz="2000" dirty="0">
                <a:latin typeface="Times New Roman"/>
                <a:ea typeface="Times New Roman"/>
                <a:cs typeface="Times New Roman"/>
                <a:sym typeface="Times New Roman"/>
              </a:rPr>
              <a:t>Using One-Address Instruction</a:t>
            </a:r>
            <a:endParaRPr dirty="0"/>
          </a:p>
          <a:p>
            <a:pPr marL="989013" lvl="1" indent="-457200" algn="l" rtl="0">
              <a:lnSpc>
                <a:spcPct val="90000"/>
              </a:lnSpc>
              <a:spcBef>
                <a:spcPts val="500"/>
              </a:spcBef>
              <a:spcAft>
                <a:spcPts val="0"/>
              </a:spcAft>
              <a:buClr>
                <a:schemeClr val="dk1"/>
              </a:buClr>
              <a:buSzPts val="2000"/>
              <a:buFont typeface="Times New Roman"/>
              <a:buAutoNum type="arabicPeriod"/>
            </a:pPr>
            <a:r>
              <a:rPr lang="en-US" sz="2000" dirty="0">
                <a:latin typeface="Times New Roman"/>
                <a:ea typeface="Times New Roman"/>
                <a:cs typeface="Times New Roman"/>
                <a:sym typeface="Times New Roman"/>
              </a:rPr>
              <a:t>LOAD	A	; AC ← M[A]</a:t>
            </a:r>
            <a:endParaRPr sz="2000" dirty="0">
              <a:latin typeface="Times New Roman"/>
              <a:ea typeface="Times New Roman"/>
              <a:cs typeface="Times New Roman"/>
              <a:sym typeface="Times New Roman"/>
            </a:endParaRPr>
          </a:p>
          <a:p>
            <a:pPr marL="989013" lvl="1" indent="-457200" algn="l" rtl="0">
              <a:lnSpc>
                <a:spcPct val="90000"/>
              </a:lnSpc>
              <a:spcBef>
                <a:spcPts val="500"/>
              </a:spcBef>
              <a:spcAft>
                <a:spcPts val="0"/>
              </a:spcAft>
              <a:buClr>
                <a:schemeClr val="dk1"/>
              </a:buClr>
              <a:buSzPts val="2000"/>
              <a:buFont typeface="Times New Roman"/>
              <a:buAutoNum type="arabicPeriod"/>
            </a:pPr>
            <a:r>
              <a:rPr lang="en-US" sz="2000" dirty="0">
                <a:latin typeface="Times New Roman"/>
                <a:ea typeface="Times New Roman"/>
                <a:cs typeface="Times New Roman"/>
                <a:sym typeface="Times New Roman"/>
              </a:rPr>
              <a:t>ADD	B	; AC ← AC + M[B]</a:t>
            </a:r>
            <a:endParaRPr dirty="0"/>
          </a:p>
          <a:p>
            <a:pPr marL="989013" lvl="1" indent="-457200" algn="l" rtl="0">
              <a:lnSpc>
                <a:spcPct val="90000"/>
              </a:lnSpc>
              <a:spcBef>
                <a:spcPts val="500"/>
              </a:spcBef>
              <a:spcAft>
                <a:spcPts val="0"/>
              </a:spcAft>
              <a:buClr>
                <a:schemeClr val="dk1"/>
              </a:buClr>
              <a:buSzPts val="2000"/>
              <a:buFont typeface="Times New Roman"/>
              <a:buAutoNum type="arabicPeriod"/>
            </a:pPr>
            <a:r>
              <a:rPr lang="en-US" sz="2000" dirty="0">
                <a:latin typeface="Times New Roman"/>
                <a:ea typeface="Times New Roman"/>
                <a:cs typeface="Times New Roman"/>
                <a:sym typeface="Times New Roman"/>
              </a:rPr>
              <a:t>STORE	T	; M[T] ← AC </a:t>
            </a:r>
            <a:endParaRPr dirty="0"/>
          </a:p>
          <a:p>
            <a:pPr marL="989013" lvl="1" indent="-457200" algn="l" rtl="0">
              <a:lnSpc>
                <a:spcPct val="90000"/>
              </a:lnSpc>
              <a:spcBef>
                <a:spcPts val="500"/>
              </a:spcBef>
              <a:spcAft>
                <a:spcPts val="0"/>
              </a:spcAft>
              <a:buClr>
                <a:schemeClr val="dk1"/>
              </a:buClr>
              <a:buSzPts val="2000"/>
              <a:buFont typeface="Times New Roman"/>
              <a:buAutoNum type="arabicPeriod"/>
            </a:pPr>
            <a:r>
              <a:rPr lang="en-US" sz="2000" dirty="0">
                <a:latin typeface="Times New Roman"/>
                <a:ea typeface="Times New Roman"/>
                <a:cs typeface="Times New Roman"/>
                <a:sym typeface="Times New Roman"/>
              </a:rPr>
              <a:t>LOAD	C	; AC ← M[C]</a:t>
            </a:r>
            <a:endParaRPr sz="2000" dirty="0">
              <a:latin typeface="Times New Roman"/>
              <a:ea typeface="Times New Roman"/>
              <a:cs typeface="Times New Roman"/>
              <a:sym typeface="Times New Roman"/>
            </a:endParaRPr>
          </a:p>
          <a:p>
            <a:pPr marL="989013" lvl="1" indent="-457200" algn="l" rtl="0">
              <a:lnSpc>
                <a:spcPct val="90000"/>
              </a:lnSpc>
              <a:spcBef>
                <a:spcPts val="500"/>
              </a:spcBef>
              <a:spcAft>
                <a:spcPts val="0"/>
              </a:spcAft>
              <a:buClr>
                <a:schemeClr val="dk1"/>
              </a:buClr>
              <a:buSzPts val="2000"/>
              <a:buFont typeface="Times New Roman"/>
              <a:buAutoNum type="arabicPeriod"/>
            </a:pPr>
            <a:r>
              <a:rPr lang="en-US" sz="2000" dirty="0">
                <a:latin typeface="Times New Roman"/>
                <a:ea typeface="Times New Roman"/>
                <a:cs typeface="Times New Roman"/>
                <a:sym typeface="Times New Roman"/>
              </a:rPr>
              <a:t>ADD	D	; AC ← AC + M[D]</a:t>
            </a:r>
            <a:endParaRPr dirty="0"/>
          </a:p>
          <a:p>
            <a:pPr marL="989013" lvl="1" indent="-457200" algn="l" rtl="0">
              <a:lnSpc>
                <a:spcPct val="90000"/>
              </a:lnSpc>
              <a:spcBef>
                <a:spcPts val="500"/>
              </a:spcBef>
              <a:spcAft>
                <a:spcPts val="0"/>
              </a:spcAft>
              <a:buClr>
                <a:schemeClr val="dk1"/>
              </a:buClr>
              <a:buSzPts val="2000"/>
              <a:buFont typeface="Times New Roman"/>
              <a:buAutoNum type="arabicPeriod"/>
            </a:pPr>
            <a:r>
              <a:rPr lang="en-US" sz="2000" dirty="0">
                <a:latin typeface="Times New Roman"/>
                <a:ea typeface="Times New Roman"/>
                <a:cs typeface="Times New Roman"/>
                <a:sym typeface="Times New Roman"/>
              </a:rPr>
              <a:t>MUL	T	; AC ← AC * M[T]</a:t>
            </a:r>
            <a:endParaRPr dirty="0"/>
          </a:p>
          <a:p>
            <a:pPr marL="989013" lvl="1" indent="-457200" algn="l" rtl="0">
              <a:lnSpc>
                <a:spcPct val="90000"/>
              </a:lnSpc>
              <a:spcBef>
                <a:spcPts val="500"/>
              </a:spcBef>
              <a:spcAft>
                <a:spcPts val="0"/>
              </a:spcAft>
              <a:buClr>
                <a:schemeClr val="dk1"/>
              </a:buClr>
              <a:buSzPts val="2000"/>
              <a:buFont typeface="Times New Roman"/>
              <a:buAutoNum type="arabicPeriod"/>
            </a:pPr>
            <a:r>
              <a:rPr lang="en-US" sz="2000" dirty="0">
                <a:latin typeface="Times New Roman"/>
                <a:ea typeface="Times New Roman"/>
                <a:cs typeface="Times New Roman"/>
                <a:sym typeface="Times New Roman"/>
              </a:rPr>
              <a:t>STORE	X	; M[X] ← AC</a:t>
            </a:r>
            <a:endParaRPr dirty="0"/>
          </a:p>
          <a:p>
            <a:pPr marL="0" lvl="0" indent="0" algn="l" rtl="0">
              <a:lnSpc>
                <a:spcPct val="90000"/>
              </a:lnSpc>
              <a:spcBef>
                <a:spcPts val="1000"/>
              </a:spcBef>
              <a:spcAft>
                <a:spcPts val="0"/>
              </a:spcAft>
              <a:buClr>
                <a:schemeClr val="dk1"/>
              </a:buClr>
              <a:buSzPts val="2000"/>
              <a:buNone/>
            </a:pPr>
            <a:endParaRPr sz="2000" dirty="0">
              <a:latin typeface="Times New Roman"/>
              <a:ea typeface="Times New Roman"/>
              <a:cs typeface="Times New Roman"/>
              <a:sym typeface="Times New Roman"/>
            </a:endParaRPr>
          </a:p>
        </p:txBody>
      </p:sp>
      <p:sp>
        <p:nvSpPr>
          <p:cNvPr id="956" name="Google Shape;956;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sp>
        <p:nvSpPr>
          <p:cNvPr id="957" name="Google Shape;957;p8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F75D0E00-8C22-461D-BFA0-F12C267D67B9}" type="datetime1">
              <a:rPr lang="en-US" smtClean="0"/>
              <a:t>8/12/2024</a:t>
            </a:fld>
            <a:endParaRPr/>
          </a:p>
        </p:txBody>
      </p:sp>
      <p:sp>
        <p:nvSpPr>
          <p:cNvPr id="958" name="Google Shape;958;p8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85"/>
          <p:cNvSpPr/>
          <p:nvPr/>
        </p:nvSpPr>
        <p:spPr>
          <a:xfrm>
            <a:off x="1981200" y="1844824"/>
            <a:ext cx="8001000" cy="4339650"/>
          </a:xfrm>
          <a:prstGeom prst="rect">
            <a:avLst/>
          </a:prstGeom>
          <a:noFill/>
          <a:ln>
            <a:noFill/>
          </a:ln>
        </p:spPr>
        <p:txBody>
          <a:bodyPr spcFirstLastPara="1" wrap="square" lIns="91425" tIns="45700" rIns="91425" bIns="45700" anchor="t" anchorCtr="0">
            <a:noAutofit/>
          </a:bodyPr>
          <a:lstStyle/>
          <a:p>
            <a:pPr marL="0" marR="0" lvl="0" indent="-152400" algn="l" rtl="0">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Syntax : Operation  source, destination </a:t>
            </a:r>
            <a:endParaRPr/>
          </a:p>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152400" algn="l" rtl="0">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Eg:     MOVE   E,F                                   MOVE  D,F</a:t>
            </a:r>
            <a:endParaRPr/>
          </a:p>
          <a:p>
            <a:pPr marL="0" marR="0" lvl="0" indent="0" algn="l" rtl="0">
              <a:spcBef>
                <a:spcPts val="0"/>
              </a:spcBef>
              <a:spcAft>
                <a:spcPts val="0"/>
              </a:spcAft>
              <a:buClr>
                <a:schemeClr val="dk1"/>
              </a:buClr>
              <a:buSzPts val="2400"/>
              <a:buFont typeface="Calibri"/>
              <a:buNone/>
            </a:pPr>
            <a:endParaRPr sz="2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ADD    D,F         OR                       ADD E,F</a:t>
            </a:r>
            <a:endParaRPr/>
          </a:p>
          <a:p>
            <a:pPr marL="0" marR="0" lvl="0" indent="0" algn="l"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Perform ADD  A,B,C using 2 instructions</a:t>
            </a:r>
            <a:endParaRPr/>
          </a:p>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MOVE  B,C</a:t>
            </a:r>
            <a:endParaRPr/>
          </a:p>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ADD     A,C</a:t>
            </a:r>
            <a:endParaRPr/>
          </a:p>
          <a:p>
            <a:pPr marL="0" marR="0" lvl="0" indent="-152400" algn="l" rtl="0">
              <a:spcBef>
                <a:spcPts val="1200"/>
              </a:spcBef>
              <a:spcAft>
                <a:spcPts val="0"/>
              </a:spcAft>
              <a:buClr>
                <a:schemeClr val="dk1"/>
              </a:buClr>
              <a:buSzPts val="2400"/>
              <a:buFont typeface="Noto Sans Symbols"/>
              <a:buChar char="❖"/>
            </a:pPr>
            <a:r>
              <a:rPr lang="en-US" sz="2400">
                <a:solidFill>
                  <a:schemeClr val="dk1"/>
                </a:solidFill>
                <a:latin typeface="Times New Roman"/>
                <a:ea typeface="Times New Roman"/>
                <a:cs typeface="Times New Roman"/>
                <a:sym typeface="Times New Roman"/>
              </a:rPr>
              <a:t>Disadvantage: Single instruction is not sufficient to perform the entire operation.</a:t>
            </a:r>
            <a:endParaRPr/>
          </a:p>
        </p:txBody>
      </p:sp>
      <p:sp>
        <p:nvSpPr>
          <p:cNvPr id="964" name="Google Shape;964;p85"/>
          <p:cNvSpPr txBox="1"/>
          <p:nvPr/>
        </p:nvSpPr>
        <p:spPr>
          <a:xfrm>
            <a:off x="1981200" y="980728"/>
            <a:ext cx="8229600" cy="50405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FF0000"/>
              </a:buClr>
              <a:buSzPts val="3600"/>
              <a:buFont typeface="Times New Roman"/>
              <a:buNone/>
            </a:pPr>
            <a:r>
              <a:rPr lang="en-US" sz="3600">
                <a:solidFill>
                  <a:srgbClr val="FF0000"/>
                </a:solidFill>
                <a:latin typeface="Times New Roman"/>
                <a:ea typeface="Times New Roman"/>
                <a:cs typeface="Times New Roman"/>
                <a:sym typeface="Times New Roman"/>
              </a:rPr>
              <a:t>Two Address Instruction</a:t>
            </a:r>
            <a:endParaRPr sz="3600">
              <a:solidFill>
                <a:srgbClr val="FF0000"/>
              </a:solidFill>
              <a:latin typeface="Times New Roman"/>
              <a:ea typeface="Times New Roman"/>
              <a:cs typeface="Times New Roman"/>
              <a:sym typeface="Times New Roman"/>
            </a:endParaRPr>
          </a:p>
        </p:txBody>
      </p:sp>
      <p:sp>
        <p:nvSpPr>
          <p:cNvPr id="965" name="Google Shape;965;p8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7387F01F-0DDE-4822-814E-66EDED470D57}" type="datetime1">
              <a:rPr lang="en-US" smtClean="0"/>
              <a:t>8/12/2024</a:t>
            </a:fld>
            <a:endParaRPr/>
          </a:p>
        </p:txBody>
      </p:sp>
      <p:sp>
        <p:nvSpPr>
          <p:cNvPr id="966" name="Google Shape;966;p8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967" name="Google Shape;967;p8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86"/>
          <p:cNvSpPr txBox="1">
            <a:spLocks noGrp="1"/>
          </p:cNvSpPr>
          <p:nvPr>
            <p:ph type="title"/>
          </p:nvPr>
        </p:nvSpPr>
        <p:spPr>
          <a:xfrm>
            <a:off x="1981200" y="980728"/>
            <a:ext cx="8229600" cy="50405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600"/>
              <a:buFont typeface="Times New Roman"/>
              <a:buNone/>
            </a:pPr>
            <a:r>
              <a:rPr lang="en-US" sz="3600">
                <a:solidFill>
                  <a:srgbClr val="FF0000"/>
                </a:solidFill>
                <a:latin typeface="Times New Roman"/>
                <a:ea typeface="Times New Roman"/>
                <a:cs typeface="Times New Roman"/>
                <a:sym typeface="Times New Roman"/>
              </a:rPr>
              <a:t>Two Address Instruction</a:t>
            </a:r>
            <a:endParaRPr/>
          </a:p>
        </p:txBody>
      </p:sp>
      <p:sp>
        <p:nvSpPr>
          <p:cNvPr id="973" name="Google Shape;973;p86"/>
          <p:cNvSpPr txBox="1">
            <a:spLocks noGrp="1"/>
          </p:cNvSpPr>
          <p:nvPr>
            <p:ph type="body" idx="1"/>
          </p:nvPr>
        </p:nvSpPr>
        <p:spPr>
          <a:xfrm>
            <a:off x="1981200" y="1600200"/>
            <a:ext cx="8229600" cy="51054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dirty="0">
                <a:latin typeface="Times New Roman"/>
                <a:ea typeface="Times New Roman"/>
                <a:cs typeface="Times New Roman"/>
                <a:sym typeface="Times New Roman"/>
              </a:rPr>
              <a:t>This is common in commercial computers.</a:t>
            </a:r>
            <a:endParaRPr dirty="0"/>
          </a:p>
          <a:p>
            <a:pPr marL="0" lvl="0" indent="0" algn="l" rtl="0">
              <a:lnSpc>
                <a:spcPct val="90000"/>
              </a:lnSpc>
              <a:spcBef>
                <a:spcPts val="1000"/>
              </a:spcBef>
              <a:spcAft>
                <a:spcPts val="0"/>
              </a:spcAft>
              <a:buClr>
                <a:schemeClr val="dk1"/>
              </a:buClr>
              <a:buSzPts val="2400"/>
              <a:buNone/>
            </a:pPr>
            <a:r>
              <a:rPr lang="en-US" sz="2400" dirty="0">
                <a:latin typeface="Times New Roman"/>
                <a:ea typeface="Times New Roman"/>
                <a:cs typeface="Times New Roman"/>
                <a:sym typeface="Times New Roman"/>
              </a:rPr>
              <a:t>Operation Source, Destination</a:t>
            </a:r>
            <a:endParaRPr dirty="0"/>
          </a:p>
          <a:p>
            <a:pPr marL="0" lvl="0" indent="0" algn="l" rtl="0">
              <a:lnSpc>
                <a:spcPct val="90000"/>
              </a:lnSpc>
              <a:spcBef>
                <a:spcPts val="1000"/>
              </a:spcBef>
              <a:spcAft>
                <a:spcPts val="0"/>
              </a:spcAft>
              <a:buClr>
                <a:schemeClr val="dk1"/>
              </a:buClr>
              <a:buSzPts val="2400"/>
              <a:buNone/>
            </a:pPr>
            <a:r>
              <a:rPr lang="en-US" sz="2400" dirty="0">
                <a:latin typeface="Times New Roman"/>
                <a:ea typeface="Times New Roman"/>
                <a:cs typeface="Times New Roman"/>
                <a:sym typeface="Times New Roman"/>
              </a:rPr>
              <a:t>Here two address can be specified in the instruction.</a:t>
            </a:r>
            <a:endParaRPr dirty="0"/>
          </a:p>
          <a:p>
            <a:pPr marL="533400" lvl="0" indent="-533400" algn="l" rtl="0">
              <a:lnSpc>
                <a:spcPct val="90000"/>
              </a:lnSpc>
              <a:spcBef>
                <a:spcPts val="1000"/>
              </a:spcBef>
              <a:spcAft>
                <a:spcPts val="0"/>
              </a:spcAft>
              <a:buClr>
                <a:schemeClr val="dk1"/>
              </a:buClr>
              <a:buSzPts val="2400"/>
              <a:buNone/>
            </a:pPr>
            <a:r>
              <a:rPr lang="en-US" sz="2400" dirty="0">
                <a:latin typeface="Times New Roman"/>
                <a:ea typeface="Times New Roman"/>
                <a:cs typeface="Times New Roman"/>
                <a:sym typeface="Times New Roman"/>
              </a:rPr>
              <a:t>Example:   Evaluate </a:t>
            </a:r>
            <a:r>
              <a:rPr lang="en-US" sz="2400" dirty="0" smtClean="0">
                <a:latin typeface="Times New Roman"/>
                <a:ea typeface="Times New Roman"/>
                <a:cs typeface="Times New Roman"/>
                <a:sym typeface="Times New Roman"/>
              </a:rPr>
              <a:t>X=(A+B</a:t>
            </a:r>
            <a:r>
              <a:rPr lang="en-US" sz="2400" dirty="0">
                <a:latin typeface="Times New Roman"/>
                <a:ea typeface="Times New Roman"/>
                <a:cs typeface="Times New Roman"/>
                <a:sym typeface="Times New Roman"/>
              </a:rPr>
              <a:t>) * (C+D)</a:t>
            </a:r>
            <a:endParaRPr dirty="0"/>
          </a:p>
          <a:p>
            <a:pPr marL="533400" lvl="0" indent="-533400" algn="l" rtl="0">
              <a:lnSpc>
                <a:spcPct val="90000"/>
              </a:lnSpc>
              <a:spcBef>
                <a:spcPts val="1000"/>
              </a:spcBef>
              <a:spcAft>
                <a:spcPts val="0"/>
              </a:spcAft>
              <a:buClr>
                <a:schemeClr val="dk1"/>
              </a:buClr>
              <a:buSzPts val="2400"/>
              <a:buNone/>
            </a:pPr>
            <a:r>
              <a:rPr lang="en-US" sz="2400" dirty="0">
                <a:latin typeface="Times New Roman"/>
                <a:ea typeface="Times New Roman"/>
                <a:cs typeface="Times New Roman"/>
                <a:sym typeface="Times New Roman"/>
              </a:rPr>
              <a:t>Using Two address Instruction:</a:t>
            </a:r>
            <a:endParaRPr dirty="0"/>
          </a:p>
          <a:p>
            <a:pPr marL="514350" lvl="0" indent="-514350" algn="l" rtl="0">
              <a:lnSpc>
                <a:spcPct val="90000"/>
              </a:lnSpc>
              <a:spcBef>
                <a:spcPts val="1000"/>
              </a:spcBef>
              <a:spcAft>
                <a:spcPts val="0"/>
              </a:spcAft>
              <a:buClr>
                <a:schemeClr val="dk1"/>
              </a:buClr>
              <a:buSzPts val="2400"/>
              <a:buAutoNum type="arabicPeriod"/>
            </a:pPr>
            <a:r>
              <a:rPr lang="en-US" sz="2400" dirty="0">
                <a:latin typeface="Times New Roman"/>
                <a:ea typeface="Times New Roman"/>
                <a:cs typeface="Times New Roman"/>
                <a:sym typeface="Times New Roman"/>
              </a:rPr>
              <a:t>MOV R1,A		; R1=M[A]</a:t>
            </a:r>
            <a:endParaRPr dirty="0"/>
          </a:p>
          <a:p>
            <a:pPr marL="514350" lvl="0" indent="-514350" algn="l" rtl="0">
              <a:lnSpc>
                <a:spcPct val="90000"/>
              </a:lnSpc>
              <a:spcBef>
                <a:spcPts val="1000"/>
              </a:spcBef>
              <a:spcAft>
                <a:spcPts val="0"/>
              </a:spcAft>
              <a:buClr>
                <a:schemeClr val="dk1"/>
              </a:buClr>
              <a:buSzPts val="2400"/>
              <a:buAutoNum type="arabicPeriod"/>
            </a:pPr>
            <a:r>
              <a:rPr lang="en-US" sz="2400" dirty="0">
                <a:latin typeface="Times New Roman"/>
                <a:ea typeface="Times New Roman"/>
                <a:cs typeface="Times New Roman"/>
                <a:sym typeface="Times New Roman"/>
              </a:rPr>
              <a:t>ADD R1,B		;R1=R1+M[B]</a:t>
            </a:r>
            <a:endParaRPr dirty="0"/>
          </a:p>
          <a:p>
            <a:pPr marL="514350" lvl="0" indent="-514350" algn="l" rtl="0">
              <a:lnSpc>
                <a:spcPct val="90000"/>
              </a:lnSpc>
              <a:spcBef>
                <a:spcPts val="1000"/>
              </a:spcBef>
              <a:spcAft>
                <a:spcPts val="0"/>
              </a:spcAft>
              <a:buClr>
                <a:schemeClr val="dk1"/>
              </a:buClr>
              <a:buSzPts val="2400"/>
              <a:buAutoNum type="arabicPeriod"/>
            </a:pPr>
            <a:r>
              <a:rPr lang="en-US" sz="2400" dirty="0">
                <a:latin typeface="Times New Roman"/>
                <a:ea typeface="Times New Roman"/>
                <a:cs typeface="Times New Roman"/>
                <a:sym typeface="Times New Roman"/>
              </a:rPr>
              <a:t>MOV R2,C		;R2=M[C]</a:t>
            </a:r>
            <a:endParaRPr dirty="0"/>
          </a:p>
          <a:p>
            <a:pPr marL="514350" lvl="0" indent="-514350" algn="l" rtl="0">
              <a:lnSpc>
                <a:spcPct val="90000"/>
              </a:lnSpc>
              <a:spcBef>
                <a:spcPts val="1000"/>
              </a:spcBef>
              <a:spcAft>
                <a:spcPts val="0"/>
              </a:spcAft>
              <a:buClr>
                <a:schemeClr val="dk1"/>
              </a:buClr>
              <a:buSzPts val="2400"/>
              <a:buAutoNum type="arabicPeriod"/>
            </a:pPr>
            <a:r>
              <a:rPr lang="en-US" sz="2400" dirty="0">
                <a:latin typeface="Times New Roman"/>
                <a:ea typeface="Times New Roman"/>
                <a:cs typeface="Times New Roman"/>
                <a:sym typeface="Times New Roman"/>
              </a:rPr>
              <a:t>ADD R2,D		;R2=R2+M[D]</a:t>
            </a:r>
            <a:endParaRPr dirty="0"/>
          </a:p>
          <a:p>
            <a:pPr marL="514350" lvl="0" indent="-514350" algn="l" rtl="0">
              <a:lnSpc>
                <a:spcPct val="90000"/>
              </a:lnSpc>
              <a:spcBef>
                <a:spcPts val="1000"/>
              </a:spcBef>
              <a:spcAft>
                <a:spcPts val="0"/>
              </a:spcAft>
              <a:buClr>
                <a:schemeClr val="dk1"/>
              </a:buClr>
              <a:buSzPts val="2400"/>
              <a:buAutoNum type="arabicPeriod"/>
            </a:pPr>
            <a:r>
              <a:rPr lang="en-US" sz="2400" dirty="0">
                <a:latin typeface="Times New Roman"/>
                <a:ea typeface="Times New Roman"/>
                <a:cs typeface="Times New Roman"/>
                <a:sym typeface="Times New Roman"/>
              </a:rPr>
              <a:t>MUL R1,R2	; R1=R1*R2</a:t>
            </a:r>
            <a:endParaRPr dirty="0"/>
          </a:p>
          <a:p>
            <a:pPr marL="514350" lvl="0" indent="-514350" algn="l" rtl="0">
              <a:lnSpc>
                <a:spcPct val="90000"/>
              </a:lnSpc>
              <a:spcBef>
                <a:spcPts val="1000"/>
              </a:spcBef>
              <a:spcAft>
                <a:spcPts val="0"/>
              </a:spcAft>
              <a:buClr>
                <a:schemeClr val="dk1"/>
              </a:buClr>
              <a:buSzPts val="2400"/>
              <a:buAutoNum type="arabicPeriod"/>
            </a:pPr>
            <a:r>
              <a:rPr lang="en-US" sz="2400" dirty="0">
                <a:latin typeface="Times New Roman"/>
                <a:ea typeface="Times New Roman"/>
                <a:cs typeface="Times New Roman"/>
                <a:sym typeface="Times New Roman"/>
              </a:rPr>
              <a:t>MOV X,R1		; M[X]=R1</a:t>
            </a:r>
            <a:endParaRPr sz="2400" dirty="0">
              <a:latin typeface="Times New Roman"/>
              <a:ea typeface="Times New Roman"/>
              <a:cs typeface="Times New Roman"/>
              <a:sym typeface="Times New Roman"/>
            </a:endParaRPr>
          </a:p>
        </p:txBody>
      </p:sp>
      <p:sp>
        <p:nvSpPr>
          <p:cNvPr id="974" name="Google Shape;974;p8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sp>
        <p:nvSpPr>
          <p:cNvPr id="975" name="Google Shape;975;p8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E09B7A34-830B-422C-8F69-75DA16B0A704}" type="datetime1">
              <a:rPr lang="en-US" smtClean="0"/>
              <a:t>8/12/2024</a:t>
            </a:fld>
            <a:endParaRPr/>
          </a:p>
        </p:txBody>
      </p:sp>
      <p:sp>
        <p:nvSpPr>
          <p:cNvPr id="976" name="Google Shape;976;p8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87"/>
          <p:cNvSpPr txBox="1">
            <a:spLocks noGrp="1"/>
          </p:cNvSpPr>
          <p:nvPr>
            <p:ph type="title"/>
          </p:nvPr>
        </p:nvSpPr>
        <p:spPr>
          <a:xfrm>
            <a:off x="1981768" y="745556"/>
            <a:ext cx="8229600" cy="7392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600"/>
              <a:buFont typeface="Times New Roman"/>
              <a:buNone/>
            </a:pPr>
            <a:r>
              <a:rPr lang="en-US" sz="3600">
                <a:solidFill>
                  <a:srgbClr val="FF0000"/>
                </a:solidFill>
                <a:latin typeface="Times New Roman"/>
                <a:ea typeface="Times New Roman"/>
                <a:cs typeface="Times New Roman"/>
                <a:sym typeface="Times New Roman"/>
              </a:rPr>
              <a:t>Three Address Instruction</a:t>
            </a:r>
            <a:endParaRPr/>
          </a:p>
        </p:txBody>
      </p:sp>
      <p:sp>
        <p:nvSpPr>
          <p:cNvPr id="982" name="Google Shape;982;p8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sp>
        <p:nvSpPr>
          <p:cNvPr id="983" name="Google Shape;983;p87"/>
          <p:cNvSpPr/>
          <p:nvPr/>
        </p:nvSpPr>
        <p:spPr>
          <a:xfrm>
            <a:off x="1905568" y="2276873"/>
            <a:ext cx="8382000" cy="3108543"/>
          </a:xfrm>
          <a:prstGeom prst="rect">
            <a:avLst/>
          </a:prstGeom>
          <a:noFill/>
          <a:ln>
            <a:noFill/>
          </a:ln>
        </p:spPr>
        <p:txBody>
          <a:bodyPr spcFirstLastPara="1" wrap="square" lIns="91425" tIns="45700" rIns="91425" bIns="45700" anchor="t" anchorCtr="0">
            <a:noAutofit/>
          </a:bodyPr>
          <a:lstStyle/>
          <a:p>
            <a:pPr marL="0" marR="0" lvl="0" indent="-1778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Syntax: Operation source 1, source 2, destination</a:t>
            </a:r>
            <a:endParaRPr/>
          </a:p>
          <a:p>
            <a:pPr marL="0" marR="0" lvl="0" indent="-1778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Eg: ADD D,E,F      </a:t>
            </a:r>
            <a:endParaRPr/>
          </a:p>
          <a:p>
            <a:pPr marL="0" marR="0" lvl="0" indent="0" algn="l" rtl="0">
              <a:spcBef>
                <a:spcPts val="0"/>
              </a:spcBef>
              <a:spcAft>
                <a:spcPts val="0"/>
              </a:spcAft>
              <a:buNone/>
            </a:pPr>
            <a:r>
              <a:rPr lang="en-US" sz="2800">
                <a:solidFill>
                  <a:schemeClr val="dk1"/>
                </a:solidFill>
                <a:latin typeface="Times New Roman"/>
                <a:ea typeface="Times New Roman"/>
                <a:cs typeface="Times New Roman"/>
                <a:sym typeface="Times New Roman"/>
              </a:rPr>
              <a:t>where D,E,F are memory location</a:t>
            </a:r>
            <a:endParaRPr/>
          </a:p>
          <a:p>
            <a:pPr marL="0" marR="0" lvl="0" indent="-1778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Advantage: Single instruction can perform the complete operation</a:t>
            </a:r>
            <a:endParaRPr/>
          </a:p>
          <a:p>
            <a:pPr marL="0" marR="0" lvl="0" indent="-177800" algn="l" rtl="0">
              <a:spcBef>
                <a:spcPts val="0"/>
              </a:spcBef>
              <a:spcAft>
                <a:spcPts val="0"/>
              </a:spcAft>
              <a:buClr>
                <a:schemeClr val="dk1"/>
              </a:buClr>
              <a:buSzPts val="2800"/>
              <a:buFont typeface="Times New Roman"/>
              <a:buChar char="•"/>
            </a:pPr>
            <a:r>
              <a:rPr lang="en-US" sz="2800">
                <a:solidFill>
                  <a:schemeClr val="dk1"/>
                </a:solidFill>
                <a:latin typeface="Times New Roman"/>
                <a:ea typeface="Times New Roman"/>
                <a:cs typeface="Times New Roman"/>
                <a:sym typeface="Times New Roman"/>
              </a:rPr>
              <a:t>Disadvantage : Instruction code will be too large to fit in one word location in memory</a:t>
            </a:r>
            <a:endParaRPr/>
          </a:p>
        </p:txBody>
      </p:sp>
      <p:sp>
        <p:nvSpPr>
          <p:cNvPr id="984" name="Google Shape;984;p8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5EC645DE-A5FB-415C-B088-072233C09779}" type="datetime1">
              <a:rPr lang="en-US" smtClean="0"/>
              <a:t>8/12/2024</a:t>
            </a:fld>
            <a:endParaRPr/>
          </a:p>
        </p:txBody>
      </p:sp>
      <p:sp>
        <p:nvSpPr>
          <p:cNvPr id="985" name="Google Shape;985;p8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p88"/>
          <p:cNvSpPr txBox="1">
            <a:spLocks noGrp="1"/>
          </p:cNvSpPr>
          <p:nvPr>
            <p:ph type="title"/>
          </p:nvPr>
        </p:nvSpPr>
        <p:spPr>
          <a:xfrm>
            <a:off x="1981768" y="745556"/>
            <a:ext cx="8229600" cy="7392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600"/>
              <a:buFont typeface="Times New Roman"/>
              <a:buNone/>
            </a:pPr>
            <a:r>
              <a:rPr lang="en-US" sz="3600">
                <a:solidFill>
                  <a:srgbClr val="FF0000"/>
                </a:solidFill>
                <a:latin typeface="Times New Roman"/>
                <a:ea typeface="Times New Roman"/>
                <a:cs typeface="Times New Roman"/>
                <a:sym typeface="Times New Roman"/>
              </a:rPr>
              <a:t>Three Address Instruction</a:t>
            </a:r>
            <a:endParaRPr/>
          </a:p>
        </p:txBody>
      </p:sp>
      <p:sp>
        <p:nvSpPr>
          <p:cNvPr id="991" name="Google Shape;991;p88"/>
          <p:cNvSpPr txBox="1">
            <a:spLocks noGrp="1"/>
          </p:cNvSpPr>
          <p:nvPr>
            <p:ph type="body" idx="1"/>
          </p:nvPr>
        </p:nvSpPr>
        <p:spPr>
          <a:xfrm>
            <a:off x="1981200" y="1600200"/>
            <a:ext cx="8229600" cy="495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dirty="0">
                <a:latin typeface="Times New Roman"/>
                <a:ea typeface="Times New Roman"/>
                <a:cs typeface="Times New Roman"/>
                <a:sym typeface="Times New Roman"/>
              </a:rPr>
              <a:t>This has three address field to specify a register   	or a memory location.</a:t>
            </a:r>
            <a:endParaRPr dirty="0"/>
          </a:p>
          <a:p>
            <a:pPr marL="0" lvl="0" indent="0" algn="l" rtl="0">
              <a:lnSpc>
                <a:spcPct val="90000"/>
              </a:lnSpc>
              <a:spcBef>
                <a:spcPts val="1000"/>
              </a:spcBef>
              <a:spcAft>
                <a:spcPts val="0"/>
              </a:spcAft>
              <a:buClr>
                <a:schemeClr val="dk1"/>
              </a:buClr>
              <a:buSzPts val="2400"/>
              <a:buNone/>
            </a:pPr>
            <a:r>
              <a:rPr lang="en-US" sz="2400" dirty="0">
                <a:latin typeface="Times New Roman"/>
                <a:ea typeface="Times New Roman"/>
                <a:cs typeface="Times New Roman"/>
                <a:sym typeface="Times New Roman"/>
              </a:rPr>
              <a:t>Program created are much short in size </a:t>
            </a:r>
            <a:endParaRPr dirty="0"/>
          </a:p>
          <a:p>
            <a:pPr marL="0" lvl="0" indent="0" algn="l" rtl="0">
              <a:lnSpc>
                <a:spcPct val="90000"/>
              </a:lnSpc>
              <a:spcBef>
                <a:spcPts val="1000"/>
              </a:spcBef>
              <a:spcAft>
                <a:spcPts val="0"/>
              </a:spcAft>
              <a:buClr>
                <a:schemeClr val="dk1"/>
              </a:buClr>
              <a:buSzPts val="2400"/>
              <a:buNone/>
            </a:pPr>
            <a:r>
              <a:rPr lang="en-US" sz="2400" dirty="0">
                <a:latin typeface="Times New Roman"/>
                <a:ea typeface="Times New Roman"/>
                <a:cs typeface="Times New Roman"/>
                <a:sym typeface="Times New Roman"/>
              </a:rPr>
              <a:t>creation of program much easier </a:t>
            </a:r>
            <a:endParaRPr dirty="0"/>
          </a:p>
          <a:p>
            <a:pPr marL="0" lvl="0" indent="0" algn="l" rtl="0">
              <a:lnSpc>
                <a:spcPct val="90000"/>
              </a:lnSpc>
              <a:spcBef>
                <a:spcPts val="1000"/>
              </a:spcBef>
              <a:spcAft>
                <a:spcPts val="0"/>
              </a:spcAft>
              <a:buClr>
                <a:schemeClr val="dk1"/>
              </a:buClr>
              <a:buSzPts val="2400"/>
              <a:buNone/>
            </a:pPr>
            <a:r>
              <a:rPr lang="en-US" sz="2400" dirty="0">
                <a:latin typeface="Times New Roman"/>
                <a:ea typeface="Times New Roman"/>
                <a:cs typeface="Times New Roman"/>
                <a:sym typeface="Times New Roman"/>
              </a:rPr>
              <a:t>does not mean that program will run much faster</a:t>
            </a:r>
            <a:endParaRPr dirty="0"/>
          </a:p>
          <a:p>
            <a:pPr marL="0" lvl="0" indent="0" algn="l" rtl="0">
              <a:lnSpc>
                <a:spcPct val="90000"/>
              </a:lnSpc>
              <a:spcBef>
                <a:spcPts val="1000"/>
              </a:spcBef>
              <a:spcAft>
                <a:spcPts val="0"/>
              </a:spcAft>
              <a:buClr>
                <a:schemeClr val="dk1"/>
              </a:buClr>
              <a:buSzPts val="2400"/>
              <a:buNone/>
            </a:pPr>
            <a:r>
              <a:rPr lang="en-US" sz="2400" dirty="0">
                <a:latin typeface="Times New Roman"/>
                <a:ea typeface="Times New Roman"/>
                <a:cs typeface="Times New Roman"/>
                <a:sym typeface="Times New Roman"/>
              </a:rPr>
              <a:t>Example:   </a:t>
            </a:r>
            <a:r>
              <a:rPr lang="en-US" sz="2400" dirty="0" err="1" smtClean="0">
                <a:latin typeface="Times New Roman"/>
                <a:ea typeface="Times New Roman"/>
                <a:cs typeface="Times New Roman"/>
                <a:sym typeface="Times New Roman"/>
              </a:rPr>
              <a:t>EvaluateX</a:t>
            </a:r>
            <a:r>
              <a:rPr lang="en-US" sz="2400" dirty="0" smtClean="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(A+B) * (C+D)</a:t>
            </a:r>
            <a:endParaRPr dirty="0"/>
          </a:p>
          <a:p>
            <a:pPr marL="0" lvl="0" indent="0" algn="l" rtl="0">
              <a:lnSpc>
                <a:spcPct val="90000"/>
              </a:lnSpc>
              <a:spcBef>
                <a:spcPts val="1000"/>
              </a:spcBef>
              <a:spcAft>
                <a:spcPts val="0"/>
              </a:spcAft>
              <a:buClr>
                <a:schemeClr val="dk1"/>
              </a:buClr>
              <a:buSzPts val="2400"/>
              <a:buNone/>
            </a:pPr>
            <a:r>
              <a:rPr lang="en-US" sz="2400" dirty="0">
                <a:latin typeface="Times New Roman"/>
                <a:ea typeface="Times New Roman"/>
                <a:cs typeface="Times New Roman"/>
                <a:sym typeface="Times New Roman"/>
              </a:rPr>
              <a:t>Using Three address Instruction</a:t>
            </a:r>
            <a:endParaRPr dirty="0"/>
          </a:p>
          <a:p>
            <a:pPr marL="514350" lvl="0" indent="-514350" algn="l" rtl="0">
              <a:lnSpc>
                <a:spcPct val="90000"/>
              </a:lnSpc>
              <a:spcBef>
                <a:spcPts val="1000"/>
              </a:spcBef>
              <a:spcAft>
                <a:spcPts val="0"/>
              </a:spcAft>
              <a:buClr>
                <a:schemeClr val="dk1"/>
              </a:buClr>
              <a:buSzPts val="2400"/>
              <a:buAutoNum type="arabicPeriod"/>
            </a:pPr>
            <a:r>
              <a:rPr lang="en-US" sz="2400" dirty="0">
                <a:latin typeface="Times New Roman"/>
                <a:ea typeface="Times New Roman"/>
                <a:cs typeface="Times New Roman"/>
                <a:sym typeface="Times New Roman"/>
              </a:rPr>
              <a:t>ADD R1,A,B		;R1=M[A]+M[B]</a:t>
            </a:r>
            <a:endParaRPr dirty="0"/>
          </a:p>
          <a:p>
            <a:pPr marL="514350" lvl="0" indent="-514350" algn="l" rtl="0">
              <a:lnSpc>
                <a:spcPct val="90000"/>
              </a:lnSpc>
              <a:spcBef>
                <a:spcPts val="1000"/>
              </a:spcBef>
              <a:spcAft>
                <a:spcPts val="0"/>
              </a:spcAft>
              <a:buClr>
                <a:schemeClr val="dk1"/>
              </a:buClr>
              <a:buSzPts val="2400"/>
              <a:buFont typeface="Arial"/>
              <a:buAutoNum type="arabicPeriod"/>
            </a:pPr>
            <a:r>
              <a:rPr lang="en-US" sz="2400" dirty="0">
                <a:latin typeface="Times New Roman"/>
                <a:ea typeface="Times New Roman"/>
                <a:cs typeface="Times New Roman"/>
                <a:sym typeface="Times New Roman"/>
              </a:rPr>
              <a:t>ADD R2,C,D		;R2=M[C]+M[D]</a:t>
            </a:r>
            <a:endParaRPr dirty="0"/>
          </a:p>
          <a:p>
            <a:pPr marL="514350" lvl="0" indent="-514350" algn="l" rtl="0">
              <a:lnSpc>
                <a:spcPct val="90000"/>
              </a:lnSpc>
              <a:spcBef>
                <a:spcPts val="1000"/>
              </a:spcBef>
              <a:spcAft>
                <a:spcPts val="0"/>
              </a:spcAft>
              <a:buClr>
                <a:schemeClr val="dk1"/>
              </a:buClr>
              <a:buSzPts val="2400"/>
              <a:buFont typeface="Arial"/>
              <a:buAutoNum type="arabicPeriod"/>
            </a:pPr>
            <a:r>
              <a:rPr lang="en-US" sz="2400" dirty="0">
                <a:latin typeface="Times New Roman"/>
                <a:ea typeface="Times New Roman"/>
                <a:cs typeface="Times New Roman"/>
                <a:sym typeface="Times New Roman"/>
              </a:rPr>
              <a:t>MUL X,R1,R2		;M[X]=R1*R2</a:t>
            </a:r>
            <a:endParaRPr dirty="0"/>
          </a:p>
          <a:p>
            <a:pPr marL="514350" lvl="0" indent="-361950" algn="l" rtl="0">
              <a:lnSpc>
                <a:spcPct val="90000"/>
              </a:lnSpc>
              <a:spcBef>
                <a:spcPts val="1000"/>
              </a:spcBef>
              <a:spcAft>
                <a:spcPts val="0"/>
              </a:spcAft>
              <a:buClr>
                <a:schemeClr val="dk1"/>
              </a:buClr>
              <a:buSzPts val="2400"/>
              <a:buNone/>
            </a:pPr>
            <a:endParaRPr sz="2400" dirty="0">
              <a:latin typeface="Times New Roman"/>
              <a:ea typeface="Times New Roman"/>
              <a:cs typeface="Times New Roman"/>
              <a:sym typeface="Times New Roman"/>
            </a:endParaRPr>
          </a:p>
        </p:txBody>
      </p:sp>
      <p:sp>
        <p:nvSpPr>
          <p:cNvPr id="992" name="Google Shape;992;p8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sp>
        <p:nvSpPr>
          <p:cNvPr id="993" name="Google Shape;993;p8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A1E2B5CC-719F-4DF1-9248-84A3D984E713}" type="datetime1">
              <a:rPr lang="en-US" smtClean="0"/>
              <a:t>8/12/2024</a:t>
            </a:fld>
            <a:endParaRPr/>
          </a:p>
        </p:txBody>
      </p:sp>
      <p:sp>
        <p:nvSpPr>
          <p:cNvPr id="994" name="Google Shape;994;p8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89"/>
          <p:cNvSpPr txBox="1">
            <a:spLocks noGrp="1"/>
          </p:cNvSpPr>
          <p:nvPr>
            <p:ph type="title"/>
          </p:nvPr>
        </p:nvSpPr>
        <p:spPr>
          <a:xfrm>
            <a:off x="1981200" y="980728"/>
            <a:ext cx="8229600" cy="43691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600"/>
              <a:buFont typeface="Times New Roman"/>
              <a:buNone/>
            </a:pPr>
            <a:r>
              <a:rPr lang="en-US" sz="3600">
                <a:solidFill>
                  <a:srgbClr val="FF0000"/>
                </a:solidFill>
                <a:latin typeface="Times New Roman"/>
                <a:ea typeface="Times New Roman"/>
                <a:cs typeface="Times New Roman"/>
                <a:sym typeface="Times New Roman"/>
              </a:rPr>
              <a:t/>
            </a:r>
            <a:br>
              <a:rPr lang="en-US" sz="3600">
                <a:solidFill>
                  <a:srgbClr val="FF0000"/>
                </a:solidFill>
                <a:latin typeface="Times New Roman"/>
                <a:ea typeface="Times New Roman"/>
                <a:cs typeface="Times New Roman"/>
                <a:sym typeface="Times New Roman"/>
              </a:rPr>
            </a:br>
            <a:r>
              <a:rPr lang="en-US" sz="3600">
                <a:solidFill>
                  <a:srgbClr val="FF0000"/>
                </a:solidFill>
                <a:latin typeface="Times New Roman"/>
                <a:ea typeface="Times New Roman"/>
                <a:cs typeface="Times New Roman"/>
                <a:sym typeface="Times New Roman"/>
              </a:rPr>
              <a:t>Instruction Cycle</a:t>
            </a:r>
            <a:br>
              <a:rPr lang="en-US" sz="3600">
                <a:solidFill>
                  <a:srgbClr val="FF0000"/>
                </a:solidFill>
                <a:latin typeface="Times New Roman"/>
                <a:ea typeface="Times New Roman"/>
                <a:cs typeface="Times New Roman"/>
                <a:sym typeface="Times New Roman"/>
              </a:rPr>
            </a:br>
            <a:endParaRPr sz="3600">
              <a:solidFill>
                <a:srgbClr val="FF0000"/>
              </a:solidFill>
              <a:latin typeface="Times New Roman"/>
              <a:ea typeface="Times New Roman"/>
              <a:cs typeface="Times New Roman"/>
              <a:sym typeface="Times New Roman"/>
            </a:endParaRPr>
          </a:p>
        </p:txBody>
      </p:sp>
      <p:sp>
        <p:nvSpPr>
          <p:cNvPr id="1000" name="Google Shape;1000;p8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the basic operational process of a computer.</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also known as </a:t>
            </a:r>
            <a:r>
              <a:rPr lang="en-US" b="1">
                <a:latin typeface="Times New Roman"/>
                <a:ea typeface="Times New Roman"/>
                <a:cs typeface="Times New Roman"/>
                <a:sym typeface="Times New Roman"/>
              </a:rPr>
              <a:t>fetch-decode-execute cycle</a:t>
            </a:r>
            <a:r>
              <a:rPr lang="en-US">
                <a:latin typeface="Times New Roman"/>
                <a:ea typeface="Times New Roman"/>
                <a:cs typeface="Times New Roman"/>
                <a:sym typeface="Times New Roman"/>
              </a:rPr>
              <a:t> </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This process is repeated continuously by CPU from boot up to shut down of computer. </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steps that occur during an instruction cycle:</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	</a:t>
            </a:r>
            <a:r>
              <a:rPr lang="en-US" b="1">
                <a:latin typeface="Times New Roman"/>
                <a:ea typeface="Times New Roman"/>
                <a:cs typeface="Times New Roman"/>
                <a:sym typeface="Times New Roman"/>
              </a:rPr>
              <a:t>1. Fetch the Instruction</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2. Decode the Instruction</a:t>
            </a:r>
            <a:r>
              <a:rPr lang="en-US">
                <a:latin typeface="Times New Roman"/>
                <a:ea typeface="Times New Roman"/>
                <a:cs typeface="Times New Roman"/>
                <a:sym typeface="Times New Roman"/>
              </a:rPr>
              <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	</a:t>
            </a:r>
            <a:r>
              <a:rPr lang="en-US" b="1">
                <a:latin typeface="Times New Roman"/>
                <a:ea typeface="Times New Roman"/>
                <a:cs typeface="Times New Roman"/>
                <a:sym typeface="Times New Roman"/>
              </a:rPr>
              <a:t>3. Read the Effective Address</a:t>
            </a:r>
            <a:endParaRPr/>
          </a:p>
          <a:p>
            <a:pPr marL="0" lvl="0" indent="0" algn="l" rtl="0">
              <a:lnSpc>
                <a:spcPct val="90000"/>
              </a:lnSpc>
              <a:spcBef>
                <a:spcPts val="1000"/>
              </a:spcBef>
              <a:spcAft>
                <a:spcPts val="0"/>
              </a:spcAft>
              <a:buClr>
                <a:schemeClr val="dk1"/>
              </a:buClr>
              <a:buSzPts val="2800"/>
              <a:buNone/>
            </a:pPr>
            <a:r>
              <a:rPr lang="en-US" b="1">
                <a:latin typeface="Times New Roman"/>
                <a:ea typeface="Times New Roman"/>
                <a:cs typeface="Times New Roman"/>
                <a:sym typeface="Times New Roman"/>
              </a:rPr>
              <a:t>	4. Execute the Instruction</a:t>
            </a:r>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1001" name="Google Shape;1001;p8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sp>
        <p:nvSpPr>
          <p:cNvPr id="1002" name="Google Shape;1002;p8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60903F25-B53F-4659-AF57-2102E9DAED00}" type="datetime1">
              <a:rPr lang="en-US" smtClean="0"/>
              <a:t>8/12/2024</a:t>
            </a:fld>
            <a:endParaRPr/>
          </a:p>
        </p:txBody>
      </p:sp>
      <p:sp>
        <p:nvSpPr>
          <p:cNvPr id="1003" name="Google Shape;1003;p8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90"/>
          <p:cNvSpPr txBox="1">
            <a:spLocks noGrp="1"/>
          </p:cNvSpPr>
          <p:nvPr>
            <p:ph type="body" idx="1"/>
          </p:nvPr>
        </p:nvSpPr>
        <p:spPr>
          <a:xfrm>
            <a:off x="1703512" y="980728"/>
            <a:ext cx="8712968" cy="547260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2400" b="1">
                <a:latin typeface="Times New Roman"/>
                <a:ea typeface="Times New Roman"/>
                <a:cs typeface="Times New Roman"/>
                <a:sym typeface="Times New Roman"/>
              </a:rPr>
              <a:t>1.  Fetch the Instruction</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The instruction is fetched from memory address that is stored in PC(Program Counter) and stored in the (instruction register) IR.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At the end of the fetch operation, PC is incremented by 1 and it then points to the next instruction to be executed.</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2.  </a:t>
            </a:r>
            <a:r>
              <a:rPr lang="en-US" sz="2400" b="1">
                <a:latin typeface="Times New Roman"/>
                <a:ea typeface="Times New Roman"/>
                <a:cs typeface="Times New Roman"/>
                <a:sym typeface="Times New Roman"/>
              </a:rPr>
              <a:t>Decode the Instruction</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The instruction in the IR is decoded(Interpreted).</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3. Read the Effective Address</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If the instruction has an indirect address, the effective address is read from the memory.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Otherwise operands are directly read in case of immediate operand instruction.</a:t>
            </a:r>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r>
            <a:br>
              <a:rPr lang="en-US"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p:txBody>
      </p:sp>
      <p:sp>
        <p:nvSpPr>
          <p:cNvPr id="1009" name="Google Shape;1009;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sp>
        <p:nvSpPr>
          <p:cNvPr id="1010" name="Google Shape;1010;p9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783EDA68-A34A-4CE5-8B17-1C7648ACD569}" type="datetime1">
              <a:rPr lang="en-US" smtClean="0"/>
              <a:t>8/12/2024</a:t>
            </a:fld>
            <a:endParaRPr/>
          </a:p>
        </p:txBody>
      </p:sp>
      <p:sp>
        <p:nvSpPr>
          <p:cNvPr id="1011" name="Google Shape;1011;p9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91"/>
          <p:cNvSpPr txBox="1">
            <a:spLocks noGrp="1"/>
          </p:cNvSpPr>
          <p:nvPr>
            <p:ph type="body" idx="1"/>
          </p:nvPr>
        </p:nvSpPr>
        <p:spPr>
          <a:xfrm>
            <a:off x="1981200" y="1196753"/>
            <a:ext cx="8229600" cy="492941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latin typeface="Times New Roman"/>
                <a:ea typeface="Times New Roman"/>
                <a:cs typeface="Times New Roman"/>
                <a:sym typeface="Times New Roman"/>
              </a:rPr>
              <a:t>4. Execute the Instruction</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The Control Unit passes the information in the form of control signals to the functional unit of CPU. </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The result generated is stored in main memory or sent to an output device.</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The cycle is then repeated by fetching the next instruction. </a:t>
            </a:r>
            <a:endParaRPr/>
          </a:p>
          <a:p>
            <a:pPr marL="0" lvl="0" indent="0" algn="l" rtl="0">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Thus in this way the instruction cycle is repeated continuously.</a:t>
            </a:r>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1017" name="Google Shape;1017;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sp>
        <p:nvSpPr>
          <p:cNvPr id="1018" name="Google Shape;1018;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B3B44F09-B8BA-4899-A54A-FD456CD0449D}" type="datetime1">
              <a:rPr lang="en-US" smtClean="0"/>
              <a:t>8/12/2024</a:t>
            </a:fld>
            <a:endParaRPr/>
          </a:p>
        </p:txBody>
      </p:sp>
      <p:sp>
        <p:nvSpPr>
          <p:cNvPr id="1019" name="Google Shape;1019;p9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p92"/>
          <p:cNvSpPr txBox="1">
            <a:spLocks noGrp="1"/>
          </p:cNvSpPr>
          <p:nvPr>
            <p:ph type="title"/>
          </p:nvPr>
        </p:nvSpPr>
        <p:spPr>
          <a:xfrm>
            <a:off x="1981200" y="1005111"/>
            <a:ext cx="8229600" cy="36490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2800"/>
              <a:buFont typeface="Times New Roman"/>
              <a:buNone/>
            </a:pPr>
            <a:r>
              <a:rPr lang="en-US" sz="2800">
                <a:solidFill>
                  <a:srgbClr val="FF0000"/>
                </a:solidFill>
                <a:latin typeface="Times New Roman"/>
                <a:ea typeface="Times New Roman"/>
                <a:cs typeface="Times New Roman"/>
                <a:sym typeface="Times New Roman"/>
              </a:rPr>
              <a:t>Instruction execution and straight line sequencing </a:t>
            </a:r>
            <a:endParaRPr sz="2800">
              <a:solidFill>
                <a:srgbClr val="FF0000"/>
              </a:solidFill>
              <a:latin typeface="Times New Roman"/>
              <a:ea typeface="Times New Roman"/>
              <a:cs typeface="Times New Roman"/>
              <a:sym typeface="Times New Roman"/>
            </a:endParaRPr>
          </a:p>
        </p:txBody>
      </p:sp>
      <p:sp>
        <p:nvSpPr>
          <p:cNvPr id="1025" name="Google Shape;1025;p92"/>
          <p:cNvSpPr txBox="1">
            <a:spLocks noGrp="1"/>
          </p:cNvSpPr>
          <p:nvPr>
            <p:ph type="body" idx="1"/>
          </p:nvPr>
        </p:nvSpPr>
        <p:spPr>
          <a:xfrm>
            <a:off x="1981200" y="1600200"/>
            <a:ext cx="8229600" cy="4853136"/>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1600"/>
              <a:buChar char="•"/>
            </a:pPr>
            <a:r>
              <a:rPr lang="en-US" sz="1600">
                <a:latin typeface="Times New Roman"/>
                <a:ea typeface="Times New Roman"/>
                <a:cs typeface="Times New Roman"/>
                <a:sym typeface="Times New Roman"/>
              </a:rPr>
              <a:t>Instruction execution needs the following steps, which are</a:t>
            </a:r>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PC (program counter) register of the processor gives the address of the instruction which needs to be fetched from the memory.</a:t>
            </a:r>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If the instruction is fetched then, the instruction opcode is decoded. On decoding, the processor identifies the number of operands. If there is any operand to be fetched from the memory, then that operand address is calculated.</a:t>
            </a:r>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Operands are fetched from the memory. If there is more than one operand, then the operand fetching process may be repeated (i.e. address calculation and fetching operands).</a:t>
            </a:r>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After this, the data operation is performed on the operands, and a result is generated.</a:t>
            </a:r>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If the result has to be stored in a register, the instructions end here.</a:t>
            </a:r>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If the destination is memory, then first the destination address has to be calculated. Then the result is then stored in the memory. If there are multiple results which need to be stored inside the memory, then this process may repeat (i.e. destination address calculation and store result).</a:t>
            </a:r>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Now the current instructions have been executed. Side by side, the PC is incremented to calculate the address of the next instruction.</a:t>
            </a:r>
            <a:endParaRPr/>
          </a:p>
          <a:p>
            <a:pPr marL="228600" lvl="0" indent="-228600" algn="l"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The above instruction cycle then repeats for further instructions.</a:t>
            </a:r>
            <a:endParaRPr/>
          </a:p>
          <a:p>
            <a:pPr marL="228600" lvl="0" indent="-127000" algn="l" rtl="0">
              <a:lnSpc>
                <a:spcPct val="90000"/>
              </a:lnSpc>
              <a:spcBef>
                <a:spcPts val="1000"/>
              </a:spcBef>
              <a:spcAft>
                <a:spcPts val="0"/>
              </a:spcAft>
              <a:buClr>
                <a:schemeClr val="dk1"/>
              </a:buClr>
              <a:buSzPts val="1600"/>
              <a:buNone/>
            </a:pPr>
            <a:endParaRPr sz="1600">
              <a:latin typeface="Times New Roman"/>
              <a:ea typeface="Times New Roman"/>
              <a:cs typeface="Times New Roman"/>
              <a:sym typeface="Times New Roman"/>
            </a:endParaRPr>
          </a:p>
        </p:txBody>
      </p:sp>
      <p:sp>
        <p:nvSpPr>
          <p:cNvPr id="1026" name="Google Shape;1026;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sp>
        <p:nvSpPr>
          <p:cNvPr id="1027" name="Google Shape;1027;p9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FF29D4AE-4FD4-4E78-8C9E-869729ACA6F2}" type="datetime1">
              <a:rPr lang="en-US" smtClean="0"/>
              <a:t>8/12/2024</a:t>
            </a:fld>
            <a:endParaRPr/>
          </a:p>
        </p:txBody>
      </p:sp>
      <p:sp>
        <p:nvSpPr>
          <p:cNvPr id="1028" name="Google Shape;1028;p9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93"/>
          <p:cNvSpPr txBox="1">
            <a:spLocks noGrp="1"/>
          </p:cNvSpPr>
          <p:nvPr>
            <p:ph type="title"/>
          </p:nvPr>
        </p:nvSpPr>
        <p:spPr>
          <a:xfrm>
            <a:off x="1981200" y="980728"/>
            <a:ext cx="8229600" cy="43691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ct val="100000"/>
              <a:buFont typeface="Times New Roman"/>
              <a:buNone/>
            </a:pPr>
            <a:r>
              <a:rPr lang="en-US">
                <a:solidFill>
                  <a:srgbClr val="FF0000"/>
                </a:solidFill>
                <a:latin typeface="Times New Roman"/>
                <a:ea typeface="Times New Roman"/>
                <a:cs typeface="Times New Roman"/>
                <a:sym typeface="Times New Roman"/>
              </a:rPr>
              <a:t>Straight line sequencing</a:t>
            </a:r>
            <a:endParaRPr/>
          </a:p>
        </p:txBody>
      </p:sp>
      <p:sp>
        <p:nvSpPr>
          <p:cNvPr id="1034" name="Google Shape;1034;p9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Straight line sequencing means the instruction of a program is executed in a sequential manner(i.e. every time PC is incremented by a fixed offset).</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And no branch address is loaded on the PC.</a:t>
            </a:r>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1035" name="Google Shape;1035;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sp>
        <p:nvSpPr>
          <p:cNvPr id="1036" name="Google Shape;1036;p9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46FDA1AB-A623-41BB-BC47-0B60D274F705}" type="datetime1">
              <a:rPr lang="en-US" smtClean="0"/>
              <a:t>8/12/2024</a:t>
            </a:fld>
            <a:endParaRPr/>
          </a:p>
        </p:txBody>
      </p:sp>
      <p:sp>
        <p:nvSpPr>
          <p:cNvPr id="1037" name="Google Shape;1037;p9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pic>
        <p:nvPicPr>
          <p:cNvPr id="1043" name="Google Shape;1043;p94" descr="https://media.geeksforgeeks.org/wp-content/uploads/20210615073745/Untitleddrawing18-660x461.png"/>
          <p:cNvPicPr preferRelativeResize="0"/>
          <p:nvPr/>
        </p:nvPicPr>
        <p:blipFill rotWithShape="1">
          <a:blip r:embed="rId3">
            <a:alphaModFix/>
          </a:blip>
          <a:srcRect/>
          <a:stretch/>
        </p:blipFill>
        <p:spPr>
          <a:xfrm>
            <a:off x="6600056" y="1052736"/>
            <a:ext cx="4035784" cy="5303614"/>
          </a:xfrm>
          <a:prstGeom prst="rect">
            <a:avLst/>
          </a:prstGeom>
          <a:noFill/>
          <a:ln>
            <a:noFill/>
          </a:ln>
        </p:spPr>
      </p:pic>
      <p:sp>
        <p:nvSpPr>
          <p:cNvPr id="1044" name="Google Shape;1044;p94"/>
          <p:cNvSpPr/>
          <p:nvPr/>
        </p:nvSpPr>
        <p:spPr>
          <a:xfrm>
            <a:off x="1847528" y="1052737"/>
            <a:ext cx="4572000" cy="563231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FF0000"/>
                </a:solidFill>
                <a:latin typeface="Times New Roman"/>
                <a:ea typeface="Times New Roman"/>
                <a:cs typeface="Times New Roman"/>
                <a:sym typeface="Times New Roman"/>
              </a:rPr>
              <a:t>Example 1: </a:t>
            </a:r>
            <a:endParaRPr/>
          </a:p>
          <a:p>
            <a:pPr marL="0" marR="0" lvl="0" indent="-114300" algn="l" rtl="0">
              <a:spcBef>
                <a:spcPts val="0"/>
              </a:spcBef>
              <a:spcAft>
                <a:spcPts val="0"/>
              </a:spcAft>
              <a:buClr>
                <a:srgbClr val="273239"/>
              </a:buClr>
              <a:buSzPts val="1800"/>
              <a:buFont typeface="Arial"/>
              <a:buChar char="•"/>
            </a:pPr>
            <a:r>
              <a:rPr lang="en-US" sz="1800">
                <a:solidFill>
                  <a:srgbClr val="273239"/>
                </a:solidFill>
                <a:latin typeface="Times New Roman"/>
                <a:ea typeface="Times New Roman"/>
                <a:cs typeface="Times New Roman"/>
                <a:sym typeface="Times New Roman"/>
              </a:rPr>
              <a:t>programs and data are stored in the same memory, i.e. von Neumann architecture.</a:t>
            </a:r>
            <a:endParaRPr/>
          </a:p>
          <a:p>
            <a:pPr marL="0" marR="0" lvl="0" indent="-114300" algn="l" rtl="0">
              <a:spcBef>
                <a:spcPts val="0"/>
              </a:spcBef>
              <a:spcAft>
                <a:spcPts val="0"/>
              </a:spcAft>
              <a:buClr>
                <a:srgbClr val="273239"/>
              </a:buClr>
              <a:buSzPts val="1800"/>
              <a:buFont typeface="Arial"/>
              <a:buChar char="•"/>
            </a:pPr>
            <a:r>
              <a:rPr lang="en-US" sz="1800">
                <a:solidFill>
                  <a:srgbClr val="273239"/>
                </a:solidFill>
                <a:latin typeface="Times New Roman"/>
                <a:ea typeface="Times New Roman"/>
                <a:cs typeface="Times New Roman"/>
                <a:sym typeface="Times New Roman"/>
              </a:rPr>
              <a:t>First instruction of a program is stored at address i. </a:t>
            </a:r>
            <a:endParaRPr/>
          </a:p>
          <a:p>
            <a:pPr marL="0" marR="0" lvl="0" indent="-114300" algn="l" rtl="0">
              <a:spcBef>
                <a:spcPts val="0"/>
              </a:spcBef>
              <a:spcAft>
                <a:spcPts val="0"/>
              </a:spcAft>
              <a:buClr>
                <a:srgbClr val="273239"/>
              </a:buClr>
              <a:buSzPts val="1800"/>
              <a:buFont typeface="Arial"/>
              <a:buChar char="•"/>
            </a:pPr>
            <a:r>
              <a:rPr lang="en-US" sz="1800">
                <a:solidFill>
                  <a:srgbClr val="273239"/>
                </a:solidFill>
                <a:latin typeface="Times New Roman"/>
                <a:ea typeface="Times New Roman"/>
                <a:cs typeface="Times New Roman"/>
                <a:sym typeface="Times New Roman"/>
              </a:rPr>
              <a:t>PC gives address i and instruction stored at that address i is fetched from the memory and then decoded and then operand </a:t>
            </a:r>
            <a:endParaRPr/>
          </a:p>
          <a:p>
            <a:pPr marL="0" marR="0" lvl="0" indent="-114300" algn="l" rtl="0">
              <a:spcBef>
                <a:spcPts val="0"/>
              </a:spcBef>
              <a:spcAft>
                <a:spcPts val="0"/>
              </a:spcAft>
              <a:buClr>
                <a:srgbClr val="273239"/>
              </a:buClr>
              <a:buSzPts val="1800"/>
              <a:buFont typeface="Arial"/>
              <a:buChar char="•"/>
            </a:pPr>
            <a:r>
              <a:rPr lang="en-US" sz="1800">
                <a:solidFill>
                  <a:srgbClr val="273239"/>
                </a:solidFill>
                <a:latin typeface="Times New Roman"/>
                <a:ea typeface="Times New Roman"/>
                <a:cs typeface="Times New Roman"/>
                <a:sym typeface="Times New Roman"/>
              </a:rPr>
              <a:t>A is fetched from the memory and stored in a temporary register and then the instruction is executed(i.e. content of address A is copied into processor register R0).</a:t>
            </a:r>
            <a:endParaRPr/>
          </a:p>
          <a:p>
            <a:pPr marL="0" marR="0" lvl="0" indent="-114300" algn="l" rtl="0">
              <a:spcBef>
                <a:spcPts val="0"/>
              </a:spcBef>
              <a:spcAft>
                <a:spcPts val="0"/>
              </a:spcAft>
              <a:buClr>
                <a:srgbClr val="273239"/>
              </a:buClr>
              <a:buSzPts val="1800"/>
              <a:buFont typeface="Arial"/>
              <a:buChar char="•"/>
            </a:pPr>
            <a:r>
              <a:rPr lang="en-US" sz="1800">
                <a:solidFill>
                  <a:srgbClr val="273239"/>
                </a:solidFill>
                <a:latin typeface="Times New Roman"/>
                <a:ea typeface="Times New Roman"/>
                <a:cs typeface="Times New Roman"/>
                <a:sym typeface="Times New Roman"/>
              </a:rPr>
              <a:t>the PC gets incremented by 4(i.e. it contains the address of the next instruction) because the instruction and memory segment is of 4 bytes. </a:t>
            </a:r>
            <a:endParaRPr/>
          </a:p>
          <a:p>
            <a:pPr marL="0" marR="0" lvl="0" indent="-114300" algn="l" rtl="0">
              <a:spcBef>
                <a:spcPts val="0"/>
              </a:spcBef>
              <a:spcAft>
                <a:spcPts val="0"/>
              </a:spcAft>
              <a:buClr>
                <a:srgbClr val="273239"/>
              </a:buClr>
              <a:buSzPts val="1800"/>
              <a:buFont typeface="Arial"/>
              <a:buChar char="•"/>
            </a:pPr>
            <a:r>
              <a:rPr lang="en-US" sz="1800">
                <a:solidFill>
                  <a:srgbClr val="273239"/>
                </a:solidFill>
                <a:latin typeface="Times New Roman"/>
                <a:ea typeface="Times New Roman"/>
                <a:cs typeface="Times New Roman"/>
                <a:sym typeface="Times New Roman"/>
              </a:rPr>
              <a:t>So the instruction at address i is executed.</a:t>
            </a:r>
            <a:endParaRPr/>
          </a:p>
          <a:p>
            <a:pPr marL="0" marR="0" lvl="0" indent="-114300" algn="l" rtl="0">
              <a:spcBef>
                <a:spcPts val="0"/>
              </a:spcBef>
              <a:spcAft>
                <a:spcPts val="0"/>
              </a:spcAft>
              <a:buClr>
                <a:srgbClr val="273239"/>
              </a:buClr>
              <a:buSzPts val="1800"/>
              <a:buFont typeface="Arial"/>
              <a:buChar char="•"/>
            </a:pPr>
            <a:r>
              <a:rPr lang="en-US" sz="1800">
                <a:solidFill>
                  <a:srgbClr val="273239"/>
                </a:solidFill>
                <a:latin typeface="Times New Roman"/>
                <a:ea typeface="Times New Roman"/>
                <a:cs typeface="Times New Roman"/>
                <a:sym typeface="Times New Roman"/>
              </a:rPr>
              <a:t>So every time, the PC is incremented by 4. Therefore, the program is executing in a sequential manner. And this process is called straight line sequencing.</a:t>
            </a:r>
            <a:endParaRPr/>
          </a:p>
        </p:txBody>
      </p:sp>
      <p:sp>
        <p:nvSpPr>
          <p:cNvPr id="1045" name="Google Shape;1045;p9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66CD38F6-9466-48D1-B878-01ED9A8E0873}" type="datetime1">
              <a:rPr lang="en-US" smtClean="0"/>
              <a:t>8/12/2024</a:t>
            </a:fld>
            <a:endParaRPr/>
          </a:p>
        </p:txBody>
      </p:sp>
      <p:sp>
        <p:nvSpPr>
          <p:cNvPr id="1046" name="Google Shape;1046;p9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pic>
        <p:nvPicPr>
          <p:cNvPr id="1052" name="Google Shape;1052;p95" descr="https://media.geeksforgeeks.org/wp-content/uploads/20210615073758/Untitleddrawing19-660x541.png"/>
          <p:cNvPicPr preferRelativeResize="0"/>
          <p:nvPr/>
        </p:nvPicPr>
        <p:blipFill rotWithShape="1">
          <a:blip r:embed="rId3">
            <a:alphaModFix/>
          </a:blip>
          <a:srcRect/>
          <a:stretch/>
        </p:blipFill>
        <p:spPr>
          <a:xfrm>
            <a:off x="6456040" y="1203324"/>
            <a:ext cx="3982244" cy="5153026"/>
          </a:xfrm>
          <a:prstGeom prst="rect">
            <a:avLst/>
          </a:prstGeom>
          <a:noFill/>
          <a:ln>
            <a:noFill/>
          </a:ln>
        </p:spPr>
      </p:pic>
      <p:sp>
        <p:nvSpPr>
          <p:cNvPr id="1053" name="Google Shape;1053;p95"/>
          <p:cNvSpPr/>
          <p:nvPr/>
        </p:nvSpPr>
        <p:spPr>
          <a:xfrm>
            <a:off x="1775520" y="1052737"/>
            <a:ext cx="4464496" cy="3170099"/>
          </a:xfrm>
          <a:prstGeom prst="rect">
            <a:avLst/>
          </a:prstGeom>
          <a:noFill/>
          <a:ln>
            <a:noFill/>
          </a:ln>
        </p:spPr>
        <p:txBody>
          <a:bodyPr spcFirstLastPara="1" wrap="square" lIns="91425" tIns="45700" rIns="91425" bIns="45700" anchor="t" anchorCtr="0">
            <a:noAutofit/>
          </a:bodyPr>
          <a:lstStyle/>
          <a:p>
            <a:pPr marL="0" marR="0" lvl="0" indent="-127000" algn="just" rtl="0">
              <a:spcBef>
                <a:spcPts val="0"/>
              </a:spcBef>
              <a:spcAft>
                <a:spcPts val="0"/>
              </a:spcAft>
              <a:buClr>
                <a:srgbClr val="273239"/>
              </a:buClr>
              <a:buSzPts val="2000"/>
              <a:buFont typeface="Arial"/>
              <a:buChar char="•"/>
            </a:pPr>
            <a:r>
              <a:rPr lang="en-US" sz="2000">
                <a:solidFill>
                  <a:srgbClr val="273239"/>
                </a:solidFill>
                <a:latin typeface="Times New Roman"/>
                <a:ea typeface="Times New Roman"/>
                <a:cs typeface="Times New Roman"/>
                <a:sym typeface="Times New Roman"/>
              </a:rPr>
              <a:t>The addresses of the memory locations containing the n numbers are represented as NUM1,NUM2…..NUMn(i.e. NUM1 address includes first number).</a:t>
            </a:r>
            <a:endParaRPr/>
          </a:p>
          <a:p>
            <a:pPr marL="0" marR="0" lvl="0" indent="-127000" algn="just" rtl="0">
              <a:spcBef>
                <a:spcPts val="0"/>
              </a:spcBef>
              <a:spcAft>
                <a:spcPts val="0"/>
              </a:spcAft>
              <a:buClr>
                <a:srgbClr val="273239"/>
              </a:buClr>
              <a:buSzPts val="2000"/>
              <a:buFont typeface="Arial"/>
              <a:buChar char="•"/>
            </a:pPr>
            <a:r>
              <a:rPr lang="en-US" sz="2000">
                <a:solidFill>
                  <a:srgbClr val="273239"/>
                </a:solidFill>
                <a:latin typeface="Times New Roman"/>
                <a:ea typeface="Times New Roman"/>
                <a:cs typeface="Times New Roman"/>
                <a:sym typeface="Times New Roman"/>
              </a:rPr>
              <a:t>The first number is stored into processor register R0. And every other number is added to register R0. Finally, when the program ends(i.e. n numbers are added, the result is placed in memory location SUM</a:t>
            </a:r>
            <a:endParaRPr/>
          </a:p>
        </p:txBody>
      </p:sp>
      <p:sp>
        <p:nvSpPr>
          <p:cNvPr id="1054" name="Google Shape;1054;p9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F16E482B-45D1-4B8F-ADB6-A5FC8EF22B84}" type="datetime1">
              <a:rPr lang="en-US" smtClean="0"/>
              <a:t>8/12/2024</a:t>
            </a:fld>
            <a:endParaRPr/>
          </a:p>
        </p:txBody>
      </p:sp>
      <p:sp>
        <p:nvSpPr>
          <p:cNvPr id="1055" name="Google Shape;1055;p9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sp>
        <p:nvSpPr>
          <p:cNvPr id="1061" name="Google Shape;1061;p96"/>
          <p:cNvSpPr/>
          <p:nvPr/>
        </p:nvSpPr>
        <p:spPr>
          <a:xfrm>
            <a:off x="1775520" y="1052736"/>
            <a:ext cx="4572000" cy="5355312"/>
          </a:xfrm>
          <a:prstGeom prst="rect">
            <a:avLst/>
          </a:prstGeom>
          <a:noFill/>
          <a:ln>
            <a:noFill/>
          </a:ln>
        </p:spPr>
        <p:txBody>
          <a:bodyPr spcFirstLastPara="1" wrap="square" lIns="91425" tIns="45700" rIns="91425" bIns="45700" anchor="t" anchorCtr="0">
            <a:noAutofit/>
          </a:bodyPr>
          <a:lstStyle/>
          <a:p>
            <a:pPr marL="0" marR="0" lvl="0" indent="-114300" algn="just"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second way is to use a loop to add n number. But here straight line sequencing is not used because every time loop iteration ends, PC has to load the branch address and program execution starts from that address.</a:t>
            </a:r>
            <a:endParaRPr/>
          </a:p>
          <a:p>
            <a:pPr marL="0" marR="0" lvl="0" indent="-114300" algn="just"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Here the location N stores the value of n. </a:t>
            </a:r>
            <a:endParaRPr/>
          </a:p>
          <a:p>
            <a:pPr marL="0" marR="0" lvl="0" indent="-114300" algn="just"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Processor register R1 is used as a counter to determine the number of times the loop gets executed. </a:t>
            </a:r>
            <a:endParaRPr/>
          </a:p>
          <a:p>
            <a:pPr marL="0" marR="0" lvl="0" indent="-114300" algn="just"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contents of the location N are moved into R1 at the start of program execution.</a:t>
            </a:r>
            <a:endParaRPr/>
          </a:p>
          <a:p>
            <a:pPr marL="0" marR="0" lvl="0" indent="-114300" algn="just"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After that, register R0 is cleared.</a:t>
            </a:r>
            <a:endParaRPr/>
          </a:p>
          <a:p>
            <a:pPr marL="0" marR="0" lvl="0" indent="-114300" algn="just"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The address LOOP is reloaded again and again until R1 becomes 0. </a:t>
            </a:r>
            <a:endParaRPr/>
          </a:p>
          <a:p>
            <a:pPr marL="0" marR="0" lvl="0" indent="-114300" algn="just"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Every time a number is added, then the R1 value is decremented.</a:t>
            </a:r>
            <a:endParaRPr/>
          </a:p>
          <a:p>
            <a:pPr marL="0" marR="0" lvl="0" indent="-114300" algn="just" rtl="0">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When R1 becomes 0, we come out of the loop and the result which is stored at R1 is copied into memory location SUM.</a:t>
            </a:r>
            <a:endParaRPr sz="1800">
              <a:solidFill>
                <a:schemeClr val="dk1"/>
              </a:solidFill>
              <a:latin typeface="Times New Roman"/>
              <a:ea typeface="Times New Roman"/>
              <a:cs typeface="Times New Roman"/>
              <a:sym typeface="Times New Roman"/>
            </a:endParaRPr>
          </a:p>
        </p:txBody>
      </p:sp>
      <p:pic>
        <p:nvPicPr>
          <p:cNvPr id="1062" name="Google Shape;1062;p96" descr="https://media.geeksforgeeks.org/wp-content/uploads/20210615073810/Untitleddrawing20.png"/>
          <p:cNvPicPr preferRelativeResize="0"/>
          <p:nvPr/>
        </p:nvPicPr>
        <p:blipFill rotWithShape="1">
          <a:blip r:embed="rId3">
            <a:alphaModFix/>
          </a:blip>
          <a:srcRect/>
          <a:stretch/>
        </p:blipFill>
        <p:spPr>
          <a:xfrm>
            <a:off x="6672064" y="1052736"/>
            <a:ext cx="3810000" cy="5303614"/>
          </a:xfrm>
          <a:prstGeom prst="rect">
            <a:avLst/>
          </a:prstGeom>
          <a:noFill/>
          <a:ln>
            <a:noFill/>
          </a:ln>
        </p:spPr>
      </p:pic>
      <p:sp>
        <p:nvSpPr>
          <p:cNvPr id="1063" name="Google Shape;1063;p9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608B2344-39E6-4031-A2AA-63E9901AEF08}" type="datetime1">
              <a:rPr lang="en-US" smtClean="0"/>
              <a:t>8/12/2024</a:t>
            </a:fld>
            <a:endParaRPr/>
          </a:p>
        </p:txBody>
      </p:sp>
      <p:sp>
        <p:nvSpPr>
          <p:cNvPr id="1064" name="Google Shape;1064;p9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97"/>
          <p:cNvSpPr txBox="1">
            <a:spLocks noGrp="1"/>
          </p:cNvSpPr>
          <p:nvPr>
            <p:ph type="title"/>
          </p:nvPr>
        </p:nvSpPr>
        <p:spPr>
          <a:xfrm>
            <a:off x="1981200" y="1052736"/>
            <a:ext cx="8229600" cy="36490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a:solidFill>
                  <a:srgbClr val="FF0000"/>
                </a:solidFill>
                <a:latin typeface="Times New Roman"/>
                <a:ea typeface="Times New Roman"/>
                <a:cs typeface="Times New Roman"/>
                <a:sym typeface="Times New Roman"/>
              </a:rPr>
              <a:t>Condition Codes</a:t>
            </a:r>
            <a:endParaRPr/>
          </a:p>
        </p:txBody>
      </p:sp>
      <p:sp>
        <p:nvSpPr>
          <p:cNvPr id="1070" name="Google Shape;1070;p97"/>
          <p:cNvSpPr txBox="1">
            <a:spLocks noGrp="1"/>
          </p:cNvSpPr>
          <p:nvPr>
            <p:ph type="body" idx="1"/>
          </p:nvPr>
        </p:nvSpPr>
        <p:spPr>
          <a:xfrm>
            <a:off x="1847528" y="1600200"/>
            <a:ext cx="8568952" cy="4853136"/>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The processor keeps track of information about the results of various operations for use by subsequent conditional branch instructions</a:t>
            </a:r>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N – Negative     1 if results are Negative</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0 if results are Positive</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Z – Zero              1 if results are Zero</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0 if results are Non zero</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V – Overflow      1 if arithmetic overflow occurs</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0 non overflow occurs</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C – Carry             1 if carry and from MSB bit</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0 if there is no carry from MSB bit</a:t>
            </a:r>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071" name="Google Shape;1071;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sp>
        <p:nvSpPr>
          <p:cNvPr id="1072" name="Google Shape;1072;p9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BDD14461-A1D5-4939-A8BD-B523F78F7DDD}" type="datetime1">
              <a:rPr lang="en-US" smtClean="0"/>
              <a:t>8/12/2024</a:t>
            </a:fld>
            <a:endParaRPr/>
          </a:p>
        </p:txBody>
      </p:sp>
      <p:sp>
        <p:nvSpPr>
          <p:cNvPr id="1073" name="Google Shape;1073;p9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078"/>
        <p:cNvGrpSpPr/>
        <p:nvPr/>
      </p:nvGrpSpPr>
      <p:grpSpPr>
        <a:xfrm>
          <a:off x="0" y="0"/>
          <a:ext cx="0" cy="0"/>
          <a:chOff x="0" y="0"/>
          <a:chExt cx="0" cy="0"/>
        </a:xfrm>
      </p:grpSpPr>
      <p:sp>
        <p:nvSpPr>
          <p:cNvPr id="1079" name="Google Shape;1079;p98"/>
          <p:cNvSpPr txBox="1">
            <a:spLocks noGrp="1"/>
          </p:cNvSpPr>
          <p:nvPr>
            <p:ph type="ctrTitle"/>
          </p:nvPr>
        </p:nvSpPr>
        <p:spPr>
          <a:xfrm>
            <a:off x="2209800" y="2492376"/>
            <a:ext cx="7772400" cy="147002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2060"/>
              </a:buClr>
              <a:buSzPts val="6000"/>
              <a:buFont typeface="Times New Roman"/>
              <a:buNone/>
            </a:pPr>
            <a:r>
              <a:rPr lang="en-US" b="1">
                <a:solidFill>
                  <a:srgbClr val="002060"/>
                </a:solidFill>
                <a:latin typeface="Times New Roman"/>
                <a:ea typeface="Times New Roman"/>
                <a:cs typeface="Times New Roman"/>
                <a:sym typeface="Times New Roman"/>
              </a:rPr>
              <a:t>Addressing Modes</a:t>
            </a:r>
            <a:endParaRPr/>
          </a:p>
        </p:txBody>
      </p:sp>
      <p:sp>
        <p:nvSpPr>
          <p:cNvPr id="1080" name="Google Shape;1080;p98"/>
          <p:cNvSpPr/>
          <p:nvPr/>
        </p:nvSpPr>
        <p:spPr>
          <a:xfrm>
            <a:off x="6553200" y="457200"/>
            <a:ext cx="1066800" cy="609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81" name="Google Shape;1081;p98" descr="System bus - Wikipedia"/>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2" name="Google Shape;1082;p98" descr="System bus - Wikipedia"/>
          <p:cNvSpPr/>
          <p:nvPr/>
        </p:nvSpPr>
        <p:spPr>
          <a:xfrm>
            <a:off x="1831975" y="7938"/>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83" name="Google Shape;1083;p9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084" name="Google Shape;1084;p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84</a:t>
            </a:fld>
            <a:endParaRPr/>
          </a:p>
        </p:txBody>
      </p:sp>
      <p:sp>
        <p:nvSpPr>
          <p:cNvPr id="1085" name="Google Shape;1085;p9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14B37266-BC7C-4CC1-A423-77BC1A89E186}" type="datetime1">
              <a:rPr lang="en-US" smtClean="0"/>
              <a:t>8/12/2024</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sp>
        <p:nvSpPr>
          <p:cNvPr id="1090" name="Google Shape;1090;p99"/>
          <p:cNvSpPr txBox="1">
            <a:spLocks noGrp="1"/>
          </p:cNvSpPr>
          <p:nvPr>
            <p:ph type="title"/>
          </p:nvPr>
        </p:nvSpPr>
        <p:spPr>
          <a:xfrm>
            <a:off x="591397" y="231820"/>
            <a:ext cx="9892208" cy="7219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Addressing Modes</a:t>
            </a:r>
            <a:endParaRPr/>
          </a:p>
        </p:txBody>
      </p:sp>
      <p:sp>
        <p:nvSpPr>
          <p:cNvPr id="1091" name="Google Shape;1091;p99"/>
          <p:cNvSpPr txBox="1">
            <a:spLocks noGrp="1"/>
          </p:cNvSpPr>
          <p:nvPr>
            <p:ph type="body" idx="1"/>
          </p:nvPr>
        </p:nvSpPr>
        <p:spPr>
          <a:xfrm>
            <a:off x="407368" y="939175"/>
            <a:ext cx="11377264" cy="5417175"/>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None/>
            </a:pPr>
            <a:r>
              <a:rPr lang="en-US" sz="2000">
                <a:latin typeface="Times New Roman"/>
                <a:ea typeface="Times New Roman"/>
                <a:cs typeface="Times New Roman"/>
                <a:sym typeface="Times New Roman"/>
              </a:rPr>
              <a:t>Different ways in which the location of the operand is specified in an instruction is referred as addressing modes. The purpose of using addressing mode is:</a:t>
            </a:r>
            <a:endParaRPr/>
          </a:p>
          <a:p>
            <a:pPr marL="0" lvl="0" indent="0" algn="l" rtl="0">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	To give the programming versatility to the user.</a:t>
            </a:r>
            <a:endParaRPr/>
          </a:p>
          <a:p>
            <a:pPr marL="0" lvl="0" indent="0" algn="l" rtl="0">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	To reduce the number of bits in addressing field of instruction.</a:t>
            </a:r>
            <a:endParaRPr/>
          </a:p>
          <a:p>
            <a:pPr marL="228600" lvl="0" indent="-228600" algn="l" rtl="0">
              <a:lnSpc>
                <a:spcPct val="90000"/>
              </a:lnSpc>
              <a:spcBef>
                <a:spcPts val="1000"/>
              </a:spcBef>
              <a:spcAft>
                <a:spcPts val="0"/>
              </a:spcAft>
              <a:buClr>
                <a:schemeClr val="dk1"/>
              </a:buClr>
              <a:buSzPts val="2000"/>
              <a:buNone/>
            </a:pPr>
            <a:r>
              <a:rPr lang="en-US" sz="2000" b="1">
                <a:latin typeface="Times New Roman"/>
                <a:ea typeface="Times New Roman"/>
                <a:cs typeface="Times New Roman"/>
                <a:sym typeface="Times New Roman"/>
              </a:rPr>
              <a:t>Types of Addressing Modes</a:t>
            </a:r>
            <a:endParaRPr/>
          </a:p>
          <a:p>
            <a:pPr marL="228600" lvl="0" indent="-228600" algn="l" rtl="0">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Immediate Addressing</a:t>
            </a:r>
            <a:endParaRPr/>
          </a:p>
          <a:p>
            <a:pPr marL="228600" lvl="0" indent="-228600" algn="l" rtl="0">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Direct Addressing </a:t>
            </a:r>
            <a:endParaRPr/>
          </a:p>
          <a:p>
            <a:pPr marL="228600" lvl="0" indent="-228600" algn="l" rtl="0">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Indirect Addressing</a:t>
            </a:r>
            <a:endParaRPr/>
          </a:p>
          <a:p>
            <a:pPr marL="228600" lvl="0" indent="-228600" algn="l" rtl="0">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Register Addressing</a:t>
            </a:r>
            <a:endParaRPr/>
          </a:p>
          <a:p>
            <a:pPr marL="228600" lvl="0" indent="-228600" algn="l" rtl="0">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Register Indirect Addressing</a:t>
            </a:r>
            <a:endParaRPr/>
          </a:p>
          <a:p>
            <a:pPr marL="228600" lvl="0" indent="-228600" algn="l" rtl="0">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Relative Addressing</a:t>
            </a:r>
            <a:endParaRPr/>
          </a:p>
          <a:p>
            <a:pPr marL="228600" lvl="0" indent="-228600" algn="l" rtl="0">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Indexed Addressing</a:t>
            </a:r>
            <a:endParaRPr/>
          </a:p>
          <a:p>
            <a:pPr marL="228600" lvl="0" indent="-228600" algn="l" rtl="0">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Auto Increment</a:t>
            </a:r>
            <a:endParaRPr/>
          </a:p>
          <a:p>
            <a:pPr marL="228600" lvl="0" indent="-228600" algn="l" rtl="0">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Auto Decrement</a:t>
            </a:r>
            <a:endParaRPr/>
          </a:p>
          <a:p>
            <a:pPr marL="228600" lvl="0" indent="-228600" algn="l" rtl="0">
              <a:lnSpc>
                <a:spcPct val="90000"/>
              </a:lnSpc>
              <a:spcBef>
                <a:spcPts val="1000"/>
              </a:spcBef>
              <a:spcAft>
                <a:spcPts val="0"/>
              </a:spcAft>
              <a:buClr>
                <a:schemeClr val="dk1"/>
              </a:buClr>
              <a:buSzPts val="2000"/>
              <a:buFont typeface="Calibri"/>
              <a:buNone/>
            </a:pPr>
            <a:endParaRPr sz="2000">
              <a:latin typeface="Times New Roman"/>
              <a:ea typeface="Times New Roman"/>
              <a:cs typeface="Times New Roman"/>
              <a:sym typeface="Times New Roman"/>
            </a:endParaRPr>
          </a:p>
        </p:txBody>
      </p:sp>
      <p:sp>
        <p:nvSpPr>
          <p:cNvPr id="1092" name="Google Shape;1092;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85</a:t>
            </a:fld>
            <a:endParaRPr/>
          </a:p>
        </p:txBody>
      </p:sp>
      <p:sp>
        <p:nvSpPr>
          <p:cNvPr id="1093" name="Google Shape;1093;p9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094" name="Google Shape;1094;p9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FDB4584A-53E3-434B-9E50-44B20531C3A3}" type="datetime1">
              <a:rPr lang="en-US" smtClean="0"/>
              <a:t>8/12/2024</a:t>
            </a:fld>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100"/>
          <p:cNvSpPr txBox="1">
            <a:spLocks noGrp="1"/>
          </p:cNvSpPr>
          <p:nvPr>
            <p:ph type="title"/>
          </p:nvPr>
        </p:nvSpPr>
        <p:spPr>
          <a:xfrm>
            <a:off x="551384" y="332656"/>
            <a:ext cx="9793088" cy="5089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Immediate Addressing</a:t>
            </a:r>
            <a:endParaRPr/>
          </a:p>
        </p:txBody>
      </p:sp>
      <p:sp>
        <p:nvSpPr>
          <p:cNvPr id="1100" name="Google Shape;1100;p100"/>
          <p:cNvSpPr txBox="1">
            <a:spLocks noGrp="1"/>
          </p:cNvSpPr>
          <p:nvPr>
            <p:ph type="body" idx="1"/>
          </p:nvPr>
        </p:nvSpPr>
        <p:spPr>
          <a:xfrm>
            <a:off x="551384" y="1124744"/>
            <a:ext cx="10802416" cy="505221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Operand is given explicitly in the instruction</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e.g. ADD 5</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Add 5 to contents of accumulator</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5 is operand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No memory reference to fetch data</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Fast</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Limited range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MOV AL,25H        		; Immediate addressing     AL=25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MOV AX,2345H                 ;  AX=2345   AX=&gt; AH=23 AL=45</a:t>
            </a:r>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pic>
        <p:nvPicPr>
          <p:cNvPr id="1101" name="Google Shape;1101;p100"/>
          <p:cNvPicPr preferRelativeResize="0"/>
          <p:nvPr/>
        </p:nvPicPr>
        <p:blipFill rotWithShape="1">
          <a:blip r:embed="rId3">
            <a:alphaModFix/>
          </a:blip>
          <a:srcRect/>
          <a:stretch/>
        </p:blipFill>
        <p:spPr>
          <a:xfrm>
            <a:off x="7104112" y="2204864"/>
            <a:ext cx="3106688" cy="1728192"/>
          </a:xfrm>
          <a:prstGeom prst="rect">
            <a:avLst/>
          </a:prstGeom>
          <a:noFill/>
          <a:ln>
            <a:noFill/>
          </a:ln>
        </p:spPr>
      </p:pic>
      <p:sp>
        <p:nvSpPr>
          <p:cNvPr id="1102" name="Google Shape;1102;p10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sp>
        <p:nvSpPr>
          <p:cNvPr id="1103" name="Google Shape;1103;p10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104" name="Google Shape;1104;p10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69E887E7-BECE-474B-B89F-6EC8F25CA7EE}" type="datetime1">
              <a:rPr lang="en-US" smtClean="0"/>
              <a:t>8/12/2024</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101"/>
          <p:cNvSpPr txBox="1">
            <a:spLocks noGrp="1"/>
          </p:cNvSpPr>
          <p:nvPr>
            <p:ph type="title"/>
          </p:nvPr>
        </p:nvSpPr>
        <p:spPr>
          <a:xfrm>
            <a:off x="911424" y="404664"/>
            <a:ext cx="8949680" cy="5089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600"/>
              <a:buFont typeface="Times New Roman"/>
              <a:buNone/>
            </a:pPr>
            <a:r>
              <a:rPr lang="en-US" sz="3600" b="1">
                <a:solidFill>
                  <a:srgbClr val="FF0000"/>
                </a:solidFill>
                <a:latin typeface="Times New Roman"/>
                <a:ea typeface="Times New Roman"/>
                <a:cs typeface="Times New Roman"/>
                <a:sym typeface="Times New Roman"/>
              </a:rPr>
              <a:t>Direct Addressing</a:t>
            </a:r>
            <a:endParaRPr/>
          </a:p>
        </p:txBody>
      </p:sp>
      <p:sp>
        <p:nvSpPr>
          <p:cNvPr id="1110" name="Google Shape;1110;p101"/>
          <p:cNvSpPr txBox="1">
            <a:spLocks noGrp="1"/>
          </p:cNvSpPr>
          <p:nvPr>
            <p:ph type="body" idx="1"/>
          </p:nvPr>
        </p:nvSpPr>
        <p:spPr>
          <a:xfrm>
            <a:off x="623392" y="1208398"/>
            <a:ext cx="11161240" cy="514795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Address field contains address of operand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Effective address (EA) = address field (A)</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e.g.  ADD A</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Add contents of cell A to accumulator</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Look in memory at address A for operand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Single memory reference to access data</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No additional calculations to work out effective address</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Limited address space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MOV AL,DATA1 		; Direct Addressing	AL=23</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MOV AX,DATA2 		;			AX=1234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MOV DATA3,AL 		;			DATA3=23</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MOV DATA4,AX 		;			DATA4=1234</a:t>
            </a:r>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Font typeface="Calibri"/>
              <a:buNone/>
            </a:pPr>
            <a:endParaRPr sz="2400">
              <a:latin typeface="Times New Roman"/>
              <a:ea typeface="Times New Roman"/>
              <a:cs typeface="Times New Roman"/>
              <a:sym typeface="Times New Roman"/>
            </a:endParaRPr>
          </a:p>
        </p:txBody>
      </p:sp>
      <p:sp>
        <p:nvSpPr>
          <p:cNvPr id="1111" name="Google Shape;1111;p10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87</a:t>
            </a:fld>
            <a:endParaRPr/>
          </a:p>
        </p:txBody>
      </p:sp>
      <p:sp>
        <p:nvSpPr>
          <p:cNvPr id="1112" name="Google Shape;1112;p10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113" name="Google Shape;1113;p10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D71A29C1-7418-42B5-8A8C-25904C04272E}" type="datetime1">
              <a:rPr lang="en-US" smtClean="0"/>
              <a:t>8/12/2024</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pic>
        <p:nvPicPr>
          <p:cNvPr id="1118" name="Google Shape;1118;p102"/>
          <p:cNvPicPr preferRelativeResize="0"/>
          <p:nvPr/>
        </p:nvPicPr>
        <p:blipFill rotWithShape="1">
          <a:blip r:embed="rId3">
            <a:alphaModFix/>
          </a:blip>
          <a:srcRect/>
          <a:stretch/>
        </p:blipFill>
        <p:spPr>
          <a:xfrm>
            <a:off x="2590800" y="1196752"/>
            <a:ext cx="7010400" cy="4365848"/>
          </a:xfrm>
          <a:prstGeom prst="rect">
            <a:avLst/>
          </a:prstGeom>
          <a:noFill/>
          <a:ln>
            <a:noFill/>
          </a:ln>
        </p:spPr>
      </p:pic>
      <p:sp>
        <p:nvSpPr>
          <p:cNvPr id="1119" name="Google Shape;1119;p10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88</a:t>
            </a:fld>
            <a:endParaRPr/>
          </a:p>
        </p:txBody>
      </p:sp>
      <p:sp>
        <p:nvSpPr>
          <p:cNvPr id="1120" name="Google Shape;1120;p10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121" name="Google Shape;1121;p10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36CC890F-7C87-4E57-866F-A70A3F22BB65}" type="datetime1">
              <a:rPr lang="en-US" smtClean="0"/>
              <a:t>8/12/2024</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103"/>
          <p:cNvSpPr/>
          <p:nvPr/>
        </p:nvSpPr>
        <p:spPr>
          <a:xfrm>
            <a:off x="1955800" y="622935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2" name="Google Shape;1132;p103"/>
          <p:cNvSpPr/>
          <p:nvPr/>
        </p:nvSpPr>
        <p:spPr>
          <a:xfrm>
            <a:off x="4648200" y="622935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33" name="Google Shape;1133;p103"/>
          <p:cNvSpPr txBox="1">
            <a:spLocks noGrp="1"/>
          </p:cNvSpPr>
          <p:nvPr>
            <p:ph type="title"/>
          </p:nvPr>
        </p:nvSpPr>
        <p:spPr>
          <a:xfrm>
            <a:off x="803707" y="476672"/>
            <a:ext cx="8229600" cy="588293"/>
          </a:xfrm>
          <a:prstGeom prst="rect">
            <a:avLst/>
          </a:prstGeom>
          <a:noFill/>
          <a:ln>
            <a:noFill/>
          </a:ln>
        </p:spPr>
        <p:txBody>
          <a:bodyPr spcFirstLastPara="1" wrap="square" lIns="90475" tIns="44450" rIns="90475" bIns="44450" anchor="b"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Indirect Addressing</a:t>
            </a:r>
            <a:endParaRPr/>
          </a:p>
        </p:txBody>
      </p:sp>
      <p:sp>
        <p:nvSpPr>
          <p:cNvPr id="1134" name="Google Shape;1134;p103"/>
          <p:cNvSpPr txBox="1">
            <a:spLocks noGrp="1"/>
          </p:cNvSpPr>
          <p:nvPr>
            <p:ph type="body" idx="1"/>
          </p:nvPr>
        </p:nvSpPr>
        <p:spPr>
          <a:xfrm>
            <a:off x="695400" y="1484784"/>
            <a:ext cx="10658400" cy="4692179"/>
          </a:xfrm>
          <a:prstGeom prst="rect">
            <a:avLst/>
          </a:prstGeom>
          <a:noFill/>
          <a:ln>
            <a:noFill/>
          </a:ln>
        </p:spPr>
        <p:txBody>
          <a:bodyPr spcFirstLastPara="1" wrap="square" lIns="90475" tIns="44450" rIns="90475" bIns="4445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Memory cell pointed to by address field contains the address of (pointer to) the operand</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Two references to memory are required to fetch the operand.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Effective Address = [A]</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Look in A, find address (A) and look there for operand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e.g. ADD (A)</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Add contents of cell pointed to by contents of A to the accumulator</a:t>
            </a:r>
            <a:endParaRPr/>
          </a:p>
        </p:txBody>
      </p:sp>
      <p:sp>
        <p:nvSpPr>
          <p:cNvPr id="1135" name="Google Shape;1135;p10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89</a:t>
            </a:fld>
            <a:endParaRPr/>
          </a:p>
        </p:txBody>
      </p:sp>
      <p:sp>
        <p:nvSpPr>
          <p:cNvPr id="1136" name="Google Shape;1136;p10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137" name="Google Shape;1137;p10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DA19C90E-CB27-45D3-A556-A6118970B6D3}" type="datetime1">
              <a:rPr lang="en-US" smtClean="0"/>
              <a:t>8/12/2024</a:t>
            </a:fld>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pic>
        <p:nvPicPr>
          <p:cNvPr id="1142" name="Google Shape;1142;p104"/>
          <p:cNvPicPr preferRelativeResize="0"/>
          <p:nvPr/>
        </p:nvPicPr>
        <p:blipFill rotWithShape="1">
          <a:blip r:embed="rId3">
            <a:alphaModFix/>
          </a:blip>
          <a:srcRect/>
          <a:stretch/>
        </p:blipFill>
        <p:spPr>
          <a:xfrm>
            <a:off x="2209800" y="1628800"/>
            <a:ext cx="7010400" cy="3594100"/>
          </a:xfrm>
          <a:prstGeom prst="rect">
            <a:avLst/>
          </a:prstGeom>
          <a:noFill/>
          <a:ln>
            <a:noFill/>
          </a:ln>
        </p:spPr>
      </p:pic>
      <p:sp>
        <p:nvSpPr>
          <p:cNvPr id="1143" name="Google Shape;1143;p10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90</a:t>
            </a:fld>
            <a:endParaRPr/>
          </a:p>
        </p:txBody>
      </p:sp>
      <p:sp>
        <p:nvSpPr>
          <p:cNvPr id="1144" name="Google Shape;1144;p10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145" name="Google Shape;1145;p10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ADF9664A-5A08-4F9E-B942-0EAD54C2108B}" type="datetime1">
              <a:rPr lang="en-US" smtClean="0"/>
              <a:t>8/12/2024</a:t>
            </a:fld>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sp>
        <p:nvSpPr>
          <p:cNvPr id="1155" name="Google Shape;1155;p105"/>
          <p:cNvSpPr/>
          <p:nvPr/>
        </p:nvSpPr>
        <p:spPr>
          <a:xfrm>
            <a:off x="1955800" y="622935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6" name="Google Shape;1156;p105"/>
          <p:cNvSpPr/>
          <p:nvPr/>
        </p:nvSpPr>
        <p:spPr>
          <a:xfrm>
            <a:off x="4648200" y="622935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57" name="Google Shape;1157;p105"/>
          <p:cNvSpPr txBox="1">
            <a:spLocks noGrp="1"/>
          </p:cNvSpPr>
          <p:nvPr>
            <p:ph type="title"/>
          </p:nvPr>
        </p:nvSpPr>
        <p:spPr>
          <a:xfrm>
            <a:off x="1559496" y="548680"/>
            <a:ext cx="8229600" cy="436910"/>
          </a:xfrm>
          <a:prstGeom prst="rect">
            <a:avLst/>
          </a:prstGeom>
          <a:noFill/>
          <a:ln>
            <a:noFill/>
          </a:ln>
        </p:spPr>
        <p:txBody>
          <a:bodyPr spcFirstLastPara="1" wrap="square" lIns="90475" tIns="44450" rIns="90475" bIns="44450" anchor="b"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Register Direct Addressing </a:t>
            </a:r>
            <a:endParaRPr/>
          </a:p>
        </p:txBody>
      </p:sp>
      <p:sp>
        <p:nvSpPr>
          <p:cNvPr id="1158" name="Google Shape;1158;p105"/>
          <p:cNvSpPr txBox="1">
            <a:spLocks noGrp="1"/>
          </p:cNvSpPr>
          <p:nvPr>
            <p:ph type="body" idx="1"/>
          </p:nvPr>
        </p:nvSpPr>
        <p:spPr>
          <a:xfrm>
            <a:off x="838200" y="1316707"/>
            <a:ext cx="10730408" cy="4912643"/>
          </a:xfrm>
          <a:prstGeom prst="rect">
            <a:avLst/>
          </a:prstGeom>
          <a:noFill/>
          <a:ln>
            <a:noFill/>
          </a:ln>
        </p:spPr>
        <p:txBody>
          <a:bodyPr spcFirstLastPara="1" wrap="square" lIns="90475" tIns="44450" rIns="90475" bIns="44450" anchor="t" anchorCtr="0">
            <a:noAutofit/>
          </a:bodyPr>
          <a:lstStyle/>
          <a:p>
            <a:pPr marL="0" lvl="0" indent="0" algn="l" rtl="0">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In this addressing mode,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The operand is contained in a register set.</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The address field of the instruction refers to a CPU register that contains the operand.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No memory access</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Very fast execution</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Very limited address space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Limited number of registers</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Very small address field needed </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Shorter instructions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Faster instruction fetch</a:t>
            </a:r>
            <a:endParaRPr/>
          </a:p>
        </p:txBody>
      </p:sp>
      <p:sp>
        <p:nvSpPr>
          <p:cNvPr id="1159" name="Google Shape;1159;p10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91</a:t>
            </a:fld>
            <a:endParaRPr/>
          </a:p>
        </p:txBody>
      </p:sp>
      <p:sp>
        <p:nvSpPr>
          <p:cNvPr id="1160" name="Google Shape;1160;p10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161" name="Google Shape;1161;p10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EFFB0018-1098-4A62-8EB8-69D5F3F9ACA8}" type="datetime1">
              <a:rPr lang="en-US" smtClean="0"/>
              <a:t>8/12/2024</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170"/>
        <p:cNvGrpSpPr/>
        <p:nvPr/>
      </p:nvGrpSpPr>
      <p:grpSpPr>
        <a:xfrm>
          <a:off x="0" y="0"/>
          <a:ext cx="0" cy="0"/>
          <a:chOff x="0" y="0"/>
          <a:chExt cx="0" cy="0"/>
        </a:xfrm>
      </p:grpSpPr>
      <p:sp>
        <p:nvSpPr>
          <p:cNvPr id="1171" name="Google Shape;1171;p106"/>
          <p:cNvSpPr/>
          <p:nvPr/>
        </p:nvSpPr>
        <p:spPr>
          <a:xfrm>
            <a:off x="1955800" y="622935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2" name="Google Shape;1172;p106"/>
          <p:cNvSpPr/>
          <p:nvPr/>
        </p:nvSpPr>
        <p:spPr>
          <a:xfrm>
            <a:off x="4648200" y="622935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73" name="Google Shape;1173;p106"/>
          <p:cNvSpPr txBox="1">
            <a:spLocks noGrp="1"/>
          </p:cNvSpPr>
          <p:nvPr>
            <p:ph type="body" idx="1"/>
          </p:nvPr>
        </p:nvSpPr>
        <p:spPr>
          <a:xfrm>
            <a:off x="695400" y="1340768"/>
            <a:ext cx="10873208" cy="483619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Font typeface="Times New Roman"/>
              <a:buNone/>
            </a:pPr>
            <a:r>
              <a:rPr lang="en-US" sz="2400">
                <a:latin typeface="Times New Roman"/>
                <a:ea typeface="Times New Roman"/>
                <a:cs typeface="Times New Roman"/>
                <a:sym typeface="Times New Roman"/>
              </a:rPr>
              <a:t>Eg:</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ADD R will increment the value stored in the accumulator by the content of register 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AC ← AC + [R]</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This addressing mode is similar to direct addressing mode.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The only difference is address field of the instruction refers to a CPU register instead of main memory.</a:t>
            </a:r>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chemeClr val="dk1"/>
              </a:buClr>
              <a:buSzPts val="2400"/>
              <a:buFont typeface="Calibri"/>
              <a:buNone/>
            </a:pPr>
            <a:endParaRPr sz="2400">
              <a:latin typeface="Times New Roman"/>
              <a:ea typeface="Times New Roman"/>
              <a:cs typeface="Times New Roman"/>
              <a:sym typeface="Times New Roman"/>
            </a:endParaRPr>
          </a:p>
        </p:txBody>
      </p:sp>
      <p:sp>
        <p:nvSpPr>
          <p:cNvPr id="1174" name="Google Shape;1174;p10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sp>
        <p:nvSpPr>
          <p:cNvPr id="1175" name="Google Shape;1175;p106"/>
          <p:cNvSpPr txBox="1">
            <a:spLocks noGrp="1"/>
          </p:cNvSpPr>
          <p:nvPr>
            <p:ph type="title"/>
          </p:nvPr>
        </p:nvSpPr>
        <p:spPr>
          <a:xfrm>
            <a:off x="838200" y="548680"/>
            <a:ext cx="8229600" cy="436910"/>
          </a:xfrm>
          <a:prstGeom prst="rect">
            <a:avLst/>
          </a:prstGeom>
          <a:noFill/>
          <a:ln>
            <a:noFill/>
          </a:ln>
        </p:spPr>
        <p:txBody>
          <a:bodyPr spcFirstLastPara="1" wrap="square" lIns="90475" tIns="44450" rIns="90475" bIns="44450" anchor="b"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Register Direct Addressing </a:t>
            </a:r>
            <a:endParaRPr/>
          </a:p>
        </p:txBody>
      </p:sp>
      <p:sp>
        <p:nvSpPr>
          <p:cNvPr id="1176" name="Google Shape;1176;p10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177" name="Google Shape;1177;p10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88B7E3AD-7DD8-4CF8-92F1-FCF14DF5D2F8}" type="datetime1">
              <a:rPr lang="en-US" smtClean="0"/>
              <a:t>8/12/2024</a:t>
            </a:fld>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181"/>
        <p:cNvGrpSpPr/>
        <p:nvPr/>
      </p:nvGrpSpPr>
      <p:grpSpPr>
        <a:xfrm>
          <a:off x="0" y="0"/>
          <a:ext cx="0" cy="0"/>
          <a:chOff x="0" y="0"/>
          <a:chExt cx="0" cy="0"/>
        </a:xfrm>
      </p:grpSpPr>
      <p:pic>
        <p:nvPicPr>
          <p:cNvPr id="1182" name="Google Shape;1182;p107"/>
          <p:cNvPicPr preferRelativeResize="0">
            <a:picLocks noGrp="1"/>
          </p:cNvPicPr>
          <p:nvPr>
            <p:ph type="body" idx="1"/>
          </p:nvPr>
        </p:nvPicPr>
        <p:blipFill rotWithShape="1">
          <a:blip r:embed="rId3">
            <a:alphaModFix/>
          </a:blip>
          <a:srcRect/>
          <a:stretch/>
        </p:blipFill>
        <p:spPr>
          <a:xfrm>
            <a:off x="2590800" y="1676400"/>
            <a:ext cx="6934200" cy="4343400"/>
          </a:xfrm>
          <a:prstGeom prst="rect">
            <a:avLst/>
          </a:prstGeom>
          <a:noFill/>
          <a:ln>
            <a:noFill/>
          </a:ln>
        </p:spPr>
      </p:pic>
      <p:sp>
        <p:nvSpPr>
          <p:cNvPr id="1183" name="Google Shape;1183;p10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93</a:t>
            </a:fld>
            <a:endParaRPr/>
          </a:p>
        </p:txBody>
      </p:sp>
      <p:sp>
        <p:nvSpPr>
          <p:cNvPr id="1184" name="Google Shape;1184;p10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185" name="Google Shape;1185;p10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D2521111-6659-446B-B15F-4537DA08FFD4}" type="datetime1">
              <a:rPr lang="en-US" smtClean="0"/>
              <a:t>8/12/2024</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sp>
        <p:nvSpPr>
          <p:cNvPr id="1195" name="Google Shape;1195;p108"/>
          <p:cNvSpPr/>
          <p:nvPr/>
        </p:nvSpPr>
        <p:spPr>
          <a:xfrm>
            <a:off x="1955800" y="622935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6" name="Google Shape;1196;p108"/>
          <p:cNvSpPr/>
          <p:nvPr/>
        </p:nvSpPr>
        <p:spPr>
          <a:xfrm>
            <a:off x="4648200" y="622935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97" name="Google Shape;1197;p108"/>
          <p:cNvSpPr txBox="1">
            <a:spLocks noGrp="1"/>
          </p:cNvSpPr>
          <p:nvPr>
            <p:ph type="title"/>
          </p:nvPr>
        </p:nvSpPr>
        <p:spPr>
          <a:xfrm>
            <a:off x="807266" y="548680"/>
            <a:ext cx="9403533" cy="584547"/>
          </a:xfrm>
          <a:prstGeom prst="rect">
            <a:avLst/>
          </a:prstGeom>
          <a:noFill/>
          <a:ln>
            <a:noFill/>
          </a:ln>
        </p:spPr>
        <p:txBody>
          <a:bodyPr spcFirstLastPara="1" wrap="square" lIns="90475" tIns="44450" rIns="90475" bIns="44450" anchor="b" anchorCtr="0">
            <a:noAutofit/>
          </a:bodyPr>
          <a:lstStyle/>
          <a:p>
            <a:pPr marL="0" lvl="0" indent="0" algn="l" rtl="0">
              <a:lnSpc>
                <a:spcPct val="90000"/>
              </a:lnSpc>
              <a:spcBef>
                <a:spcPts val="0"/>
              </a:spcBef>
              <a:spcAft>
                <a:spcPts val="0"/>
              </a:spcAft>
              <a:buClr>
                <a:srgbClr val="FF0000"/>
              </a:buClr>
              <a:buSzPts val="3600"/>
              <a:buFont typeface="Times New Roman"/>
              <a:buNone/>
            </a:pPr>
            <a:r>
              <a:rPr lang="en-US" sz="3600" b="1">
                <a:solidFill>
                  <a:srgbClr val="FF0000"/>
                </a:solidFill>
                <a:latin typeface="Times New Roman"/>
                <a:ea typeface="Times New Roman"/>
                <a:cs typeface="Times New Roman"/>
                <a:sym typeface="Times New Roman"/>
              </a:rPr>
              <a:t/>
            </a:r>
            <a:br>
              <a:rPr lang="en-US" sz="3600" b="1">
                <a:solidFill>
                  <a:srgbClr val="FF0000"/>
                </a:solidFill>
                <a:latin typeface="Times New Roman"/>
                <a:ea typeface="Times New Roman"/>
                <a:cs typeface="Times New Roman"/>
                <a:sym typeface="Times New Roman"/>
              </a:rPr>
            </a:br>
            <a:r>
              <a:rPr lang="en-US" sz="3600" b="1">
                <a:solidFill>
                  <a:srgbClr val="FF0000"/>
                </a:solidFill>
                <a:latin typeface="Times New Roman"/>
                <a:ea typeface="Times New Roman"/>
                <a:cs typeface="Times New Roman"/>
                <a:sym typeface="Times New Roman"/>
              </a:rPr>
              <a:t>Register Indirect Addressing</a:t>
            </a:r>
            <a:endParaRPr/>
          </a:p>
        </p:txBody>
      </p:sp>
      <p:sp>
        <p:nvSpPr>
          <p:cNvPr id="1198" name="Google Shape;1198;p108"/>
          <p:cNvSpPr txBox="1">
            <a:spLocks noGrp="1"/>
          </p:cNvSpPr>
          <p:nvPr>
            <p:ph type="body" idx="1"/>
          </p:nvPr>
        </p:nvSpPr>
        <p:spPr>
          <a:xfrm>
            <a:off x="587388" y="1371600"/>
            <a:ext cx="11017224" cy="5086350"/>
          </a:xfrm>
          <a:prstGeom prst="rect">
            <a:avLst/>
          </a:prstGeom>
          <a:noFill/>
          <a:ln>
            <a:noFill/>
          </a:ln>
        </p:spPr>
        <p:txBody>
          <a:bodyPr spcFirstLastPara="1" wrap="square" lIns="90475" tIns="44450" rIns="90475" bIns="4445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The address field of the instruction refers to a CPU register that contains the effective address of the operand.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Only one reference to memory is required to fetch the operand</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Eg:</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ADD R will increment the value stored in the accumulator by the content of memory location specified in register 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AC ← AC + [[R]]</a:t>
            </a:r>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199" name="Google Shape;1199;p10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94</a:t>
            </a:fld>
            <a:endParaRPr/>
          </a:p>
        </p:txBody>
      </p:sp>
      <p:sp>
        <p:nvSpPr>
          <p:cNvPr id="1200" name="Google Shape;1200;p10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201" name="Google Shape;1201;p10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5EF81650-4B77-4898-A199-E63BF2B624FA}" type="datetime1">
              <a:rPr lang="en-US" smtClean="0"/>
              <a:t>8/12/2024</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pic>
        <p:nvPicPr>
          <p:cNvPr id="1206" name="Google Shape;1206;p109"/>
          <p:cNvPicPr preferRelativeResize="0">
            <a:picLocks noGrp="1"/>
          </p:cNvPicPr>
          <p:nvPr>
            <p:ph type="body" idx="1"/>
          </p:nvPr>
        </p:nvPicPr>
        <p:blipFill rotWithShape="1">
          <a:blip r:embed="rId3">
            <a:alphaModFix/>
          </a:blip>
          <a:srcRect/>
          <a:stretch/>
        </p:blipFill>
        <p:spPr>
          <a:xfrm>
            <a:off x="1847528" y="1268760"/>
            <a:ext cx="7772400" cy="4191000"/>
          </a:xfrm>
          <a:prstGeom prst="rect">
            <a:avLst/>
          </a:prstGeom>
          <a:noFill/>
          <a:ln>
            <a:noFill/>
          </a:ln>
        </p:spPr>
      </p:pic>
      <p:sp>
        <p:nvSpPr>
          <p:cNvPr id="1207" name="Google Shape;1207;p10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sp>
        <p:nvSpPr>
          <p:cNvPr id="1208" name="Google Shape;1208;p10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209" name="Google Shape;1209;p10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B0E023CB-DA12-447B-B7BC-56A06F01577D}" type="datetime1">
              <a:rPr lang="en-US" smtClean="0"/>
              <a:t>8/12/2024</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218"/>
        <p:cNvGrpSpPr/>
        <p:nvPr/>
      </p:nvGrpSpPr>
      <p:grpSpPr>
        <a:xfrm>
          <a:off x="0" y="0"/>
          <a:ext cx="0" cy="0"/>
          <a:chOff x="0" y="0"/>
          <a:chExt cx="0" cy="0"/>
        </a:xfrm>
      </p:grpSpPr>
      <p:sp>
        <p:nvSpPr>
          <p:cNvPr id="1219" name="Google Shape;1219;p110"/>
          <p:cNvSpPr/>
          <p:nvPr/>
        </p:nvSpPr>
        <p:spPr>
          <a:xfrm>
            <a:off x="1955800" y="622935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0" name="Google Shape;1220;p110"/>
          <p:cNvSpPr/>
          <p:nvPr/>
        </p:nvSpPr>
        <p:spPr>
          <a:xfrm>
            <a:off x="4648200" y="622935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21" name="Google Shape;1221;p110"/>
          <p:cNvSpPr txBox="1">
            <a:spLocks noGrp="1"/>
          </p:cNvSpPr>
          <p:nvPr>
            <p:ph type="title"/>
          </p:nvPr>
        </p:nvSpPr>
        <p:spPr>
          <a:xfrm>
            <a:off x="838200" y="404664"/>
            <a:ext cx="8229600" cy="590884"/>
          </a:xfrm>
          <a:prstGeom prst="rect">
            <a:avLst/>
          </a:prstGeom>
          <a:noFill/>
          <a:ln>
            <a:noFill/>
          </a:ln>
        </p:spPr>
        <p:txBody>
          <a:bodyPr spcFirstLastPara="1" wrap="square" lIns="90475" tIns="44450" rIns="90475" bIns="44450" anchor="b"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Indexed  Addressing</a:t>
            </a:r>
            <a:endParaRPr/>
          </a:p>
        </p:txBody>
      </p:sp>
      <p:sp>
        <p:nvSpPr>
          <p:cNvPr id="1222" name="Google Shape;1222;p110"/>
          <p:cNvSpPr txBox="1">
            <a:spLocks noGrp="1"/>
          </p:cNvSpPr>
          <p:nvPr>
            <p:ph type="body" idx="1"/>
          </p:nvPr>
        </p:nvSpPr>
        <p:spPr>
          <a:xfrm>
            <a:off x="479376" y="1412776"/>
            <a:ext cx="10874424" cy="4764187"/>
          </a:xfrm>
          <a:prstGeom prst="rect">
            <a:avLst/>
          </a:prstGeom>
          <a:noFill/>
          <a:ln>
            <a:noFill/>
          </a:ln>
        </p:spPr>
        <p:txBody>
          <a:bodyPr spcFirstLastPara="1" wrap="square" lIns="90475" tIns="44450" rIns="90475" bIns="44450" anchor="t" anchorCtr="0">
            <a:normAutofit/>
          </a:bodyPr>
          <a:lstStyle/>
          <a:p>
            <a:pPr marL="0" lvl="0" indent="0" algn="l" rtl="0">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In this addressing mode,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Effective address of the operand is obtained by adding the content of index register with the address part of the instruction.</a:t>
            </a:r>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	Effective Address = Content of Index Register + 	Address part of the 										instruction</a:t>
            </a:r>
            <a:endParaRPr sz="2400">
              <a:latin typeface="Times New Roman"/>
              <a:ea typeface="Times New Roman"/>
              <a:cs typeface="Times New Roman"/>
              <a:sym typeface="Times New Roman"/>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223" name="Google Shape;1223;p1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96</a:t>
            </a:fld>
            <a:endParaRPr/>
          </a:p>
        </p:txBody>
      </p:sp>
      <p:sp>
        <p:nvSpPr>
          <p:cNvPr id="1224" name="Google Shape;1224;p1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225" name="Google Shape;1225;p1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B816B242-461F-4914-9EEA-887794B12C39}" type="datetime1">
              <a:rPr lang="en-US" smtClean="0"/>
              <a:t>8/12/2024</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229"/>
        <p:cNvGrpSpPr/>
        <p:nvPr/>
      </p:nvGrpSpPr>
      <p:grpSpPr>
        <a:xfrm>
          <a:off x="0" y="0"/>
          <a:ext cx="0" cy="0"/>
          <a:chOff x="0" y="0"/>
          <a:chExt cx="0" cy="0"/>
        </a:xfrm>
      </p:grpSpPr>
      <p:pic>
        <p:nvPicPr>
          <p:cNvPr id="1230" name="Google Shape;1230;p111"/>
          <p:cNvPicPr preferRelativeResize="0">
            <a:picLocks noGrp="1"/>
          </p:cNvPicPr>
          <p:nvPr>
            <p:ph type="body" idx="1"/>
          </p:nvPr>
        </p:nvPicPr>
        <p:blipFill rotWithShape="1">
          <a:blip r:embed="rId3">
            <a:alphaModFix/>
          </a:blip>
          <a:srcRect/>
          <a:stretch/>
        </p:blipFill>
        <p:spPr>
          <a:xfrm>
            <a:off x="1415480" y="908720"/>
            <a:ext cx="7848600" cy="4848199"/>
          </a:xfrm>
          <a:prstGeom prst="rect">
            <a:avLst/>
          </a:prstGeom>
          <a:noFill/>
          <a:ln>
            <a:noFill/>
          </a:ln>
        </p:spPr>
      </p:pic>
      <p:sp>
        <p:nvSpPr>
          <p:cNvPr id="1231" name="Google Shape;1231;p1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97</a:t>
            </a:fld>
            <a:endParaRPr/>
          </a:p>
        </p:txBody>
      </p:sp>
      <p:sp>
        <p:nvSpPr>
          <p:cNvPr id="1232" name="Google Shape;1232;p1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233" name="Google Shape;1233;p1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305A6DC8-345F-48D2-B208-0E76BA944A50}" type="datetime1">
              <a:rPr lang="en-US" smtClean="0"/>
              <a:t>8/12/2024</a:t>
            </a:fld>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242"/>
        <p:cNvGrpSpPr/>
        <p:nvPr/>
      </p:nvGrpSpPr>
      <p:grpSpPr>
        <a:xfrm>
          <a:off x="0" y="0"/>
          <a:ext cx="0" cy="0"/>
          <a:chOff x="0" y="0"/>
          <a:chExt cx="0" cy="0"/>
        </a:xfrm>
      </p:grpSpPr>
      <p:sp>
        <p:nvSpPr>
          <p:cNvPr id="1243" name="Google Shape;1243;p112"/>
          <p:cNvSpPr/>
          <p:nvPr/>
        </p:nvSpPr>
        <p:spPr>
          <a:xfrm>
            <a:off x="1955800" y="6229350"/>
            <a:ext cx="19050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4" name="Google Shape;1244;p112"/>
          <p:cNvSpPr/>
          <p:nvPr/>
        </p:nvSpPr>
        <p:spPr>
          <a:xfrm>
            <a:off x="4648200" y="6229350"/>
            <a:ext cx="2895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45" name="Google Shape;1245;p112"/>
          <p:cNvSpPr txBox="1">
            <a:spLocks noGrp="1"/>
          </p:cNvSpPr>
          <p:nvPr>
            <p:ph type="title"/>
          </p:nvPr>
        </p:nvSpPr>
        <p:spPr>
          <a:xfrm>
            <a:off x="837079" y="476672"/>
            <a:ext cx="8229600" cy="590884"/>
          </a:xfrm>
          <a:prstGeom prst="rect">
            <a:avLst/>
          </a:prstGeom>
          <a:noFill/>
          <a:ln>
            <a:noFill/>
          </a:ln>
        </p:spPr>
        <p:txBody>
          <a:bodyPr spcFirstLastPara="1" wrap="square" lIns="90475" tIns="44450" rIns="90475" bIns="44450" anchor="b"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Relative Addressing</a:t>
            </a:r>
            <a:endParaRPr/>
          </a:p>
        </p:txBody>
      </p:sp>
      <p:sp>
        <p:nvSpPr>
          <p:cNvPr id="1246" name="Google Shape;1246;p112"/>
          <p:cNvSpPr txBox="1">
            <a:spLocks noGrp="1"/>
          </p:cNvSpPr>
          <p:nvPr>
            <p:ph type="body" idx="1"/>
          </p:nvPr>
        </p:nvSpPr>
        <p:spPr>
          <a:xfrm>
            <a:off x="826713" y="1518937"/>
            <a:ext cx="10515600" cy="4675488"/>
          </a:xfrm>
          <a:prstGeom prst="rect">
            <a:avLst/>
          </a:prstGeom>
          <a:noFill/>
          <a:ln>
            <a:noFill/>
          </a:ln>
        </p:spPr>
        <p:txBody>
          <a:bodyPr spcFirstLastPara="1" wrap="square" lIns="90475" tIns="44450" rIns="90475" bIns="44450" anchor="t" anchorCtr="0">
            <a:normAutofit/>
          </a:bodyPr>
          <a:lstStyle/>
          <a:p>
            <a:pPr marL="0" lvl="0" indent="0" algn="l" rtl="0">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A version of displacement addressing</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In this addressing mode,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Effective address of the operand is obtained by adding the content of program counter with the address part of the instruction.</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	Effective Address = Content of Program Counter +  Address part of the 									instruction</a:t>
            </a: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247" name="Google Shape;1247;p1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98</a:t>
            </a:fld>
            <a:endParaRPr/>
          </a:p>
        </p:txBody>
      </p:sp>
      <p:sp>
        <p:nvSpPr>
          <p:cNvPr id="1248" name="Google Shape;1248;p1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249" name="Google Shape;1249;p1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994486A1-2A65-49B5-9446-DDDF1E2889E7}" type="datetime1">
              <a:rPr lang="en-US" smtClean="0"/>
              <a:t>8/12/2024</a:t>
            </a:fld>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253"/>
        <p:cNvGrpSpPr/>
        <p:nvPr/>
      </p:nvGrpSpPr>
      <p:grpSpPr>
        <a:xfrm>
          <a:off x="0" y="0"/>
          <a:ext cx="0" cy="0"/>
          <a:chOff x="0" y="0"/>
          <a:chExt cx="0" cy="0"/>
        </a:xfrm>
      </p:grpSpPr>
      <p:pic>
        <p:nvPicPr>
          <p:cNvPr id="1254" name="Google Shape;1254;p113"/>
          <p:cNvPicPr preferRelativeResize="0">
            <a:picLocks noGrp="1"/>
          </p:cNvPicPr>
          <p:nvPr>
            <p:ph type="body" idx="1"/>
          </p:nvPr>
        </p:nvPicPr>
        <p:blipFill rotWithShape="1">
          <a:blip r:embed="rId3">
            <a:alphaModFix/>
          </a:blip>
          <a:srcRect/>
          <a:stretch/>
        </p:blipFill>
        <p:spPr>
          <a:xfrm>
            <a:off x="1703512" y="980728"/>
            <a:ext cx="7848600" cy="4648199"/>
          </a:xfrm>
          <a:prstGeom prst="rect">
            <a:avLst/>
          </a:prstGeom>
          <a:noFill/>
          <a:ln>
            <a:noFill/>
          </a:ln>
        </p:spPr>
      </p:pic>
      <p:sp>
        <p:nvSpPr>
          <p:cNvPr id="1255" name="Google Shape;1255;p1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99</a:t>
            </a:fld>
            <a:endParaRPr/>
          </a:p>
        </p:txBody>
      </p:sp>
      <p:sp>
        <p:nvSpPr>
          <p:cNvPr id="1256" name="Google Shape;1256;p1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257" name="Google Shape;1257;p1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F71F420E-0258-4EF2-9F3D-5D7DE406CC1B}" type="datetime1">
              <a:rPr lang="en-US" smtClean="0"/>
              <a:t>8/12/2024</a:t>
            </a:fld>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261"/>
        <p:cNvGrpSpPr/>
        <p:nvPr/>
      </p:nvGrpSpPr>
      <p:grpSpPr>
        <a:xfrm>
          <a:off x="0" y="0"/>
          <a:ext cx="0" cy="0"/>
          <a:chOff x="0" y="0"/>
          <a:chExt cx="0" cy="0"/>
        </a:xfrm>
      </p:grpSpPr>
      <p:sp>
        <p:nvSpPr>
          <p:cNvPr id="1262" name="Google Shape;1262;p114"/>
          <p:cNvSpPr txBox="1">
            <a:spLocks noGrp="1"/>
          </p:cNvSpPr>
          <p:nvPr>
            <p:ph type="title"/>
          </p:nvPr>
        </p:nvSpPr>
        <p:spPr>
          <a:xfrm>
            <a:off x="808404" y="620688"/>
            <a:ext cx="8229600" cy="44743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Auto Increment Mode</a:t>
            </a:r>
            <a:endParaRPr/>
          </a:p>
        </p:txBody>
      </p:sp>
      <p:sp>
        <p:nvSpPr>
          <p:cNvPr id="1263" name="Google Shape;1263;p114"/>
          <p:cNvSpPr txBox="1">
            <a:spLocks noGrp="1"/>
          </p:cNvSpPr>
          <p:nvPr>
            <p:ph type="body" idx="1"/>
          </p:nvPr>
        </p:nvSpPr>
        <p:spPr>
          <a:xfrm>
            <a:off x="479376" y="1524000"/>
            <a:ext cx="10729192" cy="5029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A special case of Register Indirect Addressing Mode where</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	Effective Address of the Operand = Content of Register</a:t>
            </a:r>
            <a:endParaRPr/>
          </a:p>
          <a:p>
            <a:pPr marL="0" lvl="0" indent="0" algn="l" rtl="0">
              <a:lnSpc>
                <a:spcPct val="90000"/>
              </a:lnSpc>
              <a:spcBef>
                <a:spcPts val="1000"/>
              </a:spcBef>
              <a:spcAft>
                <a:spcPts val="0"/>
              </a:spcAft>
              <a:buClr>
                <a:schemeClr val="dk1"/>
              </a:buClr>
              <a:buSzPts val="2400"/>
              <a:buNone/>
            </a:pPr>
            <a:endParaRPr sz="2400" b="1">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In this addressing mode,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After accessing the operand, the content of the register is automatically incremented by step size ‘d’.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Step size ‘d’ depends on the size of operand accessed.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Only one reference to memory is required to fetch the operand.</a:t>
            </a:r>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264" name="Google Shape;1264;p1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100</a:t>
            </a:fld>
            <a:endParaRPr/>
          </a:p>
        </p:txBody>
      </p:sp>
      <p:sp>
        <p:nvSpPr>
          <p:cNvPr id="1265" name="Google Shape;1265;p1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266" name="Google Shape;1266;p1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5DA66D71-8BE7-42FC-A8A6-6CE3AF06338C}" type="datetime1">
              <a:rPr lang="en-US" smtClean="0"/>
              <a:t>8/12/2024</a:t>
            </a:fld>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270"/>
        <p:cNvGrpSpPr/>
        <p:nvPr/>
      </p:nvGrpSpPr>
      <p:grpSpPr>
        <a:xfrm>
          <a:off x="0" y="0"/>
          <a:ext cx="0" cy="0"/>
          <a:chOff x="0" y="0"/>
          <a:chExt cx="0" cy="0"/>
        </a:xfrm>
      </p:grpSpPr>
      <p:pic>
        <p:nvPicPr>
          <p:cNvPr id="1271" name="Google Shape;1271;p115"/>
          <p:cNvPicPr preferRelativeResize="0">
            <a:picLocks noGrp="1"/>
          </p:cNvPicPr>
          <p:nvPr>
            <p:ph type="body" idx="1"/>
          </p:nvPr>
        </p:nvPicPr>
        <p:blipFill rotWithShape="1">
          <a:blip r:embed="rId3">
            <a:alphaModFix/>
          </a:blip>
          <a:srcRect/>
          <a:stretch/>
        </p:blipFill>
        <p:spPr>
          <a:xfrm>
            <a:off x="1991544" y="908720"/>
            <a:ext cx="7620000" cy="4800600"/>
          </a:xfrm>
          <a:prstGeom prst="rect">
            <a:avLst/>
          </a:prstGeom>
          <a:noFill/>
          <a:ln>
            <a:noFill/>
          </a:ln>
        </p:spPr>
      </p:pic>
      <p:sp>
        <p:nvSpPr>
          <p:cNvPr id="1272" name="Google Shape;1272;p1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101</a:t>
            </a:fld>
            <a:endParaRPr/>
          </a:p>
        </p:txBody>
      </p:sp>
      <p:sp>
        <p:nvSpPr>
          <p:cNvPr id="1273" name="Google Shape;1273;p1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274" name="Google Shape;1274;p1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797A8410-53F7-4FA8-B877-D33947C0739C}" type="datetime1">
              <a:rPr lang="en-US" smtClean="0"/>
              <a:t>8/12/2024</a:t>
            </a:fld>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116"/>
          <p:cNvSpPr txBox="1">
            <a:spLocks noGrp="1"/>
          </p:cNvSpPr>
          <p:nvPr>
            <p:ph type="title"/>
          </p:nvPr>
        </p:nvSpPr>
        <p:spPr>
          <a:xfrm>
            <a:off x="800637" y="476672"/>
            <a:ext cx="8229600" cy="5089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Auto Decrement Mode</a:t>
            </a:r>
            <a:endParaRPr/>
          </a:p>
        </p:txBody>
      </p:sp>
      <p:sp>
        <p:nvSpPr>
          <p:cNvPr id="1280" name="Google Shape;1280;p116"/>
          <p:cNvSpPr txBox="1">
            <a:spLocks noGrp="1"/>
          </p:cNvSpPr>
          <p:nvPr>
            <p:ph type="body" idx="1"/>
          </p:nvPr>
        </p:nvSpPr>
        <p:spPr>
          <a:xfrm>
            <a:off x="623392" y="1452241"/>
            <a:ext cx="11017224" cy="4876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A special case of Register Indirect Addressing Mode where</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	Effective Address of the Operand = Content of Register – Step Size</a:t>
            </a:r>
            <a:endParaRPr/>
          </a:p>
          <a:p>
            <a:pPr marL="0" lvl="0" indent="0" algn="l" rtl="0">
              <a:lnSpc>
                <a:spcPct val="90000"/>
              </a:lnSpc>
              <a:spcBef>
                <a:spcPts val="1000"/>
              </a:spcBef>
              <a:spcAft>
                <a:spcPts val="0"/>
              </a:spcAft>
              <a:buClr>
                <a:schemeClr val="dk1"/>
              </a:buClr>
              <a:buSzPts val="2400"/>
              <a:buNone/>
            </a:pPr>
            <a:endParaRPr sz="2400" b="1">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In this addressing mode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First, the content of the register is decremented by step size ‘d’.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Step size ‘d’ depends on the size of operand accessed.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After decrementing, the operand is read.</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Only one reference to memory is required to fetch the operand.</a:t>
            </a:r>
            <a:endParaRPr/>
          </a:p>
          <a:p>
            <a:pPr marL="0" lvl="0" indent="0" algn="l" rtl="0">
              <a:lnSpc>
                <a:spcPct val="90000"/>
              </a:lnSpc>
              <a:spcBef>
                <a:spcPts val="1000"/>
              </a:spcBef>
              <a:spcAft>
                <a:spcPts val="0"/>
              </a:spcAft>
              <a:buClr>
                <a:schemeClr val="dk1"/>
              </a:buClr>
              <a:buSzPts val="2400"/>
              <a:buNone/>
            </a:pPr>
            <a:endParaRPr sz="2400" b="1">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281" name="Google Shape;1281;p1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102</a:t>
            </a:fld>
            <a:endParaRPr/>
          </a:p>
        </p:txBody>
      </p:sp>
      <p:sp>
        <p:nvSpPr>
          <p:cNvPr id="1282" name="Google Shape;1282;p1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283" name="Google Shape;1283;p1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9A85F8A7-BC7C-462C-B4C9-84E7288A106D}" type="datetime1">
              <a:rPr lang="en-US" smtClean="0"/>
              <a:t>8/12/2024</a:t>
            </a:fld>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287"/>
        <p:cNvGrpSpPr/>
        <p:nvPr/>
      </p:nvGrpSpPr>
      <p:grpSpPr>
        <a:xfrm>
          <a:off x="0" y="0"/>
          <a:ext cx="0" cy="0"/>
          <a:chOff x="0" y="0"/>
          <a:chExt cx="0" cy="0"/>
        </a:xfrm>
      </p:grpSpPr>
      <p:pic>
        <p:nvPicPr>
          <p:cNvPr id="1288" name="Google Shape;1288;p117"/>
          <p:cNvPicPr preferRelativeResize="0">
            <a:picLocks noGrp="1"/>
          </p:cNvPicPr>
          <p:nvPr>
            <p:ph type="body" idx="1"/>
          </p:nvPr>
        </p:nvPicPr>
        <p:blipFill rotWithShape="1">
          <a:blip r:embed="rId3">
            <a:alphaModFix/>
          </a:blip>
          <a:srcRect/>
          <a:stretch/>
        </p:blipFill>
        <p:spPr>
          <a:xfrm>
            <a:off x="2063552" y="1196752"/>
            <a:ext cx="7391400" cy="4495799"/>
          </a:xfrm>
          <a:prstGeom prst="rect">
            <a:avLst/>
          </a:prstGeom>
          <a:noFill/>
          <a:ln>
            <a:noFill/>
          </a:ln>
        </p:spPr>
      </p:pic>
      <p:sp>
        <p:nvSpPr>
          <p:cNvPr id="1289" name="Google Shape;1289;p1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103</a:t>
            </a:fld>
            <a:endParaRPr/>
          </a:p>
        </p:txBody>
      </p:sp>
      <p:sp>
        <p:nvSpPr>
          <p:cNvPr id="1290" name="Google Shape;1290;p1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291" name="Google Shape;1291;p1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E110289D-88B0-4841-A6B2-5D116A639246}" type="datetime1">
              <a:rPr lang="en-US" smtClean="0"/>
              <a:t>8/12/2024</a:t>
            </a:fld>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296"/>
        <p:cNvGrpSpPr/>
        <p:nvPr/>
      </p:nvGrpSpPr>
      <p:grpSpPr>
        <a:xfrm>
          <a:off x="0" y="0"/>
          <a:ext cx="0" cy="0"/>
          <a:chOff x="0" y="0"/>
          <a:chExt cx="0" cy="0"/>
        </a:xfrm>
      </p:grpSpPr>
      <p:sp>
        <p:nvSpPr>
          <p:cNvPr id="1297" name="Google Shape;1297;p118"/>
          <p:cNvSpPr txBox="1">
            <a:spLocks noGrp="1"/>
          </p:cNvSpPr>
          <p:nvPr>
            <p:ph type="ctrTitle"/>
          </p:nvPr>
        </p:nvSpPr>
        <p:spPr>
          <a:xfrm>
            <a:off x="2136775" y="2276872"/>
            <a:ext cx="7772400" cy="165618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002060"/>
              </a:buClr>
              <a:buSzPts val="4000"/>
              <a:buFont typeface="Times New Roman"/>
              <a:buNone/>
            </a:pPr>
            <a:r>
              <a:rPr lang="en-US" sz="4000" b="1">
                <a:solidFill>
                  <a:srgbClr val="002060"/>
                </a:solidFill>
                <a:latin typeface="Times New Roman"/>
                <a:ea typeface="Times New Roman"/>
                <a:cs typeface="Times New Roman"/>
                <a:sym typeface="Times New Roman"/>
              </a:rPr>
              <a:t>Case Study: 8086</a:t>
            </a:r>
            <a:br>
              <a:rPr lang="en-US" sz="4000" b="1">
                <a:solidFill>
                  <a:srgbClr val="002060"/>
                </a:solidFill>
                <a:latin typeface="Times New Roman"/>
                <a:ea typeface="Times New Roman"/>
                <a:cs typeface="Times New Roman"/>
                <a:sym typeface="Times New Roman"/>
              </a:rPr>
            </a:br>
            <a:r>
              <a:rPr lang="en-US" sz="4000" b="1">
                <a:solidFill>
                  <a:srgbClr val="002060"/>
                </a:solidFill>
                <a:latin typeface="Times New Roman"/>
                <a:ea typeface="Times New Roman"/>
                <a:cs typeface="Times New Roman"/>
                <a:sym typeface="Times New Roman"/>
              </a:rPr>
              <a:t>Introduction to Microprocessor</a:t>
            </a:r>
            <a:endParaRPr/>
          </a:p>
        </p:txBody>
      </p:sp>
      <p:sp>
        <p:nvSpPr>
          <p:cNvPr id="1298" name="Google Shape;1298;p118"/>
          <p:cNvSpPr/>
          <p:nvPr/>
        </p:nvSpPr>
        <p:spPr>
          <a:xfrm>
            <a:off x="6553200" y="457200"/>
            <a:ext cx="1066800" cy="609600"/>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9" name="Google Shape;1299;p118" descr="System bus - Wikipedia"/>
          <p:cNvSpPr/>
          <p:nvPr/>
        </p:nvSpPr>
        <p:spPr>
          <a:xfrm>
            <a:off x="1679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0" name="Google Shape;1300;p118" descr="System bus - Wikipedia"/>
          <p:cNvSpPr/>
          <p:nvPr/>
        </p:nvSpPr>
        <p:spPr>
          <a:xfrm>
            <a:off x="1831975" y="7938"/>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01" name="Google Shape;1301;p1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302" name="Google Shape;1302;p1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104</a:t>
            </a:fld>
            <a:endParaRPr/>
          </a:p>
        </p:txBody>
      </p:sp>
      <p:sp>
        <p:nvSpPr>
          <p:cNvPr id="1303" name="Google Shape;1303;p1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88143741-7D69-48EF-82CB-D4A768729DFD}" type="datetime1">
              <a:rPr lang="en-US" smtClean="0"/>
              <a:t>8/12/2024</a:t>
            </a:fld>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308"/>
        <p:cNvGrpSpPr/>
        <p:nvPr/>
      </p:nvGrpSpPr>
      <p:grpSpPr>
        <a:xfrm>
          <a:off x="0" y="0"/>
          <a:ext cx="0" cy="0"/>
          <a:chOff x="0" y="0"/>
          <a:chExt cx="0" cy="0"/>
        </a:xfrm>
      </p:grpSpPr>
      <p:sp>
        <p:nvSpPr>
          <p:cNvPr id="1309" name="Google Shape;1309;p1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105</a:t>
            </a:fld>
            <a:endParaRPr/>
          </a:p>
        </p:txBody>
      </p:sp>
      <p:sp>
        <p:nvSpPr>
          <p:cNvPr id="1310" name="Google Shape;1310;p119"/>
          <p:cNvSpPr txBox="1">
            <a:spLocks noGrp="1"/>
          </p:cNvSpPr>
          <p:nvPr>
            <p:ph type="title"/>
          </p:nvPr>
        </p:nvSpPr>
        <p:spPr>
          <a:xfrm>
            <a:off x="695400" y="476672"/>
            <a:ext cx="8733656" cy="79208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Microprocessors </a:t>
            </a:r>
            <a:endParaRPr/>
          </a:p>
        </p:txBody>
      </p:sp>
      <p:sp>
        <p:nvSpPr>
          <p:cNvPr id="1311" name="Google Shape;1311;p119"/>
          <p:cNvSpPr txBox="1">
            <a:spLocks noGrp="1"/>
          </p:cNvSpPr>
          <p:nvPr>
            <p:ph type="body" idx="1"/>
          </p:nvPr>
        </p:nvSpPr>
        <p:spPr>
          <a:xfrm>
            <a:off x="838200" y="1412776"/>
            <a:ext cx="10515600" cy="4764187"/>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Microprocessor :  is a CPU  on a single chip.</a:t>
            </a:r>
            <a:endParaRPr/>
          </a:p>
          <a:p>
            <a:pPr marL="0" lvl="0" indent="0" algn="just"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Microcontroller: If a microprocessor, its associated support circuitry, memory and peripheral I/O components are implemented on a single chip, it is a microcontroller.  </a:t>
            </a:r>
            <a:endParaRPr/>
          </a:p>
          <a:p>
            <a:pPr marL="685800" lvl="1" indent="-228600" algn="just"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We use AVR microcontroller as the example in our course study</a:t>
            </a:r>
            <a:endParaRPr/>
          </a:p>
        </p:txBody>
      </p:sp>
      <p:sp>
        <p:nvSpPr>
          <p:cNvPr id="1312" name="Google Shape;1312;p1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313" name="Google Shape;1313;p1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E116A8DF-BFDC-48EC-819C-6E5B9FC4E856}" type="datetime1">
              <a:rPr lang="en-US" smtClean="0"/>
              <a:t>8/12/2024</a:t>
            </a:fld>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317"/>
        <p:cNvGrpSpPr/>
        <p:nvPr/>
      </p:nvGrpSpPr>
      <p:grpSpPr>
        <a:xfrm>
          <a:off x="0" y="0"/>
          <a:ext cx="0" cy="0"/>
          <a:chOff x="0" y="0"/>
          <a:chExt cx="0" cy="0"/>
        </a:xfrm>
      </p:grpSpPr>
      <p:sp>
        <p:nvSpPr>
          <p:cNvPr id="1318" name="Google Shape;1318;p120"/>
          <p:cNvSpPr/>
          <p:nvPr/>
        </p:nvSpPr>
        <p:spPr>
          <a:xfrm>
            <a:off x="983432" y="476672"/>
            <a:ext cx="8535892" cy="584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rgbClr val="FF0000"/>
                </a:solidFill>
                <a:latin typeface="Times New Roman"/>
                <a:ea typeface="Times New Roman"/>
                <a:cs typeface="Times New Roman"/>
                <a:sym typeface="Times New Roman"/>
              </a:rPr>
              <a:t>What is Microprocessor and Microcontroller?</a:t>
            </a:r>
            <a:endParaRPr sz="3200">
              <a:solidFill>
                <a:srgbClr val="FF0000"/>
              </a:solidFill>
              <a:latin typeface="Times New Roman"/>
              <a:ea typeface="Times New Roman"/>
              <a:cs typeface="Times New Roman"/>
              <a:sym typeface="Times New Roman"/>
            </a:endParaRPr>
          </a:p>
        </p:txBody>
      </p:sp>
      <p:pic>
        <p:nvPicPr>
          <p:cNvPr id="1319" name="Google Shape;1319;p120" descr="C:\Users\spgn\Pictures\diff.jpg"/>
          <p:cNvPicPr preferRelativeResize="0"/>
          <p:nvPr/>
        </p:nvPicPr>
        <p:blipFill rotWithShape="1">
          <a:blip r:embed="rId3">
            <a:alphaModFix/>
          </a:blip>
          <a:srcRect/>
          <a:stretch/>
        </p:blipFill>
        <p:spPr>
          <a:xfrm>
            <a:off x="2195874" y="1332404"/>
            <a:ext cx="7467600" cy="4752988"/>
          </a:xfrm>
          <a:prstGeom prst="rect">
            <a:avLst/>
          </a:prstGeom>
          <a:noFill/>
          <a:ln>
            <a:noFill/>
          </a:ln>
        </p:spPr>
      </p:pic>
      <p:sp>
        <p:nvSpPr>
          <p:cNvPr id="1320" name="Google Shape;1320;p1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106</a:t>
            </a:fld>
            <a:endParaRPr/>
          </a:p>
        </p:txBody>
      </p:sp>
      <p:sp>
        <p:nvSpPr>
          <p:cNvPr id="1321" name="Google Shape;1321;p1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322" name="Google Shape;1322;p1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26E678BB-39DD-40B0-95B5-251569A59D5C}" type="datetime1">
              <a:rPr lang="en-US" smtClean="0"/>
              <a:t>8/12/2024</a:t>
            </a:fld>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326"/>
        <p:cNvGrpSpPr/>
        <p:nvPr/>
      </p:nvGrpSpPr>
      <p:grpSpPr>
        <a:xfrm>
          <a:off x="0" y="0"/>
          <a:ext cx="0" cy="0"/>
          <a:chOff x="0" y="0"/>
          <a:chExt cx="0" cy="0"/>
        </a:xfrm>
      </p:grpSpPr>
      <p:pic>
        <p:nvPicPr>
          <p:cNvPr id="1327" name="Google Shape;1327;p121" descr="D:\micro pro\ppts\difMPMC.png"/>
          <p:cNvPicPr preferRelativeResize="0"/>
          <p:nvPr/>
        </p:nvPicPr>
        <p:blipFill rotWithShape="1">
          <a:blip r:embed="rId3">
            <a:alphaModFix/>
          </a:blip>
          <a:srcRect/>
          <a:stretch/>
        </p:blipFill>
        <p:spPr>
          <a:xfrm>
            <a:off x="479376" y="722296"/>
            <a:ext cx="10874424" cy="5634054"/>
          </a:xfrm>
          <a:prstGeom prst="rect">
            <a:avLst/>
          </a:prstGeom>
          <a:noFill/>
          <a:ln>
            <a:noFill/>
          </a:ln>
        </p:spPr>
      </p:pic>
      <p:sp>
        <p:nvSpPr>
          <p:cNvPr id="1328" name="Google Shape;1328;p1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107</a:t>
            </a:fld>
            <a:endParaRPr/>
          </a:p>
        </p:txBody>
      </p:sp>
      <p:sp>
        <p:nvSpPr>
          <p:cNvPr id="1329" name="Google Shape;1329;p1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330" name="Google Shape;1330;p1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43B17020-F7A7-49AF-8663-C211B3271A0D}" type="datetime1">
              <a:rPr lang="en-US" smtClean="0"/>
              <a:t>8/12/2024</a:t>
            </a:fld>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334"/>
        <p:cNvGrpSpPr/>
        <p:nvPr/>
      </p:nvGrpSpPr>
      <p:grpSpPr>
        <a:xfrm>
          <a:off x="0" y="0"/>
          <a:ext cx="0" cy="0"/>
          <a:chOff x="0" y="0"/>
          <a:chExt cx="0" cy="0"/>
        </a:xfrm>
      </p:grpSpPr>
      <p:sp>
        <p:nvSpPr>
          <p:cNvPr id="1335" name="Google Shape;1335;p122"/>
          <p:cNvSpPr txBox="1">
            <a:spLocks noGrp="1"/>
          </p:cNvSpPr>
          <p:nvPr>
            <p:ph type="title"/>
          </p:nvPr>
        </p:nvSpPr>
        <p:spPr>
          <a:xfrm>
            <a:off x="772790" y="260648"/>
            <a:ext cx="9355657" cy="9483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
            </a:r>
            <a:br>
              <a:rPr lang="en-US" sz="3200" b="1">
                <a:solidFill>
                  <a:srgbClr val="FF0000"/>
                </a:solidFill>
                <a:latin typeface="Times New Roman"/>
                <a:ea typeface="Times New Roman"/>
                <a:cs typeface="Times New Roman"/>
                <a:sym typeface="Times New Roman"/>
              </a:rPr>
            </a:br>
            <a:r>
              <a:rPr lang="en-US" sz="3200" b="1">
                <a:solidFill>
                  <a:srgbClr val="FF0000"/>
                </a:solidFill>
                <a:latin typeface="Times New Roman"/>
                <a:ea typeface="Times New Roman"/>
                <a:cs typeface="Times New Roman"/>
                <a:sym typeface="Times New Roman"/>
              </a:rPr>
              <a:t>Internal structure and basic operation of microprocessor</a:t>
            </a:r>
            <a:endParaRPr sz="3200" b="1">
              <a:solidFill>
                <a:srgbClr val="FF0000"/>
              </a:solidFill>
              <a:latin typeface="Times New Roman"/>
              <a:ea typeface="Times New Roman"/>
              <a:cs typeface="Times New Roman"/>
              <a:sym typeface="Times New Roman"/>
            </a:endParaRPr>
          </a:p>
        </p:txBody>
      </p:sp>
      <p:sp>
        <p:nvSpPr>
          <p:cNvPr id="1336" name="Google Shape;1336;p1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108</a:t>
            </a:fld>
            <a:endParaRPr/>
          </a:p>
        </p:txBody>
      </p:sp>
      <p:grpSp>
        <p:nvGrpSpPr>
          <p:cNvPr id="1337" name="Google Shape;1337;p122"/>
          <p:cNvGrpSpPr/>
          <p:nvPr/>
        </p:nvGrpSpPr>
        <p:grpSpPr>
          <a:xfrm>
            <a:off x="1127448" y="1772816"/>
            <a:ext cx="9721080" cy="3780259"/>
            <a:chOff x="3861" y="10984"/>
            <a:chExt cx="4707" cy="2700"/>
          </a:xfrm>
        </p:grpSpPr>
        <p:sp>
          <p:nvSpPr>
            <p:cNvPr id="1338" name="Google Shape;1338;p122"/>
            <p:cNvSpPr txBox="1"/>
            <p:nvPr/>
          </p:nvSpPr>
          <p:spPr>
            <a:xfrm>
              <a:off x="3861" y="10984"/>
              <a:ext cx="1260" cy="144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79600" tIns="39800" rIns="79600" bIns="39800" anchor="t" anchorCtr="0">
              <a:noAutofit/>
            </a:bodyPr>
            <a:lstStyle/>
            <a:p>
              <a:pPr marL="0" marR="0" lvl="0" indent="0" algn="ctr"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ALU</a:t>
              </a:r>
              <a:endParaRPr/>
            </a:p>
          </p:txBody>
        </p:sp>
        <p:sp>
          <p:nvSpPr>
            <p:cNvPr id="1339" name="Google Shape;1339;p122"/>
            <p:cNvSpPr txBox="1"/>
            <p:nvPr/>
          </p:nvSpPr>
          <p:spPr>
            <a:xfrm>
              <a:off x="5121" y="10984"/>
              <a:ext cx="1260" cy="144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79600" tIns="39800" rIns="79600" bIns="39800" anchor="t" anchorCtr="0">
              <a:noAutofit/>
            </a:bodyPr>
            <a:lstStyle/>
            <a:p>
              <a:pPr marL="0" marR="0" lvl="0" indent="0" algn="ctr"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Register Section</a:t>
              </a:r>
              <a:endParaRPr/>
            </a:p>
          </p:txBody>
        </p:sp>
        <p:sp>
          <p:nvSpPr>
            <p:cNvPr id="1340" name="Google Shape;1340;p122"/>
            <p:cNvSpPr txBox="1"/>
            <p:nvPr/>
          </p:nvSpPr>
          <p:spPr>
            <a:xfrm>
              <a:off x="3861" y="12424"/>
              <a:ext cx="2520" cy="900"/>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79600" tIns="39800" rIns="79600" bIns="39800" anchor="t" anchorCtr="0">
              <a:no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Control and timing section</a:t>
              </a:r>
              <a:endParaRPr/>
            </a:p>
          </p:txBody>
        </p:sp>
        <p:sp>
          <p:nvSpPr>
            <p:cNvPr id="1341" name="Google Shape;1341;p122"/>
            <p:cNvSpPr/>
            <p:nvPr/>
          </p:nvSpPr>
          <p:spPr>
            <a:xfrm>
              <a:off x="6408" y="10984"/>
              <a:ext cx="2133" cy="694"/>
            </a:xfrm>
            <a:prstGeom prst="rightArrow">
              <a:avLst>
                <a:gd name="adj1" fmla="val 50000"/>
                <a:gd name="adj2" fmla="val 76837"/>
              </a:avLst>
            </a:prstGeom>
            <a:solidFill>
              <a:srgbClr val="FBE4D4"/>
            </a:solidFill>
            <a:ln w="9525" cap="flat" cmpd="sng">
              <a:solidFill>
                <a:srgbClr val="000000"/>
              </a:solidFill>
              <a:prstDash val="solid"/>
              <a:miter lim="800000"/>
              <a:headEnd type="none" w="sm" len="sm"/>
              <a:tailEnd type="none" w="sm" len="sm"/>
            </a:ln>
          </p:spPr>
          <p:txBody>
            <a:bodyPr spcFirstLastPara="1" wrap="square" lIns="79600" tIns="39800" rIns="79600" bIns="398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1342" name="Google Shape;1342;p122"/>
            <p:cNvSpPr/>
            <p:nvPr/>
          </p:nvSpPr>
          <p:spPr>
            <a:xfrm>
              <a:off x="6408" y="11678"/>
              <a:ext cx="2160" cy="746"/>
            </a:xfrm>
            <a:prstGeom prst="leftRightArrow">
              <a:avLst>
                <a:gd name="adj1" fmla="val 50000"/>
                <a:gd name="adj2" fmla="val 57909"/>
              </a:avLst>
            </a:prstGeom>
            <a:solidFill>
              <a:srgbClr val="EDEDED"/>
            </a:solidFill>
            <a:ln w="9525" cap="flat" cmpd="sng">
              <a:solidFill>
                <a:srgbClr val="000000"/>
              </a:solidFill>
              <a:prstDash val="solid"/>
              <a:miter lim="800000"/>
              <a:headEnd type="none" w="sm" len="sm"/>
              <a:tailEnd type="none" w="sm" len="sm"/>
            </a:ln>
          </p:spPr>
          <p:txBody>
            <a:bodyPr spcFirstLastPara="1" wrap="square" lIns="79600" tIns="39800" rIns="79600" bIns="398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1343" name="Google Shape;1343;p122"/>
            <p:cNvSpPr/>
            <p:nvPr/>
          </p:nvSpPr>
          <p:spPr>
            <a:xfrm>
              <a:off x="6381" y="12604"/>
              <a:ext cx="2152" cy="720"/>
            </a:xfrm>
            <a:prstGeom prst="leftRightArrow">
              <a:avLst>
                <a:gd name="adj1" fmla="val 50000"/>
                <a:gd name="adj2" fmla="val 60000"/>
              </a:avLst>
            </a:prstGeom>
            <a:solidFill>
              <a:srgbClr val="EDEDED"/>
            </a:solidFill>
            <a:ln w="9525" cap="flat" cmpd="sng">
              <a:solidFill>
                <a:srgbClr val="000000"/>
              </a:solidFill>
              <a:prstDash val="solid"/>
              <a:miter lim="800000"/>
              <a:headEnd type="none" w="sm" len="sm"/>
              <a:tailEnd type="none" w="sm" len="sm"/>
            </a:ln>
          </p:spPr>
          <p:txBody>
            <a:bodyPr spcFirstLastPara="1" wrap="square" lIns="79600" tIns="39800" rIns="79600" bIns="39800" anchor="t"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1344" name="Google Shape;1344;p122"/>
            <p:cNvSpPr txBox="1"/>
            <p:nvPr/>
          </p:nvSpPr>
          <p:spPr>
            <a:xfrm>
              <a:off x="6741" y="11164"/>
              <a:ext cx="1396" cy="360"/>
            </a:xfrm>
            <a:prstGeom prst="rect">
              <a:avLst/>
            </a:prstGeom>
            <a:noFill/>
            <a:ln>
              <a:noFill/>
            </a:ln>
          </p:spPr>
          <p:txBody>
            <a:bodyPr spcFirstLastPara="1" wrap="square" lIns="79600" tIns="39800" rIns="79600" bIns="39800" anchor="t" anchorCtr="0">
              <a:no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Address bus</a:t>
              </a:r>
              <a:endParaRPr/>
            </a:p>
          </p:txBody>
        </p:sp>
        <p:sp>
          <p:nvSpPr>
            <p:cNvPr id="1345" name="Google Shape;1345;p122"/>
            <p:cNvSpPr txBox="1"/>
            <p:nvPr/>
          </p:nvSpPr>
          <p:spPr>
            <a:xfrm>
              <a:off x="6741" y="11884"/>
              <a:ext cx="1260" cy="359"/>
            </a:xfrm>
            <a:prstGeom prst="rect">
              <a:avLst/>
            </a:prstGeom>
            <a:solidFill>
              <a:srgbClr val="EDEDED"/>
            </a:solidFill>
            <a:ln>
              <a:noFill/>
            </a:ln>
          </p:spPr>
          <p:txBody>
            <a:bodyPr spcFirstLastPara="1" wrap="square" lIns="79600" tIns="39800" rIns="79600" bIns="39800" anchor="t" anchorCtr="0">
              <a:no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Data bus</a:t>
              </a:r>
              <a:endParaRPr/>
            </a:p>
          </p:txBody>
        </p:sp>
        <p:sp>
          <p:nvSpPr>
            <p:cNvPr id="1346" name="Google Shape;1346;p122"/>
            <p:cNvSpPr txBox="1"/>
            <p:nvPr/>
          </p:nvSpPr>
          <p:spPr>
            <a:xfrm>
              <a:off x="6741" y="12784"/>
              <a:ext cx="1578" cy="360"/>
            </a:xfrm>
            <a:prstGeom prst="rect">
              <a:avLst/>
            </a:prstGeom>
            <a:noFill/>
            <a:ln>
              <a:noFill/>
            </a:ln>
          </p:spPr>
          <p:txBody>
            <a:bodyPr spcFirstLastPara="1" wrap="square" lIns="79600" tIns="39800" rIns="79600" bIns="39800" anchor="t" anchorCtr="0">
              <a:noAutofit/>
            </a:bodyPr>
            <a:lstStyle/>
            <a:p>
              <a:pPr marL="0" marR="0" lvl="0" indent="0" algn="ctr" rtl="0">
                <a:spcBef>
                  <a:spcPts val="0"/>
                </a:spcBef>
                <a:spcAft>
                  <a:spcPts val="0"/>
                </a:spcAft>
                <a:buNone/>
              </a:pPr>
              <a:r>
                <a:rPr lang="en-US" sz="1800" b="1">
                  <a:solidFill>
                    <a:schemeClr val="dk1"/>
                  </a:solidFill>
                  <a:latin typeface="Times New Roman"/>
                  <a:ea typeface="Times New Roman"/>
                  <a:cs typeface="Times New Roman"/>
                  <a:sym typeface="Times New Roman"/>
                </a:rPr>
                <a:t>Control</a:t>
              </a:r>
              <a:r>
                <a:rPr lang="en-US" sz="1800">
                  <a:solidFill>
                    <a:schemeClr val="dk1"/>
                  </a:solidFill>
                  <a:latin typeface="Times New Roman"/>
                  <a:ea typeface="Times New Roman"/>
                  <a:cs typeface="Times New Roman"/>
                  <a:sym typeface="Times New Roman"/>
                </a:rPr>
                <a:t> </a:t>
              </a:r>
              <a:r>
                <a:rPr lang="en-US" sz="1800" b="1">
                  <a:solidFill>
                    <a:schemeClr val="dk1"/>
                  </a:solidFill>
                  <a:latin typeface="Times New Roman"/>
                  <a:ea typeface="Times New Roman"/>
                  <a:cs typeface="Times New Roman"/>
                  <a:sym typeface="Times New Roman"/>
                </a:rPr>
                <a:t>bus</a:t>
              </a:r>
              <a:endParaRPr/>
            </a:p>
          </p:txBody>
        </p:sp>
        <p:sp>
          <p:nvSpPr>
            <p:cNvPr id="1347" name="Google Shape;1347;p122"/>
            <p:cNvSpPr txBox="1"/>
            <p:nvPr/>
          </p:nvSpPr>
          <p:spPr>
            <a:xfrm>
              <a:off x="4041" y="13324"/>
              <a:ext cx="2340" cy="360"/>
            </a:xfrm>
            <a:prstGeom prst="rect">
              <a:avLst/>
            </a:prstGeom>
            <a:noFill/>
            <a:ln>
              <a:noFill/>
            </a:ln>
          </p:spPr>
          <p:txBody>
            <a:bodyPr spcFirstLastPara="1" wrap="square" lIns="79600" tIns="39800" rIns="79600" bIns="39800" anchor="t" anchorCtr="0">
              <a:noAutofit/>
            </a:bodyPr>
            <a:lstStyle/>
            <a:p>
              <a:pPr marL="0" marR="0" lvl="0" indent="0" algn="ctr"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grpSp>
      <p:sp>
        <p:nvSpPr>
          <p:cNvPr id="1348" name="Google Shape;1348;p122"/>
          <p:cNvSpPr txBox="1"/>
          <p:nvPr/>
        </p:nvSpPr>
        <p:spPr>
          <a:xfrm>
            <a:off x="2952751" y="5786439"/>
            <a:ext cx="6786563" cy="523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a:solidFill>
                  <a:srgbClr val="FF0000"/>
                </a:solidFill>
                <a:latin typeface="Arial"/>
                <a:ea typeface="Arial"/>
                <a:cs typeface="Arial"/>
                <a:sym typeface="Arial"/>
              </a:rPr>
              <a:t>Block diagram of a </a:t>
            </a:r>
            <a:r>
              <a:rPr lang="en-US" sz="2800" b="1">
                <a:solidFill>
                  <a:srgbClr val="FF0000"/>
                </a:solidFill>
                <a:latin typeface="Times New Roman"/>
                <a:ea typeface="Times New Roman"/>
                <a:cs typeface="Times New Roman"/>
                <a:sym typeface="Times New Roman"/>
              </a:rPr>
              <a:t>Microprocessor</a:t>
            </a:r>
            <a:endParaRPr/>
          </a:p>
        </p:txBody>
      </p:sp>
      <p:sp>
        <p:nvSpPr>
          <p:cNvPr id="1349" name="Google Shape;1349;p1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350" name="Google Shape;1350;p1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C7064535-05E3-46A2-9F29-BDCDF3368CB4}" type="datetime1">
              <a:rPr lang="en-US" smtClean="0"/>
              <a:t>8/12/2024</a:t>
            </a:fld>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354"/>
        <p:cNvGrpSpPr/>
        <p:nvPr/>
      </p:nvGrpSpPr>
      <p:grpSpPr>
        <a:xfrm>
          <a:off x="0" y="0"/>
          <a:ext cx="0" cy="0"/>
          <a:chOff x="0" y="0"/>
          <a:chExt cx="0" cy="0"/>
        </a:xfrm>
      </p:grpSpPr>
      <p:sp>
        <p:nvSpPr>
          <p:cNvPr id="1355" name="Google Shape;1355;p123"/>
          <p:cNvSpPr txBox="1">
            <a:spLocks noGrp="1"/>
          </p:cNvSpPr>
          <p:nvPr>
            <p:ph type="body" idx="1"/>
          </p:nvPr>
        </p:nvSpPr>
        <p:spPr>
          <a:xfrm>
            <a:off x="695400" y="1124744"/>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Microprocessor performs three main tasks: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data transfer between itself and the memory or I/O systems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simple arithmetic and logic operations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program flow via simple decisions</a:t>
            </a:r>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356" name="Google Shape;1356;p1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109</a:t>
            </a:fld>
            <a:endParaRPr/>
          </a:p>
        </p:txBody>
      </p:sp>
      <p:sp>
        <p:nvSpPr>
          <p:cNvPr id="1357" name="Google Shape;1357;p1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358" name="Google Shape;1358;p1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B7F46137-8064-43F9-9726-DE545910C298}" type="datetime1">
              <a:rPr lang="en-US" smtClean="0"/>
              <a:t>8/12/2024</a:t>
            </a:fld>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363"/>
        <p:cNvGrpSpPr/>
        <p:nvPr/>
      </p:nvGrpSpPr>
      <p:grpSpPr>
        <a:xfrm>
          <a:off x="0" y="0"/>
          <a:ext cx="0" cy="0"/>
          <a:chOff x="0" y="0"/>
          <a:chExt cx="0" cy="0"/>
        </a:xfrm>
      </p:grpSpPr>
      <p:sp>
        <p:nvSpPr>
          <p:cNvPr id="1364" name="Google Shape;1364;p1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110</a:t>
            </a:fld>
            <a:endParaRPr/>
          </a:p>
        </p:txBody>
      </p:sp>
      <p:sp>
        <p:nvSpPr>
          <p:cNvPr id="1365" name="Google Shape;1365;p124"/>
          <p:cNvSpPr txBox="1">
            <a:spLocks noGrp="1"/>
          </p:cNvSpPr>
          <p:nvPr>
            <p:ph type="title"/>
          </p:nvPr>
        </p:nvSpPr>
        <p:spPr>
          <a:xfrm>
            <a:off x="825411" y="476672"/>
            <a:ext cx="8229600" cy="5089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Microprocessor types</a:t>
            </a:r>
            <a:endParaRPr/>
          </a:p>
        </p:txBody>
      </p:sp>
      <p:sp>
        <p:nvSpPr>
          <p:cNvPr id="1366" name="Google Shape;1366;p124"/>
          <p:cNvSpPr txBox="1">
            <a:spLocks noGrp="1"/>
          </p:cNvSpPr>
          <p:nvPr>
            <p:ph type="body" idx="1"/>
          </p:nvPr>
        </p:nvSpPr>
        <p:spPr>
          <a:xfrm>
            <a:off x="838200" y="1484784"/>
            <a:ext cx="10515600" cy="469217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Microprocessors can be characterized based on</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the word size</a:t>
            </a:r>
            <a:endParaRPr/>
          </a:p>
          <a:p>
            <a:pPr marL="1143000" lvl="2" indent="-228600" algn="l" rtl="0">
              <a:lnSpc>
                <a:spcPct val="90000"/>
              </a:lnSpc>
              <a:spcBef>
                <a:spcPts val="500"/>
              </a:spcBef>
              <a:spcAft>
                <a:spcPts val="0"/>
              </a:spcAft>
              <a:buClr>
                <a:schemeClr val="dk1"/>
              </a:buClr>
              <a:buSzPts val="2400"/>
              <a:buChar char="•"/>
            </a:pPr>
            <a:r>
              <a:rPr lang="en-US" sz="2400">
                <a:latin typeface="Times New Roman"/>
                <a:ea typeface="Times New Roman"/>
                <a:cs typeface="Times New Roman"/>
                <a:sym typeface="Times New Roman"/>
              </a:rPr>
              <a:t>8 bit, 16 bit, 32 bit, etc. processors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Instruction set structure</a:t>
            </a:r>
            <a:endParaRPr/>
          </a:p>
          <a:p>
            <a:pPr marL="1143000" lvl="2" indent="-228600" algn="l" rtl="0">
              <a:lnSpc>
                <a:spcPct val="90000"/>
              </a:lnSpc>
              <a:spcBef>
                <a:spcPts val="500"/>
              </a:spcBef>
              <a:spcAft>
                <a:spcPts val="0"/>
              </a:spcAft>
              <a:buClr>
                <a:schemeClr val="dk1"/>
              </a:buClr>
              <a:buSzPts val="2400"/>
              <a:buChar char="•"/>
            </a:pPr>
            <a:r>
              <a:rPr lang="en-US" sz="2400">
                <a:latin typeface="Times New Roman"/>
                <a:ea typeface="Times New Roman"/>
                <a:cs typeface="Times New Roman"/>
                <a:sym typeface="Times New Roman"/>
              </a:rPr>
              <a:t>RISC (Reduced Instruction Set Computer), CISC (Complex Instruction Set Computer)</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Functions</a:t>
            </a:r>
            <a:endParaRPr/>
          </a:p>
          <a:p>
            <a:pPr marL="1143000" lvl="2" indent="-228600" algn="l" rtl="0">
              <a:lnSpc>
                <a:spcPct val="90000"/>
              </a:lnSpc>
              <a:spcBef>
                <a:spcPts val="500"/>
              </a:spcBef>
              <a:spcAft>
                <a:spcPts val="0"/>
              </a:spcAft>
              <a:buClr>
                <a:schemeClr val="dk1"/>
              </a:buClr>
              <a:buSzPts val="2400"/>
              <a:buChar char="•"/>
            </a:pPr>
            <a:r>
              <a:rPr lang="en-US" sz="2400">
                <a:latin typeface="Times New Roman"/>
                <a:ea typeface="Times New Roman"/>
                <a:cs typeface="Times New Roman"/>
                <a:sym typeface="Times New Roman"/>
              </a:rPr>
              <a:t>General purpose, special purpose such image processing, floating point calculations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And more …</a:t>
            </a:r>
            <a:endParaRPr/>
          </a:p>
        </p:txBody>
      </p:sp>
      <p:sp>
        <p:nvSpPr>
          <p:cNvPr id="1367" name="Google Shape;1367;p1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368" name="Google Shape;1368;p1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BF1D972E-E1D3-41A8-B3A1-FEA9D2679B1F}" type="datetime1">
              <a:rPr lang="en-US" smtClean="0"/>
              <a:t>8/12/2024</a:t>
            </a:fld>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372"/>
        <p:cNvGrpSpPr/>
        <p:nvPr/>
      </p:nvGrpSpPr>
      <p:grpSpPr>
        <a:xfrm>
          <a:off x="0" y="0"/>
          <a:ext cx="0" cy="0"/>
          <a:chOff x="0" y="0"/>
          <a:chExt cx="0" cy="0"/>
        </a:xfrm>
      </p:grpSpPr>
      <p:sp>
        <p:nvSpPr>
          <p:cNvPr id="1373" name="Google Shape;1373;p125"/>
          <p:cNvSpPr txBox="1">
            <a:spLocks noGrp="1"/>
          </p:cNvSpPr>
          <p:nvPr>
            <p:ph type="title"/>
          </p:nvPr>
        </p:nvSpPr>
        <p:spPr>
          <a:xfrm>
            <a:off x="823137" y="404664"/>
            <a:ext cx="9372600" cy="7200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Evolution of Microprocessors</a:t>
            </a:r>
            <a:endParaRPr/>
          </a:p>
        </p:txBody>
      </p:sp>
      <p:sp>
        <p:nvSpPr>
          <p:cNvPr id="1374" name="Google Shape;1374;p125"/>
          <p:cNvSpPr txBox="1">
            <a:spLocks noGrp="1"/>
          </p:cNvSpPr>
          <p:nvPr>
            <p:ph type="body" idx="1"/>
          </p:nvPr>
        </p:nvSpPr>
        <p:spPr>
          <a:xfrm>
            <a:off x="407368" y="1110095"/>
            <a:ext cx="11161239" cy="5257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The first </a:t>
            </a:r>
            <a:r>
              <a:rPr lang="en-US" sz="2400" b="1">
                <a:latin typeface="Times New Roman"/>
                <a:ea typeface="Times New Roman"/>
                <a:cs typeface="Times New Roman"/>
                <a:sym typeface="Times New Roman"/>
              </a:rPr>
              <a:t>microprocessor</a:t>
            </a:r>
            <a:r>
              <a:rPr lang="en-US" sz="2400">
                <a:latin typeface="Times New Roman"/>
                <a:ea typeface="Times New Roman"/>
                <a:cs typeface="Times New Roman"/>
                <a:sym typeface="Times New Roman"/>
              </a:rPr>
              <a:t> was </a:t>
            </a:r>
            <a:r>
              <a:rPr lang="en-US" sz="2400" b="1">
                <a:latin typeface="Times New Roman"/>
                <a:ea typeface="Times New Roman"/>
                <a:cs typeface="Times New Roman"/>
                <a:sym typeface="Times New Roman"/>
              </a:rPr>
              <a:t>introduced</a:t>
            </a:r>
            <a:r>
              <a:rPr lang="en-US" sz="2400">
                <a:latin typeface="Times New Roman"/>
                <a:ea typeface="Times New Roman"/>
                <a:cs typeface="Times New Roman"/>
                <a:sym typeface="Times New Roman"/>
              </a:rPr>
              <a:t> in 1971 by Intel Corp.</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It was named Intel 4004 as it was a 4 bit processor.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Categories according to the generations or size</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First Generation (4 - bit Microprocessors)</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could perform simple arithmetic such as addition, subtraction, and logical operations like Boolean OR and Boolean AND.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had a control unit capable of performing control functions like </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fetching an instruction from storage memory, </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decoding it, and then</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 generating control pulses to execute it.</a:t>
            </a:r>
            <a:endParaRPr/>
          </a:p>
        </p:txBody>
      </p:sp>
      <p:sp>
        <p:nvSpPr>
          <p:cNvPr id="1375" name="Google Shape;1375;p1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111</a:t>
            </a:fld>
            <a:endParaRPr/>
          </a:p>
        </p:txBody>
      </p:sp>
      <p:sp>
        <p:nvSpPr>
          <p:cNvPr id="1376" name="Google Shape;1376;p1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377" name="Google Shape;1377;p1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D51C757C-60B5-42B2-BF18-807B37A527B5}" type="datetime1">
              <a:rPr lang="en-US" smtClean="0"/>
              <a:t>8/12/2024</a:t>
            </a:fld>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381"/>
        <p:cNvGrpSpPr/>
        <p:nvPr/>
      </p:nvGrpSpPr>
      <p:grpSpPr>
        <a:xfrm>
          <a:off x="0" y="0"/>
          <a:ext cx="0" cy="0"/>
          <a:chOff x="0" y="0"/>
          <a:chExt cx="0" cy="0"/>
        </a:xfrm>
      </p:grpSpPr>
      <p:sp>
        <p:nvSpPr>
          <p:cNvPr id="1382" name="Google Shape;1382;p126"/>
          <p:cNvSpPr txBox="1">
            <a:spLocks noGrp="1"/>
          </p:cNvSpPr>
          <p:nvPr>
            <p:ph type="body" idx="1"/>
          </p:nvPr>
        </p:nvSpPr>
        <p:spPr>
          <a:xfrm>
            <a:off x="335360" y="856959"/>
            <a:ext cx="11449272" cy="516432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a:latin typeface="Times New Roman"/>
                <a:ea typeface="Times New Roman"/>
                <a:cs typeface="Times New Roman"/>
                <a:sym typeface="Times New Roman"/>
              </a:rPr>
              <a:t>Second Generation (8 - bit Microprocessor)</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The second generation microprocessors were introduced in 1973 again by Intel.</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the first 8 - bit microprocessor which could perform arithmetic and logic operations on 8-bit words. </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Third Generation (16 - bit Microprocessor)</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introduced in 1978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represented by </a:t>
            </a:r>
            <a:r>
              <a:rPr lang="en-US" sz="2400" b="1">
                <a:latin typeface="Times New Roman"/>
                <a:ea typeface="Times New Roman"/>
                <a:cs typeface="Times New Roman"/>
                <a:sym typeface="Times New Roman"/>
              </a:rPr>
              <a:t>Intel's 8086, Zilog Z800 and 80286</a:t>
            </a:r>
            <a:r>
              <a:rPr lang="en-US" sz="2400">
                <a:latin typeface="Times New Roman"/>
                <a:ea typeface="Times New Roman"/>
                <a:cs typeface="Times New Roman"/>
                <a:sym typeface="Times New Roman"/>
              </a:rPr>
              <a:t>,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16 - bit processors with a performance like minicomputers.</a:t>
            </a:r>
            <a:endParaRPr/>
          </a:p>
        </p:txBody>
      </p:sp>
      <p:sp>
        <p:nvSpPr>
          <p:cNvPr id="1383" name="Google Shape;1383;p1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112</a:t>
            </a:fld>
            <a:endParaRPr/>
          </a:p>
        </p:txBody>
      </p:sp>
      <p:sp>
        <p:nvSpPr>
          <p:cNvPr id="1384" name="Google Shape;1384;p1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385" name="Google Shape;1385;p1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137756C-139C-47C0-8849-B9A06ECE7A8A}" type="datetime1">
              <a:rPr lang="en-US" smtClean="0"/>
              <a:t>8/12/2024</a:t>
            </a:fld>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389"/>
        <p:cNvGrpSpPr/>
        <p:nvPr/>
      </p:nvGrpSpPr>
      <p:grpSpPr>
        <a:xfrm>
          <a:off x="0" y="0"/>
          <a:ext cx="0" cy="0"/>
          <a:chOff x="0" y="0"/>
          <a:chExt cx="0" cy="0"/>
        </a:xfrm>
      </p:grpSpPr>
      <p:sp>
        <p:nvSpPr>
          <p:cNvPr id="1390" name="Google Shape;1390;p127"/>
          <p:cNvSpPr txBox="1">
            <a:spLocks noGrp="1"/>
          </p:cNvSpPr>
          <p:nvPr>
            <p:ph type="body" idx="1"/>
          </p:nvPr>
        </p:nvSpPr>
        <p:spPr>
          <a:xfrm>
            <a:off x="479376" y="980728"/>
            <a:ext cx="11089232" cy="537229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a:latin typeface="Times New Roman"/>
                <a:ea typeface="Times New Roman"/>
                <a:cs typeface="Times New Roman"/>
                <a:sym typeface="Times New Roman"/>
              </a:rPr>
              <a:t>Fourth Generation (32 - bit Microprocessors)</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Several different companies introduced the 32-bit microprocessors</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the most popular one is the </a:t>
            </a:r>
            <a:r>
              <a:rPr lang="en-US" sz="2400" b="1">
                <a:latin typeface="Times New Roman"/>
                <a:ea typeface="Times New Roman"/>
                <a:cs typeface="Times New Roman"/>
                <a:sym typeface="Times New Roman"/>
              </a:rPr>
              <a:t>Intel 80386</a:t>
            </a: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Fifth Generation (64 - bit Microprocessors)</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Introduced in 1995</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After 80856, Intel came out with a new processor namely Pentium processor followed by </a:t>
            </a:r>
            <a:r>
              <a:rPr lang="en-US" sz="2400" b="1">
                <a:latin typeface="Times New Roman"/>
                <a:ea typeface="Times New Roman"/>
                <a:cs typeface="Times New Roman"/>
                <a:sym typeface="Times New Roman"/>
              </a:rPr>
              <a:t>Pentium Pro CPU</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allows multiple CPUs in a single system to achieve multiprocessing.</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Other improved 64-bit processors are </a:t>
            </a:r>
            <a:r>
              <a:rPr lang="en-US" sz="2400" b="1">
                <a:latin typeface="Times New Roman"/>
                <a:ea typeface="Times New Roman"/>
                <a:cs typeface="Times New Roman"/>
                <a:sym typeface="Times New Roman"/>
              </a:rPr>
              <a:t>Celeron, Dual, Quad, Octa Core processors</a:t>
            </a:r>
            <a:r>
              <a:rPr lang="en-US" sz="2400">
                <a:latin typeface="Times New Roman"/>
                <a:ea typeface="Times New Roman"/>
                <a:cs typeface="Times New Roman"/>
                <a:sym typeface="Times New Roman"/>
              </a:rPr>
              <a:t>.</a:t>
            </a:r>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391" name="Google Shape;1391;p1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113</a:t>
            </a:fld>
            <a:endParaRPr/>
          </a:p>
        </p:txBody>
      </p:sp>
      <p:sp>
        <p:nvSpPr>
          <p:cNvPr id="1392" name="Google Shape;1392;p1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393" name="Google Shape;1393;p1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FA9E845D-329E-44F6-BBAA-F8D2C68F3412}" type="datetime1">
              <a:rPr lang="en-US" smtClean="0"/>
              <a:t>8/12/2024</a:t>
            </a:fld>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398"/>
        <p:cNvGrpSpPr/>
        <p:nvPr/>
      </p:nvGrpSpPr>
      <p:grpSpPr>
        <a:xfrm>
          <a:off x="0" y="0"/>
          <a:ext cx="0" cy="0"/>
          <a:chOff x="0" y="0"/>
          <a:chExt cx="0" cy="0"/>
        </a:xfrm>
      </p:grpSpPr>
      <p:sp>
        <p:nvSpPr>
          <p:cNvPr id="1399" name="Google Shape;1399;p1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114</a:t>
            </a:fld>
            <a:endParaRPr/>
          </a:p>
        </p:txBody>
      </p:sp>
      <p:sp>
        <p:nvSpPr>
          <p:cNvPr id="1400" name="Google Shape;1400;p128"/>
          <p:cNvSpPr txBox="1">
            <a:spLocks noGrp="1"/>
          </p:cNvSpPr>
          <p:nvPr>
            <p:ph type="title"/>
          </p:nvPr>
        </p:nvSpPr>
        <p:spPr>
          <a:xfrm>
            <a:off x="695400" y="332656"/>
            <a:ext cx="9217024" cy="64342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Typical microprocessors</a:t>
            </a:r>
            <a:endParaRPr/>
          </a:p>
        </p:txBody>
      </p:sp>
      <p:sp>
        <p:nvSpPr>
          <p:cNvPr id="1401" name="Google Shape;1401;p128"/>
          <p:cNvSpPr txBox="1">
            <a:spLocks noGrp="1"/>
          </p:cNvSpPr>
          <p:nvPr>
            <p:ph type="body" idx="1"/>
          </p:nvPr>
        </p:nvSpPr>
        <p:spPr>
          <a:xfrm>
            <a:off x="838200" y="1124743"/>
            <a:ext cx="10515600" cy="5052219"/>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000"/>
              <a:buChar char="•"/>
            </a:pPr>
            <a:r>
              <a:rPr lang="en-US" sz="2000" dirty="0">
                <a:latin typeface="Times New Roman"/>
                <a:ea typeface="Times New Roman"/>
                <a:cs typeface="Times New Roman"/>
                <a:sym typeface="Times New Roman"/>
              </a:rPr>
              <a:t>Most commonly used</a:t>
            </a:r>
            <a:endParaRPr dirty="0"/>
          </a:p>
          <a:p>
            <a:pPr marL="685800" lvl="1" indent="-228600" algn="l" rtl="0">
              <a:lnSpc>
                <a:spcPct val="90000"/>
              </a:lnSpc>
              <a:spcBef>
                <a:spcPts val="500"/>
              </a:spcBef>
              <a:spcAft>
                <a:spcPts val="0"/>
              </a:spcAft>
              <a:buClr>
                <a:schemeClr val="dk1"/>
              </a:buClr>
              <a:buSzPts val="2000"/>
              <a:buChar char="•"/>
            </a:pPr>
            <a:r>
              <a:rPr lang="en-US" sz="2000" dirty="0">
                <a:latin typeface="Times New Roman"/>
                <a:ea typeface="Times New Roman"/>
                <a:cs typeface="Times New Roman"/>
                <a:sym typeface="Times New Roman"/>
              </a:rPr>
              <a:t>68K</a:t>
            </a:r>
            <a:endParaRPr dirty="0"/>
          </a:p>
          <a:p>
            <a:pPr marL="1143000" lvl="2" indent="-228600" algn="l" rtl="0">
              <a:lnSpc>
                <a:spcPct val="90000"/>
              </a:lnSpc>
              <a:spcBef>
                <a:spcPts val="500"/>
              </a:spcBef>
              <a:spcAft>
                <a:spcPts val="0"/>
              </a:spcAft>
              <a:buClr>
                <a:schemeClr val="dk1"/>
              </a:buClr>
              <a:buSzPts val="2000"/>
              <a:buChar char="•"/>
            </a:pPr>
            <a:r>
              <a:rPr lang="en-US" dirty="0">
                <a:latin typeface="Times New Roman"/>
                <a:ea typeface="Times New Roman"/>
                <a:cs typeface="Times New Roman"/>
                <a:sym typeface="Times New Roman"/>
              </a:rPr>
              <a:t>Motorola</a:t>
            </a:r>
            <a:endParaRPr dirty="0"/>
          </a:p>
          <a:p>
            <a:pPr marL="685800" lvl="1" indent="-228600" algn="l" rtl="0">
              <a:lnSpc>
                <a:spcPct val="90000"/>
              </a:lnSpc>
              <a:spcBef>
                <a:spcPts val="500"/>
              </a:spcBef>
              <a:spcAft>
                <a:spcPts val="0"/>
              </a:spcAft>
              <a:buClr>
                <a:schemeClr val="dk1"/>
              </a:buClr>
              <a:buSzPts val="2000"/>
              <a:buChar char="•"/>
            </a:pPr>
            <a:r>
              <a:rPr lang="en-US" sz="2000" dirty="0">
                <a:latin typeface="Times New Roman"/>
                <a:ea typeface="Times New Roman"/>
                <a:cs typeface="Times New Roman"/>
                <a:sym typeface="Times New Roman"/>
              </a:rPr>
              <a:t>x86</a:t>
            </a:r>
            <a:endParaRPr dirty="0"/>
          </a:p>
          <a:p>
            <a:pPr marL="1143000" lvl="2" indent="-228600" algn="l" rtl="0">
              <a:lnSpc>
                <a:spcPct val="90000"/>
              </a:lnSpc>
              <a:spcBef>
                <a:spcPts val="500"/>
              </a:spcBef>
              <a:spcAft>
                <a:spcPts val="0"/>
              </a:spcAft>
              <a:buClr>
                <a:schemeClr val="dk1"/>
              </a:buClr>
              <a:buSzPts val="2000"/>
              <a:buChar char="•"/>
            </a:pPr>
            <a:r>
              <a:rPr lang="en-US" dirty="0">
                <a:latin typeface="Times New Roman"/>
                <a:ea typeface="Times New Roman"/>
                <a:cs typeface="Times New Roman"/>
                <a:sym typeface="Times New Roman"/>
              </a:rPr>
              <a:t>Intel</a:t>
            </a:r>
            <a:endParaRPr dirty="0"/>
          </a:p>
          <a:p>
            <a:pPr marL="685800" lvl="1" indent="-228600" algn="l" rtl="0">
              <a:lnSpc>
                <a:spcPct val="90000"/>
              </a:lnSpc>
              <a:spcBef>
                <a:spcPts val="500"/>
              </a:spcBef>
              <a:spcAft>
                <a:spcPts val="0"/>
              </a:spcAft>
              <a:buClr>
                <a:schemeClr val="dk1"/>
              </a:buClr>
              <a:buSzPts val="2000"/>
              <a:buChar char="•"/>
            </a:pPr>
            <a:r>
              <a:rPr lang="en-US" sz="2000" dirty="0">
                <a:latin typeface="Times New Roman"/>
                <a:ea typeface="Times New Roman"/>
                <a:cs typeface="Times New Roman"/>
                <a:sym typeface="Times New Roman"/>
              </a:rPr>
              <a:t>IA-64</a:t>
            </a:r>
            <a:endParaRPr dirty="0"/>
          </a:p>
          <a:p>
            <a:pPr marL="1143000" lvl="2" indent="-228600" algn="l" rtl="0">
              <a:lnSpc>
                <a:spcPct val="90000"/>
              </a:lnSpc>
              <a:spcBef>
                <a:spcPts val="500"/>
              </a:spcBef>
              <a:spcAft>
                <a:spcPts val="0"/>
              </a:spcAft>
              <a:buClr>
                <a:schemeClr val="dk1"/>
              </a:buClr>
              <a:buSzPts val="2000"/>
              <a:buChar char="•"/>
            </a:pPr>
            <a:r>
              <a:rPr lang="en-US" dirty="0">
                <a:latin typeface="Times New Roman"/>
                <a:ea typeface="Times New Roman"/>
                <a:cs typeface="Times New Roman"/>
                <a:sym typeface="Times New Roman"/>
              </a:rPr>
              <a:t>Intel </a:t>
            </a:r>
            <a:endParaRPr dirty="0"/>
          </a:p>
          <a:p>
            <a:pPr marL="685800" lvl="1" indent="-228600" algn="l" rtl="0">
              <a:lnSpc>
                <a:spcPct val="90000"/>
              </a:lnSpc>
              <a:spcBef>
                <a:spcPts val="500"/>
              </a:spcBef>
              <a:spcAft>
                <a:spcPts val="0"/>
              </a:spcAft>
              <a:buClr>
                <a:schemeClr val="dk1"/>
              </a:buClr>
              <a:buSzPts val="2000"/>
              <a:buChar char="•"/>
            </a:pPr>
            <a:r>
              <a:rPr lang="en-US" sz="2000" dirty="0">
                <a:latin typeface="Times New Roman"/>
                <a:ea typeface="Times New Roman"/>
                <a:cs typeface="Times New Roman"/>
                <a:sym typeface="Times New Roman"/>
              </a:rPr>
              <a:t>MIPS</a:t>
            </a:r>
            <a:endParaRPr dirty="0"/>
          </a:p>
          <a:p>
            <a:pPr marL="1143000" lvl="2" indent="-228600" algn="l" rtl="0">
              <a:lnSpc>
                <a:spcPct val="90000"/>
              </a:lnSpc>
              <a:spcBef>
                <a:spcPts val="500"/>
              </a:spcBef>
              <a:spcAft>
                <a:spcPts val="0"/>
              </a:spcAft>
              <a:buClr>
                <a:schemeClr val="dk1"/>
              </a:buClr>
              <a:buSzPts val="2000"/>
              <a:buChar char="•"/>
            </a:pPr>
            <a:r>
              <a:rPr lang="en-US" dirty="0">
                <a:latin typeface="Times New Roman"/>
                <a:ea typeface="Times New Roman"/>
                <a:cs typeface="Times New Roman"/>
                <a:sym typeface="Times New Roman"/>
              </a:rPr>
              <a:t>Microprocessor without interlocked pipeline stages</a:t>
            </a:r>
            <a:endParaRPr dirty="0"/>
          </a:p>
          <a:p>
            <a:pPr marL="685800" lvl="1" indent="-228600" algn="l" rtl="0">
              <a:lnSpc>
                <a:spcPct val="90000"/>
              </a:lnSpc>
              <a:spcBef>
                <a:spcPts val="500"/>
              </a:spcBef>
              <a:spcAft>
                <a:spcPts val="0"/>
              </a:spcAft>
              <a:buClr>
                <a:schemeClr val="dk1"/>
              </a:buClr>
              <a:buSzPts val="2000"/>
              <a:buChar char="•"/>
            </a:pPr>
            <a:r>
              <a:rPr lang="en-US" sz="2000" dirty="0">
                <a:latin typeface="Times New Roman"/>
                <a:ea typeface="Times New Roman"/>
                <a:cs typeface="Times New Roman"/>
                <a:sym typeface="Times New Roman"/>
              </a:rPr>
              <a:t>ARM</a:t>
            </a:r>
            <a:endParaRPr dirty="0"/>
          </a:p>
          <a:p>
            <a:pPr marL="1143000" lvl="2" indent="-228600" algn="l" rtl="0">
              <a:lnSpc>
                <a:spcPct val="90000"/>
              </a:lnSpc>
              <a:spcBef>
                <a:spcPts val="500"/>
              </a:spcBef>
              <a:spcAft>
                <a:spcPts val="0"/>
              </a:spcAft>
              <a:buClr>
                <a:schemeClr val="dk1"/>
              </a:buClr>
              <a:buSzPts val="2000"/>
              <a:buChar char="•"/>
            </a:pPr>
            <a:r>
              <a:rPr lang="en-US" dirty="0">
                <a:latin typeface="Times New Roman"/>
                <a:ea typeface="Times New Roman"/>
                <a:cs typeface="Times New Roman"/>
                <a:sym typeface="Times New Roman"/>
              </a:rPr>
              <a:t>Advanced RISC Machine</a:t>
            </a:r>
            <a:endParaRPr dirty="0"/>
          </a:p>
          <a:p>
            <a:pPr marL="685800" lvl="1" indent="-228600" algn="l" rtl="0">
              <a:lnSpc>
                <a:spcPct val="90000"/>
              </a:lnSpc>
              <a:spcBef>
                <a:spcPts val="500"/>
              </a:spcBef>
              <a:spcAft>
                <a:spcPts val="0"/>
              </a:spcAft>
              <a:buClr>
                <a:schemeClr val="dk1"/>
              </a:buClr>
              <a:buSzPts val="2000"/>
              <a:buChar char="•"/>
            </a:pPr>
            <a:r>
              <a:rPr lang="en-US" sz="2000" dirty="0">
                <a:latin typeface="Times New Roman"/>
                <a:ea typeface="Times New Roman"/>
                <a:cs typeface="Times New Roman"/>
                <a:sym typeface="Times New Roman"/>
              </a:rPr>
              <a:t>PowerPC</a:t>
            </a:r>
            <a:endParaRPr dirty="0"/>
          </a:p>
          <a:p>
            <a:pPr marL="1143000" lvl="2" indent="-228600" algn="l" rtl="0">
              <a:lnSpc>
                <a:spcPct val="90000"/>
              </a:lnSpc>
              <a:spcBef>
                <a:spcPts val="500"/>
              </a:spcBef>
              <a:spcAft>
                <a:spcPts val="0"/>
              </a:spcAft>
              <a:buClr>
                <a:schemeClr val="dk1"/>
              </a:buClr>
              <a:buSzPts val="2000"/>
              <a:buChar char="•"/>
            </a:pPr>
            <a:r>
              <a:rPr lang="en-US" dirty="0">
                <a:latin typeface="Times New Roman"/>
                <a:ea typeface="Times New Roman"/>
                <a:cs typeface="Times New Roman"/>
                <a:sym typeface="Times New Roman"/>
              </a:rPr>
              <a:t>Apple-IBM-Motorola alliance</a:t>
            </a:r>
            <a:endParaRPr dirty="0"/>
          </a:p>
          <a:p>
            <a:pPr marL="685800" lvl="1" indent="-228600" algn="l" rtl="0">
              <a:lnSpc>
                <a:spcPct val="90000"/>
              </a:lnSpc>
              <a:spcBef>
                <a:spcPts val="500"/>
              </a:spcBef>
              <a:spcAft>
                <a:spcPts val="0"/>
              </a:spcAft>
              <a:buClr>
                <a:schemeClr val="dk1"/>
              </a:buClr>
              <a:buSzPts val="2000"/>
              <a:buChar char="•"/>
            </a:pPr>
            <a:r>
              <a:rPr lang="en-US" sz="2000">
                <a:latin typeface="Times New Roman"/>
                <a:ea typeface="Times New Roman"/>
                <a:cs typeface="Times New Roman"/>
                <a:sym typeface="Times New Roman"/>
              </a:rPr>
              <a:t>Atmel AVR</a:t>
            </a:r>
            <a:endParaRPr dirty="0"/>
          </a:p>
        </p:txBody>
      </p:sp>
      <p:sp>
        <p:nvSpPr>
          <p:cNvPr id="1402" name="Google Shape;1402;p1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03" name="Google Shape;1403;p1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4FD95E1A-ED03-40CF-B916-F5953208F1E3}" type="datetime1">
              <a:rPr lang="en-US" smtClean="0"/>
              <a:t>8/12/2024</a:t>
            </a:fld>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407"/>
        <p:cNvGrpSpPr/>
        <p:nvPr/>
      </p:nvGrpSpPr>
      <p:grpSpPr>
        <a:xfrm>
          <a:off x="0" y="0"/>
          <a:ext cx="0" cy="0"/>
          <a:chOff x="0" y="0"/>
          <a:chExt cx="0" cy="0"/>
        </a:xfrm>
      </p:grpSpPr>
      <p:sp>
        <p:nvSpPr>
          <p:cNvPr id="1408" name="Google Shape;1408;p129"/>
          <p:cNvSpPr txBox="1">
            <a:spLocks noGrp="1"/>
          </p:cNvSpPr>
          <p:nvPr>
            <p:ph type="title"/>
          </p:nvPr>
        </p:nvSpPr>
        <p:spPr>
          <a:xfrm>
            <a:off x="623392" y="476672"/>
            <a:ext cx="8856984" cy="44864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8086 Microprocessor</a:t>
            </a:r>
            <a:endParaRPr/>
          </a:p>
        </p:txBody>
      </p:sp>
      <p:sp>
        <p:nvSpPr>
          <p:cNvPr id="1409" name="Google Shape;1409;p129"/>
          <p:cNvSpPr txBox="1">
            <a:spLocks noGrp="1"/>
          </p:cNvSpPr>
          <p:nvPr>
            <p:ph type="body" idx="1"/>
          </p:nvPr>
        </p:nvSpPr>
        <p:spPr>
          <a:xfrm>
            <a:off x="623392" y="1268760"/>
            <a:ext cx="11017224" cy="4908203"/>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designed by Intel in 1976</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16-bit Microprocessor having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20 address lines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16 data lines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 provides up to 1MB storage</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consists of powerful instruction set, which provides operations like multiplication and division easily.</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supports two modes of operation</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Maximum mode : 	suitable for system having multiple processors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Minimum mode : 	suitable for system having a single processor.</a:t>
            </a:r>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410" name="Google Shape;1410;p1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115</a:t>
            </a:fld>
            <a:endParaRPr/>
          </a:p>
        </p:txBody>
      </p:sp>
      <p:sp>
        <p:nvSpPr>
          <p:cNvPr id="1411" name="Google Shape;1411;p1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12" name="Google Shape;1412;p1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A8BA1525-1450-479A-A1FE-C478C2492C1E}" type="datetime1">
              <a:rPr lang="en-US" smtClean="0"/>
              <a:t>8/12/2024</a:t>
            </a:fld>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416"/>
        <p:cNvGrpSpPr/>
        <p:nvPr/>
      </p:nvGrpSpPr>
      <p:grpSpPr>
        <a:xfrm>
          <a:off x="0" y="0"/>
          <a:ext cx="0" cy="0"/>
          <a:chOff x="0" y="0"/>
          <a:chExt cx="0" cy="0"/>
        </a:xfrm>
      </p:grpSpPr>
      <p:sp>
        <p:nvSpPr>
          <p:cNvPr id="1417" name="Google Shape;1417;p130"/>
          <p:cNvSpPr txBox="1">
            <a:spLocks noGrp="1"/>
          </p:cNvSpPr>
          <p:nvPr>
            <p:ph type="title"/>
          </p:nvPr>
        </p:nvSpPr>
        <p:spPr>
          <a:xfrm>
            <a:off x="1127448" y="476672"/>
            <a:ext cx="8229600" cy="43691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Features of 8086</a:t>
            </a:r>
            <a:endParaRPr/>
          </a:p>
        </p:txBody>
      </p:sp>
      <p:sp>
        <p:nvSpPr>
          <p:cNvPr id="1418" name="Google Shape;1418;p130"/>
          <p:cNvSpPr txBox="1">
            <a:spLocks noGrp="1"/>
          </p:cNvSpPr>
          <p:nvPr>
            <p:ph type="body" idx="1"/>
          </p:nvPr>
        </p:nvSpPr>
        <p:spPr>
          <a:xfrm>
            <a:off x="623392" y="1243782"/>
            <a:ext cx="11161240" cy="511256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Has an instruction queue, which is capable of storing six instruction bytes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First 16-bit processor having </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16-bit ALU</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16-bit registers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internal data bus</a:t>
            </a:r>
            <a:endParaRPr/>
          </a:p>
          <a:p>
            <a:pPr marL="685800" lvl="1" indent="-228600" algn="l" rtl="0">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16-bit external data bus </a:t>
            </a:r>
            <a:endParaRPr/>
          </a:p>
          <a:p>
            <a:pPr marL="457200" lvl="1" indent="0" algn="l" rtl="0">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uses two stages of pipelining</a:t>
            </a:r>
            <a:endParaRPr/>
          </a:p>
          <a:p>
            <a:pPr marL="457200" lvl="1" indent="0" algn="l" rtl="0">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 	1. Fetch Stage and </a:t>
            </a:r>
            <a:endParaRPr/>
          </a:p>
          <a:p>
            <a:pPr marL="457200" lvl="1" indent="0" algn="l" rtl="0">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	2.  Execute Stage</a:t>
            </a:r>
            <a:endParaRPr/>
          </a:p>
          <a:p>
            <a:pPr marL="457200" lvl="1" indent="0" algn="l" rtl="0">
              <a:lnSpc>
                <a:spcPct val="90000"/>
              </a:lnSpc>
              <a:spcBef>
                <a:spcPts val="500"/>
              </a:spcBef>
              <a:spcAft>
                <a:spcPts val="0"/>
              </a:spcAft>
              <a:buClr>
                <a:schemeClr val="dk1"/>
              </a:buClr>
              <a:buSzPts val="2400"/>
              <a:buNone/>
            </a:pPr>
            <a:r>
              <a:rPr lang="en-US">
                <a:latin typeface="Times New Roman"/>
                <a:ea typeface="Times New Roman"/>
                <a:cs typeface="Times New Roman"/>
                <a:sym typeface="Times New Roman"/>
              </a:rPr>
              <a:t>which improves performance.</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Fetch stage : can pre-fetch up to 6 bytes of instructions and stores them in the queue.</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Execute stage : executes these instructions.</a:t>
            </a:r>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457200" lvl="1" indent="0" algn="l" rtl="0">
              <a:lnSpc>
                <a:spcPct val="90000"/>
              </a:lnSpc>
              <a:spcBef>
                <a:spcPts val="500"/>
              </a:spcBef>
              <a:spcAft>
                <a:spcPts val="0"/>
              </a:spcAft>
              <a:buClr>
                <a:schemeClr val="dk1"/>
              </a:buClr>
              <a:buSzPts val="2400"/>
              <a:buNone/>
            </a:pPr>
            <a:endParaRPr>
              <a:latin typeface="Times New Roman"/>
              <a:ea typeface="Times New Roman"/>
              <a:cs typeface="Times New Roman"/>
              <a:sym typeface="Times New Roman"/>
            </a:endParaRPr>
          </a:p>
        </p:txBody>
      </p:sp>
      <p:sp>
        <p:nvSpPr>
          <p:cNvPr id="1419" name="Google Shape;1419;p1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116</a:t>
            </a:fld>
            <a:endParaRPr/>
          </a:p>
        </p:txBody>
      </p:sp>
      <p:sp>
        <p:nvSpPr>
          <p:cNvPr id="1420" name="Google Shape;1420;p1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21" name="Google Shape;1421;p1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84BCBECB-2404-44FC-A8F1-F76C36BC11BA}" type="datetime1">
              <a:rPr lang="en-US" smtClean="0"/>
              <a:t>8/12/2024</a:t>
            </a:fld>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425"/>
        <p:cNvGrpSpPr/>
        <p:nvPr/>
      </p:nvGrpSpPr>
      <p:grpSpPr>
        <a:xfrm>
          <a:off x="0" y="0"/>
          <a:ext cx="0" cy="0"/>
          <a:chOff x="0" y="0"/>
          <a:chExt cx="0" cy="0"/>
        </a:xfrm>
      </p:grpSpPr>
      <p:sp>
        <p:nvSpPr>
          <p:cNvPr id="1426" name="Google Shape;1426;p131"/>
          <p:cNvSpPr txBox="1">
            <a:spLocks noGrp="1"/>
          </p:cNvSpPr>
          <p:nvPr>
            <p:ph type="title"/>
          </p:nvPr>
        </p:nvSpPr>
        <p:spPr>
          <a:xfrm>
            <a:off x="623392" y="332656"/>
            <a:ext cx="8229600" cy="5089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Architecture of 8086</a:t>
            </a:r>
            <a:endParaRPr/>
          </a:p>
        </p:txBody>
      </p:sp>
      <p:pic>
        <p:nvPicPr>
          <p:cNvPr id="1427" name="Google Shape;1427;p131"/>
          <p:cNvPicPr preferRelativeResize="0">
            <a:picLocks noGrp="1"/>
          </p:cNvPicPr>
          <p:nvPr>
            <p:ph type="body" idx="1"/>
          </p:nvPr>
        </p:nvPicPr>
        <p:blipFill rotWithShape="1">
          <a:blip r:embed="rId3">
            <a:alphaModFix/>
          </a:blip>
          <a:srcRect/>
          <a:stretch/>
        </p:blipFill>
        <p:spPr>
          <a:xfrm>
            <a:off x="623392" y="1174750"/>
            <a:ext cx="10873208" cy="5181600"/>
          </a:xfrm>
          <a:prstGeom prst="rect">
            <a:avLst/>
          </a:prstGeom>
          <a:noFill/>
          <a:ln>
            <a:noFill/>
          </a:ln>
        </p:spPr>
      </p:pic>
      <p:sp>
        <p:nvSpPr>
          <p:cNvPr id="1428" name="Google Shape;1428;p1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117</a:t>
            </a:fld>
            <a:endParaRPr/>
          </a:p>
        </p:txBody>
      </p:sp>
      <p:sp>
        <p:nvSpPr>
          <p:cNvPr id="1429" name="Google Shape;1429;p1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30" name="Google Shape;1430;p1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7FF40BE3-D633-48AB-8CB2-E7B10E02D080}" type="datetime1">
              <a:rPr lang="en-US" smtClean="0"/>
              <a:t>8/12/2024</a:t>
            </a:fld>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434"/>
        <p:cNvGrpSpPr/>
        <p:nvPr/>
      </p:nvGrpSpPr>
      <p:grpSpPr>
        <a:xfrm>
          <a:off x="0" y="0"/>
          <a:ext cx="0" cy="0"/>
          <a:chOff x="0" y="0"/>
          <a:chExt cx="0" cy="0"/>
        </a:xfrm>
      </p:grpSpPr>
      <p:sp>
        <p:nvSpPr>
          <p:cNvPr id="1435" name="Google Shape;1435;p132"/>
          <p:cNvSpPr txBox="1">
            <a:spLocks noGrp="1"/>
          </p:cNvSpPr>
          <p:nvPr>
            <p:ph type="title"/>
          </p:nvPr>
        </p:nvSpPr>
        <p:spPr>
          <a:xfrm>
            <a:off x="695400" y="404664"/>
            <a:ext cx="9649072" cy="66406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Segments in 8086</a:t>
            </a:r>
            <a:endParaRPr/>
          </a:p>
        </p:txBody>
      </p:sp>
      <p:sp>
        <p:nvSpPr>
          <p:cNvPr id="1436" name="Google Shape;1436;p132"/>
          <p:cNvSpPr txBox="1">
            <a:spLocks noGrp="1"/>
          </p:cNvSpPr>
          <p:nvPr>
            <p:ph type="body" idx="1"/>
          </p:nvPr>
        </p:nvSpPr>
        <p:spPr>
          <a:xfrm>
            <a:off x="1055440" y="1600201"/>
            <a:ext cx="10153128" cy="45259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memory is divided into various sections called segments </a:t>
            </a:r>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Code segment</a:t>
            </a:r>
            <a:r>
              <a:rPr lang="en-US" sz="2400">
                <a:latin typeface="Times New Roman"/>
                <a:ea typeface="Times New Roman"/>
                <a:cs typeface="Times New Roman"/>
                <a:sym typeface="Times New Roman"/>
              </a:rPr>
              <a:t>  : where you store the program.</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Data segment</a:t>
            </a:r>
            <a:r>
              <a:rPr lang="en-US" sz="2400">
                <a:latin typeface="Times New Roman"/>
                <a:ea typeface="Times New Roman"/>
                <a:cs typeface="Times New Roman"/>
                <a:sym typeface="Times New Roman"/>
              </a:rPr>
              <a:t>  : where the data is stored.</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Extra segment</a:t>
            </a:r>
            <a:r>
              <a:rPr lang="en-US" sz="2400">
                <a:latin typeface="Times New Roman"/>
                <a:ea typeface="Times New Roman"/>
                <a:cs typeface="Times New Roman"/>
                <a:sym typeface="Times New Roman"/>
              </a:rPr>
              <a:t>  : mostly used for string operations.</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Stack segment</a:t>
            </a:r>
            <a:r>
              <a:rPr lang="en-US" sz="2400">
                <a:latin typeface="Times New Roman"/>
                <a:ea typeface="Times New Roman"/>
                <a:cs typeface="Times New Roman"/>
                <a:sym typeface="Times New Roman"/>
              </a:rPr>
              <a:t>  : used to push/pop</a:t>
            </a:r>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437" name="Google Shape;1437;p1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118</a:t>
            </a:fld>
            <a:endParaRPr/>
          </a:p>
        </p:txBody>
      </p:sp>
      <p:sp>
        <p:nvSpPr>
          <p:cNvPr id="1438" name="Google Shape;1438;p1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39" name="Google Shape;1439;p1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8546AFFF-F0C9-4F6C-B390-619F5FCB01B6}" type="datetime1">
              <a:rPr lang="en-US" smtClean="0"/>
              <a:t>8/12/2024</a:t>
            </a:fld>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443"/>
        <p:cNvGrpSpPr/>
        <p:nvPr/>
      </p:nvGrpSpPr>
      <p:grpSpPr>
        <a:xfrm>
          <a:off x="0" y="0"/>
          <a:ext cx="0" cy="0"/>
          <a:chOff x="0" y="0"/>
          <a:chExt cx="0" cy="0"/>
        </a:xfrm>
      </p:grpSpPr>
      <p:sp>
        <p:nvSpPr>
          <p:cNvPr id="1444" name="Google Shape;1444;p133"/>
          <p:cNvSpPr txBox="1">
            <a:spLocks noGrp="1"/>
          </p:cNvSpPr>
          <p:nvPr>
            <p:ph type="title"/>
          </p:nvPr>
        </p:nvSpPr>
        <p:spPr>
          <a:xfrm>
            <a:off x="479376" y="404664"/>
            <a:ext cx="8229600" cy="50405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General purpose registers</a:t>
            </a:r>
            <a:endParaRPr/>
          </a:p>
        </p:txBody>
      </p:sp>
      <p:sp>
        <p:nvSpPr>
          <p:cNvPr id="1445" name="Google Shape;1445;p133"/>
          <p:cNvSpPr txBox="1">
            <a:spLocks noGrp="1"/>
          </p:cNvSpPr>
          <p:nvPr>
            <p:ph type="body" idx="1"/>
          </p:nvPr>
        </p:nvSpPr>
        <p:spPr>
          <a:xfrm>
            <a:off x="828971" y="1158162"/>
            <a:ext cx="10607065" cy="52124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used to store temporary data within the microprocessor</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AX –</a:t>
            </a:r>
            <a:r>
              <a:rPr lang="en-US" sz="2400">
                <a:latin typeface="Times New Roman"/>
                <a:ea typeface="Times New Roman"/>
                <a:cs typeface="Times New Roman"/>
                <a:sym typeface="Times New Roman"/>
              </a:rPr>
              <a:t> Accumulator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16 bit register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divided into two 8-bit registers AH and AL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to perform 8-bit instructions also</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generally used for arithmetical and logical instructions</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BX –</a:t>
            </a:r>
            <a:r>
              <a:rPr lang="en-US" sz="2400">
                <a:latin typeface="Times New Roman"/>
                <a:ea typeface="Times New Roman"/>
                <a:cs typeface="Times New Roman"/>
                <a:sym typeface="Times New Roman"/>
              </a:rPr>
              <a:t> Base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16 bit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divided into two 8-bit registers BH and BL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to perform 8-bit instructions also</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Used to store the value of the offset.</a:t>
            </a:r>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446" name="Google Shape;1446;p1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119</a:t>
            </a:fld>
            <a:endParaRPr/>
          </a:p>
        </p:txBody>
      </p:sp>
      <p:sp>
        <p:nvSpPr>
          <p:cNvPr id="1447" name="Google Shape;1447;p1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48" name="Google Shape;1448;p1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90D73A13-D4CB-408A-A39E-71955C374E72}" type="datetime1">
              <a:rPr lang="en-US" smtClean="0"/>
              <a:t>8/12/2024</a:t>
            </a:fld>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452"/>
        <p:cNvGrpSpPr/>
        <p:nvPr/>
      </p:nvGrpSpPr>
      <p:grpSpPr>
        <a:xfrm>
          <a:off x="0" y="0"/>
          <a:ext cx="0" cy="0"/>
          <a:chOff x="0" y="0"/>
          <a:chExt cx="0" cy="0"/>
        </a:xfrm>
      </p:grpSpPr>
      <p:sp>
        <p:nvSpPr>
          <p:cNvPr id="1453" name="Google Shape;1453;p134"/>
          <p:cNvSpPr txBox="1">
            <a:spLocks noGrp="1"/>
          </p:cNvSpPr>
          <p:nvPr>
            <p:ph type="body" idx="1"/>
          </p:nvPr>
        </p:nvSpPr>
        <p:spPr>
          <a:xfrm>
            <a:off x="1055440" y="1052737"/>
            <a:ext cx="10153128" cy="492941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a:latin typeface="Times New Roman"/>
                <a:ea typeface="Times New Roman"/>
                <a:cs typeface="Times New Roman"/>
                <a:sym typeface="Times New Roman"/>
              </a:rPr>
              <a:t>CX –</a:t>
            </a:r>
            <a:r>
              <a:rPr lang="en-US" sz="2400">
                <a:latin typeface="Times New Roman"/>
                <a:ea typeface="Times New Roman"/>
                <a:cs typeface="Times New Roman"/>
                <a:sym typeface="Times New Roman"/>
              </a:rPr>
              <a:t> Counter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16 bit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divided into two 8-bit registers CH and CL</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to  perform 8-bit instructions also</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Used in looping and rotation</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DX – </a:t>
            </a:r>
            <a:r>
              <a:rPr lang="en-US" sz="2400">
                <a:latin typeface="Times New Roman"/>
                <a:ea typeface="Times New Roman"/>
                <a:cs typeface="Times New Roman"/>
                <a:sym typeface="Times New Roman"/>
              </a:rPr>
              <a:t>Data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16 bit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divided into two 8-bit registers DH and DL to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perform 8-bit instructions also</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Used in multiplication an input/output port addressing</a:t>
            </a:r>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454" name="Google Shape;1454;p1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120</a:t>
            </a:fld>
            <a:endParaRPr/>
          </a:p>
        </p:txBody>
      </p:sp>
      <p:sp>
        <p:nvSpPr>
          <p:cNvPr id="1455" name="Google Shape;1455;p1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56" name="Google Shape;1456;p1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FD2B0E36-A411-4F72-94FB-D6A4AE729558}" type="datetime1">
              <a:rPr lang="en-US" smtClean="0"/>
              <a:t>8/12/2024</a:t>
            </a:fld>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460"/>
        <p:cNvGrpSpPr/>
        <p:nvPr/>
      </p:nvGrpSpPr>
      <p:grpSpPr>
        <a:xfrm>
          <a:off x="0" y="0"/>
          <a:ext cx="0" cy="0"/>
          <a:chOff x="0" y="0"/>
          <a:chExt cx="0" cy="0"/>
        </a:xfrm>
      </p:grpSpPr>
      <p:sp>
        <p:nvSpPr>
          <p:cNvPr id="1461" name="Google Shape;1461;p135"/>
          <p:cNvSpPr txBox="1">
            <a:spLocks noGrp="1"/>
          </p:cNvSpPr>
          <p:nvPr>
            <p:ph type="title"/>
          </p:nvPr>
        </p:nvSpPr>
        <p:spPr>
          <a:xfrm>
            <a:off x="1127448" y="404664"/>
            <a:ext cx="8229600" cy="43204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Pointers and Index Registers</a:t>
            </a:r>
            <a:endParaRPr/>
          </a:p>
        </p:txBody>
      </p:sp>
      <p:sp>
        <p:nvSpPr>
          <p:cNvPr id="1462" name="Google Shape;1462;p135"/>
          <p:cNvSpPr txBox="1">
            <a:spLocks noGrp="1"/>
          </p:cNvSpPr>
          <p:nvPr>
            <p:ph type="body" idx="1"/>
          </p:nvPr>
        </p:nvSpPr>
        <p:spPr>
          <a:xfrm>
            <a:off x="695400" y="1196231"/>
            <a:ext cx="10945216" cy="4800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a:latin typeface="Times New Roman"/>
                <a:ea typeface="Times New Roman"/>
                <a:cs typeface="Times New Roman"/>
                <a:sym typeface="Times New Roman"/>
              </a:rPr>
              <a:t>SP – S</a:t>
            </a:r>
            <a:r>
              <a:rPr lang="en-US" sz="2400">
                <a:latin typeface="Times New Roman"/>
                <a:ea typeface="Times New Roman"/>
                <a:cs typeface="Times New Roman"/>
                <a:sym typeface="Times New Roman"/>
              </a:rPr>
              <a:t>tack pointer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16 bit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points to the topmost item of the stack</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If the stack is empty the stack pointer will be (FFFE)H</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It’s offset address relative to stack segment</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BP –B</a:t>
            </a:r>
            <a:r>
              <a:rPr lang="en-US" sz="2400">
                <a:latin typeface="Times New Roman"/>
                <a:ea typeface="Times New Roman"/>
                <a:cs typeface="Times New Roman"/>
                <a:sym typeface="Times New Roman"/>
              </a:rPr>
              <a:t>ase pointer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16 bit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used in accessing parameters passed by the stack</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It’s offset address relative to stack segment</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t>
            </a:r>
            <a:endParaRPr/>
          </a:p>
        </p:txBody>
      </p:sp>
      <p:sp>
        <p:nvSpPr>
          <p:cNvPr id="1463" name="Google Shape;1463;p1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121</a:t>
            </a:fld>
            <a:endParaRPr/>
          </a:p>
        </p:txBody>
      </p:sp>
      <p:sp>
        <p:nvSpPr>
          <p:cNvPr id="1464" name="Google Shape;1464;p1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65" name="Google Shape;1465;p1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408E89FE-08A2-4627-9A57-751B65C8ACBB}" type="datetime1">
              <a:rPr lang="en-US" smtClean="0"/>
              <a:t>8/12/2024</a:t>
            </a:fld>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sp>
        <p:nvSpPr>
          <p:cNvPr id="1470" name="Google Shape;1470;p136"/>
          <p:cNvSpPr txBox="1">
            <a:spLocks noGrp="1"/>
          </p:cNvSpPr>
          <p:nvPr>
            <p:ph type="body" idx="1"/>
          </p:nvPr>
        </p:nvSpPr>
        <p:spPr>
          <a:xfrm>
            <a:off x="838200" y="1052736"/>
            <a:ext cx="10658400" cy="492941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a:latin typeface="Times New Roman"/>
                <a:ea typeface="Times New Roman"/>
                <a:cs typeface="Times New Roman"/>
                <a:sym typeface="Times New Roman"/>
              </a:rPr>
              <a:t>SI –  S</a:t>
            </a:r>
            <a:r>
              <a:rPr lang="en-US" sz="2400">
                <a:latin typeface="Times New Roman"/>
                <a:ea typeface="Times New Roman"/>
                <a:cs typeface="Times New Roman"/>
                <a:sym typeface="Times New Roman"/>
              </a:rPr>
              <a:t>ource index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16 bit register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used in the pointer addressing of data and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as a source in some string related operations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It’s offset is relative to data segment</a:t>
            </a:r>
            <a:endParaRPr/>
          </a:p>
          <a:p>
            <a:pPr marL="0" lvl="0" indent="0" algn="l" rtl="0">
              <a:lnSpc>
                <a:spcPct val="90000"/>
              </a:lnSpc>
              <a:spcBef>
                <a:spcPts val="1000"/>
              </a:spcBef>
              <a:spcAft>
                <a:spcPts val="0"/>
              </a:spcAft>
              <a:buClr>
                <a:schemeClr val="dk1"/>
              </a:buClr>
              <a:buSzPts val="2400"/>
              <a:buNone/>
            </a:pPr>
            <a:r>
              <a:rPr lang="en-US" sz="2400" b="1">
                <a:latin typeface="Times New Roman"/>
                <a:ea typeface="Times New Roman"/>
                <a:cs typeface="Times New Roman"/>
                <a:sym typeface="Times New Roman"/>
              </a:rPr>
              <a:t>DI – D</a:t>
            </a:r>
            <a:r>
              <a:rPr lang="en-US" sz="2400">
                <a:latin typeface="Times New Roman"/>
                <a:ea typeface="Times New Roman"/>
                <a:cs typeface="Times New Roman"/>
                <a:sym typeface="Times New Roman"/>
              </a:rPr>
              <a:t>estination index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16 bit register </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used in the pointer addressing of data and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as a destination in string related operations</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It’s offset is relative to extra segment.</a:t>
            </a:r>
            <a:endParaRPr/>
          </a:p>
        </p:txBody>
      </p:sp>
      <p:sp>
        <p:nvSpPr>
          <p:cNvPr id="1471" name="Google Shape;1471;p1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122</a:t>
            </a:fld>
            <a:endParaRPr/>
          </a:p>
        </p:txBody>
      </p:sp>
      <p:sp>
        <p:nvSpPr>
          <p:cNvPr id="1472" name="Google Shape;1472;p1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73" name="Google Shape;1473;p1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613F8C97-4A22-47EE-87B3-986A37327E77}" type="datetime1">
              <a:rPr lang="en-US" smtClean="0"/>
              <a:t>8/12/2024</a:t>
            </a:fld>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477"/>
        <p:cNvGrpSpPr/>
        <p:nvPr/>
      </p:nvGrpSpPr>
      <p:grpSpPr>
        <a:xfrm>
          <a:off x="0" y="0"/>
          <a:ext cx="0" cy="0"/>
          <a:chOff x="0" y="0"/>
          <a:chExt cx="0" cy="0"/>
        </a:xfrm>
      </p:grpSpPr>
      <p:sp>
        <p:nvSpPr>
          <p:cNvPr id="1478" name="Google Shape;1478;p1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400"/>
              <a:buNone/>
            </a:pPr>
            <a:r>
              <a:rPr lang="en-US" sz="2400" b="1">
                <a:latin typeface="Times New Roman"/>
                <a:ea typeface="Times New Roman"/>
                <a:cs typeface="Times New Roman"/>
                <a:sym typeface="Times New Roman"/>
              </a:rPr>
              <a:t>IP - </a:t>
            </a:r>
            <a:r>
              <a:rPr lang="en-US" sz="2400">
                <a:latin typeface="Times New Roman"/>
                <a:ea typeface="Times New Roman"/>
                <a:cs typeface="Times New Roman"/>
                <a:sym typeface="Times New Roman"/>
              </a:rPr>
              <a:t>Instruction Pointer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16 bit register</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stores the address of the next instruction to be executed </a:t>
            </a:r>
            <a:endParaRPr/>
          </a:p>
          <a:p>
            <a:pPr marL="0" lvl="0" indent="0" algn="l" rtl="0">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      also acts as an offset for CS register.</a:t>
            </a:r>
            <a:endParaRPr/>
          </a:p>
          <a:p>
            <a:pPr marL="0" lvl="0" indent="0" algn="l" rtl="0">
              <a:lnSpc>
                <a:spcPct val="90000"/>
              </a:lnSpc>
              <a:spcBef>
                <a:spcPts val="1000"/>
              </a:spcBef>
              <a:spcAft>
                <a:spcPts val="0"/>
              </a:spcAft>
              <a:buClr>
                <a:schemeClr val="dk1"/>
              </a:buClr>
              <a:buSzPts val="2400"/>
              <a:buNone/>
            </a:pPr>
            <a:endParaRPr sz="2400" b="1">
              <a:latin typeface="Times New Roman"/>
              <a:ea typeface="Times New Roman"/>
              <a:cs typeface="Times New Roman"/>
              <a:sym typeface="Times New Roman"/>
            </a:endParaRPr>
          </a:p>
          <a:p>
            <a:pPr marL="0" lvl="0" indent="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479" name="Google Shape;1479;p1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123</a:t>
            </a:fld>
            <a:endParaRPr/>
          </a:p>
        </p:txBody>
      </p:sp>
      <p:sp>
        <p:nvSpPr>
          <p:cNvPr id="1480" name="Google Shape;1480;p1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81" name="Google Shape;1481;p1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F9B34A28-14A9-48BD-83B4-E4CBD34C68E7}" type="datetime1">
              <a:rPr lang="en-US" smtClean="0"/>
              <a:t>8/12/2024</a:t>
            </a:fld>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485"/>
        <p:cNvGrpSpPr/>
        <p:nvPr/>
      </p:nvGrpSpPr>
      <p:grpSpPr>
        <a:xfrm>
          <a:off x="0" y="0"/>
          <a:ext cx="0" cy="0"/>
          <a:chOff x="0" y="0"/>
          <a:chExt cx="0" cy="0"/>
        </a:xfrm>
      </p:grpSpPr>
      <p:sp>
        <p:nvSpPr>
          <p:cNvPr id="1486" name="Google Shape;1486;p138"/>
          <p:cNvSpPr txBox="1">
            <a:spLocks noGrp="1"/>
          </p:cNvSpPr>
          <p:nvPr>
            <p:ph type="title"/>
          </p:nvPr>
        </p:nvSpPr>
        <p:spPr>
          <a:xfrm>
            <a:off x="826548" y="404664"/>
            <a:ext cx="8229600" cy="5089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Segment Registers</a:t>
            </a:r>
            <a:endParaRPr/>
          </a:p>
        </p:txBody>
      </p:sp>
      <p:sp>
        <p:nvSpPr>
          <p:cNvPr id="1487" name="Google Shape;1487;p138"/>
          <p:cNvSpPr txBox="1">
            <a:spLocks noGrp="1"/>
          </p:cNvSpPr>
          <p:nvPr>
            <p:ph type="body" idx="1"/>
          </p:nvPr>
        </p:nvSpPr>
        <p:spPr>
          <a:xfrm>
            <a:off x="479376" y="1221483"/>
            <a:ext cx="11305256" cy="513623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None/>
            </a:pPr>
            <a:r>
              <a:rPr lang="en-US" sz="2000" b="1">
                <a:latin typeface="Times New Roman"/>
                <a:ea typeface="Times New Roman"/>
                <a:cs typeface="Times New Roman"/>
                <a:sym typeface="Times New Roman"/>
              </a:rPr>
              <a:t>CS - Code Segment Register:</a:t>
            </a:r>
            <a:r>
              <a:rPr lang="en-US" sz="2000">
                <a:latin typeface="Times New Roman"/>
                <a:ea typeface="Times New Roman"/>
                <a:cs typeface="Times New Roman"/>
                <a:sym typeface="Times New Roman"/>
              </a:rPr>
              <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user cannot modify the content of these registers</a:t>
            </a:r>
            <a:endParaRPr/>
          </a:p>
          <a:p>
            <a:pPr marL="0" lvl="0" indent="0" algn="l" rtl="0">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        Only the microprocessor's compiler can do this</a:t>
            </a:r>
            <a:endParaRPr/>
          </a:p>
          <a:p>
            <a:pPr marL="0" lvl="0" indent="0" algn="l" rtl="0">
              <a:lnSpc>
                <a:spcPct val="90000"/>
              </a:lnSpc>
              <a:spcBef>
                <a:spcPts val="1000"/>
              </a:spcBef>
              <a:spcAft>
                <a:spcPts val="0"/>
              </a:spcAft>
              <a:buClr>
                <a:schemeClr val="dk1"/>
              </a:buClr>
              <a:buSzPts val="2000"/>
              <a:buNone/>
            </a:pPr>
            <a:r>
              <a:rPr lang="en-US" sz="2000" b="1">
                <a:latin typeface="Times New Roman"/>
                <a:ea typeface="Times New Roman"/>
                <a:cs typeface="Times New Roman"/>
                <a:sym typeface="Times New Roman"/>
              </a:rPr>
              <a:t>DS - Data Segment Register:</a:t>
            </a:r>
            <a:r>
              <a:rPr lang="en-US" sz="2000">
                <a:latin typeface="Times New Roman"/>
                <a:ea typeface="Times New Roman"/>
                <a:cs typeface="Times New Roman"/>
                <a:sym typeface="Times New Roman"/>
              </a:rPr>
              <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The user can modify the content of the data segment. </a:t>
            </a:r>
            <a:endParaRPr/>
          </a:p>
          <a:p>
            <a:pPr marL="0" lvl="0" indent="0" algn="l" rtl="0">
              <a:lnSpc>
                <a:spcPct val="90000"/>
              </a:lnSpc>
              <a:spcBef>
                <a:spcPts val="1000"/>
              </a:spcBef>
              <a:spcAft>
                <a:spcPts val="0"/>
              </a:spcAft>
              <a:buClr>
                <a:schemeClr val="dk1"/>
              </a:buClr>
              <a:buSzPts val="2000"/>
              <a:buNone/>
            </a:pPr>
            <a:r>
              <a:rPr lang="en-US" sz="2000" b="1">
                <a:latin typeface="Times New Roman"/>
                <a:ea typeface="Times New Roman"/>
                <a:cs typeface="Times New Roman"/>
                <a:sym typeface="Times New Roman"/>
              </a:rPr>
              <a:t>SS -  Stack Segment Registers:</a:t>
            </a:r>
            <a:r>
              <a:rPr lang="en-US" sz="2000">
                <a:latin typeface="Times New Roman"/>
                <a:ea typeface="Times New Roman"/>
                <a:cs typeface="Times New Roman"/>
                <a:sym typeface="Times New Roman"/>
              </a:rPr>
              <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used to store the information about the memory segment.         </a:t>
            </a:r>
            <a:endParaRPr/>
          </a:p>
          <a:p>
            <a:pPr marL="0" lvl="0" indent="0" algn="l" rtl="0">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        operations of the SS are mainly Push and Pop.</a:t>
            </a:r>
            <a:endParaRPr/>
          </a:p>
          <a:p>
            <a:pPr marL="0" lvl="0" indent="0" algn="l" rtl="0">
              <a:lnSpc>
                <a:spcPct val="90000"/>
              </a:lnSpc>
              <a:spcBef>
                <a:spcPts val="1000"/>
              </a:spcBef>
              <a:spcAft>
                <a:spcPts val="0"/>
              </a:spcAft>
              <a:buClr>
                <a:schemeClr val="dk1"/>
              </a:buClr>
              <a:buSzPts val="2000"/>
              <a:buNone/>
            </a:pPr>
            <a:r>
              <a:rPr lang="en-US" sz="2000" b="1">
                <a:latin typeface="Times New Roman"/>
                <a:ea typeface="Times New Roman"/>
                <a:cs typeface="Times New Roman"/>
                <a:sym typeface="Times New Roman"/>
              </a:rPr>
              <a:t>ES - Extra Segment Register:</a:t>
            </a:r>
            <a:r>
              <a:rPr lang="en-US" sz="2000">
                <a:latin typeface="Times New Roman"/>
                <a:ea typeface="Times New Roman"/>
                <a:cs typeface="Times New Roman"/>
                <a:sym typeface="Times New Roman"/>
              </a:rPr>
              <a:t/>
            </a: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        By default, the control of the compiler remains in the DS where the user can add and modify the instructions</a:t>
            </a:r>
            <a:endParaRPr/>
          </a:p>
          <a:p>
            <a:pPr marL="0" lvl="0" indent="0" algn="l" rtl="0">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      If there is less space in that segment, then ES is used</a:t>
            </a:r>
            <a:endParaRPr/>
          </a:p>
          <a:p>
            <a:pPr marL="0" lvl="0" indent="0" algn="l" rtl="0">
              <a:lnSpc>
                <a:spcPct val="90000"/>
              </a:lnSpc>
              <a:spcBef>
                <a:spcPts val="1000"/>
              </a:spcBef>
              <a:spcAft>
                <a:spcPts val="0"/>
              </a:spcAft>
              <a:buClr>
                <a:schemeClr val="dk1"/>
              </a:buClr>
              <a:buSzPts val="2000"/>
              <a:buNone/>
            </a:pPr>
            <a:r>
              <a:rPr lang="en-US" sz="2000">
                <a:latin typeface="Times New Roman"/>
                <a:ea typeface="Times New Roman"/>
                <a:cs typeface="Times New Roman"/>
                <a:sym typeface="Times New Roman"/>
              </a:rPr>
              <a:t>     Also used for copying purpose.</a:t>
            </a:r>
            <a:endParaRPr/>
          </a:p>
        </p:txBody>
      </p:sp>
      <p:sp>
        <p:nvSpPr>
          <p:cNvPr id="1488" name="Google Shape;1488;p1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124</a:t>
            </a:fld>
            <a:endParaRPr/>
          </a:p>
        </p:txBody>
      </p:sp>
      <p:sp>
        <p:nvSpPr>
          <p:cNvPr id="1489" name="Google Shape;1489;p1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90" name="Google Shape;1490;p1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49839087-75AD-41CA-B1B6-376E926BE150}" type="datetime1">
              <a:rPr lang="en-US" smtClean="0"/>
              <a:t>8/12/2024</a:t>
            </a:fld>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494"/>
        <p:cNvGrpSpPr/>
        <p:nvPr/>
      </p:nvGrpSpPr>
      <p:grpSpPr>
        <a:xfrm>
          <a:off x="0" y="0"/>
          <a:ext cx="0" cy="0"/>
          <a:chOff x="0" y="0"/>
          <a:chExt cx="0" cy="0"/>
        </a:xfrm>
      </p:grpSpPr>
      <p:sp>
        <p:nvSpPr>
          <p:cNvPr id="1495" name="Google Shape;1495;p139"/>
          <p:cNvSpPr txBox="1">
            <a:spLocks noGrp="1"/>
          </p:cNvSpPr>
          <p:nvPr>
            <p:ph type="title"/>
          </p:nvPr>
        </p:nvSpPr>
        <p:spPr>
          <a:xfrm>
            <a:off x="838200" y="404664"/>
            <a:ext cx="8229600" cy="50891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Flag or Status Register</a:t>
            </a:r>
            <a:endParaRPr/>
          </a:p>
        </p:txBody>
      </p:sp>
      <p:sp>
        <p:nvSpPr>
          <p:cNvPr id="1496" name="Google Shape;1496;p139"/>
          <p:cNvSpPr txBox="1">
            <a:spLocks noGrp="1"/>
          </p:cNvSpPr>
          <p:nvPr>
            <p:ph type="body" idx="1"/>
          </p:nvPr>
        </p:nvSpPr>
        <p:spPr>
          <a:xfrm>
            <a:off x="623392" y="1459297"/>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16-bit register </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contains 9 flags</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remaining 7 bits are idle in this register</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These flags tell about the status of the processor after any arithmetic or logical operation</a:t>
            </a:r>
            <a:endParaRPr/>
          </a:p>
          <a:p>
            <a:pPr marL="228600" lvl="0" indent="-228600" algn="l"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IF the flag value is 1, the flag is set, and if it is 0, it is said to be reset. </a:t>
            </a:r>
            <a:endParaRPr/>
          </a:p>
          <a:p>
            <a:pPr marL="228600" lvl="0" indent="-76200" algn="l" rtl="0">
              <a:lnSpc>
                <a:spcPct val="90000"/>
              </a:lnSpc>
              <a:spcBef>
                <a:spcPts val="1000"/>
              </a:spcBef>
              <a:spcAft>
                <a:spcPts val="0"/>
              </a:spcAft>
              <a:buClr>
                <a:schemeClr val="dk1"/>
              </a:buClr>
              <a:buSzPts val="2400"/>
              <a:buNone/>
            </a:pPr>
            <a:endParaRPr sz="2400">
              <a:latin typeface="Times New Roman"/>
              <a:ea typeface="Times New Roman"/>
              <a:cs typeface="Times New Roman"/>
              <a:sym typeface="Times New Roman"/>
            </a:endParaRPr>
          </a:p>
        </p:txBody>
      </p:sp>
      <p:sp>
        <p:nvSpPr>
          <p:cNvPr id="1497" name="Google Shape;1497;p1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125</a:t>
            </a:fld>
            <a:endParaRPr/>
          </a:p>
        </p:txBody>
      </p:sp>
      <p:sp>
        <p:nvSpPr>
          <p:cNvPr id="1498" name="Google Shape;1498;p1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499" name="Google Shape;1499;p1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A3ED3E90-1018-45A4-9CB4-54BA9AC46288}" type="datetime1">
              <a:rPr lang="en-US" smtClean="0"/>
              <a:t>8/12/2024</a:t>
            </a:fld>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sp>
        <p:nvSpPr>
          <p:cNvPr id="1504" name="Google Shape;1504;p140"/>
          <p:cNvSpPr txBox="1">
            <a:spLocks noGrp="1"/>
          </p:cNvSpPr>
          <p:nvPr>
            <p:ph type="title"/>
          </p:nvPr>
        </p:nvSpPr>
        <p:spPr>
          <a:xfrm>
            <a:off x="570004" y="404664"/>
            <a:ext cx="9414428" cy="50405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Times New Roman"/>
              <a:buNone/>
            </a:pPr>
            <a:r>
              <a:rPr lang="en-US" sz="3200" b="1">
                <a:solidFill>
                  <a:srgbClr val="FF0000"/>
                </a:solidFill>
                <a:latin typeface="Times New Roman"/>
                <a:ea typeface="Times New Roman"/>
                <a:cs typeface="Times New Roman"/>
                <a:sym typeface="Times New Roman"/>
              </a:rPr>
              <a:t>Microcomputer</a:t>
            </a:r>
            <a:endParaRPr/>
          </a:p>
        </p:txBody>
      </p:sp>
      <p:sp>
        <p:nvSpPr>
          <p:cNvPr id="1505" name="Google Shape;1505;p140"/>
          <p:cNvSpPr txBox="1">
            <a:spLocks noGrp="1"/>
          </p:cNvSpPr>
          <p:nvPr>
            <p:ph type="body" idx="3"/>
          </p:nvPr>
        </p:nvSpPr>
        <p:spPr>
          <a:xfrm>
            <a:off x="6324600" y="1217614"/>
            <a:ext cx="5183188" cy="823912"/>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0000"/>
              </a:buClr>
              <a:buSzPts val="2400"/>
              <a:buNone/>
            </a:pPr>
            <a:r>
              <a:rPr lang="en-US">
                <a:solidFill>
                  <a:srgbClr val="FF0000"/>
                </a:solidFill>
                <a:latin typeface="Times New Roman"/>
                <a:ea typeface="Times New Roman"/>
                <a:cs typeface="Times New Roman"/>
                <a:sym typeface="Times New Roman"/>
              </a:rPr>
              <a:t>Block Diagram</a:t>
            </a:r>
            <a:endParaRPr/>
          </a:p>
        </p:txBody>
      </p:sp>
      <p:pic>
        <p:nvPicPr>
          <p:cNvPr id="1506" name="Google Shape;1506;p140"/>
          <p:cNvPicPr preferRelativeResize="0">
            <a:picLocks noGrp="1"/>
          </p:cNvPicPr>
          <p:nvPr>
            <p:ph type="body" idx="4"/>
          </p:nvPr>
        </p:nvPicPr>
        <p:blipFill rotWithShape="1">
          <a:blip r:embed="rId3">
            <a:alphaModFix/>
          </a:blip>
          <a:srcRect/>
          <a:stretch/>
        </p:blipFill>
        <p:spPr>
          <a:xfrm>
            <a:off x="7032104" y="2132856"/>
            <a:ext cx="4114800" cy="3816424"/>
          </a:xfrm>
          <a:prstGeom prst="rect">
            <a:avLst/>
          </a:prstGeom>
          <a:noFill/>
          <a:ln>
            <a:noFill/>
          </a:ln>
        </p:spPr>
      </p:pic>
      <p:sp>
        <p:nvSpPr>
          <p:cNvPr id="1507" name="Google Shape;1507;p140"/>
          <p:cNvSpPr txBox="1">
            <a:spLocks noGrp="1"/>
          </p:cNvSpPr>
          <p:nvPr>
            <p:ph type="body" idx="2"/>
          </p:nvPr>
        </p:nvSpPr>
        <p:spPr>
          <a:xfrm>
            <a:off x="570004" y="1535113"/>
            <a:ext cx="5670012" cy="4591050"/>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A digital computer with one microprocessor which acts as a CPU </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A  complete computer on a small scale, designed for use by one person at a time</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 called a personal computer (PC)</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a device based on a single-chip microprocessor</a:t>
            </a:r>
            <a:endParaRPr/>
          </a:p>
          <a:p>
            <a:pPr marL="228600" lvl="0" indent="-228600" algn="l" rtl="0">
              <a:lnSpc>
                <a:spcPct val="90000"/>
              </a:lnSpc>
              <a:spcBef>
                <a:spcPts val="1000"/>
              </a:spcBef>
              <a:spcAft>
                <a:spcPts val="0"/>
              </a:spcAft>
              <a:buClr>
                <a:schemeClr val="dk1"/>
              </a:buClr>
              <a:buSzPts val="2800"/>
              <a:buChar char="•"/>
            </a:pPr>
            <a:r>
              <a:rPr lang="en-US">
                <a:latin typeface="Times New Roman"/>
                <a:ea typeface="Times New Roman"/>
                <a:cs typeface="Times New Roman"/>
                <a:sym typeface="Times New Roman"/>
              </a:rPr>
              <a:t>includes laptops and desktops</a:t>
            </a:r>
            <a:endParaRPr/>
          </a:p>
          <a:p>
            <a:pPr marL="228600" lvl="0" indent="-50800" algn="l" rtl="0">
              <a:lnSpc>
                <a:spcPct val="90000"/>
              </a:lnSpc>
              <a:spcBef>
                <a:spcPts val="1000"/>
              </a:spcBef>
              <a:spcAft>
                <a:spcPts val="0"/>
              </a:spcAft>
              <a:buClr>
                <a:schemeClr val="dk1"/>
              </a:buClr>
              <a:buSzPts val="2800"/>
              <a:buNone/>
            </a:pPr>
            <a:endParaRPr>
              <a:latin typeface="Times New Roman"/>
              <a:ea typeface="Times New Roman"/>
              <a:cs typeface="Times New Roman"/>
              <a:sym typeface="Times New Roman"/>
            </a:endParaRPr>
          </a:p>
        </p:txBody>
      </p:sp>
      <p:sp>
        <p:nvSpPr>
          <p:cNvPr id="1508" name="Google Shape;1508;p1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126</a:t>
            </a:fld>
            <a:endParaRPr/>
          </a:p>
        </p:txBody>
      </p:sp>
      <p:sp>
        <p:nvSpPr>
          <p:cNvPr id="1509" name="Google Shape;1509;p1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510" name="Google Shape;1510;p1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5000B1F1-5501-4C0C-A6FA-3CEF496A60A9}" type="datetime1">
              <a:rPr lang="en-US" smtClean="0"/>
              <a:t>8/12/2024</a:t>
            </a:fld>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515"/>
        <p:cNvGrpSpPr/>
        <p:nvPr/>
      </p:nvGrpSpPr>
      <p:grpSpPr>
        <a:xfrm>
          <a:off x="0" y="0"/>
          <a:ext cx="0" cy="0"/>
          <a:chOff x="0" y="0"/>
          <a:chExt cx="0" cy="0"/>
        </a:xfrm>
      </p:grpSpPr>
      <p:sp>
        <p:nvSpPr>
          <p:cNvPr id="1516" name="Google Shape;1516;p141"/>
          <p:cNvSpPr txBox="1">
            <a:spLocks noGrp="1"/>
          </p:cNvSpPr>
          <p:nvPr>
            <p:ph type="ctrTitle"/>
          </p:nvPr>
        </p:nvSpPr>
        <p:spPr>
          <a:xfrm>
            <a:off x="2279576" y="2132856"/>
            <a:ext cx="7696200" cy="1431925"/>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002060"/>
              </a:buClr>
              <a:buSzPct val="100000"/>
              <a:buFont typeface="Times New Roman"/>
              <a:buNone/>
            </a:pPr>
            <a:r>
              <a:rPr lang="en-US" b="1">
                <a:solidFill>
                  <a:srgbClr val="002060"/>
                </a:solidFill>
                <a:latin typeface="Times New Roman"/>
                <a:ea typeface="Times New Roman"/>
                <a:cs typeface="Times New Roman"/>
                <a:sym typeface="Times New Roman"/>
              </a:rPr>
              <a:t>Introduction to 8086 Assembly Language</a:t>
            </a:r>
            <a:endParaRPr/>
          </a:p>
        </p:txBody>
      </p:sp>
      <p:sp>
        <p:nvSpPr>
          <p:cNvPr id="1517" name="Google Shape;1517;p141"/>
          <p:cNvSpPr txBox="1">
            <a:spLocks noGrp="1"/>
          </p:cNvSpPr>
          <p:nvPr>
            <p:ph type="subTitle" idx="1"/>
          </p:nvPr>
        </p:nvSpPr>
        <p:spPr>
          <a:xfrm>
            <a:off x="2183675" y="4293096"/>
            <a:ext cx="7772400" cy="15240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02060"/>
              </a:buClr>
              <a:buSzPts val="2800"/>
              <a:buNone/>
            </a:pPr>
            <a:r>
              <a:rPr lang="en-US" sz="2800" b="1">
                <a:solidFill>
                  <a:srgbClr val="002060"/>
                </a:solidFill>
                <a:latin typeface="Times New Roman"/>
                <a:ea typeface="Times New Roman"/>
                <a:cs typeface="Times New Roman"/>
                <a:sym typeface="Times New Roman"/>
              </a:rPr>
              <a:t>Assembly Language Programming</a:t>
            </a:r>
            <a:endParaRPr/>
          </a:p>
        </p:txBody>
      </p:sp>
      <p:cxnSp>
        <p:nvCxnSpPr>
          <p:cNvPr id="1518" name="Google Shape;1518;p141"/>
          <p:cNvCxnSpPr/>
          <p:nvPr/>
        </p:nvCxnSpPr>
        <p:spPr>
          <a:xfrm>
            <a:off x="3143672" y="4149080"/>
            <a:ext cx="6629400" cy="0"/>
          </a:xfrm>
          <a:prstGeom prst="straightConnector1">
            <a:avLst/>
          </a:prstGeom>
          <a:noFill/>
          <a:ln w="28575" cap="flat" cmpd="sng">
            <a:solidFill>
              <a:schemeClr val="dk1"/>
            </a:solidFill>
            <a:prstDash val="solid"/>
            <a:round/>
            <a:headEnd type="none" w="med" len="med"/>
            <a:tailEnd type="none" w="med" len="med"/>
          </a:ln>
        </p:spPr>
      </p:cxnSp>
      <p:sp>
        <p:nvSpPr>
          <p:cNvPr id="1519" name="Google Shape;1519;p1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
        <p:nvSpPr>
          <p:cNvPr id="1520" name="Google Shape;1520;p1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127</a:t>
            </a:fld>
            <a:endParaRPr/>
          </a:p>
        </p:txBody>
      </p:sp>
      <p:sp>
        <p:nvSpPr>
          <p:cNvPr id="1521" name="Google Shape;1521;p1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786DAF93-5D08-47CA-8C04-3B2DEEFECD78}" type="datetime1">
              <a:rPr lang="en-US" smtClean="0"/>
              <a:t>8/12/2024</a:t>
            </a:fld>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525"/>
        <p:cNvGrpSpPr/>
        <p:nvPr/>
      </p:nvGrpSpPr>
      <p:grpSpPr>
        <a:xfrm>
          <a:off x="0" y="0"/>
          <a:ext cx="0" cy="0"/>
          <a:chOff x="0" y="0"/>
          <a:chExt cx="0" cy="0"/>
        </a:xfrm>
      </p:grpSpPr>
      <p:sp>
        <p:nvSpPr>
          <p:cNvPr id="1526" name="Google Shape;1526;p142"/>
          <p:cNvSpPr/>
          <p:nvPr/>
        </p:nvSpPr>
        <p:spPr>
          <a:xfrm>
            <a:off x="1738314" y="1571611"/>
            <a:ext cx="8643937" cy="480131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DATA SEGMENT                     ; Data Segment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N1</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3n2 DB 12H</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N2 DB 21H</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RES DB ?</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DATA ENDS</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CODE SEGMENT                         ; Code segment</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ASSUME CS: CODE, DS: DATA</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START: MOV AX, DATA</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MOV DS, AX</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MOV AL, N1</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MOV BL, N2</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ADD AL, BL</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MOV RES, AL</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INT 21H</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CODE ENDS</a:t>
            </a:r>
            <a:endParaRPr/>
          </a:p>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END START</a:t>
            </a:r>
            <a:endParaRPr/>
          </a:p>
        </p:txBody>
      </p:sp>
      <p:sp>
        <p:nvSpPr>
          <p:cNvPr id="1527" name="Google Shape;1527;p142"/>
          <p:cNvSpPr/>
          <p:nvPr/>
        </p:nvSpPr>
        <p:spPr>
          <a:xfrm>
            <a:off x="1991544" y="908720"/>
            <a:ext cx="5999784"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a:solidFill>
                  <a:srgbClr val="FF0000"/>
                </a:solidFill>
                <a:latin typeface="Times New Roman"/>
                <a:ea typeface="Times New Roman"/>
                <a:cs typeface="Times New Roman"/>
                <a:sym typeface="Times New Roman"/>
              </a:rPr>
              <a:t>EXAMPLE : Adding two 8 bit numbers </a:t>
            </a:r>
            <a:endParaRPr/>
          </a:p>
        </p:txBody>
      </p:sp>
      <p:sp>
        <p:nvSpPr>
          <p:cNvPr id="1528" name="Google Shape;1528;p1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128</a:t>
            </a:fld>
            <a:endParaRPr/>
          </a:p>
        </p:txBody>
      </p:sp>
      <p:sp>
        <p:nvSpPr>
          <p:cNvPr id="1529" name="Google Shape;1529;p1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775E43E5-D6C0-491C-BCEF-CA427B5ED413}" type="datetime1">
              <a:rPr lang="en-US" smtClean="0"/>
              <a:t>8/12/2024</a:t>
            </a:fld>
            <a:endParaRPr/>
          </a:p>
        </p:txBody>
      </p:sp>
      <p:sp>
        <p:nvSpPr>
          <p:cNvPr id="1530" name="Google Shape;1530;p1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21CSS201T - Computer Organization and Architecture</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6104</Words>
  <Application>Microsoft Office PowerPoint</Application>
  <PresentationFormat>Custom</PresentationFormat>
  <Paragraphs>1294</Paragraphs>
  <Slides>128</Slides>
  <Notes>111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128</vt:i4>
      </vt:variant>
    </vt:vector>
  </HeadingPairs>
  <TitlesOfParts>
    <vt:vector size="137" baseType="lpstr">
      <vt:lpstr>Arial</vt:lpstr>
      <vt:lpstr>Helvetica Neue</vt:lpstr>
      <vt:lpstr>Wingdings</vt:lpstr>
      <vt:lpstr>Times New Roman</vt:lpstr>
      <vt:lpstr>Palatino Linotype</vt:lpstr>
      <vt:lpstr>Noto Sans Symbols</vt:lpstr>
      <vt:lpstr>Calibri</vt:lpstr>
      <vt:lpstr>Posterama</vt:lpstr>
      <vt:lpstr>Office Theme</vt:lpstr>
      <vt:lpstr>   21CSS201T COMPUTER ORGANIZATION AND ARCHITECTURE  UNIT-2 Topic : Basic Structure of a Computer</vt:lpstr>
      <vt:lpstr>PowerPoint Presentation</vt:lpstr>
      <vt:lpstr>Computer Types </vt:lpstr>
      <vt:lpstr>Computer Types – contd. </vt:lpstr>
      <vt:lpstr>PowerPoint Presentation</vt:lpstr>
      <vt:lpstr>PowerPoint Presentation</vt:lpstr>
      <vt:lpstr>FUNCTIONAL UNITS OF COMPUTER</vt:lpstr>
      <vt:lpstr>PowerPoint Presentation</vt:lpstr>
      <vt:lpstr>What is a computer?</vt:lpstr>
      <vt:lpstr>Functions</vt:lpstr>
      <vt:lpstr>Functions of a computer</vt:lpstr>
      <vt:lpstr>PowerPoint Presentation</vt:lpstr>
      <vt:lpstr>Arithmetic and Logic Unit (ALU)</vt:lpstr>
      <vt:lpstr>Output unit</vt:lpstr>
      <vt:lpstr>Control unit</vt:lpstr>
      <vt:lpstr>CPU (Central processing Unit)</vt:lpstr>
      <vt:lpstr>CONTROL UNIT</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 Structures</vt:lpstr>
      <vt:lpstr>PowerPoint Presentation</vt:lpstr>
      <vt:lpstr>PowerPoint Presentation</vt:lpstr>
      <vt:lpstr>Drawbacks of the Single Bus Structure</vt:lpstr>
      <vt:lpstr>PowerPoint Presentation</vt:lpstr>
      <vt:lpstr>PowerPoint Presentation</vt:lpstr>
      <vt:lpstr>PowerPoint Presentation</vt:lpstr>
      <vt:lpstr>PowerPoint Presentation</vt:lpstr>
      <vt:lpstr>Memory Locations and Addresses</vt:lpstr>
      <vt:lpstr>MEMORY  HIERARCHY</vt:lpstr>
      <vt:lpstr>Memory Locations and Addresses</vt:lpstr>
      <vt:lpstr>PowerPoint Presentation</vt:lpstr>
      <vt:lpstr>PowerPoint Presentation</vt:lpstr>
      <vt:lpstr>PowerPoint Presentation</vt:lpstr>
      <vt:lpstr>PowerPoint Presentation</vt:lpstr>
      <vt:lpstr>PowerPoint Presentation</vt:lpstr>
      <vt:lpstr>PowerPoint Presentation</vt:lpstr>
      <vt:lpstr>MEMORY OPERATIONS</vt:lpstr>
      <vt:lpstr>Assignment of Byte Address</vt:lpstr>
      <vt:lpstr>PowerPoint Presentation</vt:lpstr>
      <vt:lpstr>Assignment of byte addresses</vt:lpstr>
      <vt:lpstr>Big Endian</vt:lpstr>
      <vt:lpstr>Big-Endian and Little-Endian Assignments</vt:lpstr>
      <vt:lpstr>PowerPoint Presentation</vt:lpstr>
      <vt:lpstr>Instruction and instruction sequencing</vt:lpstr>
      <vt:lpstr>PowerPoint Presentation</vt:lpstr>
      <vt:lpstr> Register transfer notation (RTN)  </vt:lpstr>
      <vt:lpstr>Examples of RTN statements  </vt:lpstr>
      <vt:lpstr> Data transfer Instructions </vt:lpstr>
      <vt:lpstr> Data Manipulation Instructions </vt:lpstr>
      <vt:lpstr> Arithmetic Instructions </vt:lpstr>
      <vt:lpstr> Logical and bit manipulation instructions </vt:lpstr>
      <vt:lpstr> Shift instructions </vt:lpstr>
      <vt:lpstr>Instruction Formats (Types of instruction based on the address field)</vt:lpstr>
      <vt:lpstr>PowerPoint Presentation</vt:lpstr>
      <vt:lpstr>Zero Address Instructions </vt:lpstr>
      <vt:lpstr>PowerPoint Presentation</vt:lpstr>
      <vt:lpstr> Example:   Evaluate X=(A+B) * (C+D) </vt:lpstr>
      <vt:lpstr>One address Instruction</vt:lpstr>
      <vt:lpstr>One address Instruction</vt:lpstr>
      <vt:lpstr>PowerPoint Presentation</vt:lpstr>
      <vt:lpstr>Two Address Instruction</vt:lpstr>
      <vt:lpstr>Three Address Instruction</vt:lpstr>
      <vt:lpstr>Three Address Instruction</vt:lpstr>
      <vt:lpstr> Instruction Cycle </vt:lpstr>
      <vt:lpstr>PowerPoint Presentation</vt:lpstr>
      <vt:lpstr>PowerPoint Presentation</vt:lpstr>
      <vt:lpstr>Instruction execution and straight line sequencing </vt:lpstr>
      <vt:lpstr>Straight line sequencing</vt:lpstr>
      <vt:lpstr>PowerPoint Presentation</vt:lpstr>
      <vt:lpstr>PowerPoint Presentation</vt:lpstr>
      <vt:lpstr>PowerPoint Presentation</vt:lpstr>
      <vt:lpstr>Condition Codes</vt:lpstr>
      <vt:lpstr>Addressing Modes</vt:lpstr>
      <vt:lpstr>Addressing Modes</vt:lpstr>
      <vt:lpstr>Immediate Addressing</vt:lpstr>
      <vt:lpstr>Direct Addressing</vt:lpstr>
      <vt:lpstr>PowerPoint Presentation</vt:lpstr>
      <vt:lpstr> Indirect Addressing</vt:lpstr>
      <vt:lpstr>PowerPoint Presentation</vt:lpstr>
      <vt:lpstr> Register Direct Addressing </vt:lpstr>
      <vt:lpstr> Register Direct Addressing </vt:lpstr>
      <vt:lpstr>PowerPoint Presentation</vt:lpstr>
      <vt:lpstr> Register Indirect Addressing</vt:lpstr>
      <vt:lpstr>PowerPoint Presentation</vt:lpstr>
      <vt:lpstr>        Indexed  Addressing</vt:lpstr>
      <vt:lpstr>PowerPoint Presentation</vt:lpstr>
      <vt:lpstr>  Relative Addressing</vt:lpstr>
      <vt:lpstr>PowerPoint Presentation</vt:lpstr>
      <vt:lpstr>Auto Increment Mode</vt:lpstr>
      <vt:lpstr>PowerPoint Presentation</vt:lpstr>
      <vt:lpstr>Auto Decrement Mode</vt:lpstr>
      <vt:lpstr>PowerPoint Presentation</vt:lpstr>
      <vt:lpstr>Case Study: 8086 Introduction to Microprocessor</vt:lpstr>
      <vt:lpstr>Microprocessors </vt:lpstr>
      <vt:lpstr>PowerPoint Presentation</vt:lpstr>
      <vt:lpstr>PowerPoint Presentation</vt:lpstr>
      <vt:lpstr> Internal structure and basic operation of microprocessor</vt:lpstr>
      <vt:lpstr>PowerPoint Presentation</vt:lpstr>
      <vt:lpstr>Microprocessor types</vt:lpstr>
      <vt:lpstr>Evolution of Microprocessors</vt:lpstr>
      <vt:lpstr>PowerPoint Presentation</vt:lpstr>
      <vt:lpstr>PowerPoint Presentation</vt:lpstr>
      <vt:lpstr>Typical microprocessors</vt:lpstr>
      <vt:lpstr>8086 Microprocessor</vt:lpstr>
      <vt:lpstr>Features of 8086</vt:lpstr>
      <vt:lpstr>Architecture of 8086</vt:lpstr>
      <vt:lpstr>Segments in 8086</vt:lpstr>
      <vt:lpstr>General purpose registers</vt:lpstr>
      <vt:lpstr>PowerPoint Presentation</vt:lpstr>
      <vt:lpstr>Pointers and Index Registers</vt:lpstr>
      <vt:lpstr>PowerPoint Presentation</vt:lpstr>
      <vt:lpstr>PowerPoint Presentation</vt:lpstr>
      <vt:lpstr>Segment Registers</vt:lpstr>
      <vt:lpstr>Flag or Status Register</vt:lpstr>
      <vt:lpstr>Microcomputer</vt:lpstr>
      <vt:lpstr>Introduction to 8086 Assembly Language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21CSS201T COMPUTER ORGANIZATION AND ARCHITECTURE  UNIT-2 Topic : Basic Structure of a Computer</dc:title>
  <dc:creator>Dr.MK Vidhyalakshmi</dc:creator>
  <cp:lastModifiedBy>DELL</cp:lastModifiedBy>
  <cp:revision>7</cp:revision>
  <dcterms:modified xsi:type="dcterms:W3CDTF">2024-08-12T09:18:05Z</dcterms:modified>
</cp:coreProperties>
</file>